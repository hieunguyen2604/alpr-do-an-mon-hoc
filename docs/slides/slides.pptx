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</p:sldIdLst>
  <p:sldSz cx="12192000" cy="6858000"/>
  <p:notesSz cx="6858000" cy="9144000"/>
  <p:embeddedFontLst>
    <p:embeddedFont>
      <p:font typeface="Roboto"/>
      <p:regular r:id="rId42"/>
      <p:bold r:id="rId43"/>
      <p:italic r:id="rId44"/>
      <p:boldItalic r:id="rId45"/>
    </p:embeddedFont>
    <p:embeddedFont>
      <p:font typeface="Open Sans"/>
      <p:regular r:id="rId46"/>
      <p:bold r:id="rId47"/>
      <p:italic r:id="rId48"/>
      <p:boldItalic r:id="rId49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0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3" Type="http://schemas.openxmlformats.org/officeDocument/2006/relationships/font" Target="fonts/Roboto-bold.fntdata" /><Relationship Id="rId42" Type="http://schemas.openxmlformats.org/officeDocument/2006/relationships/font" Target="fonts/Roboto-regular.fntdata" /><Relationship Id="rId45" Type="http://schemas.openxmlformats.org/officeDocument/2006/relationships/font" Target="fonts/Roboto-boldItalic.fntdata" /><Relationship Id="rId44" Type="http://schemas.openxmlformats.org/officeDocument/2006/relationships/font" Target="fonts/Roboto-italic.fntdata" /><Relationship Id="rId46" Type="http://schemas.openxmlformats.org/officeDocument/2006/relationships/font" Target="fonts/OpenSans-regular.fntdata" /><Relationship Id="rId48" Type="http://schemas.openxmlformats.org/officeDocument/2006/relationships/font" Target="fonts/OpenSans-italic.fntdata" /><Relationship Id="rId47" Type="http://schemas.openxmlformats.org/officeDocument/2006/relationships/font" Target="fonts/OpenSans-bold.fntdata" /><Relationship Id="rId50" Type="http://customschemas.google.com/relationships/presentationmetadata" Target="metadata" /><Relationship Id="rId49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5160373" y="202009"/>
            <a:ext cx="6237261" cy="5976999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hyperlink" Target="mailto:mAP@0.5" TargetMode="External" /><Relationship Id="rId3" Type="http://schemas.openxmlformats.org/officeDocument/2006/relationships/hyperlink" Target="mailto:mAP@0.5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Mở đầu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, chỉ khác bố cục</a:t>
            </a:r>
          </a:p>
          <a:p>
            <a:pPr lvl="0" indent="0" marL="0">
              <a:buNone/>
            </a:pPr>
            <a:r>
              <a:rPr i="1"/>
              <a:t>Số liệu Brazil, không phải Việt Nam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787400"/>
            <a:ext cx="6235700" cy="476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hoàn toàn 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Nền tảng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</a:t>
            </a:r>
            <a:r>
              <a:rPr b="1"/>
              <a:t>đo thật</a:t>
            </a:r>
            <a:r>
              <a:rPr/>
              <a:t> lệch khỏi chuẩn nhưng vẫn đúng phía ngưỡng — nên ngưỡng đặt ở </a:t>
            </a:r>
            <a:r>
              <a:rPr b="1"/>
              <a:t>2,5</a:t>
            </a:r>
            <a:r>
              <a:rPr/>
              <a:t>, giữa vùng trống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292100"/>
            <a:ext cx="6235700" cy="5778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văn bản này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Thiết kế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Pydantic. Nó không có mũi tên nào đi lên, nên thay engine OCR </a:t>
            </a:r>
            <a:r>
              <a:rPr b="1"/>
              <a:t>không đụng một dòng mã API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Công nghệ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L1 — Trình bày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React + TypeScript + Tailwind · 3 trang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L2 — API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FastAPI + Swagger · 10 endpoint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 —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Detection / Video / History / Storage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L4 — 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thuần</a:t>
                      </a:r>
                      <a:r>
                        <a:rPr/>
                        <a:t> — YOLO11 + PaddleOCR + Normalizer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L5 —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SQLite + SQLAlchemy + Alembic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Bảng </a:t>
            </a:r>
            <a:r>
              <a:rPr>
                <a:latin typeface="Courier"/>
              </a:rPr>
              <a:t>detection_history</a:t>
            </a:r>
            <a:r>
              <a:rPr/>
              <a:t> 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⇒ Không có cột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lý. Đây là quyết định thiết kế từ Phase 0, không phải cột gỡ lỗi thừa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  <a:p>
            <a:pPr lvl="0" indent="0">
              <a:buNone/>
            </a:pPr>
            <a:r>
              <a:rPr>
                <a:latin typeface="Courier"/>
              </a:rPr>
              <a:t>Ảnh → YOLO11n phát hiện → cắt vùng biển
    → phân loại số dòng (ngưỡng tỉ lệ 2,5)
        ├─ 1 dòng → PaddleOCR
        └─ 2 dòng → nắn hình → tách → ghép ngang → PaddleOCR
    → chuẩn hoá + sửa lỗi theo VỊ TRÍ → kiểm tra hợp lệ
    → lưu CẢ chuỗi thô LẪN chuỗi đã sửa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Dữ liệu và huấn luyện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 biển</a:t>
            </a:r>
            <a:r>
              <a:rPr/>
              <a:t> · 6 nguồn · 1 lớp</a:t>
            </a:r>
          </a:p>
          <a:p>
            <a:pPr lvl="0"/>
            <a:r>
              <a:rPr/>
              <a:t>Chia </a:t>
            </a:r>
            <a:r>
              <a:rPr b="1"/>
              <a:t>10.592 / 3.027 / 1.514</a:t>
            </a:r>
            <a:r>
              <a:rPr/>
              <a:t> </a:t>
            </a:r>
            <a:r>
              <a:rPr i="1"/>
              <a:t>(phân tầng theo bố cục biển)</a:t>
            </a:r>
          </a:p>
          <a:p>
            <a:pPr lvl="0" indent="0" marL="0">
              <a:buNone/>
            </a:pPr>
            <a:r>
              <a:rPr b="1"/>
              <a:t>Chống rò rỉ giữa các tập</a:t>
            </a:r>
          </a:p>
          <a:p>
            <a:pPr lvl="0"/>
            <a:r>
              <a:rPr/>
              <a:t>Băm tri giác, chia theo </a:t>
            </a:r>
            <a:r>
              <a:rPr b="1"/>
              <a:t>nhóm</a:t>
            </a:r>
            <a:r>
              <a:rPr/>
              <a:t> chứ không theo ảnh</a:t>
            </a:r>
          </a:p>
          <a:p>
            <a:pPr lvl="0"/>
            <a:r>
              <a:rPr/>
              <a:t>Rò rỉ vắt qua các tập: </a:t>
            </a:r>
            <a:r>
              <a:rPr b="1"/>
              <a:t>9.126 cặp → 0</a:t>
            </a:r>
          </a:p>
          <a:p>
            <a:pPr lvl="0"/>
            <a:r>
              <a:rPr/>
              <a:t>Phần tồn dư </a:t>
            </a:r>
            <a:r>
              <a:rPr b="1"/>
              <a:t>được công bố</a:t>
            </a:r>
            <a:r>
              <a:rPr/>
              <a:t>, không giấu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YOLO11n — loại bằng hai bước</a:t>
            </a:r>
          </a:p>
          <a:p>
            <a:pPr lvl="0" indent="0" marL="347663">
              <a:buAutoNum type="arabicPeriod"/>
            </a:pPr>
            <a:r>
              <a:rPr/>
              <a:t>Máy triển khai không GPU ⇒ bắt buộc có </a:t>
            </a:r>
            <a:r>
              <a:rPr b="1"/>
              <a:t>số liệu tốc độ CPU chính thức</a:t>
            </a:r>
          </a:p>
          <a:p>
            <a:pPr lvl="0" indent="0" marL="347663">
              <a:buAutoNum type="arabicPeriod"/>
            </a:pPr>
            <a:r>
              <a:rPr/>
              <a:t>YOLO11n vượt YOLOv8n </a:t>
            </a:r>
            <a:r>
              <a:rPr b="1"/>
              <a:t>đồng thời cả hai chiều</a:t>
            </a:r>
            <a:r>
              <a:rPr/>
              <a:t>: mAP 39,5 vs 37,3 · CPU 56,1 ms vs 80,4 ms</a:t>
            </a:r>
          </a:p>
          <a:p>
            <a:pPr lvl="0"/>
            <a:r>
              <a:rPr/>
              <a:t>Huấn luyện </a:t>
            </a:r>
            <a:r>
              <a:rPr b="1"/>
              <a:t>và</a:t>
            </a:r>
            <a:r>
              <a:rPr/>
              <a:t> suy luận đều </a:t>
            </a:r>
            <a:r>
              <a:rPr b="1"/>
              <a:t>trên CPU</a:t>
            </a:r>
            <a:r>
              <a:rPr/>
              <a:t> — 10,1 giờ, không dùng GPU nào</a:t>
            </a:r>
          </a:p>
          <a:p>
            <a:pPr lvl="0"/>
            <a:r>
              <a:rPr>
                <a:latin typeface="Courier"/>
              </a:rPr>
              <a:t>imgsz 640</a:t>
            </a:r>
            <a:r>
              <a:rPr/>
              <a:t> · 20 epoch · seed cố định · </a:t>
            </a:r>
            <a:r>
              <a:rPr>
                <a:latin typeface="Courier"/>
              </a:rPr>
              <a:t>deterministic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kỹ thuật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Nguyên nhân gốc là </a:t>
            </a:r>
            <a:r>
              <a:rPr b="1"/>
              <a:t>kiến trúc</a:t>
            </a:r>
            <a:r>
              <a:rPr/>
              <a:t>: CRNN/CTC giả định căn chỉnh </a:t>
            </a:r>
            <a:r>
              <a:rPr b="1"/>
              <a:t>trên một dòng</a:t>
            </a:r>
            <a:r>
              <a:rPr/>
              <a:t> — giả định nằm trong </a:t>
            </a:r>
            <a:r>
              <a:rPr b="1"/>
              <a:t>hàm mất mát</a:t>
            </a:r>
            <a:r>
              <a:rPr/>
              <a:t>,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571500"/>
            <a:ext cx="6235700" cy="520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cùng ký tự </a:t>
            </a:r>
            <a:r>
              <a:rPr>
                <a:latin typeface="Courier"/>
              </a:rPr>
              <a:t>O</a:t>
            </a:r>
            <a:r>
              <a:rPr/>
              <a:t>/</a:t>
            </a:r>
            <a:r>
              <a:rPr>
                <a:latin typeface="Courier"/>
              </a:rPr>
              <a:t>0</a:t>
            </a:r>
            <a:r>
              <a:rPr/>
              <a:t> nhưng hai vị trí cần hai luật ngược nhau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Luật sửa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ký tự đầu — 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Chữ số, thuộc 81 mã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O→0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I→1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S→5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Chữ cái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0→O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1→I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5→S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Số đăng ký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Chữ số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ép về chữ số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Vùng cấm sửa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Cả chữ và số đều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đụng vào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549400"/>
                <a:gridCol w="1549400"/>
                <a:gridCol w="1549400"/>
                <a:gridCol w="1549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— chính xác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— chuỗi trước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A6 — chuỗi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A7 — đầu-cuối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1371600"/>
            <a:ext cx="6235700" cy="360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CSDL lưu </a:t>
            </a:r>
            <a:r>
              <a:rPr b="1"/>
              <a:t>cả hai</a:t>
            </a:r>
            <a:r>
              <a:rPr/>
              <a:t> chuỗi trên cùng một bản ghi ⇒ đo được hiệu số</a:t>
            </a:r>
          </a:p>
          <a:p>
            <a:pPr lvl="0" indent="0" marL="0">
              <a:buNone/>
            </a:pPr>
            <a:r>
              <a:rPr/>
              <a:t>Dồn gần trọn vào biển 2 dòng: </a:t>
            </a:r>
            <a:r>
              <a:rPr b="1"/>
              <a:t>+13,97 điểm</a:t>
            </a:r>
            <a:r>
              <a:rPr/>
              <a:t> </a:t>
            </a:r>
            <a:r>
              <a:rPr i="1"/>
              <a:t>(1 dòng chỉ +1,23)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— chuỗi đúng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A6 — chuỗi đúng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Đóng góp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Số biển sửa đúng / làm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319 / 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và hệ thống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1231900"/>
            <a:ext cx="6235700" cy="389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999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Kiểm thử </a:t>
            </a:r>
            <a:r>
              <a:rPr b="1"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  <a:p>
            <a:pPr lvl="0"/>
            <a:r>
              <a:rPr/>
              <a:t>Soak 300 giây: </a:t>
            </a:r>
            <a:r>
              <a:rPr b="1"/>
              <a:t>1.684 yêu cầu, không rò rỉ bộ nhớ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i5-14600K · 20 luồng · KHÔNG có GPU CUDA</a:t>
            </a:r>
          </a:p>
          <a:p>
            <a:pPr lvl="0" indent="0" marL="0">
              <a:buNone/>
            </a:pPr>
            <a:r>
              <a:rPr/>
              <a:t>Vượt mục tiêu p95 là </a:t>
            </a:r>
            <a:r>
              <a:rPr b="1"/>
              <a:t>đánh đổi có chủ ý</a:t>
            </a:r>
            <a:r>
              <a:rPr/>
              <a:t>: tắt bậc thang thì p95 về </a:t>
            </a:r>
            <a:r>
              <a:rPr b="1"/>
              <a:t>866 ms</a:t>
            </a:r>
            <a:r>
              <a:rPr/>
              <a:t>, mất 34 biển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sàn 1.500 ms · mục tiêu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Yêu cầu đồng thời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≥ 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phải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1612900"/>
            <a:ext cx="62357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2"/>
                        </a:rPr>
                        <a:t>mAP@0.5</a:t>
                      </a:r>
                      <a:r>
                        <a:rPr/>
                        <a:t> </a:t>
                      </a:r>
                      <a:r>
                        <a:rPr b="1"/>
                        <a:t>0,9829</a:t>
                      </a:r>
                      <a:r>
                        <a:rPr/>
                        <a:t> · </a:t>
                      </a:r>
                      <a:r>
                        <a:rPr>
                          <a:hlinkClick r:id="rId3"/>
                        </a:rPr>
                        <a:t>mAP@0.5</a:t>
                      </a:r>
                      <a:r>
                        <a:rPr/>
                        <a:t>:0.95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</a:t>
                      </a:r>
                      <a:r>
                        <a:rPr b="1"/>
                        <a:t>0,6373</a:t>
                      </a:r>
                      <a:r>
                        <a:rPr/>
                        <a:t> · A6 </a:t>
                      </a:r>
                      <a:r>
                        <a:rPr b="1"/>
                        <a:t>0,7512</a:t>
                      </a:r>
                      <a:r>
                        <a:rPr/>
                        <a:t> · A7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nạp mô hình </a:t>
                      </a:r>
                      <a:r>
                        <a:rPr b="1"/>
                        <a:t>6,4 s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999 test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OCR biển 2 dòng chưa đạt</a:t>
                      </a:r>
                      <a:r>
                        <a:rPr/>
                        <a:t> — A6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A7 =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 ba </a:t>
            </a:r>
            <a:r>
              <a:rPr b="1"/>
              <a:t>ngoài</a:t>
            </a:r>
            <a:r>
              <a:rPr/>
              <a:t> mô hình nhận dạng: A6 </a:t>
            </a:r>
            <a:r>
              <a:rPr b="1"/>
              <a:t>0,6098 → 0,7512</a:t>
            </a:r>
          </a:p>
          <a:p>
            <a:pPr lvl="0" indent="0" marL="0">
              <a:buNone/>
            </a:pPr>
            <a:r>
              <a:rPr b="1"/>
              <a:t>Dư địa đã cạn</a:t>
            </a:r>
            <a:r>
              <a:rPr/>
              <a:t> — lỗi còn lại là ký tự </a:t>
            </a:r>
            <a:r>
              <a:rPr i="1"/>
              <a:t>chưa từng đọc ra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A6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A7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999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 Em xin sẵn sàng nhận câu hỏi.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 nhanh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15.133 ảnh · 15.977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imgsz 640 · 20 epoch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</a:t>
                      </a:r>
                      <a:r>
                        <a:rPr b="1"/>
                        <a:t>0,9454</a:t>
                      </a:r>
                      <a:r>
                        <a:rPr/>
                        <a:t> · A6 </a:t>
                      </a:r>
                      <a:r>
                        <a:rPr b="1"/>
                        <a:t>0,7512</a:t>
                      </a:r>
                      <a:r>
                        <a:rPr/>
                        <a:t> · A7 </a:t>
                      </a:r>
                      <a:r>
                        <a:rPr b="1"/>
                        <a:t>0,5552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1.143 ms</a:t>
                      </a:r>
                      <a:r>
                        <a:rPr/>
                        <a:t> trên CPU </a:t>
                      </a:r>
                      <a:r>
                        <a:rPr i="1"/>
                        <a:t>(p50 406 ms)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2026-07-29T01:57:45Z</dcterms:created>
  <dcterms:modified xsi:type="dcterms:W3CDTF">2026-07-29T01:57:45Z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