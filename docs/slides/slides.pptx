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</p:sldIdLst>
  <p:sldSz cx="12192000" cy="6858000"/>
  <p:notesSz cx="6858000" cy="9144000"/>
  <p:embeddedFontLst>
    <p:embeddedFont>
      <p:font typeface="Roboto"/>
      <p:regular r:id="rId33"/>
      <p:bold r:id="rId34"/>
      <p:italic r:id="rId35"/>
      <p:boldItalic r:id="rId36"/>
    </p:embeddedFont>
    <p:embeddedFont>
      <p:font typeface="Open Sans"/>
      <p:regular r:id="rId37"/>
      <p:bold r:id="rId38"/>
      <p:italic r:id="rId39"/>
      <p:boldItalic r:id="rId40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41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34" Type="http://schemas.openxmlformats.org/officeDocument/2006/relationships/font" Target="fonts/Roboto-bold.fntdata" /><Relationship Id="rId33" Type="http://schemas.openxmlformats.org/officeDocument/2006/relationships/font" Target="fonts/Roboto-regular.fntdata" /><Relationship Id="rId36" Type="http://schemas.openxmlformats.org/officeDocument/2006/relationships/font" Target="fonts/Roboto-boldItalic.fntdata" /><Relationship Id="rId35" Type="http://schemas.openxmlformats.org/officeDocument/2006/relationships/font" Target="fonts/Roboto-italic.fntdata" /><Relationship Id="rId37" Type="http://schemas.openxmlformats.org/officeDocument/2006/relationships/font" Target="fonts/OpenSans-regular.fntdata" /><Relationship Id="rId39" Type="http://schemas.openxmlformats.org/officeDocument/2006/relationships/font" Target="fonts/OpenSans-italic.fntdata" /><Relationship Id="rId38" Type="http://schemas.openxmlformats.org/officeDocument/2006/relationships/font" Target="fonts/OpenSans-bold.fntdata" /><Relationship Id="rId41" Type="http://customschemas.google.com/relationships/presentationmetadata" Target="metadata" /><Relationship Id="rId40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 </a:t>
            </a:r>
            <a:r>
              <a:rPr i="1"/>
              <a:t>(số liệu Brazil)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30600" y="2324100"/>
            <a:ext cx="5029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đo thật lệch khỏi chuẩn nhưng vẫn đúng phía ngưỡng </a:t>
            </a:r>
            <a:r>
              <a:rPr b="1"/>
              <a:t>2,5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75100" y="2324100"/>
            <a:ext cx="4152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mô hình: YOLO11n &amp;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Đánh đổi tối ưu cho mục tiêu </a:t>
            </a:r>
            <a:r>
              <a:rPr b="1"/>
              <a:t>suy luận trên CPU</a:t>
            </a:r>
            <a:r>
              <a:rPr/>
              <a:t> — nhẹ, nhanh, chính xác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Tầng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được chọn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 sánh với các phương án khác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Phát hiện</a:t>
                      </a:r>
                      <a:r>
                        <a:rPr/>
                        <a:t> </a:t>
                      </a:r>
                      <a:r>
                        <a:rPr i="1"/>
                        <a:t>(Detection)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(2,6M params)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YOLOv8n / v5n:</a:t>
                      </a:r>
                      <a:r>
                        <a:rPr/>
                        <a:t> mAP50 cao hơn, số tham số nhỏ hơn (2,6M vs 3,2M)• </a:t>
                      </a:r>
                      <a:r>
                        <a:rPr b="1"/>
                        <a:t>Vs Faster R-CNN / Transformer:</a:t>
                      </a:r>
                      <a:r>
                        <a:rPr/>
                        <a:t> Nhanh gấp 10–20× trên CPU (~35 ms/khung)• </a:t>
                      </a:r>
                      <a:r>
                        <a:rPr b="1"/>
                        <a:t>Lý do:</a:t>
                      </a:r>
                      <a:r>
                        <a:rPr/>
                        <a:t> Đáp ứng chỉ tiêu p95 độ trễ CPU không cần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Nhận dạng</a:t>
                      </a:r>
                      <a:r>
                        <a:rPr/>
                        <a:t> </a:t>
                      </a:r>
                      <a:r>
                        <a:rPr i="1"/>
                        <a:t>(OCR)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(4,5 MB)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So với EasyOCR / Tesseract:</a:t>
                      </a:r>
                      <a:r>
                        <a:rPr/>
                        <a:t> phép đo trên 2.801 biển trong cùng tầng bao quanh cho kết quả PaddleOCR cao hơn; kết luận chỉ áp dụng cho cấu hình này• </a:t>
                      </a:r>
                      <a:r>
                        <a:rPr b="1"/>
                        <a:t>So với PP-OCRv5 Server:</a:t>
                      </a:r>
                      <a:r>
                        <a:rPr/>
                        <a:t> bản Server nặng hơn, không phù hợp ràng buộc CPU• </a:t>
                      </a:r>
                      <a:r>
                        <a:rPr b="1"/>
                        <a:t>Lý do chọn v5 mobile:</a:t>
                      </a:r>
                      <a:r>
                        <a:rPr/>
                        <a:t> dung lượng nhỏ, độ chính xác mức ký tự 94,5% trên tập đánh giá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67100" y="2324100"/>
            <a:ext cx="5168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13200" y="2324100"/>
            <a:ext cx="40767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Giả định </a:t>
            </a:r>
            <a:r>
              <a:rPr b="1"/>
              <a:t>một dòng</a:t>
            </a:r>
            <a:r>
              <a:rPr/>
              <a:t> nằm trong </a:t>
            </a:r>
            <a:r>
              <a:rPr b="1"/>
              <a:t>hàm mất mát</a:t>
            </a:r>
            <a:r>
              <a:rPr/>
              <a:t> của CRNN/CTC —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46500" y="2324100"/>
            <a:ext cx="46101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27400" y="2324100"/>
            <a:ext cx="54483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</a:t>
            </a:r>
            <a:r>
              <a:rPr/>
              <a:t> · chia </a:t>
            </a:r>
            <a:r>
              <a:rPr b="1"/>
              <a:t>10.592 / 3.027 / 1.514</a:t>
            </a:r>
          </a:p>
          <a:p>
            <a:pPr lvl="0"/>
            <a:r>
              <a:rPr/>
              <a:t>Hợp nhất </a:t>
            </a:r>
            <a:r>
              <a:rPr b="1"/>
              <a:t>7 bộ công khai</a:t>
            </a:r>
            <a:r>
              <a:rPr/>
              <a:t>, loại </a:t>
            </a:r>
            <a:r>
              <a:rPr b="1"/>
              <a:t>44,2%</a:t>
            </a:r>
            <a:r>
              <a:rPr/>
              <a:t> là bản sao — hai bộ mất </a:t>
            </a:r>
            <a:r>
              <a:rPr b="1"/>
              <a:t>98%</a:t>
            </a:r>
            <a:r>
              <a:rPr/>
              <a:t> và </a:t>
            </a:r>
            <a:r>
              <a:rPr b="1"/>
              <a:t>100%</a:t>
            </a:r>
          </a:p>
          <a:p>
            <a:pPr lvl="0"/>
            <a:r>
              <a:rPr b="1"/>
              <a:t>Khử trùng lặp bằng pHash</a:t>
            </a:r>
            <a:r>
              <a:rPr/>
              <a:t> ở ngưỡng Hamming 10 — đo lại ở </a:t>
            </a:r>
            <a:r>
              <a:rPr b="1"/>
              <a:t>chính ngưỡng đó</a:t>
            </a:r>
            <a:r>
              <a:rPr/>
              <a:t> cho </a:t>
            </a:r>
            <a:r>
              <a:rPr b="1"/>
              <a:t>0 cặp</a:t>
            </a:r>
            <a:r>
              <a:rPr/>
              <a:t> Train–Test</a:t>
            </a:r>
          </a:p>
          <a:p>
            <a:pPr lvl="0" indent="0" marL="0">
              <a:buNone/>
            </a:pPr>
            <a:r>
              <a:rPr/>
              <a:t>⇒ Số 0 đó chứng minh </a:t>
            </a:r>
            <a:r>
              <a:rPr b="1"/>
              <a:t>bước gộp chạy đúng</a:t>
            </a:r>
            <a:r>
              <a:rPr/>
              <a:t>, không chứng minh tập test hoàn toàn độc lập: ở Hamming 12 vẫn còn </a:t>
            </a:r>
            <a:r>
              <a:rPr b="1"/>
              <a:t>791 cặp</a:t>
            </a:r>
          </a:p>
          <a:p>
            <a:pPr lvl="0" indent="0" marL="0">
              <a:buNone/>
            </a:pPr>
            <a:r>
              <a:rPr/>
              <a:t>⚠️ Hai bộ chiếm </a:t>
            </a:r>
            <a:r>
              <a:rPr b="1"/>
              <a:t>74,3%</a:t>
            </a:r>
            <a:r>
              <a:rPr/>
              <a:t> — đa dạng giấy phép, </a:t>
            </a:r>
            <a:r>
              <a:rPr b="1"/>
              <a:t>chưa</a:t>
            </a:r>
            <a:r>
              <a:rPr/>
              <a:t> đa dạng nội dung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</a:t>
            </a:r>
            <a:r>
              <a:rPr b="1"/>
              <a:t>10,05 giờ</a:t>
            </a:r>
            <a:r>
              <a:rPr/>
              <a:t> </a:t>
            </a:r>
            <a:r>
              <a:rPr i="1"/>
              <a:t>(30,2 phút/epoch)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43300" y="2324100"/>
            <a:ext cx="5003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nghẽn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0,7234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</a:t>
                      </a:r>
                      <a:r>
                        <a:rPr b="1"/>
                        <a:t>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chưa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đầu cuối</a:t>
                      </a:r>
                      <a:r>
                        <a:rPr/>
                        <a:t> — ảnh vào,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0,563</a:t>
                      </a:r>
                      <a:r>
                        <a:rPr/>
                        <a:t> </a:t>
                      </a:r>
                      <a:r>
                        <a:rPr i="1"/>
                        <a:t>(nhãn máy sinh)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17800" y="2324100"/>
            <a:ext cx="6654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372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08400" y="2324100"/>
            <a:ext cx="46990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 thực nghiệm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Chênh lệch 2 dòng còn </a:t>
            </a:r>
            <a:r>
              <a:rPr b="1"/>
              <a:t>23,07 điểm</a:t>
            </a:r>
            <a:r>
              <a:rPr/>
              <a:t>, cùng bậc mốc quốc tế </a:t>
            </a:r>
            <a:r>
              <a:rPr b="1"/>
              <a:t>48,6</a:t>
            </a:r>
            <a:r>
              <a:rPr/>
              <a:t> </a:t>
            </a:r>
            <a:r>
              <a:rPr i="1"/>
              <a:t>(Laroca 2022 — RodoSol, Brazil)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(0,6373 → 0,7701)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Phục hồi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 — phân rã suy luận thuần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Điểm nghẽn thời gian là </a:t>
            </a:r>
            <a:r>
              <a:rPr b="1"/>
              <a:t>OCR (60,8%)</a:t>
            </a:r>
            <a:r>
              <a:rPr/>
              <a:t>; tầng phát hiện chiếm </a:t>
            </a:r>
            <a:r>
              <a:rPr b="1"/>
              <a:t>38,0%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trong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Ước lượng ban đầu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Đo thật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% tổng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ảnh + tiền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1,78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1,2%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</a:t>
                      </a:r>
                      <a:r>
                        <a:rPr i="1"/>
                        <a:t>(YOLO11n @ 640, CPU)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55,66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38,0%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dạng chữ </a:t>
                      </a:r>
                      <a:r>
                        <a:rPr i="1"/>
                        <a:t>(PaddleOCR, mỗi biển)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89,16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60,8%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Hậu xử lý regex + kiểm tra hợp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0,03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suy luận thuần cho một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405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146,63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suy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hoàn tất dưới 500 ms; độ trễ tập trung ở các ca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09800" y="2324100"/>
            <a:ext cx="7696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1.004/1.004 kiểm thử tự động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độc lập không cần dựng server</a:t>
            </a:r>
          </a:p>
          <a:p>
            <a:pPr lvl="0"/>
            <a:r>
              <a:rPr/>
              <a:t>Chạy liên tục </a:t>
            </a:r>
            <a:r>
              <a:rPr b="1"/>
              <a:t>15 phút</a:t>
            </a:r>
            <a:r>
              <a:rPr/>
              <a:t>: 5.337 yêu cầu, </a:t>
            </a:r>
            <a:r>
              <a:rPr b="1"/>
              <a:t>0 lỗi</a:t>
            </a:r>
            <a:r>
              <a:rPr/>
              <a:t>, không rò rỉ bộ nhớ</a:t>
            </a:r>
          </a:p>
          <a:p>
            <a:pPr lvl="0"/>
            <a:r>
              <a:rPr/>
              <a:t>Cơ sở dữ liệu </a:t>
            </a:r>
            <a:r>
              <a:rPr b="1"/>
              <a:t>bền vững qua khởi động lại</a:t>
            </a:r>
            <a:r>
              <a:rPr/>
              <a:t>: 7.977 bản ghi, </a:t>
            </a:r>
            <a:r>
              <a:rPr b="1"/>
              <a:t>0 mất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đóng gói và xác minh hoàn chỉnh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tổng hợp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0,9829</a:t>
                      </a:r>
                      <a:r>
                        <a:rPr/>
                        <a:t> · mAP50-95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</a:t>
                      </a: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 </a:t>
                      </a:r>
                      <a:r>
                        <a:rPr b="1"/>
                        <a:t>0,7701</a:t>
                      </a:r>
                      <a:r>
                        <a:rPr/>
                        <a:t> · đầu cuối </a:t>
                      </a:r>
                      <a:r>
                        <a:rPr b="1"/>
                        <a:t>0,563</a:t>
                      </a:r>
                      <a:r>
                        <a:rPr/>
                        <a:t> </a:t>
                      </a:r>
                      <a:r>
                        <a:rPr i="1"/>
                        <a:t>(1.606 khung toàn cảnh, nhãn máy sinh)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510 ms</a:t>
                      </a:r>
                      <a:r>
                        <a:rPr/>
                        <a:t> </a:t>
                      </a:r>
                      <a:r>
                        <a:rPr i="1"/>
                        <a:t>(mục tiêu 800)</a:t>
                      </a:r>
                      <a:r>
                        <a:rPr/>
                        <a:t> · video </a:t>
                      </a:r>
                      <a:r>
                        <a:rPr b="1"/>
                        <a:t>0,87×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Thời gian thực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khung hình </a:t>
                      </a:r>
                      <a:r>
                        <a:rPr b="1"/>
                        <a:t>5,63 FPS</a:t>
                      </a:r>
                      <a:r>
                        <a:rPr/>
                        <a:t> </a:t>
                      </a:r>
                      <a:r>
                        <a:rPr i="1"/>
                        <a:t>(sàn 3, mục tiêu 5 — đo ở tầng API </a:t>
                      </a:r>
                      <a:r>
                        <a:rPr i="1">
                          <a:latin typeface="Courier"/>
                        </a:rPr>
                        <a:t>POST /api/detect/frame</a:t>
                      </a:r>
                      <a:r>
                        <a:rPr i="1"/>
                        <a:t>, không qua trang web)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liên tục </a:t>
                      </a:r>
                      <a:r>
                        <a:rPr b="1"/>
                        <a:t>100%</a:t>
                      </a:r>
                      <a:r>
                        <a:rPr/>
                        <a:t> · CSDL sống sót khởi động lại </a:t>
                      </a:r>
                      <a:r>
                        <a:rPr b="1"/>
                        <a:t>0 mất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1.004 test</a:t>
                      </a:r>
                      <a:r>
                        <a:rPr/>
                        <a:t>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 và hướng phát triển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Ba hạn chế chính</a:t>
            </a:r>
            <a:r>
              <a:rPr/>
              <a:t> — và hướng xử lý tương ứng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Hướng phát triển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OCR biển 2 dòng còn thấp</a:t>
                      </a:r>
                      <a:r>
                        <a:rPr/>
                        <a:t> — 0,7234 so với 0,9541 của biển 1 dòng, mà biển 2 dòng chiếm 79,8% tập nhãn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Huấn luyện lại bộ nhận dạng riêng cho biển số Việt Nam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Nhãn ảnh hiện trường do mô hình sinh, không phải người gán</a:t>
                      </a:r>
                      <a:r>
                        <a:rPr/>
                        <a:t> — A7 = 56,3% phải đọc kèm hạn chế này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Xây dựng bộ nhãn chuỗi do người gán cho ảnh toàn cảnh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Chưa đánh giá xuyên bộ dữ liệu</a:t>
                      </a:r>
                      <a:r>
                        <a:rPr/>
                        <a:t> — giữ nguyên một nguồn không dùng để huấn luyện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Dựng tập test xuyên bộ để đo tổng quát hoá ngoài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</a:t>
            </a:r>
            <a:r>
              <a:rPr b="1"/>
              <a:t>5 tầng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 — mAP50 </a:t>
            </a:r>
            <a:r>
              <a:rPr b="1"/>
              <a:t>0,983</a:t>
            </a:r>
          </a:p>
          <a:p>
            <a:pPr lvl="0"/>
            <a:r>
              <a:rPr/>
              <a:t>Hậu xử lý </a:t>
            </a:r>
            <a:r>
              <a:rPr b="1"/>
              <a:t>+13,28 điểm</a:t>
            </a:r>
            <a:r>
              <a:rPr/>
              <a:t>, đo tách bạch</a:t>
            </a:r>
          </a:p>
          <a:p>
            <a:pPr lvl="0"/>
            <a:r>
              <a:rPr b="1"/>
              <a:t>1.004/1.004 kiểm thử</a:t>
            </a:r>
            <a:r>
              <a:rPr/>
              <a:t> đạt · bao phủ </a:t>
            </a:r>
            <a:r>
              <a:rPr b="1"/>
              <a:t>87,7%</a:t>
            </a:r>
          </a:p>
          <a:p>
            <a:pPr lvl="0"/>
            <a:r>
              <a:rPr/>
              <a:t>Định lượng riêng biển </a:t>
            </a:r>
            <a:r>
              <a:rPr b="1"/>
              <a:t>1 dòng</a:t>
            </a:r>
            <a:r>
              <a:rPr/>
              <a:t> và </a:t>
            </a:r>
            <a:r>
              <a:rPr b="1"/>
              <a:t>2 dòng</a:t>
            </a:r>
            <a:r>
              <a:rPr/>
              <a:t> trên cùng hệ thống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1 — Phân tích lỗi (Error Analysis)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Sáu loại lỗi </a:t>
            </a:r>
            <a:r>
              <a:rPr b="1"/>
              <a:t>loại trừ lẫn nhau</a:t>
            </a:r>
            <a:r>
              <a:rPr/>
              <a:t> — </a:t>
            </a:r>
            <a:r>
              <a:rPr b="1"/>
              <a:t>644 ca sai trên 2.801 biển (22,99%)</a:t>
            </a:r>
            <a:r>
              <a:rPr/>
              <a:t>, khớp đúng 1 − A6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Loại lỗi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ca sai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 dòng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 dòng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Nhầm ký tự</a:t>
                      </a:r>
                      <a:r>
                        <a:rPr/>
                        <a:t> </a:t>
                      </a:r>
                      <a:r>
                        <a:rPr i="1"/>
                        <a:t>(thay thế)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60,87%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375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11,80%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Thừa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3,11%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Sai thứ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Trả chuỗi rỗng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1,55%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Hỗn hợp nhiều loại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22,67%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618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2 — Bóc tách đóng góp (Ablation)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Đóng góp độc lập của từng module kỹ thuật vào độ chính xác đọc chuỗi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hình / Thử nghiệm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Đóng góp đo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Baseline</a:t>
                      </a:r>
                      <a:r>
                        <a:rPr/>
                        <a:t> </a:t>
                      </a:r>
                      <a:r>
                        <a:rPr i="1"/>
                        <a:t>(Model gốc PaddleOCR 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Mức cơ sở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(Sửa đúng 372 biển)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cứu dòng trên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+209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nắn hình chống nghiêng/méo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Fine-tune OCR (giữ detector)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0,6762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❌ Sụt -7,5 điểm do lệch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3 — Tra nhanh số liệu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15.133</a:t>
                      </a:r>
                      <a:r>
                        <a:rPr/>
                        <a:t> ảnh · </a:t>
                      </a:r>
                      <a:r>
                        <a:rPr b="1"/>
                        <a:t>15.977</a:t>
                      </a:r>
                      <a:r>
                        <a:rPr/>
                        <a:t>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</a:t>
                      </a:r>
                      <a:r>
                        <a:rPr>
                          <a:latin typeface="Courier"/>
                        </a:rPr>
                        <a:t>imgsz 640</a:t>
                      </a:r>
                      <a:r>
                        <a:rPr/>
                        <a:t> · 20 epoch ·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  <a:r>
                        <a:rPr/>
                        <a:t> </a:t>
                      </a:r>
                      <a:r>
                        <a:rPr i="1"/>
                        <a:t>(1 dòng 0,954 · 2 dòng 0,723)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p50 </a:t>
                      </a:r>
                      <a:r>
                        <a:rPr b="1"/>
                        <a:t>150 ms</a:t>
                      </a:r>
                      <a:r>
                        <a:rPr/>
                        <a:t> · p95 </a:t>
                      </a:r>
                      <a:r>
                        <a:rPr b="1"/>
                        <a:t>510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1.004</a:t>
                      </a:r>
                      <a:r>
                        <a:rPr/>
                        <a:t> đạt · bao phủ </a:t>
                      </a:r>
                      <a:r>
                        <a:rPr b="1"/>
                        <a:t>87,7%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4 — Kiến trúc hai mô hình: YOLO11n và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một dòng hay hai dòng </a:t>
            </a:r>
            <a:r>
              <a:rPr b="1"/>
              <a:t>không do mô hình quyết</a:t>
            </a:r>
            <a:r>
              <a:rPr/>
              <a:t> — suy ra ở bước hậu xử lý theo tỉ lệ khung hình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(phát hiện)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(nhận dạng)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C3k2 + </a:t>
                      </a:r>
                      <a:r>
                        <a:rPr b="1"/>
                        <a:t>C2PSA</a:t>
                      </a:r>
                      <a:r>
                        <a:rPr/>
                        <a:t> </a:t>
                      </a:r>
                      <a:r>
                        <a:rPr i="1"/>
                        <a:t>(attention)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PP-LCNetV3</a:t>
                      </a:r>
                      <a:r>
                        <a:rPr/>
                        <a:t> </a:t>
                      </a:r>
                      <a:r>
                        <a:rPr i="1"/>
                        <a:t>(lightweight CPU net)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Cơ chế đặc trưng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SPPF — gộp ngữ cảnh đa tỉ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SVTR-HG</a:t>
                      </a:r>
                      <a:r>
                        <a:rPr/>
                        <a:t> — transformer có cổng, trên dải cao 64 px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Đầu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Anchor-free decoupled head, một lớp </a:t>
                      </a:r>
                      <a:r>
                        <a:rPr>
                          <a:latin typeface="Courier"/>
                        </a:rPr>
                        <a:t>license_plate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CTC head</a:t>
                      </a:r>
                      <a:r>
                        <a:rPr/>
                        <a:t> — giải mã chuỗi không cần nhãn từng vạch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2,6M tham số</a:t>
                      </a:r>
                      <a:r>
                        <a:rPr/>
                        <a:t> · 6,5 GFLOPs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4,5 MB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Đo được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mAP@0.5 = </a:t>
                      </a:r>
                      <a:r>
                        <a:rPr b="1"/>
                        <a:t>0,9829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1 − CER = </a:t>
                      </a:r>
                      <a:r>
                        <a:rPr b="1"/>
                        <a:t>94,83%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2026-08-31T06:19:18Z</dcterms:created>
  <dcterms:modified xsi:type="dcterms:W3CDTF">2026-08-31T06:19:18Z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