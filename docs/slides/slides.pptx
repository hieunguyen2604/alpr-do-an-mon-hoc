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ports/07-benchmark-p1-resolved.json"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slide bảo vệ đồ án tốt nghiệp</a:t>
            </a:r>
          </a:p>
        </p:txBody>
      </p:sp>
      <p:sp>
        <p:nvSpPr>
          <p:cNvPr id="3" name="Content Placeholder 2"/>
          <p:cNvSpPr>
            <a:spLocks noGrp="1"/>
          </p:cNvSpPr>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Cách dùng tài liệu này</a:t>
            </a:r>
          </a:p>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 nguyên tắc trình bày</a:t>
            </a:r>
          </a:p>
          <a:p>
            <a:pPr lvl="0" indent="-342900" marL="342900">
              <a:buAutoNum type="arabicPeriod"/>
            </a:pPr>
            <a:r>
              <a:rPr b="1"/>
              <a:t>Không đọc slide.</a:t>
            </a:r>
            <a:r>
              <a:rPr/>
              <a:t> Slide là chỗ dựa thị giác; lời nói mang nội dung.</a:t>
            </a:r>
          </a:p>
          <a:p>
            <a:pPr lvl="0" indent="-342900" marL="342900">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342900" marL="342900">
              <a:buAutoNum type="arabicPeriod"/>
            </a:pPr>
            <a:r>
              <a:rPr b="1"/>
              <a:t>Mọi con số hiệu năng đọc kèm phần cứng.</a:t>
            </a:r>
            <a:r>
              <a:rPr/>
              <a:t> Nói "mAP 0,983" phải kèm "trên tập test v3, imgsz 640, </a:t>
            </a:r>
            <a:r>
              <a:rPr>
                <a:latin typeface="Courier"/>
              </a:rPr>
              <a:t>best.pt</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Bảng trạng thái dữ liệu của bộ slide</a:t>
            </a:r>
          </a:p>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 </a:t>
                      </a:r>
                      <a:r>
                        <a:rPr b="1"/>
                        <a:t>cần chụp lại</a:t>
                      </a:r>
                    </a:p>
                  </a:txBody>
                </a:tc>
                <a:tc>
                  <a:txBody>
                    <a:bodyPr/>
                    <a:lstStyle/>
                    <a:p>
                      <a:pPr lvl="0" indent="0" marL="0">
                        <a:buNone/>
                      </a:pPr>
                      <a:r>
                        <a:rPr/>
                        <a:t>Còn </a:t>
                      </a:r>
                      <a:r>
                        <a:rPr b="1"/>
                        <a:t>3 ảnh dùng được</a:t>
                      </a:r>
                      <a:r>
                        <a:rPr/>
                        <a:t> trong </a:t>
                      </a:r>
                      <a:r>
                        <a:rPr>
                          <a:latin typeface="Courier"/>
                        </a:rPr>
                        <a:t>docs/screenshots/</a:t>
                      </a:r>
                      <a:r>
                        <a:rPr/>
                        <a:t> (</a:t>
                      </a:r>
                      <a:r>
                        <a:rPr>
                          <a:latin typeface="Courier"/>
                        </a:rPr>
                        <a:t>image-detection</a:t>
                      </a:r>
                      <a:r>
                        <a:rPr/>
                        <a:t> · </a:t>
                      </a:r>
                      <a:r>
                        <a:rPr>
                          <a:latin typeface="Courier"/>
                        </a:rPr>
                        <a:t>video-detection</a:t>
                      </a:r>
                      <a:r>
                        <a:rPr/>
                        <a:t> · </a:t>
                      </a:r>
                      <a:r>
                        <a:rPr>
                          <a:latin typeface="Courier"/>
                        </a:rPr>
                        <a:t>history</a:t>
                      </a:r>
                      <a:r>
                        <a:rPr/>
                        <a:t>). </a:t>
                      </a:r>
                      <a:r>
                        <a:rPr>
                          <a:latin typeface="Courier"/>
                        </a:rPr>
                        <a:t>dashboard.png</a:t>
                      </a:r>
                      <a:r>
                        <a:rPr/>
                        <a:t> </a:t>
                      </a:r>
                      <a:r>
                        <a:rPr b="1"/>
                        <a:t>bỏ</a:t>
                      </a:r>
                      <a:r>
                        <a:rPr/>
                        <a:t> — trang Tổng quan đã gỡ 2026-07-20. Cả 3 ảnh chụp khi sidebar còn 5 mục và trang chủ còn là Tổng quan ⇒ </a:t>
                      </a:r>
                      <a:r>
                        <a:rPr b="1"/>
                        <a:t>chụp lại trước khi nộp</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PHẦN A — MỞ ĐẦU</a:t>
            </a:r>
          </a:p>
        </p:txBody>
      </p:sp>
      <p:sp>
        <p:nvSpPr>
          <p:cNvPr id="3" name="Content Placeholder 2"/>
          <p:cNvSpPr>
            <a:spLocks noGrp="1"/>
          </p:cNvSpPr>
          <p:nvPr>
            <p:ph idx="1"/>
          </p:nvPr>
        </p:nvSpPr>
        <p:spPr/>
        <p:txBody>
          <a:bodyPr/>
          <a:lstStyle/>
          <a:p>
            <a:pPr lvl="0" indent="0" marL="0">
              <a:spcBef>
                <a:spcPts val="3000"/>
              </a:spcBef>
              <a:buNone/>
            </a:pPr>
            <a:r>
              <a:rPr b="1"/>
              <a:t>S1 — Bìa</a:t>
            </a:r>
          </a:p>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trang </a:t>
            </a:r>
            <a:r>
              <a:rPr b="1"/>
              <a:t>Nhận dạng ảnh</a:t>
            </a:r>
            <a:r>
              <a:rPr/>
              <a:t> (</a:t>
            </a:r>
            <a:r>
              <a:rPr>
                <a:latin typeface="Courier"/>
              </a:rPr>
              <a:t>/</a:t>
            </a:r>
            <a:r>
              <a:rPr/>
              <a:t>, trang chủ)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 — Đặt vấn đề: một con số</a:t>
            </a:r>
          </a:p>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S3 — Mục tiêu và phạm vi</a:t>
            </a:r>
          </a:p>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B — NỀN TẢNG</a:t>
            </a:r>
          </a:p>
        </p:txBody>
      </p:sp>
      <p:sp>
        <p:nvSpPr>
          <p:cNvPr id="4" name="Text Placeholder 3"/>
          <p:cNvSpPr>
            <a:spLocks noGrp="1"/>
          </p:cNvSpPr>
          <p:nvPr>
            <p:ph idx="2" sz="half" type="body"/>
          </p:nvPr>
        </p:nvSpPr>
        <p:spPr/>
        <p:txBody>
          <a:bodyPr/>
          <a:lstStyle/>
          <a:p>
            <a:pPr lvl="0" indent="0" marL="0">
              <a:spcBef>
                <a:spcPts val="3000"/>
              </a:spcBef>
              <a:buNone/>
            </a:pPr>
            <a:r>
              <a:rPr b="1"/>
              <a:t>S4 — Tổng quan các hướng tiếp cận</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S5 — Đặc thù biển số Việt Nam</a:t>
            </a:r>
          </a:p>
          <a:p>
            <a:pPr lvl="0" indent="0" marL="0">
              <a:buNone/>
            </a:pPr>
            <a:r>
              <a:rPr b="1"/>
              <a:t>Nội dung trên slide</a:t>
            </a:r>
          </a:p>
          <a:p>
            <a:pPr lvl="0" indent="0" marL="0">
              <a:buNone/>
            </a:pPr>
            <a:r>
              <a:rPr b="1"/>
              <a:t>Ba đặc thù không có ở bộ quy tắc nước ngoài nào:</a:t>
            </a:r>
          </a:p>
          <a:p>
            <a:pPr lvl="0" indent="-342900" marL="342900">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342900" marL="342900">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342900" marL="342900">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S6 — Căn cứ pháp lý: một phát hiện</a:t>
            </a:r>
          </a:p>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C — THIẾT KẾ</a:t>
            </a:r>
          </a:p>
        </p:txBody>
      </p:sp>
      <p:sp>
        <p:nvSpPr>
          <p:cNvPr id="4" name="Text Placeholder 3"/>
          <p:cNvSpPr>
            <a:spLocks noGrp="1"/>
          </p:cNvSpPr>
          <p:nvPr>
            <p:ph idx="2" sz="half" type="body"/>
          </p:nvPr>
        </p:nvSpPr>
        <p:spPr/>
        <p:txBody>
          <a:bodyPr/>
          <a:lstStyle/>
          <a:p>
            <a:pPr lvl="0" indent="0" marL="0">
              <a:spcBef>
                <a:spcPts val="3000"/>
              </a:spcBef>
              <a:buNone/>
            </a:pPr>
            <a:r>
              <a:rPr b="1"/>
              <a:t>S7 — Kiến trúc hệ thống</a:t>
            </a:r>
          </a:p>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3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S8 — Nguyên tắc: tách tầng AI khỏi tầng API</a:t>
            </a:r>
          </a:p>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S9 — Pipeline AI</a:t>
            </a:r>
          </a:p>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D — DỮ LIỆU VÀ HUẤN LUYỆN</a:t>
            </a:r>
          </a:p>
        </p:txBody>
      </p:sp>
      <p:sp>
        <p:nvSpPr>
          <p:cNvPr id="4" name="Text Placeholder 3"/>
          <p:cNvSpPr>
            <a:spLocks noGrp="1"/>
          </p:cNvSpPr>
          <p:nvPr>
            <p:ph idx="2" sz="half" type="body"/>
          </p:nvPr>
        </p:nvSpPr>
        <p:spPr/>
        <p:txBody>
          <a:bodyPr/>
          <a:lstStyle/>
          <a:p>
            <a:pPr lvl="0" indent="0" marL="0">
              <a:spcBef>
                <a:spcPts val="3000"/>
              </a:spcBef>
              <a:buNone/>
            </a:pPr>
            <a:r>
              <a:rPr b="1"/>
              <a:t>S10 — Bộ dữ liệu</a:t>
            </a:r>
          </a:p>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S11 — Huấn luyện: cấu hình và lý do</a:t>
            </a:r>
          </a:p>
          <a:p>
            <a:pPr lvl="0" indent="0" marL="0">
              <a:buNone/>
            </a:pPr>
            <a:r>
              <a:rPr b="1"/>
              <a:t>Nội dung trên slide</a:t>
            </a:r>
          </a:p>
          <a:p>
            <a:pPr lvl="0" indent="0" marL="0">
              <a:buNone/>
            </a:pPr>
            <a:r>
              <a:rPr b="1"/>
              <a:t>Chọn YOLO11n — loại bằng hai bước:</a:t>
            </a:r>
          </a:p>
          <a:p>
            <a:pPr lvl="0" indent="-342900" marL="342900">
              <a:buAutoNum type="arabicPeriod"/>
            </a:pPr>
            <a:r>
              <a:rPr/>
              <a:t>Máy triển khai không GPU ⇒ bắt buộc có </a:t>
            </a:r>
            <a:r>
              <a:rPr b="1"/>
              <a:t>số liệu tốc độ CPU chính thức</a:t>
            </a:r>
            <a:r>
              <a:rPr/>
              <a:t> → YOLOv9/v10/v12/v13 bị loại vì thiếu căn cứ, không phải vì kém</a:t>
            </a:r>
          </a:p>
          <a:p>
            <a:pPr lvl="0" indent="-342900" marL="342900">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S12 — Kết quả detection ✅ ĐÃ CÓ SỐ CÔNG BỐ</a:t>
            </a:r>
          </a:p>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723900"/>
                <a:gridCol w="723900"/>
                <a:gridCol w="723900"/>
                <a:gridCol w="723900"/>
                <a:gridCol w="723900"/>
                <a:gridCol w="723900"/>
                <a:gridCol w="7239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E — ĐÓNG GÓP KỸ THUẬT LÕI</a:t>
            </a:r>
          </a:p>
        </p:txBody>
      </p:sp>
      <p:sp>
        <p:nvSpPr>
          <p:cNvPr id="4" name="Text Placeholder 3"/>
          <p:cNvSpPr>
            <a:spLocks noGrp="1"/>
          </p:cNvSpPr>
          <p:nvPr>
            <p:ph idx="2" sz="half" type="body"/>
          </p:nvPr>
        </p:nvSpPr>
        <p:spPr/>
        <p:txBody>
          <a:bodyPr/>
          <a:lstStyle/>
          <a:p>
            <a:pPr lvl="0" indent="0" marL="0">
              <a:spcBef>
                <a:spcPts val="3000"/>
              </a:spcBef>
              <a:buNone/>
            </a:pPr>
            <a:r>
              <a:rPr b="1"/>
              <a:t>S13 — Xử lý biển 2 dòng</a:t>
            </a:r>
          </a:p>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S14 — Bộ luật hậu xử lý theo vị trí</a:t>
            </a:r>
          </a:p>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S15 — Đo định lượng đóng góp của hậu xử lý ✅ ĐÃ CÓ SỐ (OCR KHÔNG ĐẠT — trình bày trung thực)</a:t>
            </a:r>
          </a:p>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F — HỆ THỐNG VÀ HIỆU NĂNG</a:t>
            </a:r>
          </a:p>
        </p:txBody>
      </p:sp>
      <p:sp>
        <p:nvSpPr>
          <p:cNvPr id="4" name="Text Placeholder 3"/>
          <p:cNvSpPr>
            <a:spLocks noGrp="1"/>
          </p:cNvSpPr>
          <p:nvPr>
            <p:ph idx="2" sz="half" type="body"/>
          </p:nvPr>
        </p:nvSpPr>
        <p:spPr/>
        <p:txBody>
          <a:bodyPr/>
          <a:lstStyle/>
          <a:p>
            <a:pPr lvl="0" indent="0" marL="0">
              <a:spcBef>
                <a:spcPts val="3000"/>
              </a:spcBef>
              <a:buNone/>
            </a:pPr>
            <a:r>
              <a:rPr b="1"/>
              <a:t>S16 — Giao diện hệ thống</a:t>
            </a:r>
          </a:p>
          <a:p>
            <a:pPr lvl="0" indent="0" marL="0">
              <a:buNone/>
            </a:pPr>
            <a:r>
              <a:rPr b="1"/>
              <a:t>Nội dung trên slide</a:t>
            </a:r>
          </a:p>
          <a:p>
            <a:pPr lvl="0" indent="0" marL="0">
              <a:buNone/>
            </a:pPr>
            <a:r>
              <a:rPr b="1"/>
              <a:t>3 trang trong một khung ứng dụng chung: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Nhận dạng ảnh </a:t>
                      </a:r>
                      <a:r>
                        <a:rPr i="1"/>
                        <a:t>(trang chủ)</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i="1"/>
              <a:t>Chế độ thời gian thực (webcam) giữ ở tầng API — </a:t>
            </a:r>
            <a:r>
              <a:rPr i="1">
                <a:latin typeface="Courier"/>
              </a:rPr>
              <a:t>POST /api/detect/frame</a:t>
            </a:r>
            <a:r>
              <a:rPr i="1"/>
              <a:t>, gửi từng khung qua HTTP, mục tiêu ~5 FPS; trang Webcam đã gỡ khỏi giao diện 2026-07-20.</a:t>
            </a:r>
          </a:p>
          <a:p>
            <a:pPr lvl="0" indent="0" marL="0">
              <a:buNone/>
            </a:pPr>
            <a:r>
              <a:rPr b="1"/>
              <a:t>Hai lần thu gọn phạm vi giao diện trong ngày 2026-07-20 — nói thẳng, đừng để hội đồng tự phát hiện: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Trang gỡ</a:t>
                      </a:r>
                    </a:p>
                  </a:txBody>
                  <a:tcPr/>
                </a:tc>
                <a:tc>
                  <a:txBody>
                    <a:bodyPr/>
                    <a:lstStyle/>
                    <a:p>
                      <a:pPr lvl="0" indent="0" marL="0">
                        <a:buNone/>
                      </a:pPr>
                      <a:r>
                        <a:rPr/>
                        <a:t>Yêu cầu bị ảnh hưởng</a:t>
                      </a:r>
                    </a:p>
                  </a:txBody>
                  <a:tcPr/>
                </a:tc>
                <a:tc>
                  <a:txBody>
                    <a:bodyPr/>
                    <a:lstStyle/>
                    <a:p>
                      <a:pPr lvl="0" indent="0" marL="0">
                        <a:buNone/>
                      </a:pPr>
                      <a:r>
                        <a:rPr/>
                        <a:t>Năng lực còn lại</a:t>
                      </a:r>
                    </a:p>
                  </a:txBody>
                  <a:tcPr/>
                </a:tc>
              </a:tr>
              <a:tr h="0">
                <a:tc>
                  <a:txBody>
                    <a:bodyPr/>
                    <a:lstStyle/>
                    <a:p>
                      <a:pPr lvl="0" indent="0" marL="0">
                        <a:buNone/>
                      </a:pPr>
                      <a:r>
                        <a:rPr/>
                        <a:t>Webcam</a:t>
                      </a:r>
                    </a:p>
                  </a:txBody>
                </a:tc>
                <a:tc>
                  <a:txBody>
                    <a:bodyPr/>
                    <a:lstStyle/>
                    <a:p>
                      <a:pPr lvl="0" indent="0" marL="0">
                        <a:buNone/>
                      </a:pPr>
                      <a:r>
                        <a:rPr/>
                        <a:t>FR-3.1, FR-3.4 (M/M → </a:t>
                      </a:r>
                      <a:r>
                        <a:rPr b="1"/>
                        <a:t>W</a:t>
                      </a:r>
                      <a:r>
                        <a:rPr/>
                        <a:t>)</a:t>
                      </a:r>
                    </a:p>
                  </a:txBody>
                </a:tc>
                <a:tc>
                  <a:txBody>
                    <a:bodyPr/>
                    <a:lstStyle/>
                    <a:p>
                      <a:pPr lvl="0" indent="0" marL="0">
                        <a:buNone/>
                      </a:pPr>
                      <a:r>
                        <a:rPr>
                          <a:latin typeface="Courier"/>
                        </a:rPr>
                        <a:t>POST /api/detect/frame</a:t>
                      </a:r>
                      <a:r>
                        <a:rPr/>
                        <a:t> — không đổi một dòng, vẫn có kiểm thử</a:t>
                      </a:r>
                    </a:p>
                  </a:txBody>
                </a:tc>
              </a:tr>
              <a:tr h="0">
                <a:tc>
                  <a:txBody>
                    <a:bodyPr/>
                    <a:lstStyle/>
                    <a:p>
                      <a:pPr lvl="0" indent="0" marL="0">
                        <a:buNone/>
                      </a:pPr>
                      <a:r>
                        <a:rPr b="1"/>
                        <a:t>Tổng quan (Dashboard)</a:t>
                      </a:r>
                    </a:p>
                  </a:txBody>
                </a:tc>
                <a:tc>
                  <a:txBody>
                    <a:bodyPr/>
                    <a:lstStyle/>
                    <a:p>
                      <a:pPr lvl="0" indent="0" marL="0">
                        <a:buNone/>
                      </a:pPr>
                      <a:r>
                        <a:rPr b="1"/>
                        <a:t>FR-4.1 (M → W)</a:t>
                      </a:r>
                      <a:r>
                        <a:rPr/>
                        <a:t>, FR-4.2 (S → W)</a:t>
                      </a:r>
                    </a:p>
                  </a:txBody>
                </a:tc>
                <a:tc>
                  <a:txBody>
                    <a:bodyPr/>
                    <a:lstStyle/>
                    <a:p>
                      <a:pPr lvl="0" indent="0" marL="0">
                        <a:buNone/>
                      </a:pPr>
                      <a:r>
                        <a:rPr>
                          <a:latin typeface="Courier"/>
                        </a:rPr>
                        <a:t>GET /api/statistics</a:t>
                      </a:r>
                      <a:r>
                        <a:rPr/>
                        <a:t> và </a:t>
                      </a:r>
                      <a:r>
                        <a:rPr>
                          <a:latin typeface="Courier"/>
                        </a:rPr>
                        <a:t>GET /health</a:t>
                      </a:r>
                      <a:r>
                        <a:rPr/>
                        <a:t> </a:t>
                      </a:r>
                      <a:r>
                        <a:rPr b="1"/>
                        <a:t>vẫn phục vụ</a:t>
                      </a:r>
                      <a:r>
                        <a:rPr/>
                        <a:t>, vẫn có kiểm thử tích hợp</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FR-4.1 là lần đầu một yêu cầu mức </a:t>
            </a:r>
            <a:r>
              <a:rPr b="1" i="1"/>
              <a:t>Must</a:t>
            </a:r>
            <a:r>
              <a:rPr b="1"/>
              <a:t> bị đưa ra khỏi phạm vi.</a:t>
            </a:r>
            <a:r>
              <a:rPr/>
              <a:t> Đây là quyết định thu gọn demo, không phải một chức năng thất bại — trang đã từng chạy thật và còn nguyên trong lịch sử git. Đánh đổi đo được: gỡ </a:t>
            </a:r>
            <a:r>
              <a:rPr>
                <a:latin typeface="Courier"/>
              </a:rPr>
              <a:t>recharts</a:t>
            </a:r>
            <a:r>
              <a:rPr/>
              <a:t> làm gói tải về giảm từ ~730 KB xuống </a:t>
            </a:r>
            <a:r>
              <a:rPr b="1"/>
              <a:t>328,8 KB (−55%)</a:t>
            </a:r>
            <a:r>
              <a:rPr/>
              <a:t>. Chi tiết trả lời ở </a:t>
            </a:r>
            <a:r>
              <a:rPr b="1"/>
              <a:t>E4c</a:t>
            </a:r>
            <a:r>
              <a:rPr/>
              <a:t> của </a:t>
            </a:r>
            <a:r>
              <a:rPr>
                <a:latin typeface="Courier"/>
              </a:rPr>
              <a:t>10-defense-qa.md</a:t>
            </a:r>
            <a:r>
              <a:rPr/>
              <a:t>.</a:t>
            </a:r>
          </a:p>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dùng </a:t>
            </a:r>
            <a:r>
              <a:rPr b="1"/>
              <a:t>3 tệp</a:t>
            </a:r>
            <a:r>
              <a:rPr/>
              <a:t> trong </a:t>
            </a:r>
            <a:r>
              <a:rPr>
                <a:latin typeface="Courier"/>
              </a:rPr>
              <a:t>docs/screenshots/</a:t>
            </a:r>
            <a:r>
              <a:rPr/>
              <a:t>:</a:t>
            </a:r>
          </a:p>
          <a:p>
            <a:pPr lvl="1"/>
            <a:r>
              <a:rPr>
                <a:latin typeface="Courier"/>
              </a:rPr>
              <a:t>image-detection.png</a:t>
            </a:r>
            <a:r>
              <a:rPr/>
              <a:t> (ảnh lớn — quan trọng nhất vì hiện kết quả AI thật)</a:t>
            </a:r>
          </a:p>
          <a:p>
            <a:pPr lvl="1"/>
            <a:r>
              <a:rPr>
                <a:latin typeface="Courier"/>
              </a:rPr>
              <a:t>video-detection.png</a:t>
            </a:r>
            <a:r>
              <a:rPr/>
              <a:t>, </a:t>
            </a:r>
            <a:r>
              <a:rPr>
                <a:latin typeface="Courier"/>
              </a:rPr>
              <a:t>history.png</a:t>
            </a:r>
            <a:r>
              <a:rPr/>
              <a:t> (2 ảnh nhỏ xếp hàng dưới)</a:t>
            </a:r>
          </a:p>
          <a:p>
            <a:pPr lvl="1"/>
            <a:r>
              <a:rPr/>
              <a:t>❌ </a:t>
            </a:r>
            <a:r>
              <a:rPr b="1"/>
              <a:t>Không dùng </a:t>
            </a:r>
            <a:r>
              <a:rPr b="1">
                <a:latin typeface="Courier"/>
              </a:rPr>
              <a:t>dashboard.png</a:t>
            </a:r>
            <a:r>
              <a:rPr/>
              <a:t> — trang Tổng quan đã gỡ khỏi giao diện</a:t>
            </a:r>
          </a:p>
          <a:p>
            <a:pPr lvl="0" indent="0" marL="1270000">
              <a:buNone/>
            </a:pPr>
            <a:r>
              <a:rPr sz="2000"/>
              <a:t>⚠️ </a:t>
            </a:r>
            <a:r>
              <a:rPr sz="2000" b="1"/>
              <a:t>Phải chụp lại 3 ảnh này trước khi nộp.</a:t>
            </a:r>
            <a:r>
              <a:rPr sz="2000"/>
              <a:t> Bản hiện có được chụp khi sidebar còn </a:t>
            </a:r>
            <a:r>
              <a:rPr sz="2000" b="1"/>
              <a:t>5 mục</a:t>
            </a:r>
            <a:r>
              <a:rPr sz="2000"/>
              <a:t> và trang chủ còn là </a:t>
            </a:r>
            <a:r>
              <a:rPr sz="2000" b="1"/>
              <a:t>Tổng quan</a:t>
            </a:r>
            <a:r>
              <a:rPr sz="2000"/>
              <a:t>. Giao diện bây giờ chỉ còn </a:t>
            </a:r>
            <a:r>
              <a:rPr sz="2000" b="1"/>
              <a:t>3 mục</a:t>
            </a:r>
            <a:r>
              <a:rPr sz="2000"/>
              <a:t>, trang chủ là </a:t>
            </a:r>
            <a:r>
              <a:rPr sz="2000" b="1"/>
              <a:t>Nhận dạng ảnh</a:t>
            </a:r>
            <a:r>
              <a:rPr sz="2000"/>
              <a:t> và </a:t>
            </a:r>
            <a:r>
              <a:rPr sz="2000" b="1"/>
              <a:t>không còn trang Tổng quan</a:t>
            </a:r>
            <a:r>
              <a:rPr sz="2000"/>
              <a:t> — chiếu ảnh cũ lên slide sẽ mâu thuẫn với chính lời nói ở dưới.</a:t>
            </a:r>
          </a:p>
          <a:p>
            <a:pPr lvl="0" indent="0" marL="0">
              <a:buNone/>
            </a:pPr>
            <a:r>
              <a:rPr b="1"/>
              <a:t>Speaker notes</a:t>
            </a:r>
            <a:r>
              <a:rPr/>
              <a:t> </a:t>
            </a:r>
            <a:r>
              <a:rPr i="1"/>
              <a:t>(40 s)</a:t>
            </a:r>
          </a:p>
          <a:p>
            <a:pPr lvl="0" indent="0" marL="1270000">
              <a:buNone/>
            </a:pPr>
            <a:r>
              <a:rPr sz="2000"/>
              <a:t>Giao diện gồm ba trang: nhận dạng ảnh (trang chủ), nhận dạng video và lịch sử. Hai trang nhận dạng là nguồn sinh dữ liệu, cùng đổ về một bảng lịch sử. Em xin nói thẳng hai chỗ đã thu gọn: trang webcam và trang tổng quan đều đã được gỡ khỏi giao diện ngày 20 tháng 7. Cả hai năng lực vẫn còn nguyên ở tầng API — </a:t>
            </a:r>
            <a:r>
              <a:rPr sz="2000">
                <a:latin typeface="Courier"/>
              </a:rPr>
              <a:t>POST /api/detect/frame</a:t>
            </a:r>
            <a:r>
              <a:rPr sz="2000"/>
              <a:t> cho thời gian thực và </a:t>
            </a:r>
            <a:r>
              <a:rPr sz="2000">
                <a:latin typeface="Courier"/>
              </a:rPr>
              <a:t>GET /api/statistics</a:t>
            </a:r>
            <a:r>
              <a:rPr sz="2000"/>
              <a:t> cho số liệu tổng hợp, cả hai vẫn có kiểm thử tự động. Riêng việc gỡ trang tổng quan đưa FR-4.1, một yêu cầu mức </a:t>
            </a:r>
            <a:r>
              <a:rPr sz="2000" i="1"/>
              <a:t>bắt buộc</a:t>
            </a:r>
            <a:r>
              <a:rPr sz="2000"/>
              <a:t>, ra khỏi phạm vi bản này; em nói rõ điều đó và sẵn sàng trả lời kỹ ở phần hỏi đáp.</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S17 — Hiệu năng trên CPU ✅ ĐÃ ĐO (NFR-P1 ĐẠT)</a:t>
            </a:r>
          </a:p>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342900" marL="342900">
              <a:buAutoNum type="arabicPeriod"/>
            </a:pPr>
            <a:r>
              <a:rPr/>
              <a:t>Đo trên </a:t>
            </a:r>
            <a:r>
              <a:rPr b="1"/>
              <a:t>mô hình tổng hợp cũ</a:t>
            </a:r>
            <a:r>
              <a:rPr/>
              <a:t>, không phải </a:t>
            </a:r>
            <a:r>
              <a:rPr>
                <a:latin typeface="Courier"/>
              </a:rPr>
              <a:t>models/best.pt</a:t>
            </a:r>
          </a:p>
          <a:p>
            <a:pPr lvl="0" indent="-342900" marL="342900">
              <a:buAutoNum type="arabicPeriod"/>
            </a:pPr>
            <a:r>
              <a:rPr/>
              <a:t>Đo ở </a:t>
            </a:r>
            <a:r>
              <a:rPr b="1">
                <a:latin typeface="Courier"/>
              </a:rPr>
              <a:t>imgsz = 320</a:t>
            </a:r>
            <a:r>
              <a:rPr/>
              <a:t>, không phải 640 của hệ thống thật</a:t>
            </a:r>
          </a:p>
          <a:p>
            <a:pPr lvl="0" indent="-342900" marL="342900">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PHẦN G — KẾT</a:t>
            </a:r>
          </a:p>
        </p:txBody>
      </p:sp>
      <p:sp>
        <p:nvSpPr>
          <p:cNvPr id="4" name="Text Placeholder 3"/>
          <p:cNvSpPr>
            <a:spLocks noGrp="1"/>
          </p:cNvSpPr>
          <p:nvPr>
            <p:ph idx="2" sz="half" type="body"/>
          </p:nvPr>
        </p:nvSpPr>
        <p:spPr/>
        <p:txBody>
          <a:bodyPr/>
          <a:lstStyle/>
          <a:p>
            <a:pPr lvl="0" indent="0" marL="0">
              <a:spcBef>
                <a:spcPts val="3000"/>
              </a:spcBef>
              <a:buNone/>
            </a:pPr>
            <a:r>
              <a:rPr b="1"/>
              <a:t>S18 — Hạn chế</a:t>
            </a:r>
          </a:p>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r h="0">
                <a:tc>
                  <a:txBody>
                    <a:bodyPr/>
                    <a:lstStyle/>
                    <a:p>
                      <a:pPr lvl="0" indent="0" marL="0">
                        <a:buNone/>
                      </a:pPr>
                      <a:r>
                        <a:rPr/>
                        <a:t>10</a:t>
                      </a:r>
                    </a:p>
                  </a:txBody>
                </a:tc>
                <a:tc>
                  <a:txBody>
                    <a:bodyPr/>
                    <a:lstStyle/>
                    <a:p>
                      <a:pPr lvl="0" indent="0" marL="0">
                        <a:buNone/>
                      </a:pPr>
                      <a:r>
                        <a:rPr b="1"/>
                        <a:t>FR-4.1 (Must) và FR-4.2 (Should) đưa ra khỏi phạm vi</a:t>
                      </a:r>
                      <a:r>
                        <a:rPr/>
                        <a:t> — trang Tổng quan gỡ khỏi giao diện 2026-07-20</a:t>
                      </a:r>
                    </a:p>
                  </a:txBody>
                </a:tc>
                <a:tc>
                  <a:txBody>
                    <a:bodyPr/>
                    <a:lstStyle/>
                    <a:p>
                      <a:pPr lvl="0" indent="0" marL="0" algn="ctr">
                        <a:buNone/>
                      </a:pPr>
                      <a:r>
                        <a:rPr/>
                        <a:t>⚠️</a:t>
                      </a:r>
                    </a:p>
                  </a:txBody>
                </a:tc>
                <a:tc>
                  <a:txBody>
                    <a:bodyPr/>
                    <a:lstStyle/>
                    <a:p>
                      <a:pPr lvl="0" indent="0" marL="0">
                        <a:buNone/>
                      </a:pPr>
                      <a:r>
                        <a:rPr/>
                        <a:t>Quyết định thu gọn demo, </a:t>
                      </a:r>
                      <a:r>
                        <a:rPr b="1"/>
                        <a:t>không</a:t>
                      </a:r>
                      <a:r>
                        <a:rPr/>
                        <a:t> phải chức năng thất bại. </a:t>
                      </a:r>
                      <a:r>
                        <a:rPr>
                          <a:latin typeface="Courier"/>
                        </a:rPr>
                        <a:t>GET /api/statistics</a:t>
                      </a:r>
                      <a:r>
                        <a:rPr/>
                        <a:t> + </a:t>
                      </a:r>
                      <a:r>
                        <a:rPr>
                          <a:latin typeface="Courier"/>
                        </a:rPr>
                        <a:t>GET /health</a:t>
                      </a:r>
                      <a:r>
                        <a:rPr/>
                        <a:t> vẫn phục vụ và vẫn có kiểm thử; đổi lại gói tải về giảm 55% (~730 KB → 328,8 KB)</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S19 — Hướng phát triển</a:t>
            </a:r>
          </a:p>
          <a:p>
            <a:pPr lvl="0" indent="0" marL="0">
              <a:buNone/>
            </a:pPr>
            <a:r>
              <a:rPr b="1"/>
              <a:t>Nội dung trên slide</a:t>
            </a:r>
          </a:p>
          <a:p>
            <a:pPr lvl="0" indent="0" marL="0">
              <a:buNone/>
            </a:pPr>
            <a:r>
              <a:rPr b="1"/>
              <a:t>Ngắn hạn — xử lý nút thắt còn lại:</a:t>
            </a:r>
          </a:p>
          <a:p>
            <a:pPr lvl="0" indent="-342900" marL="342900">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342900" marL="342900">
              <a:buAutoNum type="arabicPeriod"/>
            </a:pPr>
            <a:r>
              <a:rPr b="1"/>
              <a:t>Gán nhãn chuỗi cho 300–500 ảnh test v3</a:t>
            </a:r>
            <a:r>
              <a:rPr/>
              <a:t> ⇒ đo được NFR-A7 đúng cách (không phải trên crop ngoài phân bố)</a:t>
            </a:r>
          </a:p>
          <a:p>
            <a:pPr lvl="0" indent="-342900" marL="342900">
              <a:buAutoNum type="arabicPeriod"/>
            </a:pPr>
            <a:r>
              <a:rPr b="1"/>
              <a:t>Tự benchmark 3 engine OCR</a:t>
            </a:r>
            <a:r>
              <a:rPr/>
              <a:t> trên tập biển số Việt Nam có nhãn</a:t>
            </a:r>
          </a:p>
          <a:p>
            <a:pPr lvl="0" indent="-342900" marL="342900">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S20 — Kết luận</a:t>
            </a:r>
          </a:p>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3 trang</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S21 — Cảm ơn / Hỏi đáp</a:t>
            </a:r>
          </a:p>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Checklist trước khi vào phòng</a:t>
            </a:r>
          </a:p>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a:r>
              <a:rPr/>
              <a:t>☐ </a:t>
            </a:r>
            <a:r>
              <a:rPr b="1"/>
              <a:t>S16 — chụp lại 3 ảnh màn hình</a:t>
            </a:r>
            <a:r>
              <a:rPr/>
              <a:t> (</a:t>
            </a:r>
            <a:r>
              <a:rPr>
                <a:latin typeface="Courier"/>
              </a:rPr>
              <a:t>image-detection</a:t>
            </a:r>
            <a:r>
              <a:rPr/>
              <a:t> · </a:t>
            </a:r>
            <a:r>
              <a:rPr>
                <a:latin typeface="Courier"/>
              </a:rPr>
              <a:t>video-detection</a:t>
            </a:r>
            <a:r>
              <a:rPr/>
              <a:t> · </a:t>
            </a:r>
            <a:r>
              <a:rPr>
                <a:latin typeface="Courier"/>
              </a:rPr>
              <a:t>history</a:t>
            </a:r>
            <a:r>
              <a:rPr/>
              <a:t>). Bản đang có chụp lúc sidebar còn 5 mục và trang chủ còn là Tổng quan; giao diện nay còn </a:t>
            </a:r>
            <a:r>
              <a:rPr b="1"/>
              <a:t>3 trang</a:t>
            </a:r>
            <a:r>
              <a:rPr/>
              <a:t>, trang chủ là Nhận dạng ảnh, </a:t>
            </a:r>
            <a:r>
              <a:rPr b="1"/>
              <a:t>không còn trang Tổng quan</a:t>
            </a:r>
            <a:r>
              <a:rPr/>
              <a:t>. Không dùng </a:t>
            </a:r>
            <a:r>
              <a:rPr>
                <a:latin typeface="Courier"/>
              </a:rPr>
              <a:t>dashboard.png</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Bản đồ slide ↔ câu hỏi phản biện</a:t>
            </a:r>
          </a:p>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b="1"/>
                        <a:t>S16</a:t>
                      </a:r>
                    </a:p>
                  </a:txBody>
                </a:tc>
                <a:tc>
                  <a:txBody>
                    <a:bodyPr/>
                    <a:lstStyle/>
                    <a:p>
                      <a:pPr lvl="0" indent="0" marL="0">
                        <a:buNone/>
                      </a:pPr>
                      <a:r>
                        <a:rPr/>
                        <a:t>⚠️ </a:t>
                      </a:r>
                      <a:r>
                        <a:rPr b="1"/>
                        <a:t>"Sao bỏ hẳn một yêu cầu mức Must (FR-4.1)?"</a:t>
                      </a:r>
                      <a:r>
                        <a:rPr/>
                        <a:t> · "Sao không còn trang Webcam?"</a:t>
                      </a:r>
                    </a:p>
                  </a:txBody>
                </a:tc>
                <a:tc>
                  <a:txBody>
                    <a:bodyPr/>
                    <a:lstStyle/>
                    <a:p>
                      <a:pPr lvl="0" indent="0" marL="0">
                        <a:buNone/>
                      </a:pPr>
                      <a:r>
                        <a:rPr b="1"/>
                        <a:t>E4c</a:t>
                      </a:r>
                      <a:r>
                        <a:rPr/>
                        <a:t>, E4b</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2026-07-28T12:55:11Z</dcterms:created>
  <dcterms:modified xsi:type="dcterms:W3CDTF">2026-07-28T12:55:11Z</dcterms:modified>
</cp:coreProperties>
</file>

<file path=docProps/custom.xml><?xml version="1.0" encoding="utf-8"?>
<Properties xmlns="http://schemas.openxmlformats.org/officeDocument/2006/custom-properties" xmlns:vt="http://schemas.openxmlformats.org/officeDocument/2006/docPropsVTypes"/>
</file>