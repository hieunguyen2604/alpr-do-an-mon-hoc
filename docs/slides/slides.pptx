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209800"/>
            <a:ext cx="10582275" cy="39624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54400" y="2209800"/>
            <a:ext cx="51816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51/2025/TT-BCA</a:t>
            </a:r>
            <a:r>
              <a:rPr/>
              <a:t> — thay phụ lục mã tỉnh,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11600" y="2209800"/>
            <a:ext cx="42799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EasyOCR / Tesseract:</a:t>
                      </a:r>
                      <a:r>
                        <a:rPr/>
                        <a:t> Tesseract vỡ khi crop nhỏ; EasyOCR cực chậm trên CPU (2–3s/ảnh)• </a:t>
                      </a:r>
                      <a:r>
                        <a:rPr b="1"/>
                        <a:t>Vs PP-OCRv5 Server:</a:t>
                      </a:r>
                      <a:r>
                        <a:rPr/>
                        <a:t> Bản Server nặng (~100 MB), trễ gấp 4× trên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siêu nhẹ (4,5 MB), đúng ký tự 94,5%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90900" y="2209800"/>
            <a:ext cx="5334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49700" y="2209800"/>
            <a:ext cx="42037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83000" y="2209800"/>
            <a:ext cx="47371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51200" y="2209800"/>
            <a:ext cx="56134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cứu chữa khi đọc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chạy </a:t>
            </a:r>
            <a:r>
              <a:rPr b="1"/>
              <a:t>sau khi đọc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thể làm hỏng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Bậc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Cứu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Chống rò rỉ 100%:</a:t>
            </a:r>
            <a:r>
              <a:rPr/>
              <a:t> Băm tri giác (pHash) lọc ảnh trùng lặp gần đúng giữa Train–Test — </a:t>
            </a:r>
            <a:r>
              <a:rPr b="1"/>
              <a:t>9.126 cặp → 0</a:t>
            </a:r>
          </a:p>
          <a:p>
            <a:pPr lvl="0" indent="0" marL="0">
              <a:buNone/>
            </a:pPr>
            <a:r>
              <a:rPr/>
              <a:t>⇒ Đảm bảo đánh giá độc lập hoàn toàn, không bị mAP ảo do rò rỉ dữ liệu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</a:t>
            </a:r>
            <a:r>
              <a:rPr b="1"/>
              <a:t>10,05 giờ</a:t>
            </a:r>
            <a:r>
              <a:rPr/>
              <a:t> </a:t>
            </a:r>
            <a:r>
              <a:rPr i="1"/>
              <a:t>(30,2 phút/epoch)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79800" y="2209800"/>
            <a:ext cx="51562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một cột làm nên đóng góp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Lưu </a:t>
            </a:r>
            <a:r>
              <a:rPr b="1"/>
              <a:t>cả hai</a:t>
            </a:r>
            <a:r>
              <a:rPr/>
              <a:t> chuỗi trên </a:t>
            </a:r>
            <a:r>
              <a:rPr b="1"/>
              <a:t>cùng một bản ghi</a:t>
            </a:r>
            <a:r>
              <a:rPr/>
              <a:t> — 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82900" y="2209800"/>
            <a:ext cx="6337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yếu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 — nói thẳng phần chưa đạt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0,6996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đầu-cuối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16200" y="2209800"/>
            <a:ext cx="6858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319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32200" y="2209800"/>
            <a:ext cx="48387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thiệp, một kết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25,4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  <a:r>
              <a:rPr/>
              <a:t> — </a:t>
            </a:r>
            <a:r>
              <a:rPr b="1"/>
              <a:t>dư địa đã cạn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0,7512)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suy luận thuần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Nút thắt là OCR (</a:t>
            </a:r>
            <a:r>
              <a:rPr b="1"/>
              <a:t>64,3%</a:t>
            </a:r>
            <a:r>
              <a:rPr/>
              <a:t>) nhưng </a:t>
            </a:r>
            <a:r>
              <a:rPr b="1"/>
              <a:t>không áp đảo</a:t>
            </a:r>
            <a:r>
              <a:rPr/>
              <a:t> — detector chiếm 34,0%, nên tăng tốc nó vẫn đáng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Ước lượng Phase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Đo thật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ảnh + tiền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2,83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</a:t>
                      </a:r>
                      <a:r>
                        <a:rPr i="1"/>
                        <a:t>(YOLO11n @ 640, CPU)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57,27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chữ </a:t>
                      </a:r>
                      <a:r>
                        <a:rPr i="1"/>
                        <a:t>(PaddleOCR, mỗi biển)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108,28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64,3%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Hậu xử lý regex + kiểm tra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0,03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suy luận thuần cho một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405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168,41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— đuôi mới là chỗ tốn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xong dưới nửa giây; đuôi phải là những ảnh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82800" y="2209800"/>
            <a:ext cx="79248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1.000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2.028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sống sót qua khởi động lại</a:t>
            </a:r>
            <a:r>
              <a:rPr/>
              <a:t>: 9.031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dựng và xác minh chạy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chốt hạ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0,7512</a:t>
                      </a:r>
                      <a:r>
                        <a:rPr/>
                        <a:t> · đầu-cuối </a:t>
                      </a:r>
                      <a:r>
                        <a:rPr b="1"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1.143 ms</a:t>
                      </a:r>
                      <a:r>
                        <a:rPr/>
                        <a:t> </a:t>
                      </a:r>
                      <a:r>
                        <a:rPr i="1"/>
                        <a:t>(sàn 1.500)</a:t>
                      </a:r>
                      <a:r>
                        <a:rPr/>
                        <a:t> · video </a:t>
                      </a:r>
                      <a:r>
                        <a:rPr b="1"/>
                        <a:t>0,746×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</a:t>
                      </a:r>
                      <a:r>
                        <a:rPr b="1"/>
                        <a:t>2,379 FPS</a:t>
                      </a:r>
                      <a:r>
                        <a:rPr/>
                        <a:t> </a:t>
                      </a:r>
                      <a:r>
                        <a:rPr i="1"/>
                        <a:t>(sàn 3)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huống, chạy trên máy thật — </a:t>
            </a:r>
            <a:r>
              <a:rPr b="1"/>
              <a:t>không phải video quay sẵn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 thấy điều gì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Đường đi cơ bản, đọc đúng,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Chính chỗ khó nhất, split-then-hstack chạy thật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lại kết quả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 — nói thẳng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0,6996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đầu-cuối 0,5552 không đại diện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bộ dữ liệu nào vừa có ảnh toàn cảnh vừa có chuỗi biển ⇒ đo trên ảnh cắt sẵn, ngoài phân bố bộ phát hiện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OCR là số trên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nguồn công khai nào đủ biển hiếm; nói "0,9454 trên biển số Việt Nam" là </a:t>
                      </a:r>
                      <a:r>
                        <a:rPr b="1"/>
                        <a:t>nói quá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không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đo tổng quát hoá </a:t>
                      </a:r>
                      <a:r>
                        <a:rPr i="1"/>
                        <a:t>trong</a:t>
                      </a:r>
                      <a:r>
                        <a:rPr/>
                        <a:t> phân bố ⇒ mAP lạc quan hơn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yêu cầu mức </a:t>
                      </a:r>
                      <a:r>
                        <a:rPr b="1"/>
                        <a:t>Must</a:t>
                      </a:r>
                      <a:r>
                        <a:rPr/>
                        <a:t> đã đưa ra khỏi phạm vi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gọn cho demo; API thống kê vẫn phục vụ và vẫn có kiểm thử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gỡ đúng nút thắt đã định vị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Việt Nam</a:t>
            </a:r>
          </a:p>
          <a:p>
            <a:pPr lvl="0" indent="0" marL="347663">
              <a:buAutoNum type="arabicPeriod"/>
            </a:pPr>
            <a:r>
              <a:rPr b="1"/>
              <a:t>Gán nhãn chuỗi cho ảnh hiện trường</a:t>
            </a:r>
            <a:r>
              <a:rPr/>
              <a:t> ⇒ đo được số đầu-cuối đúng cách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Tập test </a:t>
            </a:r>
            <a:r>
              <a:rPr b="1"/>
              <a:t>xuyên bộ dữ liệu</a:t>
            </a:r>
            <a:r>
              <a:rPr/>
              <a:t> — đo tổng quát hoá ngoài phân bố</a:t>
            </a:r>
          </a:p>
          <a:p>
            <a:pPr lvl="0" indent="0" marL="347663">
              <a:buAutoNum startAt="3" type="arabicPeriod"/>
            </a:pPr>
            <a:r>
              <a:rPr/>
              <a:t>Xuất ONNX / OpenVINO để hạ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Đã làm được</a:t>
            </a:r>
          </a:p>
          <a:p>
            <a:pPr lvl="0"/>
            <a:r>
              <a:rPr/>
              <a:t>Hệ thống </a:t>
            </a:r>
            <a:r>
              <a:rPr b="1"/>
              <a:t>5 tầng chạy thật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: mAP50 </a:t>
            </a:r>
            <a:r>
              <a:rPr b="1"/>
              <a:t>0,983</a:t>
            </a:r>
            <a:r>
              <a:rPr/>
              <a:t> · mAP50-95 </a:t>
            </a:r>
            <a:r>
              <a:rPr b="1"/>
              <a:t>0,783</a:t>
            </a:r>
          </a:p>
          <a:p>
            <a:pPr lvl="0"/>
            <a:r>
              <a:rPr/>
              <a:t>Hậu xử lý theo vị trí — </a:t>
            </a:r>
            <a:r>
              <a:rPr b="1"/>
              <a:t>+11,39 điểm</a:t>
            </a:r>
            <a:r>
              <a:rPr/>
              <a:t>, đo tách bạch</a:t>
            </a:r>
          </a:p>
          <a:p>
            <a:pPr lvl="0"/>
            <a:r>
              <a:rPr b="1"/>
              <a:t>1.000 kiểm thử</a:t>
            </a:r>
            <a:r>
              <a:rPr/>
              <a:t> đạt · bao phủ tầng nghiệp vụ 87,7%</a:t>
            </a:r>
          </a:p>
          <a:p>
            <a:pPr lvl="0" indent="0" marL="0">
              <a:buNone/>
            </a:pPr>
            <a:r>
              <a:rPr b="1"/>
              <a:t>Đóng góp học thuật</a:t>
            </a:r>
          </a:p>
          <a:p>
            <a:pPr lvl="0"/>
            <a:r>
              <a:rPr/>
              <a:t>Hai con số 1 dòng / 2 dòng </a:t>
            </a:r>
            <a:r>
              <a:rPr b="1"/>
              <a:t>tách bạch trên cùng một hệ thống</a:t>
            </a:r>
          </a:p>
          <a:p>
            <a:pPr lvl="0"/>
            <a:r>
              <a:rPr/>
              <a:t>Quy trình đo </a:t>
            </a:r>
            <a:r>
              <a:rPr b="1"/>
              <a:t>tự bắt được lỗi của chính nó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Em xin cảm ơn thầy cô đã lắng nghe.</a:t>
            </a:r>
          </a:p>
          <a:p>
            <a:pPr lvl="0" indent="0" marL="0">
              <a:buNone/>
            </a:pPr>
            <a:r>
              <a:rPr b="1"/>
              <a:t>Em sẵn sàng nhận câu hỏi.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và lớp biển số (1 dòng / 2 dòng)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94,54%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Sáu loại lỗi </a:t>
            </a:r>
            <a:r>
              <a:rPr b="1"/>
              <a:t>loại trừ lẫn nhau</a:t>
            </a:r>
            <a:r>
              <a:rPr/>
              <a:t>, mỗi ca sai gán đúng một loại — </a:t>
            </a:r>
            <a:r>
              <a:rPr b="1"/>
              <a:t>697 ca trên 2.801 biển (24,88%)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 ca 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Một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Hai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Bỏ sót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nhầm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(chưa đo)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Nhầm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63,85%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428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10,47%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Thừa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2,58%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Sai thứ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319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Trích </a:t>
            </a:r>
            <a:r>
              <a:rPr>
                <a:latin typeface="Courier"/>
              </a:rPr>
              <a:t>runs/final-640-v3/args.yaml</a:t>
            </a:r>
            <a:r>
              <a:rPr/>
              <a:t> và </a:t>
            </a:r>
            <a:r>
              <a:rPr>
                <a:latin typeface="Courier"/>
              </a:rPr>
              <a:t>results.csv</a:t>
            </a:r>
            <a:r>
              <a:rPr/>
              <a:t> — bản ghi </a:t>
            </a:r>
            <a:r>
              <a:rPr i="1"/>
              <a:t>đã thực thi</a:t>
            </a:r>
            <a:r>
              <a:rPr/>
              <a:t>, không phải dự định.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Epoch 1 → 20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epochs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  <a:r>
                        <a:rPr/>
                        <a:t> / </a:t>
                      </a:r>
                      <a:r>
                        <a:rPr b="1"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1,252 → 0,809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batch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seed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8</a:t>
                      </a:r>
                      <a:r>
                        <a:rPr/>
                        <a:t> / </a:t>
                      </a:r>
                      <a:r>
                        <a:rPr b="1"/>
                        <a:t>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0,833 → 0,313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optimizer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lr0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AdamW</a:t>
                      </a:r>
                      <a:r>
                        <a:rPr/>
                        <a:t> / </a:t>
                      </a:r>
                      <a:r>
                        <a:rPr b="1"/>
                        <a:t>0,001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1,154 → 0,987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device</a:t>
                      </a:r>
                      <a:r>
                        <a:rPr b="1"/>
                        <a:t> / tham số 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cpu</a:t>
                      </a:r>
                      <a:r>
                        <a:rPr/>
                        <a:t> / </a:t>
                      </a:r>
                      <a:r>
                        <a:rPr b="1"/>
                        <a:t>2.590.035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mAP@0,5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0,9684 → 0,9830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Thời gian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10,05 giờ</a:t>
                      </a:r>
                      <a:r>
                        <a:rPr/>
                        <a:t> </a:t>
                      </a:r>
                      <a:r>
                        <a:rPr i="1"/>
                        <a:t>(30,2 phút/epoch)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0,7512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0,700)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406 ms</a:t>
                      </a:r>
                      <a:r>
                        <a:rPr/>
                        <a:t> · p95 </a:t>
                      </a:r>
                      <a:r>
                        <a:rPr b="1"/>
                        <a:t>1.143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2026-08-04T04:43:18Z</dcterms:created>
  <dcterms:modified xsi:type="dcterms:W3CDTF">2026-08-04T04:43:18Z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