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4" Type="http://schemas.openxmlformats.org/officeDocument/2006/relationships/viewProps" Target="viewProps.xml" /><Relationship Id="rId53" Type="http://schemas.openxmlformats.org/officeDocument/2006/relationships/presProps" Target="presProps.xml" /><Relationship Id="rId1" Type="http://schemas.openxmlformats.org/officeDocument/2006/relationships/slideMaster" Target="slideMasters/slideMaster1.xml" /><Relationship Id="rId56" Type="http://schemas.openxmlformats.org/officeDocument/2006/relationships/tableStyles" Target="tableStyles.xml" /><Relationship Id="rId5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mailto:mAP@0.5" TargetMode="External" /><Relationship Id="rId3" Type="http://schemas.openxmlformats.org/officeDocument/2006/relationships/hyperlink" Target="mailto:mAP@0.5" TargetMode="Externa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reports/07-benchmark-p1-resolved.json" TargetMode="External" /></Relationships>
</file>

<file path=ppt/slides/_rels/slide4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slide bảo vệ đồ án tốt nghiệp</a:t>
            </a:r>
          </a:p>
        </p:txBody>
      </p:sp>
      <p:sp>
        <p:nvSpPr>
          <p:cNvPr id="3" name="Content Placeholder 2"/>
          <p:cNvSpPr>
            <a:spLocks noGrp="1"/>
          </p:cNvSpPr>
          <p:nvPr>
            <p:ph idx="1"/>
          </p:nvPr>
        </p:nvSpPr>
        <p:spPr/>
        <p:txBody>
          <a:bodyPr/>
          <a:lstStyle/>
          <a:p>
            <a:pPr lvl="0" indent="0" marL="0">
              <a:buNone/>
            </a:pPr>
            <a:r>
              <a:rPr b="1"/>
              <a:t>Đề tài:</a:t>
            </a:r>
            <a:r>
              <a:rPr/>
              <a:t> Xây dựng hệ thống nhận dạng biển số xe Việt Nam ứng dụng Trí tuệ nhân tạo </a:t>
            </a:r>
            <a:r>
              <a:rPr b="1"/>
              <a:t>Thuộc:</a:t>
            </a:r>
            <a:r>
              <a:rPr/>
              <a:t> Phase 10 — chuẩn bị bảo vệ · </a:t>
            </a:r>
            <a:r>
              <a:rPr b="1"/>
              <a:t>Ngày lập:</a:t>
            </a:r>
            <a:r>
              <a:rPr/>
              <a:t> 19/07/2026 </a:t>
            </a:r>
            <a:r>
              <a:rPr b="1"/>
              <a:t>Thời lượng:</a:t>
            </a:r>
            <a:r>
              <a:rPr/>
              <a:t> 15 phút trình bày + hỏi đáp · </a:t>
            </a:r>
            <a:r>
              <a:rPr b="1"/>
              <a:t>Số slide:</a:t>
            </a:r>
            <a:r>
              <a:rPr/>
              <a:t> 21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Cách dùng tài liệu này</a:t>
            </a:r>
          </a:p>
          <a:p>
            <a:pPr lvl="0" indent="0" marL="0">
              <a:buNone/>
            </a:pPr>
            <a:r>
              <a:rPr/>
              <a:t>Mỗi slide gồm bốn phần: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Phần</a:t>
                      </a:r>
                    </a:p>
                  </a:txBody>
                  <a:tcPr/>
                </a:tc>
                <a:tc>
                  <a:txBody>
                    <a:bodyPr/>
                    <a:lstStyle/>
                    <a:p>
                      <a:pPr lvl="0" indent="0" marL="0">
                        <a:buNone/>
                      </a:pPr>
                      <a:r>
                        <a:rPr/>
                        <a:t>Vai trò</a:t>
                      </a:r>
                    </a:p>
                  </a:txBody>
                  <a:tcPr/>
                </a:tc>
              </a:tr>
              <a:tr h="0">
                <a:tc>
                  <a:txBody>
                    <a:bodyPr/>
                    <a:lstStyle/>
                    <a:p>
                      <a:pPr lvl="0" indent="0" marL="0">
                        <a:buNone/>
                      </a:pPr>
                      <a:r>
                        <a:rPr b="1"/>
                        <a:t>Nội dung trên slide</a:t>
                      </a:r>
                    </a:p>
                  </a:txBody>
                </a:tc>
                <a:tc>
                  <a:txBody>
                    <a:bodyPr/>
                    <a:lstStyle/>
                    <a:p>
                      <a:pPr lvl="0" indent="0" marL="0">
                        <a:buNone/>
                      </a:pPr>
                      <a:r>
                        <a:rPr/>
                        <a:t>Gạch đầu dòng ngắn — đây là thứ </a:t>
                      </a:r>
                      <a:r>
                        <a:rPr i="1"/>
                        <a:t>chiếu lên</a:t>
                      </a:r>
                      <a:r>
                        <a:rPr/>
                        <a:t>, không phải thứ </a:t>
                      </a:r>
                      <a:r>
                        <a:rPr i="1"/>
                        <a:t>nói ra</a:t>
                      </a:r>
                      <a:r>
                        <a:rPr/>
                        <a:t>. Không viết đoạn văn lên slide.</a:t>
                      </a:r>
                    </a:p>
                  </a:txBody>
                </a:tc>
              </a:tr>
              <a:tr h="0">
                <a:tc>
                  <a:txBody>
                    <a:bodyPr/>
                    <a:lstStyle/>
                    <a:p>
                      <a:pPr lvl="0" indent="0" marL="0">
                        <a:buNone/>
                      </a:pPr>
                      <a:r>
                        <a:rPr b="1"/>
                        <a:t>Hình / Bảng</a:t>
                      </a:r>
                    </a:p>
                  </a:txBody>
                </a:tc>
                <a:tc>
                  <a:txBody>
                    <a:bodyPr/>
                    <a:lstStyle/>
                    <a:p>
                      <a:pPr lvl="0" indent="0" marL="0">
                        <a:buNone/>
                      </a:pPr>
                      <a:r>
                        <a:rPr/>
                        <a:t>Tài nguyên cần chuẩn bị trước. Ghi rõ file nào, còn thiếu thì đánh dấu.</a:t>
                      </a:r>
                    </a:p>
                  </a:txBody>
                </a:tc>
              </a:tr>
              <a:tr h="0">
                <a:tc>
                  <a:txBody>
                    <a:bodyPr/>
                    <a:lstStyle/>
                    <a:p>
                      <a:pPr lvl="0" indent="0" marL="0">
                        <a:buNone/>
                      </a:pPr>
                      <a:r>
                        <a:rPr b="1"/>
                        <a:t>Speaker notes</a:t>
                      </a:r>
                    </a:p>
                  </a:txBody>
                </a:tc>
                <a:tc>
                  <a:txBody>
                    <a:bodyPr/>
                    <a:lstStyle/>
                    <a:p>
                      <a:pPr lvl="0" indent="0" marL="0">
                        <a:buNone/>
                      </a:pPr>
                      <a:r>
                        <a:rPr/>
                        <a:t>Lời nói gợi ý, 30–60 giây. Không đọc lại slide.</a:t>
                      </a:r>
                    </a:p>
                  </a:txBody>
                </a:tc>
              </a:tr>
              <a:tr h="0">
                <a:tc>
                  <a:txBody>
                    <a:bodyPr/>
                    <a:lstStyle/>
                    <a:p>
                      <a:pPr lvl="0" indent="0" marL="0">
                        <a:buNone/>
                      </a:pPr>
                      <a:r>
                        <a:rPr b="1"/>
                        <a:t>Thời lượng</a:t>
                      </a:r>
                    </a:p>
                  </a:txBody>
                </a:tc>
                <a:tc>
                  <a:txBody>
                    <a:bodyPr/>
                    <a:lstStyle/>
                    <a:p>
                      <a:pPr lvl="0" indent="0" marL="0">
                        <a:buNone/>
                      </a:pPr>
                      <a:r>
                        <a:rPr/>
                        <a:t>Ngân sách giây. Tổng phải ≤ 900 giây.</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Ngân sách thời gian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Khối</a:t>
                      </a:r>
                    </a:p>
                  </a:txBody>
                  <a:tcPr/>
                </a:tc>
                <a:tc>
                  <a:txBody>
                    <a:bodyPr/>
                    <a:lstStyle/>
                    <a:p>
                      <a:pPr lvl="0" indent="0" marL="0">
                        <a:buNone/>
                      </a:pPr>
                      <a:r>
                        <a:rPr/>
                        <a:t>Slide</a:t>
                      </a:r>
                    </a:p>
                  </a:txBody>
                  <a:tcPr/>
                </a:tc>
                <a:tc>
                  <a:txBody>
                    <a:bodyPr/>
                    <a:lstStyle/>
                    <a:p>
                      <a:pPr lvl="0" indent="0" marL="0" algn="r">
                        <a:buNone/>
                      </a:pPr>
                      <a:r>
                        <a:rPr/>
                        <a:t>Thời lượng</a:t>
                      </a:r>
                    </a:p>
                  </a:txBody>
                  <a:tcPr/>
                </a:tc>
              </a:tr>
              <a:tr h="0">
                <a:tc>
                  <a:txBody>
                    <a:bodyPr/>
                    <a:lstStyle/>
                    <a:p>
                      <a:pPr lvl="0" indent="0" marL="0">
                        <a:buNone/>
                      </a:pPr>
                      <a:r>
                        <a:rPr/>
                        <a:t>Mở đầu — vì sao làm</a:t>
                      </a:r>
                    </a:p>
                  </a:txBody>
                </a:tc>
                <a:tc>
                  <a:txBody>
                    <a:bodyPr/>
                    <a:lstStyle/>
                    <a:p>
                      <a:pPr lvl="0" indent="0" marL="0">
                        <a:buNone/>
                      </a:pPr>
                      <a:r>
                        <a:rPr/>
                        <a:t>S1–S3</a:t>
                      </a:r>
                    </a:p>
                  </a:txBody>
                </a:tc>
                <a:tc>
                  <a:txBody>
                    <a:bodyPr/>
                    <a:lstStyle/>
                    <a:p>
                      <a:pPr lvl="0" indent="0" marL="0" algn="r">
                        <a:buNone/>
                      </a:pPr>
                      <a:r>
                        <a:rPr/>
                        <a:t>110 s</a:t>
                      </a:r>
                    </a:p>
                  </a:txBody>
                </a:tc>
              </a:tr>
              <a:tr h="0">
                <a:tc>
                  <a:txBody>
                    <a:bodyPr/>
                    <a:lstStyle/>
                    <a:p>
                      <a:pPr lvl="0" indent="0" marL="0">
                        <a:buNone/>
                      </a:pPr>
                      <a:r>
                        <a:rPr/>
                        <a:t>Nền tảng — biết gì trước khi làm</a:t>
                      </a:r>
                    </a:p>
                  </a:txBody>
                </a:tc>
                <a:tc>
                  <a:txBody>
                    <a:bodyPr/>
                    <a:lstStyle/>
                    <a:p>
                      <a:pPr lvl="0" indent="0" marL="0">
                        <a:buNone/>
                      </a:pPr>
                      <a:r>
                        <a:rPr/>
                        <a:t>S4–S6</a:t>
                      </a:r>
                    </a:p>
                  </a:txBody>
                </a:tc>
                <a:tc>
                  <a:txBody>
                    <a:bodyPr/>
                    <a:lstStyle/>
                    <a:p>
                      <a:pPr lvl="0" indent="0" marL="0" algn="r">
                        <a:buNone/>
                      </a:pPr>
                      <a:r>
                        <a:rPr/>
                        <a:t>150 s</a:t>
                      </a:r>
                    </a:p>
                  </a:txBody>
                </a:tc>
              </a:tr>
              <a:tr h="0">
                <a:tc>
                  <a:txBody>
                    <a:bodyPr/>
                    <a:lstStyle/>
                    <a:p>
                      <a:pPr lvl="0" indent="0" marL="0">
                        <a:buNone/>
                      </a:pPr>
                      <a:r>
                        <a:rPr/>
                        <a:t>Thiết kế — làm thế nào</a:t>
                      </a:r>
                    </a:p>
                  </a:txBody>
                </a:tc>
                <a:tc>
                  <a:txBody>
                    <a:bodyPr/>
                    <a:lstStyle/>
                    <a:p>
                      <a:pPr lvl="0" indent="0" marL="0">
                        <a:buNone/>
                      </a:pPr>
                      <a:r>
                        <a:rPr/>
                        <a:t>S7–S9</a:t>
                      </a:r>
                    </a:p>
                  </a:txBody>
                </a:tc>
                <a:tc>
                  <a:txBody>
                    <a:bodyPr/>
                    <a:lstStyle/>
                    <a:p>
                      <a:pPr lvl="0" indent="0" marL="0" algn="r">
                        <a:buNone/>
                      </a:pPr>
                      <a:r>
                        <a:rPr/>
                        <a:t>135 s</a:t>
                      </a:r>
                    </a:p>
                  </a:txBody>
                </a:tc>
              </a:tr>
              <a:tr h="0">
                <a:tc>
                  <a:txBody>
                    <a:bodyPr/>
                    <a:lstStyle/>
                    <a:p>
                      <a:pPr lvl="0" indent="0" marL="0">
                        <a:buNone/>
                      </a:pPr>
                      <a:r>
                        <a:rPr/>
                        <a:t>Dữ liệu và huấn luyện</a:t>
                      </a:r>
                    </a:p>
                  </a:txBody>
                </a:tc>
                <a:tc>
                  <a:txBody>
                    <a:bodyPr/>
                    <a:lstStyle/>
                    <a:p>
                      <a:pPr lvl="0" indent="0" marL="0">
                        <a:buNone/>
                      </a:pPr>
                      <a:r>
                        <a:rPr/>
                        <a:t>S10–S12</a:t>
                      </a:r>
                    </a:p>
                  </a:txBody>
                </a:tc>
                <a:tc>
                  <a:txBody>
                    <a:bodyPr/>
                    <a:lstStyle/>
                    <a:p>
                      <a:pPr lvl="0" indent="0" marL="0" algn="r">
                        <a:buNone/>
                      </a:pPr>
                      <a:r>
                        <a:rPr/>
                        <a:t>150 s</a:t>
                      </a:r>
                    </a:p>
                  </a:txBody>
                </a:tc>
              </a:tr>
              <a:tr h="0">
                <a:tc>
                  <a:txBody>
                    <a:bodyPr/>
                    <a:lstStyle/>
                    <a:p>
                      <a:pPr lvl="0" indent="0" marL="0">
                        <a:buNone/>
                      </a:pPr>
                      <a:r>
                        <a:rPr/>
                        <a:t>Đóng góp kỹ thuật lõi</a:t>
                      </a:r>
                    </a:p>
                  </a:txBody>
                </a:tc>
                <a:tc>
                  <a:txBody>
                    <a:bodyPr/>
                    <a:lstStyle/>
                    <a:p>
                      <a:pPr lvl="0" indent="0" marL="0">
                        <a:buNone/>
                      </a:pPr>
                      <a:r>
                        <a:rPr/>
                        <a:t>S13–S15</a:t>
                      </a:r>
                    </a:p>
                  </a:txBody>
                </a:tc>
                <a:tc>
                  <a:txBody>
                    <a:bodyPr/>
                    <a:lstStyle/>
                    <a:p>
                      <a:pPr lvl="0" indent="0" marL="0" algn="r">
                        <a:buNone/>
                      </a:pPr>
                      <a:r>
                        <a:rPr/>
                        <a:t>165 s</a:t>
                      </a:r>
                    </a:p>
                  </a:txBody>
                </a:tc>
              </a:tr>
              <a:tr h="0">
                <a:tc>
                  <a:txBody>
                    <a:bodyPr/>
                    <a:lstStyle/>
                    <a:p>
                      <a:pPr lvl="0" indent="0" marL="0">
                        <a:buNone/>
                      </a:pPr>
                      <a:r>
                        <a:rPr/>
                        <a:t>Kết quả và hệ thống</a:t>
                      </a:r>
                    </a:p>
                  </a:txBody>
                </a:tc>
                <a:tc>
                  <a:txBody>
                    <a:bodyPr/>
                    <a:lstStyle/>
                    <a:p>
                      <a:pPr lvl="0" indent="0" marL="0">
                        <a:buNone/>
                      </a:pPr>
                      <a:r>
                        <a:rPr/>
                        <a:t>S16–S17</a:t>
                      </a:r>
                    </a:p>
                  </a:txBody>
                </a:tc>
                <a:tc>
                  <a:txBody>
                    <a:bodyPr/>
                    <a:lstStyle/>
                    <a:p>
                      <a:pPr lvl="0" indent="0" marL="0" algn="r">
                        <a:buNone/>
                      </a:pPr>
                      <a:r>
                        <a:rPr/>
                        <a:t>90 s</a:t>
                      </a:r>
                    </a:p>
                  </a:txBody>
                </a:tc>
              </a:tr>
              <a:tr h="0">
                <a:tc>
                  <a:txBody>
                    <a:bodyPr/>
                    <a:lstStyle/>
                    <a:p>
                      <a:pPr lvl="0" indent="0" marL="0">
                        <a:buNone/>
                      </a:pPr>
                      <a:r>
                        <a:rPr/>
                        <a:t>Kết</a:t>
                      </a:r>
                    </a:p>
                  </a:txBody>
                </a:tc>
                <a:tc>
                  <a:txBody>
                    <a:bodyPr/>
                    <a:lstStyle/>
                    <a:p>
                      <a:pPr lvl="0" indent="0" marL="0">
                        <a:buNone/>
                      </a:pPr>
                      <a:r>
                        <a:rPr/>
                        <a:t>S18–S21</a:t>
                      </a:r>
                    </a:p>
                  </a:txBody>
                </a:tc>
                <a:tc>
                  <a:txBody>
                    <a:bodyPr/>
                    <a:lstStyle/>
                    <a:p>
                      <a:pPr lvl="0" indent="0" marL="0" algn="r">
                        <a:buNone/>
                      </a:pPr>
                      <a:r>
                        <a:rPr/>
                        <a:t>100 s</a:t>
                      </a:r>
                    </a:p>
                  </a:txBody>
                </a:tc>
              </a:tr>
              <a:tr h="0">
                <a:tc>
                  <a:txBody>
                    <a:bodyPr/>
                    <a:lstStyle/>
                    <a:p>
                      <a:pPr lvl="0" indent="0" marL="0">
                        <a:buNone/>
                      </a:pPr>
                      <a:r>
                        <a:rPr b="1"/>
                        <a:t>Tổng</a:t>
                      </a:r>
                    </a:p>
                  </a:txBody>
                </a:tc>
                <a:tc>
                  <a:txBody>
                    <a:bodyPr/>
                    <a:lstStyle/>
                    <a:p>
                      <a:endParaRPr/>
                    </a:p>
                  </a:txBody>
                </a:tc>
                <a:tc>
                  <a:txBody>
                    <a:bodyPr/>
                    <a:lstStyle/>
                    <a:p>
                      <a:pPr lvl="0" indent="0" marL="0" algn="r">
                        <a:buNone/>
                      </a:pPr>
                      <a:r>
                        <a:rPr b="1"/>
                        <a:t>900 s = 15 phút</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 nguyên tắc trình bày</a:t>
            </a:r>
          </a:p>
          <a:p>
            <a:pPr lvl="0" indent="-342900" marL="342900">
              <a:buAutoNum type="arabicPeriod"/>
            </a:pPr>
            <a:r>
              <a:rPr b="1"/>
              <a:t>Không đọc slide.</a:t>
            </a:r>
            <a:r>
              <a:rPr/>
              <a:t> Slide là chỗ dựa thị giác; lời nói mang nội dung.</a:t>
            </a:r>
          </a:p>
          <a:p>
            <a:pPr lvl="0" indent="-342900" marL="342900">
              <a:buAutoNum type="arabicPeriod"/>
            </a:pPr>
            <a:r>
              <a:rPr b="1"/>
              <a:t>Chỗ nào chưa đo thì nói thẳng là chưa đo; chỗ nào không đạt thì nói thẳng không đạt.</a:t>
            </a:r>
            <a:r>
              <a:rPr/>
              <a:t> OCR biển 2 dòng (S15) KHÔNG đạt chỉ tiêu — đó là kết quả thật, trình bày trung thực kèm phân tích nguyên nhân, không tô hồng.</a:t>
            </a:r>
          </a:p>
          <a:p>
            <a:pPr lvl="0" indent="-342900" marL="342900">
              <a:buAutoNum type="arabicPeriod"/>
            </a:pPr>
            <a:r>
              <a:rPr b="1"/>
              <a:t>Mọi con số hiệu năng đọc kèm phần cứng.</a:t>
            </a:r>
            <a:r>
              <a:rPr/>
              <a:t> Nói "mAP 0,983" phải kèm "trên tập test v3, imgsz 640, </a:t>
            </a:r>
            <a:r>
              <a:rPr>
                <a:latin typeface="Courier"/>
              </a:rPr>
              <a:t>best.pt</a:t>
            </a:r>
            <a:r>
              <a:rPr/>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Bảng trạng thái dữ liệu của bộ slide</a:t>
            </a:r>
          </a:p>
          <a:p>
            <a:pPr lvl="0" indent="0" marL="0">
              <a:buNone/>
            </a:pPr>
            <a:r>
              <a:rPr b="1"/>
              <a:t>Đọc bảng này trước khi dựng slide thật.</a:t>
            </a:r>
            <a:r>
              <a:rPr/>
              <a:t> Slide nào chưa có dữ liệu thì không được điền số phỏng đoán.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Slide</a:t>
                      </a:r>
                    </a:p>
                  </a:txBody>
                  <a:tcPr/>
                </a:tc>
                <a:tc>
                  <a:txBody>
                    <a:bodyPr/>
                    <a:lstStyle/>
                    <a:p>
                      <a:pPr lvl="0" indent="0" marL="0">
                        <a:buNone/>
                      </a:pPr>
                      <a:r>
                        <a:rPr/>
                        <a:t>Trạng thái</a:t>
                      </a:r>
                    </a:p>
                  </a:txBody>
                  <a:tcPr/>
                </a:tc>
                <a:tc>
                  <a:txBody>
                    <a:bodyPr/>
                    <a:lstStyle/>
                    <a:p>
                      <a:pPr lvl="0" indent="0" marL="0">
                        <a:buNone/>
                      </a:pPr>
                      <a:r>
                        <a:rPr/>
                        <a:t>Còn thiếu gì</a:t>
                      </a:r>
                    </a:p>
                  </a:txBody>
                  <a:tcPr/>
                </a:tc>
                <a:tc>
                  <a:txBody>
                    <a:bodyPr/>
                    <a:lstStyle/>
                    <a:p>
                      <a:pPr lvl="0" indent="0" marL="0">
                        <a:buNone/>
                      </a:pPr>
                      <a:r>
                        <a:rPr/>
                        <a:t>Nguồn số</a:t>
                      </a:r>
                    </a:p>
                  </a:txBody>
                  <a:tcPr/>
                </a:tc>
              </a:tr>
              <a:tr h="0">
                <a:tc>
                  <a:txBody>
                    <a:bodyPr/>
                    <a:lstStyle/>
                    <a:p>
                      <a:pPr lvl="0" indent="0" marL="0">
                        <a:buNone/>
                      </a:pPr>
                      <a:r>
                        <a:rPr/>
                        <a:t>S1–S11</a:t>
                      </a:r>
                    </a:p>
                  </a:txBody>
                </a:tc>
                <a:tc>
                  <a:txBody>
                    <a:bodyPr/>
                    <a:lstStyle/>
                    <a:p>
                      <a:pPr lvl="0" indent="0" marL="0">
                        <a:buNone/>
                      </a:pPr>
                      <a:r>
                        <a:rPr/>
                        <a:t>✅ Đủ dữ liệu</a:t>
                      </a:r>
                    </a:p>
                  </a:txBody>
                </a:tc>
                <a:tc>
                  <a:txBody>
                    <a:bodyPr/>
                    <a:lstStyle/>
                    <a:p>
                      <a:pPr lvl="0" indent="0" marL="0">
                        <a:buNone/>
                      </a:pPr>
                      <a:r>
                        <a:rPr/>
                        <a:t>—</a:t>
                      </a:r>
                    </a:p>
                  </a:txBody>
                </a:tc>
                <a:tc>
                  <a:txBody>
                    <a:bodyPr/>
                    <a:lstStyle/>
                    <a:p>
                      <a:pPr lvl="0" indent="0" marL="0">
                        <a:buNone/>
                      </a:pPr>
                      <a:r>
                        <a:rPr/>
                        <a:t>—</a:t>
                      </a:r>
                    </a:p>
                  </a:txBody>
                </a:tc>
              </a:tr>
              <a:tr h="0">
                <a:tc>
                  <a:txBody>
                    <a:bodyPr/>
                    <a:lstStyle/>
                    <a:p>
                      <a:pPr lvl="0" indent="0" marL="0">
                        <a:buNone/>
                      </a:pPr>
                      <a:r>
                        <a:rPr b="1"/>
                        <a:t>S12 — Kết quả detection</a:t>
                      </a:r>
                    </a:p>
                  </a:txBody>
                </a:tc>
                <a:tc>
                  <a:txBody>
                    <a:bodyPr/>
                    <a:lstStyle/>
                    <a:p>
                      <a:pPr lvl="0" indent="0" marL="0">
                        <a:buNone/>
                      </a:pPr>
                      <a:r>
                        <a:rPr/>
                        <a:t>✅ </a:t>
                      </a:r>
                      <a:r>
                        <a:rPr b="1"/>
                        <a:t>ĐÃ ĐIỀN</a:t>
                      </a:r>
                    </a:p>
                  </a:txBody>
                </a:tc>
                <a:tc>
                  <a:txBody>
                    <a:bodyPr/>
                    <a:lstStyle/>
                    <a:p>
                      <a:pPr lvl="0" indent="0" marL="0">
                        <a:buNone/>
                      </a:pPr>
                      <a:r>
                        <a:rPr/>
                        <a:t>mAP50 0,983 / mAP50-95 0,783 / P 0,984 / R 0,971, tách 1 dòng / 2 dòng</a:t>
                      </a:r>
                    </a:p>
                  </a:txBody>
                </a:tc>
                <a:tc>
                  <a:txBody>
                    <a:bodyPr/>
                    <a:lstStyle/>
                    <a:p>
                      <a:pPr lvl="0" indent="0" marL="0">
                        <a:buNone/>
                      </a:pPr>
                      <a:r>
                        <a:rPr>
                          <a:latin typeface="Courier"/>
                        </a:rPr>
                        <a:t>05-tables.md §T5.5a/b</a:t>
                      </a:r>
                      <a:r>
                        <a:rPr/>
                        <a:t> (</a:t>
                      </a:r>
                      <a:r>
                        <a:rPr>
                          <a:latin typeface="Courier"/>
                        </a:rPr>
                        <a:t>best.pt</a:t>
                      </a:r>
                      <a:r>
                        <a:rPr/>
                        <a:t>, test v3)</a:t>
                      </a:r>
                    </a:p>
                  </a:txBody>
                </a:tc>
              </a:tr>
              <a:tr h="0">
                <a:tc>
                  <a:txBody>
                    <a:bodyPr/>
                    <a:lstStyle/>
                    <a:p>
                      <a:pPr lvl="0" indent="0" marL="0">
                        <a:buNone/>
                      </a:pPr>
                      <a:r>
                        <a:rPr/>
                        <a:t>S13</a:t>
                      </a:r>
                    </a:p>
                  </a:txBody>
                </a:tc>
                <a:tc>
                  <a:txBody>
                    <a:bodyPr/>
                    <a:lstStyle/>
                    <a:p>
                      <a:pPr lvl="0" indent="0" marL="0">
                        <a:buNone/>
                      </a:pPr>
                      <a:r>
                        <a:rPr/>
                        <a:t>⚠️ Một phần</a:t>
                      </a:r>
                    </a:p>
                  </a:txBody>
                </a:tc>
                <a:tc>
                  <a:txBody>
                    <a:bodyPr/>
                    <a:lstStyle/>
                    <a:p>
                      <a:pPr lvl="0" indent="0" marL="0">
                        <a:buNone/>
                      </a:pPr>
                      <a:r>
                        <a:rPr/>
                        <a:t>Ảnh minh hoạ split-then-hstack (chưa render)</a:t>
                      </a:r>
                    </a:p>
                  </a:txBody>
                </a:tc>
                <a:tc>
                  <a:txBody>
                    <a:bodyPr/>
                    <a:lstStyle/>
                    <a:p>
                      <a:pPr lvl="0" indent="0" marL="0">
                        <a:buNone/>
                      </a:pPr>
                      <a:r>
                        <a:rPr/>
                        <a:t>Phase 4 — xuất ảnh trung gian từ </a:t>
                      </a:r>
                      <a:r>
                        <a:rPr>
                          <a:latin typeface="Courier"/>
                        </a:rPr>
                        <a:t>two_line.py</a:t>
                      </a:r>
                    </a:p>
                  </a:txBody>
                </a:tc>
              </a:tr>
              <a:tr h="0">
                <a:tc>
                  <a:txBody>
                    <a:bodyPr/>
                    <a:lstStyle/>
                    <a:p>
                      <a:pPr lvl="0" indent="0" marL="0">
                        <a:buNone/>
                      </a:pPr>
                      <a:r>
                        <a:rPr b="1"/>
                        <a:t>S15 — Đóng góp hậu xử lý</a:t>
                      </a:r>
                    </a:p>
                  </a:txBody>
                </a:tc>
                <a:tc>
                  <a:txBody>
                    <a:bodyPr/>
                    <a:lstStyle/>
                    <a:p>
                      <a:pPr lvl="0" indent="0" marL="0">
                        <a:buNone/>
                      </a:pPr>
                      <a:r>
                        <a:rPr/>
                        <a:t>✅ </a:t>
                      </a:r>
                      <a:r>
                        <a:rPr b="1"/>
                        <a:t>ĐÃ ĐIỀN</a:t>
                      </a:r>
                    </a:p>
                  </a:txBody>
                </a:tc>
                <a:tc>
                  <a:txBody>
                    <a:bodyPr/>
                    <a:lstStyle/>
                    <a:p>
                      <a:pPr lvl="0" indent="0" marL="0">
                        <a:buNone/>
                      </a:pPr>
                      <a:r>
                        <a:rPr/>
                        <a:t>A4–A7, tách layout, A6−A5 = +4,57 điểm</a:t>
                      </a:r>
                    </a:p>
                  </a:txBody>
                </a:tc>
                <a:tc>
                  <a:txBody>
                    <a:bodyPr/>
                    <a:lstStyle/>
                    <a:p>
                      <a:pPr lvl="0" indent="0" marL="0">
                        <a:buNone/>
                      </a:pPr>
                      <a:r>
                        <a:rPr>
                          <a:latin typeface="Courier"/>
                        </a:rPr>
                        <a:t>05-tables.md §T5.6a–e</a:t>
                      </a:r>
                      <a:r>
                        <a:rPr/>
                        <a:t> (2.801 biển)</a:t>
                      </a:r>
                    </a:p>
                  </a:txBody>
                </a:tc>
              </a:tr>
              <a:tr h="0">
                <a:tc>
                  <a:txBody>
                    <a:bodyPr/>
                    <a:lstStyle/>
                    <a:p>
                      <a:pPr lvl="0" indent="0" marL="0">
                        <a:buNone/>
                      </a:pPr>
                      <a:r>
                        <a:rPr/>
                        <a:t>S16</a:t>
                      </a:r>
                    </a:p>
                  </a:txBody>
                </a:tc>
                <a:tc>
                  <a:txBody>
                    <a:bodyPr/>
                    <a:lstStyle/>
                    <a:p>
                      <a:pPr lvl="0" indent="0" marL="0">
                        <a:buNone/>
                      </a:pPr>
                      <a:r>
                        <a:rPr/>
                        <a:t>⚠️ Có ảnh, </a:t>
                      </a:r>
                      <a:r>
                        <a:rPr b="1"/>
                        <a:t>cần chụp lại</a:t>
                      </a:r>
                    </a:p>
                  </a:txBody>
                </a:tc>
                <a:tc>
                  <a:txBody>
                    <a:bodyPr/>
                    <a:lstStyle/>
                    <a:p>
                      <a:pPr lvl="0" indent="0" marL="0">
                        <a:buNone/>
                      </a:pPr>
                      <a:r>
                        <a:rPr/>
                        <a:t>Còn </a:t>
                      </a:r>
                      <a:r>
                        <a:rPr b="1"/>
                        <a:t>3 ảnh dùng được</a:t>
                      </a:r>
                      <a:r>
                        <a:rPr/>
                        <a:t> trong </a:t>
                      </a:r>
                      <a:r>
                        <a:rPr>
                          <a:latin typeface="Courier"/>
                        </a:rPr>
                        <a:t>docs/screenshots/</a:t>
                      </a:r>
                      <a:r>
                        <a:rPr/>
                        <a:t> (</a:t>
                      </a:r>
                      <a:r>
                        <a:rPr>
                          <a:latin typeface="Courier"/>
                        </a:rPr>
                        <a:t>image-detection</a:t>
                      </a:r>
                      <a:r>
                        <a:rPr/>
                        <a:t> · </a:t>
                      </a:r>
                      <a:r>
                        <a:rPr>
                          <a:latin typeface="Courier"/>
                        </a:rPr>
                        <a:t>video-detection</a:t>
                      </a:r>
                      <a:r>
                        <a:rPr/>
                        <a:t> · </a:t>
                      </a:r>
                      <a:r>
                        <a:rPr>
                          <a:latin typeface="Courier"/>
                        </a:rPr>
                        <a:t>history</a:t>
                      </a:r>
                      <a:r>
                        <a:rPr/>
                        <a:t>). </a:t>
                      </a:r>
                      <a:r>
                        <a:rPr>
                          <a:latin typeface="Courier"/>
                        </a:rPr>
                        <a:t>dashboard.png</a:t>
                      </a:r>
                      <a:r>
                        <a:rPr/>
                        <a:t> </a:t>
                      </a:r>
                      <a:r>
                        <a:rPr b="1"/>
                        <a:t>bỏ</a:t>
                      </a:r>
                      <a:r>
                        <a:rPr/>
                        <a:t> — trang Tổng quan đã gỡ 2026-07-20. Cả 3 ảnh chụp khi sidebar còn 5 mục và trang chủ còn là Tổng quan ⇒ </a:t>
                      </a:r>
                      <a:r>
                        <a:rPr b="1"/>
                        <a:t>chụp lại trước khi nộp</a:t>
                      </a:r>
                    </a:p>
                  </a:txBody>
                </a:tc>
                <a:tc>
                  <a:txBody>
                    <a:bodyPr/>
                    <a:lstStyle/>
                    <a:p>
                      <a:pPr lvl="0" indent="0" marL="0">
                        <a:buNone/>
                      </a:pPr>
                      <a:r>
                        <a:rPr/>
                        <a:t>—</a:t>
                      </a:r>
                    </a:p>
                  </a:txBody>
                </a:tc>
              </a:tr>
              <a:tr h="0">
                <a:tc>
                  <a:txBody>
                    <a:bodyPr/>
                    <a:lstStyle/>
                    <a:p>
                      <a:pPr lvl="0" indent="0" marL="0">
                        <a:buNone/>
                      </a:pPr>
                      <a:r>
                        <a:rPr b="1"/>
                        <a:t>S17 — Hiệu năng CPU</a:t>
                      </a:r>
                    </a:p>
                  </a:txBody>
                </a:tc>
                <a:tc>
                  <a:txBody>
                    <a:bodyPr/>
                    <a:lstStyle/>
                    <a:p>
                      <a:pPr lvl="0" indent="0" marL="0">
                        <a:buNone/>
                      </a:pPr>
                      <a:r>
                        <a:rPr/>
                        <a:t>✅ </a:t>
                      </a:r>
                      <a:r>
                        <a:rPr b="1"/>
                        <a:t>ĐÃ ĐIỀN</a:t>
                      </a:r>
                    </a:p>
                  </a:txBody>
                </a:tc>
                <a:tc>
                  <a:txBody>
                    <a:bodyPr/>
                    <a:lstStyle/>
                    <a:p>
                      <a:pPr lvl="0" indent="0" marL="0">
                        <a:buNone/>
                      </a:pPr>
                      <a:r>
                        <a:rPr/>
                        <a:t>p50/p95/p99 độ trễ, phân rã bước</a:t>
                      </a:r>
                    </a:p>
                  </a:txBody>
                </a:tc>
                <a:tc>
                  <a:txBody>
                    <a:bodyPr/>
                    <a:lstStyle/>
                    <a:p>
                      <a:pPr lvl="0" indent="0" marL="0">
                        <a:buNone/>
                      </a:pPr>
                      <a:r>
                        <a:rPr>
                          <a:latin typeface="Courier"/>
                        </a:rPr>
                        <a:t>07-benchmark-p1-resolved.json</a:t>
                      </a:r>
                      <a:r>
                        <a:rPr/>
                        <a:t>, </a:t>
                      </a:r>
                      <a:r>
                        <a:rPr>
                          <a:latin typeface="Courier"/>
                        </a:rPr>
                        <a:t>05-tables.md §T5.7</a:t>
                      </a:r>
                    </a:p>
                  </a:txBody>
                </a:tc>
              </a:tr>
              <a:tr h="0">
                <a:tc>
                  <a:txBody>
                    <a:bodyPr/>
                    <a:lstStyle/>
                    <a:p>
                      <a:pPr lvl="0" indent="0" marL="0">
                        <a:buNone/>
                      </a:pPr>
                      <a:r>
                        <a:rPr/>
                        <a:t>S18–S21</a:t>
                      </a:r>
                    </a:p>
                  </a:txBody>
                </a:tc>
                <a:tc>
                  <a:txBody>
                    <a:bodyPr/>
                    <a:lstStyle/>
                    <a:p>
                      <a:pPr lvl="0" indent="0" marL="0">
                        <a:buNone/>
                      </a:pPr>
                      <a:r>
                        <a:rPr/>
                        <a:t>✅ Đủ dữ liệu</a:t>
                      </a:r>
                    </a:p>
                  </a:txBody>
                </a:tc>
                <a:tc>
                  <a:txBody>
                    <a:bodyPr/>
                    <a:lstStyle/>
                    <a:p>
                      <a:pPr lvl="0" indent="0" marL="0">
                        <a:buNone/>
                      </a:pPr>
                      <a:r>
                        <a:rPr/>
                        <a:t>—</a:t>
                      </a:r>
                    </a:p>
                  </a:txBody>
                </a:tc>
                <a:tc>
                  <a:txBody>
                    <a:bodyPr/>
                    <a:lstStyle/>
                    <a:p>
                      <a:pPr lvl="0" indent="0" marL="0">
                        <a:buNone/>
                      </a:pPr>
                      <a:r>
                        <a:rPr/>
                        <a:t>—</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Nguyên tắc trình bày số:</a:t>
            </a:r>
            <a:r>
              <a:rPr sz="2000"/>
              <a:t> S12/S17 đạt chỉ tiêu — trình bày thẳng. S15 (OCR) </a:t>
            </a:r>
            <a:r>
              <a:rPr sz="2000" b="1"/>
              <a:t>không đạt</a:t>
            </a:r>
            <a:r>
              <a:rPr sz="2000"/>
              <a:t> — trình bày trung thực kèm phân tích: toàn bộ khoảng cách nằm ở biển 2 dòng, không tô hồng. NFR-P2/P3/A9/R5 </a:t>
            </a:r>
            <a:r>
              <a:rPr sz="2000" b="1"/>
              <a:t>chưa đo</a:t>
            </a:r>
            <a:r>
              <a:rPr sz="2000"/>
              <a:t> — nói thẳng là chưa đo.</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PHẦN A — MỞ ĐẦU</a:t>
            </a:r>
          </a:p>
        </p:txBody>
      </p:sp>
      <p:sp>
        <p:nvSpPr>
          <p:cNvPr id="3" name="Content Placeholder 2"/>
          <p:cNvSpPr>
            <a:spLocks noGrp="1"/>
          </p:cNvSpPr>
          <p:nvPr>
            <p:ph idx="1"/>
          </p:nvPr>
        </p:nvSpPr>
        <p:spPr/>
        <p:txBody>
          <a:bodyPr/>
          <a:lstStyle/>
          <a:p>
            <a:pPr lvl="0" indent="0" marL="0">
              <a:spcBef>
                <a:spcPts val="3000"/>
              </a:spcBef>
              <a:buNone/>
            </a:pPr>
            <a:r>
              <a:rPr b="1"/>
              <a:t>S1 — Bìa</a:t>
            </a:r>
          </a:p>
          <a:p>
            <a:pPr lvl="0" indent="0" marL="0">
              <a:buNone/>
            </a:pPr>
            <a:r>
              <a:rPr b="1"/>
              <a:t>Nội dung trên slide</a:t>
            </a:r>
          </a:p>
          <a:p>
            <a:pPr lvl="0"/>
            <a:r>
              <a:rPr/>
              <a:t>Tên đề tài: </a:t>
            </a:r>
            <a:r>
              <a:rPr b="1"/>
              <a:t>Xây dựng hệ thống nhận dạng biển số xe Việt Nam ứng dụng Trí tuệ nhân tạo</a:t>
            </a:r>
          </a:p>
          <a:p>
            <a:pPr lvl="0"/>
            <a:r>
              <a:rPr/>
              <a:t>Sinh viên thực hiện · Mã số sinh viên · Lớp</a:t>
            </a:r>
          </a:p>
          <a:p>
            <a:pPr lvl="0"/>
            <a:r>
              <a:rPr/>
              <a:t>Giảng viên hướng dẫn</a:t>
            </a:r>
          </a:p>
          <a:p>
            <a:pPr lvl="0"/>
            <a:r>
              <a:rPr/>
              <a:t>Trường / Khoa · Tháng 7 năm 2026</a:t>
            </a:r>
          </a:p>
          <a:p>
            <a:pPr lvl="0" indent="0" marL="0">
              <a:buNone/>
            </a:pPr>
            <a:r>
              <a:rPr b="1"/>
              <a:t>Hình / Bảng</a:t>
            </a:r>
          </a:p>
          <a:p>
            <a:pPr lvl="0"/>
            <a:r>
              <a:rPr/>
              <a:t>Logo trường (góc trên trái)</a:t>
            </a:r>
          </a:p>
          <a:p>
            <a:pPr lvl="0"/>
            <a:r>
              <a:rPr/>
              <a:t>Một ảnh nền mờ: khung hình giao thông có biển số đã được khoanh hộp — lấy từ đầu ra thật của hệ thống, </a:t>
            </a:r>
            <a:r>
              <a:rPr b="1"/>
              <a:t>không</a:t>
            </a:r>
            <a:r>
              <a:rPr/>
              <a:t> dùng ảnh stock. Nguồn: chạy trang </a:t>
            </a:r>
            <a:r>
              <a:rPr b="1"/>
              <a:t>Nhận dạng ảnh</a:t>
            </a:r>
            <a:r>
              <a:rPr/>
              <a:t> (</a:t>
            </a:r>
            <a:r>
              <a:rPr>
                <a:latin typeface="Courier"/>
              </a:rPr>
              <a:t>/</a:t>
            </a:r>
            <a:r>
              <a:rPr/>
              <a:t>, trang chủ) rồi chụp vùng kết quả.</a:t>
            </a:r>
          </a:p>
          <a:p>
            <a:pPr lvl="0" indent="0" marL="0">
              <a:buNone/>
            </a:pPr>
            <a:r>
              <a:rPr b="1"/>
              <a:t>Speaker notes</a:t>
            </a:r>
            <a:r>
              <a:rPr/>
              <a:t> </a:t>
            </a:r>
            <a:r>
              <a:rPr i="1"/>
              <a:t>(20 s)</a:t>
            </a:r>
          </a:p>
          <a:p>
            <a:pPr lvl="0" indent="0" marL="1270000">
              <a:buNone/>
            </a:pPr>
            <a:r>
              <a:rPr sz="2000"/>
              <a:t>Em xin kính chào thầy cô trong hội đồng. Em là [tên], sinh viên lớp [lớp]. Hôm nay em xin trình bày đồ án tốt nghiệp: Xây dựng hệ thống nhận dạng biển số xe Việt Nam ứng dụng Trí tuệ nhân tạo, dưới sự hướng dẫn của thầy/cô [tên]. Phần trình bày của em gồm bốn khối: vì sao làm đề tài này, thiết kế hệ thống, hai đóng góp kỹ thuật chính, và trung thực về những gì em chưa làm xong.</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S2 — Đặt vấn đề: một con số</a:t>
            </a:r>
          </a:p>
          <a:p>
            <a:pPr lvl="0" indent="0" marL="0">
              <a:buNone/>
            </a:pPr>
            <a:r>
              <a:rPr b="1"/>
              <a:t>Nội dung trên slide</a:t>
            </a:r>
          </a:p>
          <a:p>
            <a:pPr lvl="0"/>
            <a:r>
              <a:rPr/>
              <a:t>Việt Nam: </a:t>
            </a:r>
            <a:r>
              <a:rPr b="1"/>
              <a:t>~77 triệu xe máy</a:t>
            </a:r>
            <a:r>
              <a:rPr/>
              <a:t> đăng ký (9/2024), chiếm </a:t>
            </a:r>
            <a:r>
              <a:rPr b="1"/>
              <a:t>85–90%</a:t>
            </a:r>
            <a:r>
              <a:rPr/>
              <a:t> lưu lượng đường bộ</a:t>
            </a:r>
          </a:p>
          <a:p>
            <a:pPr lvl="0"/>
            <a:r>
              <a:rPr/>
              <a:t>Hệ thống ALPR thương mại </a:t>
            </a:r>
            <a:r>
              <a:rPr b="1"/>
              <a:t>OpenALPR</a:t>
            </a:r>
            <a:r>
              <a:rPr/>
              <a:t>, cùng một tập kiểm thử cân bằng 4.000 + 4.000 ảnh:</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Loại xe</a:t>
                      </a:r>
                    </a:p>
                  </a:txBody>
                  <a:tcPr/>
                </a:tc>
                <a:tc>
                  <a:txBody>
                    <a:bodyPr/>
                    <a:lstStyle/>
                    <a:p>
                      <a:pPr lvl="0" indent="0" marL="0">
                        <a:buNone/>
                      </a:pPr>
                      <a:r>
                        <a:rPr/>
                        <a:t>Bố cục biển</a:t>
                      </a:r>
                    </a:p>
                  </a:txBody>
                  <a:tcPr/>
                </a:tc>
                <a:tc>
                  <a:txBody>
                    <a:bodyPr/>
                    <a:lstStyle/>
                    <a:p>
                      <a:pPr lvl="0" indent="0" marL="0" algn="r">
                        <a:buNone/>
                      </a:pPr>
                      <a:r>
                        <a:rPr/>
                        <a:t>Tỉ lệ đọc đúng</a:t>
                      </a:r>
                    </a:p>
                  </a:txBody>
                  <a:tcPr/>
                </a:tc>
              </a:tr>
              <a:tr h="0">
                <a:tc>
                  <a:txBody>
                    <a:bodyPr/>
                    <a:lstStyle/>
                    <a:p>
                      <a:pPr lvl="0" indent="0" marL="0">
                        <a:buNone/>
                      </a:pPr>
                      <a:r>
                        <a:rPr/>
                        <a:t>Ô tô</a:t>
                      </a:r>
                    </a:p>
                  </a:txBody>
                </a:tc>
                <a:tc>
                  <a:txBody>
                    <a:bodyPr/>
                    <a:lstStyle/>
                    <a:p>
                      <a:pPr lvl="0" indent="0" marL="0">
                        <a:buNone/>
                      </a:pPr>
                      <a:r>
                        <a:rPr/>
                        <a:t>1 dòng</a:t>
                      </a:r>
                    </a:p>
                  </a:txBody>
                </a:tc>
                <a:tc>
                  <a:txBody>
                    <a:bodyPr/>
                    <a:lstStyle/>
                    <a:p>
                      <a:pPr lvl="0" indent="0" marL="0" algn="r">
                        <a:buNone/>
                      </a:pPr>
                      <a:r>
                        <a:rPr b="1"/>
                        <a:t>94,3%</a:t>
                      </a:r>
                    </a:p>
                  </a:txBody>
                </a:tc>
              </a:tr>
              <a:tr h="0">
                <a:tc>
                  <a:txBody>
                    <a:bodyPr/>
                    <a:lstStyle/>
                    <a:p>
                      <a:pPr lvl="0" indent="0" marL="0">
                        <a:buNone/>
                      </a:pPr>
                      <a:r>
                        <a:rPr/>
                        <a:t>Xe máy</a:t>
                      </a:r>
                    </a:p>
                  </a:txBody>
                </a:tc>
                <a:tc>
                  <a:txBody>
                    <a:bodyPr/>
                    <a:lstStyle/>
                    <a:p>
                      <a:pPr lvl="0" indent="0" marL="0">
                        <a:buNone/>
                      </a:pPr>
                      <a:r>
                        <a:rPr b="1"/>
                        <a:t>2 dòng</a:t>
                      </a:r>
                    </a:p>
                  </a:txBody>
                </a:tc>
                <a:tc>
                  <a:txBody>
                    <a:bodyPr/>
                    <a:lstStyle/>
                    <a:p>
                      <a:pPr lvl="0" indent="0" marL="0" algn="r">
                        <a:buNone/>
                      </a:pPr>
                      <a:r>
                        <a:rPr b="1"/>
                        <a:t>45,7%</a:t>
                      </a:r>
                    </a:p>
                  </a:txBody>
                </a:tc>
              </a:tr>
              <a:tr h="0">
                <a:tc>
                  <a:txBody>
                    <a:bodyPr/>
                    <a:lstStyle/>
                    <a:p>
                      <a:endParaRPr/>
                    </a:p>
                  </a:txBody>
                </a:tc>
                <a:tc>
                  <a:txBody>
                    <a:bodyPr/>
                    <a:lstStyle/>
                    <a:p>
                      <a:pPr lvl="0" indent="0" marL="0">
                        <a:buNone/>
                      </a:pPr>
                      <a:r>
                        <a:rPr b="1"/>
                        <a:t>Chênh lệch</a:t>
                      </a:r>
                    </a:p>
                  </a:txBody>
                </a:tc>
                <a:tc>
                  <a:txBody>
                    <a:bodyPr/>
                    <a:lstStyle/>
                    <a:p>
                      <a:pPr lvl="0" indent="0" marL="0" algn="r">
                        <a:buNone/>
                      </a:pPr>
                      <a:r>
                        <a:rPr b="1"/>
                        <a:t>48,6 điểm</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Cùng một hệ thống. Cùng một phép đo. </a:t>
            </a:r>
            <a:r>
              <a:rPr b="1"/>
              <a:t>Chỉ khác bố cục biển.</a:t>
            </a:r>
          </a:p>
          <a:p>
            <a:pPr lvl="0"/>
            <a:r>
              <a:rPr/>
              <a:t>⚠️ Số đo trên RodoSol-ALPR (Brazil) — dẫn làm </a:t>
            </a:r>
            <a:r>
              <a:rPr i="1"/>
              <a:t>analogue</a:t>
            </a:r>
            <a:r>
              <a:rPr/>
              <a:t> về độ khó, </a:t>
            </a:r>
            <a:r>
              <a:rPr b="1"/>
              <a:t>không phải số liệu Việt Nam</a:t>
            </a:r>
          </a:p>
          <a:p>
            <a:pPr lvl="0" indent="0" marL="0">
              <a:buNone/>
            </a:pPr>
            <a:r>
              <a:rPr b="1"/>
              <a:t>Hình / Bảng</a:t>
            </a:r>
          </a:p>
          <a:p>
            <a:pPr lvl="0"/>
            <a:r>
              <a:rPr/>
              <a:t>Biểu đồ cột </a:t>
            </a:r>
            <a:r>
              <a:rPr b="1"/>
              <a:t>2 cột duy nhất</a:t>
            </a:r>
            <a:r>
              <a:rPr/>
              <a:t>: 94,3 và 45,7. Cột thứ hai tô đỏ. Không thêm gì khác — hình càng trơ càng mạnh.</a:t>
            </a:r>
          </a:p>
          <a:p>
            <a:pPr lvl="0"/>
            <a:r>
              <a:rPr/>
              <a:t>Nguồn ghi nhỏ dưới hình: </a:t>
            </a:r>
            <a:r>
              <a:rPr i="1"/>
              <a:t>Laroca et al., VISAPP 2022 (arXiv 2201.00267)</a:t>
            </a:r>
          </a:p>
          <a:p>
            <a:pPr lvl="0" indent="0" marL="0">
              <a:buNone/>
            </a:pPr>
            <a:r>
              <a:rPr b="1"/>
              <a:t>Speaker notes</a:t>
            </a:r>
            <a:r>
              <a:rPr/>
              <a:t> </a:t>
            </a:r>
            <a:r>
              <a:rPr i="1"/>
              <a:t>(50 s)</a:t>
            </a:r>
          </a:p>
          <a:p>
            <a:pPr lvl="0" indent="0" marL="1270000">
              <a:buNone/>
            </a:pPr>
            <a:r>
              <a:rPr sz="2000"/>
              <a:t>Em xin bắt đầu bằng một con số. OpenALPR là một hệ thống nhận dạng biển số thương mại đã trưởng thành. Khi được đo trên một tập kiểm thử cân bằng có chủ ý — bốn nghìn ảnh ô tô biển một dòng và bốn nghìn ảnh xe máy biển hai dòng — nó đọc đúng 94,3% với ô tô, nhưng chỉ 45,7% với xe máy. Chênh gần 49 điểm phần trăm, trên cùng một hệ thống, cùng một điều kiện đo, không có biến số nào khác thay đổi ngoài bố cục biển.</a:t>
            </a:r>
          </a:p>
          <a:p>
            <a:pPr lvl="0" indent="0" marL="1270000">
              <a:buNone/>
            </a:pPr>
            <a:r>
              <a:rPr sz="2000"/>
              <a:t>Em phải nói rõ ngay: con số này đo trên dữ liệu Brazil, không phải Việt Nam. Em dẫn nó như một </a:t>
            </a:r>
            <a:r>
              <a:rPr sz="2000" i="1"/>
              <a:t>analogue</a:t>
            </a:r>
            <a:r>
              <a:rPr sz="2000"/>
              <a:t> về độ khó. Nhưng ý nghĩa với Việt Nam thì rất trực tiếp: ở nước ta xe máy chiếm 85 đến 90% lưu lượng. Tức là chỗ mà các hệ thống nhập khẩu hỏng nặng nhất, lại chính là chỗ Việt Nam cần nhất.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S3 — Mục tiêu và phạm vi</a:t>
            </a:r>
          </a:p>
          <a:p>
            <a:pPr lvl="0" indent="0" marL="0">
              <a:buNone/>
            </a:pPr>
            <a:r>
              <a:rPr b="1"/>
              <a:t>Nội dung trên slide</a:t>
            </a:r>
          </a:p>
          <a:p>
            <a:pPr lvl="0" indent="0" marL="0">
              <a:buNone/>
            </a:pPr>
            <a:r>
              <a:rPr b="1"/>
              <a:t>Mục tiêu tổng quát:</a:t>
            </a:r>
            <a:r>
              <a:rPr/>
              <a:t> hệ thống ALPR hoàn chỉnh cho biển số Việt Nam — hỗ trợ </a:t>
            </a:r>
            <a:r>
              <a:rPr b="1"/>
              <a:t>cả biển 1 dòng và 2 dòng</a:t>
            </a:r>
            <a:r>
              <a:rPr/>
              <a:t>, suy luận </a:t>
            </a:r>
            <a:r>
              <a:rPr b="1"/>
              <a:t>hoàn toàn trên CPU</a:t>
            </a:r>
            <a:r>
              <a:rPr/>
              <a:t> (mặc định, không phải chế độ dự phòng)</a:t>
            </a:r>
          </a:p>
          <a:p>
            <a:pPr lvl="0" indent="0" marL="0">
              <a:buNone/>
            </a:pPr>
            <a:r>
              <a:rPr b="1"/>
              <a:t>Chỉ tiêu đo được — trích 5 chỉ tiêu chính:</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Mã</a:t>
                      </a:r>
                    </a:p>
                  </a:txBody>
                  <a:tcPr/>
                </a:tc>
                <a:tc>
                  <a:txBody>
                    <a:bodyPr/>
                    <a:lstStyle/>
                    <a:p>
                      <a:pPr lvl="0" indent="0" marL="0">
                        <a:buNone/>
                      </a:pPr>
                      <a:r>
                        <a:rPr/>
                        <a:t>Chỉ tiêu</a:t>
                      </a:r>
                    </a:p>
                  </a:txBody>
                  <a:tcPr/>
                </a:tc>
                <a:tc>
                  <a:txBody>
                    <a:bodyPr/>
                    <a:lstStyle/>
                    <a:p>
                      <a:pPr lvl="0" indent="0" marL="0" algn="ctr">
                        <a:buNone/>
                      </a:pPr>
                      <a:r>
                        <a:rPr/>
                        <a:t>Mục tiêu</a:t>
                      </a:r>
                    </a:p>
                  </a:txBody>
                  <a:tcPr/>
                </a:tc>
                <a:tc>
                  <a:txBody>
                    <a:bodyPr/>
                    <a:lstStyle/>
                    <a:p>
                      <a:pPr lvl="0" indent="0" marL="0" algn="ctr">
                        <a:buNone/>
                      </a:pPr>
                      <a:r>
                        <a:rPr/>
                        <a:t>Ngưỡng tối thiểu</a:t>
                      </a:r>
                    </a:p>
                  </a:txBody>
                  <a:tcPr/>
                </a:tc>
              </a:tr>
              <a:tr h="0">
                <a:tc>
                  <a:txBody>
                    <a:bodyPr/>
                    <a:lstStyle/>
                    <a:p>
                      <a:pPr lvl="0" indent="0" marL="0">
                        <a:buNone/>
                      </a:pPr>
                      <a:r>
                        <a:rPr/>
                        <a:t>NFR-A1</a:t>
                      </a:r>
                    </a:p>
                  </a:txBody>
                </a:tc>
                <a:tc>
                  <a:txBody>
                    <a:bodyPr/>
                    <a:lstStyle/>
                    <a:p>
                      <a:pPr lvl="0" indent="0" marL="0">
                        <a:buNone/>
                      </a:pPr>
                      <a:r>
                        <a:rPr>
                          <a:hlinkClick r:id="rId2"/>
                        </a:rPr>
                        <a:t>mAP@0.5</a:t>
                      </a:r>
                      <a:r>
                        <a:rPr/>
                        <a:t> phát hiện</a:t>
                      </a:r>
                    </a:p>
                  </a:txBody>
                </a:tc>
                <a:tc>
                  <a:txBody>
                    <a:bodyPr/>
                    <a:lstStyle/>
                    <a:p>
                      <a:pPr lvl="0" indent="0" marL="0" algn="ctr">
                        <a:buNone/>
                      </a:pPr>
                      <a:r>
                        <a:rPr/>
                        <a:t>≥ 0,90</a:t>
                      </a:r>
                    </a:p>
                  </a:txBody>
                </a:tc>
                <a:tc>
                  <a:txBody>
                    <a:bodyPr/>
                    <a:lstStyle/>
                    <a:p>
                      <a:pPr lvl="0" indent="0" marL="0" algn="ctr">
                        <a:buNone/>
                      </a:pPr>
                      <a:r>
                        <a:rPr/>
                        <a:t>≥ 0,85</a:t>
                      </a:r>
                    </a:p>
                  </a:txBody>
                </a:tc>
              </a:tr>
              <a:tr h="0">
                <a:tc>
                  <a:txBody>
                    <a:bodyPr/>
                    <a:lstStyle/>
                    <a:p>
                      <a:pPr lvl="0" indent="0" marL="0">
                        <a:buNone/>
                      </a:pPr>
                      <a:r>
                        <a:rPr/>
                        <a:t>NFR-A2</a:t>
                      </a:r>
                    </a:p>
                  </a:txBody>
                </a:tc>
                <a:tc>
                  <a:txBody>
                    <a:bodyPr/>
                    <a:lstStyle/>
                    <a:p>
                      <a:pPr lvl="0" indent="0" marL="0">
                        <a:buNone/>
                      </a:pPr>
                      <a:r>
                        <a:rPr>
                          <a:hlinkClick r:id="rId3"/>
                        </a:rPr>
                        <a:t>mAP@0.5</a:t>
                      </a:r>
                      <a:r>
                        <a:rPr/>
                        <a:t>:0.95</a:t>
                      </a:r>
                    </a:p>
                  </a:txBody>
                </a:tc>
                <a:tc>
                  <a:txBody>
                    <a:bodyPr/>
                    <a:lstStyle/>
                    <a:p>
                      <a:pPr lvl="0" indent="0" marL="0" algn="ctr">
                        <a:buNone/>
                      </a:pPr>
                      <a:r>
                        <a:rPr/>
                        <a:t>≥ 0,65</a:t>
                      </a:r>
                    </a:p>
                  </a:txBody>
                </a:tc>
                <a:tc>
                  <a:txBody>
                    <a:bodyPr/>
                    <a:lstStyle/>
                    <a:p>
                      <a:pPr lvl="0" indent="0" marL="0" algn="ctr">
                        <a:buNone/>
                      </a:pPr>
                      <a:r>
                        <a:rPr/>
                        <a:t>≥ 0,55</a:t>
                      </a:r>
                    </a:p>
                  </a:txBody>
                </a:tc>
              </a:tr>
              <a:tr h="0">
                <a:tc>
                  <a:txBody>
                    <a:bodyPr/>
                    <a:lstStyle/>
                    <a:p>
                      <a:pPr lvl="0" indent="0" marL="0">
                        <a:buNone/>
                      </a:pPr>
                      <a:r>
                        <a:rPr/>
                        <a:t>NFR-A6</a:t>
                      </a:r>
                    </a:p>
                  </a:txBody>
                </a:tc>
                <a:tc>
                  <a:txBody>
                    <a:bodyPr/>
                    <a:lstStyle/>
                    <a:p>
                      <a:pPr lvl="0" indent="0" marL="0">
                        <a:buNone/>
                      </a:pPr>
                      <a:r>
                        <a:rPr/>
                        <a:t>Chính xác biển </a:t>
                      </a:r>
                      <a:r>
                        <a:rPr b="1"/>
                        <a:t>sau</a:t>
                      </a:r>
                      <a:r>
                        <a:rPr/>
                        <a:t> hậu xử lý</a:t>
                      </a:r>
                    </a:p>
                  </a:txBody>
                </a:tc>
                <a:tc>
                  <a:txBody>
                    <a:bodyPr/>
                    <a:lstStyle/>
                    <a:p>
                      <a:pPr lvl="0" indent="0" marL="0" algn="ctr">
                        <a:buNone/>
                      </a:pPr>
                      <a:r>
                        <a:rPr/>
                        <a:t>≥ 0,90</a:t>
                      </a:r>
                    </a:p>
                  </a:txBody>
                </a:tc>
                <a:tc>
                  <a:txBody>
                    <a:bodyPr/>
                    <a:lstStyle/>
                    <a:p>
                      <a:pPr lvl="0" indent="0" marL="0" algn="ctr">
                        <a:buNone/>
                      </a:pPr>
                      <a:r>
                        <a:rPr/>
                        <a:t>≥ 0,85</a:t>
                      </a:r>
                    </a:p>
                  </a:txBody>
                </a:tc>
              </a:tr>
              <a:tr h="0">
                <a:tc>
                  <a:txBody>
                    <a:bodyPr/>
                    <a:lstStyle/>
                    <a:p>
                      <a:pPr lvl="0" indent="0" marL="0">
                        <a:buNone/>
                      </a:pPr>
                      <a:r>
                        <a:rPr/>
                        <a:t>NFR-A7</a:t>
                      </a:r>
                    </a:p>
                  </a:txBody>
                </a:tc>
                <a:tc>
                  <a:txBody>
                    <a:bodyPr/>
                    <a:lstStyle/>
                    <a:p>
                      <a:pPr lvl="0" indent="0" marL="0">
                        <a:buNone/>
                      </a:pPr>
                      <a:r>
                        <a:rPr b="1"/>
                        <a:t>Chính xác E2E toàn trình</a:t>
                      </a:r>
                    </a:p>
                  </a:txBody>
                </a:tc>
                <a:tc>
                  <a:txBody>
                    <a:bodyPr/>
                    <a:lstStyle/>
                    <a:p>
                      <a:pPr lvl="0" indent="0" marL="0" algn="ctr">
                        <a:buNone/>
                      </a:pPr>
                      <a:r>
                        <a:rPr b="1"/>
                        <a:t>≥ 0,88</a:t>
                      </a:r>
                    </a:p>
                  </a:txBody>
                </a:tc>
                <a:tc>
                  <a:txBody>
                    <a:bodyPr/>
                    <a:lstStyle/>
                    <a:p>
                      <a:pPr lvl="0" indent="0" marL="0" algn="ctr">
                        <a:buNone/>
                      </a:pPr>
                      <a:r>
                        <a:rPr/>
                        <a:t>≥ 0,82</a:t>
                      </a:r>
                    </a:p>
                  </a:txBody>
                </a:tc>
              </a:tr>
              <a:tr h="0">
                <a:tc>
                  <a:txBody>
                    <a:bodyPr/>
                    <a:lstStyle/>
                    <a:p>
                      <a:pPr lvl="0" indent="0" marL="0">
                        <a:buNone/>
                      </a:pPr>
                      <a:r>
                        <a:rPr/>
                        <a:t>NFR-P1</a:t>
                      </a:r>
                    </a:p>
                  </a:txBody>
                </a:tc>
                <a:tc>
                  <a:txBody>
                    <a:bodyPr/>
                    <a:lstStyle/>
                    <a:p>
                      <a:pPr lvl="0" indent="0" marL="0">
                        <a:buNone/>
                      </a:pPr>
                      <a:r>
                        <a:rPr/>
                        <a:t>Độ trễ 1 ảnh, p95, CPU</a:t>
                      </a:r>
                    </a:p>
                  </a:txBody>
                </a:tc>
                <a:tc>
                  <a:txBody>
                    <a:bodyPr/>
                    <a:lstStyle/>
                    <a:p>
                      <a:pPr lvl="0" indent="0" marL="0" algn="ctr">
                        <a:buNone/>
                      </a:pPr>
                      <a:r>
                        <a:rPr/>
                        <a:t>≤ 800 ms</a:t>
                      </a:r>
                    </a:p>
                  </a:txBody>
                </a:tc>
                <a:tc>
                  <a:txBody>
                    <a:bodyPr/>
                    <a:lstStyle/>
                    <a:p>
                      <a:pPr lvl="0" indent="0" marL="0" algn="ctr">
                        <a:buNone/>
                      </a:pPr>
                      <a:r>
                        <a:rPr/>
                        <a:t>≤ 1.200 ms</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Cố ý ngoài phạm vi:</a:t>
            </a:r>
            <a:r>
              <a:rPr/>
              <a:t> phân loại loại xe · tracking đa khung · tích hợp barie · xác thực người dùng · huấn luyện OCR từ đầu</a:t>
            </a:r>
          </a:p>
          <a:p>
            <a:pPr lvl="0" indent="0" marL="0">
              <a:buNone/>
            </a:pPr>
            <a:r>
              <a:rPr b="1"/>
              <a:t>Hình / Bảng</a:t>
            </a:r>
          </a:p>
          <a:p>
            <a:pPr lvl="0"/>
            <a:r>
              <a:rPr/>
              <a:t>Bảng chỉ tiêu như trên</a:t>
            </a:r>
          </a:p>
          <a:p>
            <a:pPr lvl="0"/>
            <a:r>
              <a:rPr/>
              <a:t>Dải "trong phạm vi / ngoài phạm vi" hai màu, nằm ngang dưới cùng</a:t>
            </a:r>
          </a:p>
          <a:p>
            <a:pPr lvl="0" indent="0" marL="0">
              <a:buNone/>
            </a:pPr>
            <a:r>
              <a:rPr b="1"/>
              <a:t>Speaker notes</a:t>
            </a:r>
            <a:r>
              <a:rPr/>
              <a:t> </a:t>
            </a:r>
            <a:r>
              <a:rPr i="1"/>
              <a:t>(40 s)</a:t>
            </a:r>
          </a:p>
          <a:p>
            <a:pPr lvl="0" indent="0" marL="1270000">
              <a:buNone/>
            </a:pPr>
            <a:r>
              <a:rPr sz="2000"/>
              <a:t>Mục tiêu của em là một hệ thống hoàn chỉnh chứ không phải một notebook demo: có mô hình tự huấn luyện, backend, giao diện, cơ sở dữ liệu và tài liệu. Hai ràng buộc em tuyên bố ngay từ đầu: phải xử lý được cả biển một dòng lẫn hai dòng, và phải chạy được hoàn toàn trên CPU — vì máy triển khai không có GPU.</a:t>
            </a:r>
          </a:p>
          <a:p>
            <a:pPr lvl="0" indent="0" marL="1270000">
              <a:buNone/>
            </a:pPr>
            <a:r>
              <a:rPr sz="2000"/>
              <a:t>Điều em muốn nhấn ở slide này là các chỉ tiêu đều </a:t>
            </a:r>
            <a:r>
              <a:rPr sz="2000" b="1"/>
              <a:t>đo được bằng số</a:t>
            </a:r>
            <a:r>
              <a:rPr sz="2000"/>
              <a:t> và được chốt </a:t>
            </a:r>
            <a:r>
              <a:rPr sz="2000" b="1"/>
              <a:t>trước khi</a:t>
            </a:r>
            <a:r>
              <a:rPr sz="2000"/>
              <a:t> bắt tay làm, mỗi chỉ tiêu có hai mức: mục tiêu và ngưỡng tối thiểu. Và em cũng ghi rõ những gì cố ý không làm — danh sách ngoài phạm vi này là ranh giới cứng, nó bảo vệ đồ án khỏi phình phạm vi.</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PHẦN B — NỀN TẢNG</a:t>
            </a:r>
          </a:p>
        </p:txBody>
      </p:sp>
      <p:sp>
        <p:nvSpPr>
          <p:cNvPr id="4" name="Text Placeholder 3"/>
          <p:cNvSpPr>
            <a:spLocks noGrp="1"/>
          </p:cNvSpPr>
          <p:nvPr>
            <p:ph idx="2" sz="half" type="body"/>
          </p:nvPr>
        </p:nvSpPr>
        <p:spPr/>
        <p:txBody>
          <a:bodyPr/>
          <a:lstStyle/>
          <a:p>
            <a:pPr lvl="0" indent="0" marL="0">
              <a:spcBef>
                <a:spcPts val="3000"/>
              </a:spcBef>
              <a:buNone/>
            </a:pPr>
            <a:r>
              <a:rPr b="1"/>
              <a:t>S4 — Tổng quan các hướng tiếp cận</a:t>
            </a:r>
          </a:p>
          <a:p>
            <a:pPr lvl="0" indent="0" marL="0">
              <a:buNone/>
            </a:pPr>
            <a:r>
              <a:rPr b="1"/>
              <a:t>Nội dung trên slide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Thế hệ</a:t>
                      </a:r>
                    </a:p>
                  </a:txBody>
                  <a:tcPr/>
                </a:tc>
                <a:tc>
                  <a:txBody>
                    <a:bodyPr/>
                    <a:lstStyle/>
                    <a:p>
                      <a:pPr lvl="0" indent="0" marL="0">
                        <a:buNone/>
                      </a:pPr>
                      <a:r>
                        <a:rPr/>
                        <a:t>Cách làm</a:t>
                      </a:r>
                    </a:p>
                  </a:txBody>
                  <a:tcPr/>
                </a:tc>
                <a:tc>
                  <a:txBody>
                    <a:bodyPr/>
                    <a:lstStyle/>
                    <a:p>
                      <a:pPr lvl="0" indent="0" marL="0">
                        <a:buNone/>
                      </a:pPr>
                      <a:r>
                        <a:rPr/>
                        <a:t>Điểm gãy</a:t>
                      </a:r>
                    </a:p>
                  </a:txBody>
                  <a:tcPr/>
                </a:tc>
              </a:tr>
              <a:tr h="0">
                <a:tc>
                  <a:txBody>
                    <a:bodyPr/>
                    <a:lstStyle/>
                    <a:p>
                      <a:pPr lvl="0" indent="0" marL="0">
                        <a:buNone/>
                      </a:pPr>
                      <a:r>
                        <a:rPr/>
                        <a:t>Cổ điển</a:t>
                      </a:r>
                    </a:p>
                  </a:txBody>
                </a:tc>
                <a:tc>
                  <a:txBody>
                    <a:bodyPr/>
                    <a:lstStyle/>
                    <a:p>
                      <a:pPr lvl="0" indent="0" marL="0">
                        <a:buNone/>
                      </a:pPr>
                      <a:r>
                        <a:rPr/>
                        <a:t>Sobel / morphology / contour + template matching</a:t>
                      </a:r>
                    </a:p>
                  </a:txBody>
                </a:tc>
                <a:tc>
                  <a:txBody>
                    <a:bodyPr/>
                    <a:lstStyle/>
                    <a:p>
                      <a:pPr lvl="0" indent="0" marL="0">
                        <a:buNone/>
                      </a:pPr>
                      <a:r>
                        <a:rPr/>
                        <a:t>Vỡ khi ánh sáng, góc chụp đổi</a:t>
                      </a:r>
                    </a:p>
                  </a:txBody>
                </a:tc>
              </a:tr>
              <a:tr h="0">
                <a:tc>
                  <a:txBody>
                    <a:bodyPr/>
                    <a:lstStyle/>
                    <a:p>
                      <a:pPr lvl="0" indent="0" marL="0">
                        <a:buNone/>
                      </a:pPr>
                      <a:r>
                        <a:rPr/>
                        <a:t>Hai giai đoạn</a:t>
                      </a:r>
                    </a:p>
                  </a:txBody>
                </a:tc>
                <a:tc>
                  <a:txBody>
                    <a:bodyPr/>
                    <a:lstStyle/>
                    <a:p>
                      <a:pPr lvl="0" indent="0" marL="0">
                        <a:buNone/>
                      </a:pPr>
                      <a:r>
                        <a:rPr/>
                        <a:t>CNN phát hiện → CRNN/CTC đọc chuỗi</a:t>
                      </a:r>
                    </a:p>
                  </a:txBody>
                </a:tc>
                <a:tc>
                  <a:txBody>
                    <a:bodyPr/>
                    <a:lstStyle/>
                    <a:p>
                      <a:pPr lvl="0" indent="0" marL="0">
                        <a:buNone/>
                      </a:pPr>
                      <a:r>
                        <a:rPr b="1"/>
                        <a:t>Giả định 1 dòng nằm trong hàm mất mát</a:t>
                      </a:r>
                    </a:p>
                  </a:txBody>
                </a:tc>
              </a:tr>
              <a:tr h="0">
                <a:tc>
                  <a:txBody>
                    <a:bodyPr/>
                    <a:lstStyle/>
                    <a:p>
                      <a:pPr lvl="0" indent="0" marL="0">
                        <a:buNone/>
                      </a:pPr>
                      <a:r>
                        <a:rPr/>
                        <a:t>Một giai đoạn</a:t>
                      </a:r>
                    </a:p>
                  </a:txBody>
                </a:tc>
                <a:tc>
                  <a:txBody>
                    <a:bodyPr/>
                    <a:lstStyle/>
                    <a:p>
                      <a:pPr lvl="0" indent="0" marL="0">
                        <a:buNone/>
                      </a:pPr>
                      <a:r>
                        <a:rPr/>
                        <a:t>YOLO phát hiện trực tiếp ký tự</a:t>
                      </a:r>
                    </a:p>
                  </a:txBody>
                </a:tc>
                <a:tc>
                  <a:txBody>
                    <a:bodyPr/>
                    <a:lstStyle/>
                    <a:p>
                      <a:pPr lvl="0" indent="0" marL="0">
                        <a:buNone/>
                      </a:pPr>
                      <a:r>
                        <a:rPr/>
                        <a:t>Cần nhãn ký tự — thứ Việt Nam gần như không có công khai</a:t>
                      </a:r>
                    </a:p>
                  </a:txBody>
                </a:tc>
              </a:tr>
              <a:tr h="0">
                <a:tc>
                  <a:txBody>
                    <a:bodyPr/>
                    <a:lstStyle/>
                    <a:p>
                      <a:pPr lvl="0" indent="0" marL="0">
                        <a:buNone/>
                      </a:pPr>
                      <a:r>
                        <a:rPr/>
                        <a:t>End-to-end</a:t>
                      </a:r>
                    </a:p>
                  </a:txBody>
                </a:tc>
                <a:tc>
                  <a:txBody>
                    <a:bodyPr/>
                    <a:lstStyle/>
                    <a:p>
                      <a:pPr lvl="0" indent="0" marL="0">
                        <a:buNone/>
                      </a:pPr>
                      <a:r>
                        <a:rPr/>
                        <a:t>Transformer / attention đọc thẳng</a:t>
                      </a:r>
                    </a:p>
                  </a:txBody>
                </a:tc>
                <a:tc>
                  <a:txBody>
                    <a:bodyPr/>
                    <a:lstStyle/>
                    <a:p>
                      <a:pPr lvl="0" indent="0" marL="0">
                        <a:buNone/>
                      </a:pPr>
                      <a:r>
                        <a:rPr/>
                        <a:t>Đói dữ liệu, nặng, không hợp CPU</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r>
              <a:rPr b="1"/>
              <a:t>Lựa chọn:</a:t>
            </a:r>
            <a:r>
              <a:rPr/>
              <a:t> hai giai đoạn — </a:t>
            </a:r>
            <a:r>
              <a:rPr b="1"/>
              <a:t>YOLO11n</a:t>
            </a:r>
            <a:r>
              <a:rPr/>
              <a:t> phát hiện vùng biển + </a:t>
            </a:r>
            <a:r>
              <a:rPr b="1"/>
              <a:t>PaddleOCR</a:t>
            </a:r>
            <a:r>
              <a:rPr/>
              <a:t> đọc ký tự + </a:t>
            </a:r>
            <a:r>
              <a:rPr b="1"/>
              <a:t>khối hậu xử lý theo luật Việt Nam</a:t>
            </a:r>
          </a:p>
          <a:p>
            <a:pPr lvl="0"/>
            <a:r>
              <a:rPr/>
              <a:t>Lý do: chỉ cần nhãn vùng biển (có sẵn), thay được từng khối, chạy được trên CPU</a:t>
            </a:r>
          </a:p>
          <a:p>
            <a:pPr lvl="0" indent="0" marL="0">
              <a:buNone/>
            </a:pPr>
            <a:r>
              <a:rPr b="1"/>
              <a:t>Hình / Bảng</a:t>
            </a:r>
          </a:p>
          <a:p>
            <a:pPr lvl="0"/>
            <a:r>
              <a:rPr/>
              <a:t>Sơ đồ 4 nhánh, nhánh "hai giai đoạn" tô đậm và có mũi tên dẫn xuống lựa chọn</a:t>
            </a:r>
          </a:p>
          <a:p>
            <a:pPr lvl="0" indent="0" marL="0">
              <a:buNone/>
            </a:pPr>
            <a:r>
              <a:rPr b="1"/>
              <a:t>Speaker notes</a:t>
            </a:r>
            <a:r>
              <a:rPr/>
              <a:t> </a:t>
            </a:r>
            <a:r>
              <a:rPr i="1"/>
              <a:t>(45 s)</a:t>
            </a:r>
          </a:p>
          <a:p>
            <a:pPr lvl="0" indent="0" marL="1270000">
              <a:buNone/>
            </a:pPr>
            <a:r>
              <a:rPr sz="2000"/>
              <a:t>Em khảo sát bốn thế hệ tiếp cận. Hướng cổ điển dùng xử lý ảnh thuần, vỡ ngay khi điều kiện chụp đổi. Hướng end-to-end bằng transformer thì mạnh nhưng đói dữ liệu và quá nặng cho CPU. Hướng một giai đoạn — dùng YOLO phát hiện thẳng từng ký tự — về nguyên tắc rất gọn, nhưng nó đòi nhãn ở mức ký tự, mà dữ liệu biển số Việt Nam công khai gần như không có nhãn đó.</a:t>
            </a:r>
          </a:p>
          <a:p>
            <a:pPr lvl="0" indent="0" marL="1270000">
              <a:buNone/>
            </a:pPr>
            <a:r>
              <a:rPr sz="2000"/>
              <a:t>Em chọn kiến trúc hai giai đoạn: YOLO11 tìm vùng biển, PaddleOCR đọc ký tự, rồi một khối hậu xử lý riêng áp luật biển số Việt Nam. Ba lý do: nó chỉ cần loại nhãn em thực sự có, từng khối thay thế được độc lập, và nó vừa ngân sách CPU. Em cũng ghi nhận sẵn điểm yếu của hướng này — CRNN giả định văn bản nằm trên một dòng — và đó chính là vấn đề em xử lý ở slide 13.</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S5 — Đặc thù biển số Việt Nam</a:t>
            </a:r>
          </a:p>
          <a:p>
            <a:pPr lvl="0" indent="0" marL="0">
              <a:buNone/>
            </a:pPr>
            <a:r>
              <a:rPr b="1"/>
              <a:t>Nội dung trên slide</a:t>
            </a:r>
          </a:p>
          <a:p>
            <a:pPr lvl="0" indent="0" marL="0">
              <a:buNone/>
            </a:pPr>
            <a:r>
              <a:rPr b="1"/>
              <a:t>Ba đặc thù không có ở bộ quy tắc nước ngoài nào:</a:t>
            </a:r>
          </a:p>
          <a:p>
            <a:pPr lvl="0" indent="-342900" marL="342900">
              <a:buAutoNum type="arabicPeriod"/>
            </a:pPr>
            <a:r>
              <a:rPr b="1"/>
              <a:t>Bố cục tách bạch theo tỉ lệ khung hình</a:t>
            </a:r>
            <a:r>
              <a:rPr/>
              <a:t> (QCVN 08:2024/BCA)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Loại biển</a:t>
                      </a:r>
                    </a:p>
                  </a:txBody>
                  <a:tcPr/>
                </a:tc>
                <a:tc>
                  <a:txBody>
                    <a:bodyPr/>
                    <a:lstStyle/>
                    <a:p>
                      <a:pPr lvl="0" indent="0" marL="0">
                        <a:buNone/>
                      </a:pPr>
                      <a:r>
                        <a:rPr/>
                        <a:t>Kích thước</a:t>
                      </a:r>
                    </a:p>
                  </a:txBody>
                  <a:tcPr/>
                </a:tc>
                <a:tc>
                  <a:txBody>
                    <a:bodyPr/>
                    <a:lstStyle/>
                    <a:p>
                      <a:pPr lvl="0" indent="0" marL="0" algn="ctr">
                        <a:buNone/>
                      </a:pPr>
                      <a:r>
                        <a:rPr/>
                        <a:t>Tỉ lệ</a:t>
                      </a:r>
                    </a:p>
                  </a:txBody>
                  <a:tcPr/>
                </a:tc>
                <a:tc>
                  <a:txBody>
                    <a:bodyPr/>
                    <a:lstStyle/>
                    <a:p>
                      <a:pPr lvl="0" indent="0" marL="0" algn="ctr">
                        <a:buNone/>
                      </a:pPr>
                      <a:r>
                        <a:rPr/>
                        <a:t>Số dòng</a:t>
                      </a:r>
                    </a:p>
                  </a:txBody>
                  <a:tcPr/>
                </a:tc>
              </a:tr>
              <a:tr h="0">
                <a:tc>
                  <a:txBody>
                    <a:bodyPr/>
                    <a:lstStyle/>
                    <a:p>
                      <a:pPr lvl="0" indent="0" marL="0">
                        <a:buNone/>
                      </a:pPr>
                      <a:r>
                        <a:rPr/>
                        <a:t>Ô tô biển dài</a:t>
                      </a:r>
                    </a:p>
                  </a:txBody>
                </a:tc>
                <a:tc>
                  <a:txBody>
                    <a:bodyPr/>
                    <a:lstStyle/>
                    <a:p>
                      <a:pPr lvl="0" indent="0" marL="0">
                        <a:buNone/>
                      </a:pPr>
                      <a:r>
                        <a:rPr/>
                        <a:t>110 × 520 mm</a:t>
                      </a:r>
                    </a:p>
                  </a:txBody>
                </a:tc>
                <a:tc>
                  <a:txBody>
                    <a:bodyPr/>
                    <a:lstStyle/>
                    <a:p>
                      <a:pPr lvl="0" indent="0" marL="0" algn="ctr">
                        <a:buNone/>
                      </a:pPr>
                      <a:r>
                        <a:rPr b="1"/>
                        <a:t>4,727</a:t>
                      </a:r>
                    </a:p>
                  </a:txBody>
                </a:tc>
                <a:tc>
                  <a:txBody>
                    <a:bodyPr/>
                    <a:lstStyle/>
                    <a:p>
                      <a:pPr lvl="0" indent="0" marL="0" algn="ctr">
                        <a:buNone/>
                      </a:pPr>
                      <a:r>
                        <a:rPr/>
                        <a:t>1 dòng</a:t>
                      </a:r>
                    </a:p>
                  </a:txBody>
                </a:tc>
              </a:tr>
              <a:tr h="0">
                <a:tc>
                  <a:txBody>
                    <a:bodyPr/>
                    <a:lstStyle/>
                    <a:p>
                      <a:pPr lvl="0" indent="0" marL="0">
                        <a:buNone/>
                      </a:pPr>
                      <a:r>
                        <a:rPr/>
                        <a:t>Ô tô biển ngắn</a:t>
                      </a:r>
                    </a:p>
                  </a:txBody>
                </a:tc>
                <a:tc>
                  <a:txBody>
                    <a:bodyPr/>
                    <a:lstStyle/>
                    <a:p>
                      <a:pPr lvl="0" indent="0" marL="0">
                        <a:buNone/>
                      </a:pPr>
                      <a:r>
                        <a:rPr/>
                        <a:t>165 × 330 mm</a:t>
                      </a:r>
                    </a:p>
                  </a:txBody>
                </a:tc>
                <a:tc>
                  <a:txBody>
                    <a:bodyPr/>
                    <a:lstStyle/>
                    <a:p>
                      <a:pPr lvl="0" indent="0" marL="0" algn="ctr">
                        <a:buNone/>
                      </a:pPr>
                      <a:r>
                        <a:rPr b="1"/>
                        <a:t>2,000</a:t>
                      </a:r>
                    </a:p>
                  </a:txBody>
                </a:tc>
                <a:tc>
                  <a:txBody>
                    <a:bodyPr/>
                    <a:lstStyle/>
                    <a:p>
                      <a:pPr lvl="0" indent="0" marL="0" algn="ctr">
                        <a:buNone/>
                      </a:pPr>
                      <a:r>
                        <a:rPr/>
                        <a:t>2 dòng</a:t>
                      </a:r>
                    </a:p>
                  </a:txBody>
                </a:tc>
              </a:tr>
              <a:tr h="0">
                <a:tc>
                  <a:txBody>
                    <a:bodyPr/>
                    <a:lstStyle/>
                    <a:p>
                      <a:pPr lvl="0" indent="0" marL="0">
                        <a:buNone/>
                      </a:pPr>
                      <a:r>
                        <a:rPr/>
                        <a:t>Xe mô tô</a:t>
                      </a:r>
                    </a:p>
                  </a:txBody>
                </a:tc>
                <a:tc>
                  <a:txBody>
                    <a:bodyPr/>
                    <a:lstStyle/>
                    <a:p>
                      <a:pPr lvl="0" indent="0" marL="0">
                        <a:buNone/>
                      </a:pPr>
                      <a:r>
                        <a:rPr/>
                        <a:t>140 × 190 mm</a:t>
                      </a:r>
                    </a:p>
                  </a:txBody>
                </a:tc>
                <a:tc>
                  <a:txBody>
                    <a:bodyPr/>
                    <a:lstStyle/>
                    <a:p>
                      <a:pPr lvl="0" indent="0" marL="0" algn="ctr">
                        <a:buNone/>
                      </a:pPr>
                      <a:r>
                        <a:rPr b="1"/>
                        <a:t>1,357</a:t>
                      </a:r>
                    </a:p>
                  </a:txBody>
                </a:tc>
                <a:tc>
                  <a:txBody>
                    <a:bodyPr/>
                    <a:lstStyle/>
                    <a:p>
                      <a:pPr lvl="0" indent="0" marL="0" algn="ctr">
                        <a:buNone/>
                      </a:pPr>
                      <a:r>
                        <a:rPr/>
                        <a:t>2 dòng</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Khoảng trống </a:t>
            </a:r>
            <a:r>
              <a:rPr b="1"/>
              <a:t>(2,000 ; 4,727)</a:t>
            </a:r>
            <a:r>
              <a:rPr/>
              <a:t> không có loại biển nào rơi vào ⇒ cơ sở hình học để phân loại số dòng</a:t>
            </a:r>
          </a:p>
          <a:p>
            <a:pPr lvl="0" indent="-342900" marL="342900">
              <a:buAutoNum startAt="2" type="arabicPeriod"/>
            </a:pPr>
            <a:r>
              <a:rPr b="1"/>
              <a:t>Tập ký tự seri phụ thuộc VỊ TRÍ</a:t>
            </a:r>
            <a:r>
              <a:rPr/>
              <a:t> — vị trí 1 có </a:t>
            </a:r>
            <a:r>
              <a:rPr>
                <a:latin typeface="Courier"/>
              </a:rPr>
              <a:t>G</a:t>
            </a:r>
            <a:r>
              <a:rPr/>
              <a:t> không có </a:t>
            </a:r>
            <a:r>
              <a:rPr>
                <a:latin typeface="Courier"/>
              </a:rPr>
              <a:t>R</a:t>
            </a:r>
            <a:r>
              <a:rPr/>
              <a:t>; vị trí 2 của xe máy có </a:t>
            </a:r>
            <a:r>
              <a:rPr>
                <a:latin typeface="Courier"/>
              </a:rPr>
              <a:t>R</a:t>
            </a:r>
            <a:r>
              <a:rPr/>
              <a:t> không có </a:t>
            </a:r>
            <a:r>
              <a:rPr>
                <a:latin typeface="Courier"/>
              </a:rPr>
              <a:t>G</a:t>
            </a:r>
          </a:p>
          <a:p>
            <a:pPr lvl="0" indent="-342900" marL="342900">
              <a:buAutoNum startAt="2" type="arabicPeriod"/>
            </a:pPr>
            <a:r>
              <a:rPr b="1"/>
              <a:t>Mã địa phương là tập hữu hạn có lỗ hổng</a:t>
            </a:r>
            <a:r>
              <a:rPr/>
              <a:t> — 89 giá trị trong dải 11–99, chỉ </a:t>
            </a:r>
            <a:r>
              <a:rPr b="1"/>
              <a:t>81 mã dùng thật</a:t>
            </a:r>
            <a:r>
              <a:rPr/>
              <a:t>; 8 mã (13, 42, 44, 45, 46, 87, 91, 96) chưa gán cho địa phương nào</a:t>
            </a:r>
          </a:p>
          <a:p>
            <a:pPr lvl="0"/>
            <a:r>
              <a:rPr/>
              <a:t>Màu nền mã hoá loại phương tiện: trắng / vàng / xanh / đỏ → lý do </a:t>
            </a:r>
            <a:r>
              <a:rPr b="1"/>
              <a:t>không</a:t>
            </a:r>
            <a:r>
              <a:rPr/>
              <a:t> xáo trộn mạnh sắc độ khi augmentation</a:t>
            </a:r>
          </a:p>
          <a:p>
            <a:pPr lvl="0" indent="0" marL="0">
              <a:buNone/>
            </a:pPr>
            <a:r>
              <a:rPr b="1"/>
              <a:t>Hình / Bảng</a:t>
            </a:r>
          </a:p>
          <a:p>
            <a:pPr lvl="0"/>
            <a:r>
              <a:rPr/>
              <a:t>Ảnh 3 biển thật cạnh nhau, cùng tỉ lệ pixel, có ghi AR đo được dưới mỗi ảnh</a:t>
            </a:r>
          </a:p>
          <a:p>
            <a:pPr lvl="0"/>
            <a:r>
              <a:rPr/>
              <a:t>Bảng kích thước như trên</a:t>
            </a:r>
          </a:p>
          <a:p>
            <a:pPr lvl="0" indent="0" marL="0">
              <a:buNone/>
            </a:pPr>
            <a:r>
              <a:rPr b="1"/>
              <a:t>Speaker notes</a:t>
            </a:r>
            <a:r>
              <a:rPr/>
              <a:t> </a:t>
            </a:r>
            <a:r>
              <a:rPr i="1"/>
              <a:t>(50 s)</a:t>
            </a:r>
          </a:p>
          <a:p>
            <a:pPr lvl="0" indent="0" marL="1270000">
              <a:buNone/>
            </a:pPr>
            <a:r>
              <a:rPr sz="2000"/>
              <a:t>Ba đặc thù của biển số Việt Nam có hệ quả kỹ thuật trực tiếp.</a:t>
            </a:r>
          </a:p>
          <a:p>
            <a:pPr lvl="0" indent="0" marL="1270000">
              <a:buNone/>
            </a:pPr>
            <a:r>
              <a:rPr sz="2000"/>
              <a:t>Thứ nhất, theo quy chuẩn QCVN 08 năm 2024, ba loại biển có tỉ lệ khung hình lần lượt là 4,73 — 2,00 — và 1,36. Không có loại biển nào rơi vào khoảng giữa 2 và 4,73. Khoảng trống rộng đó cho em một cơ sở hình học đáng tin để phân loại một dòng hay hai dòng, và em sẽ quay lại nó ở slide 13.</a:t>
            </a:r>
          </a:p>
          <a:p>
            <a:pPr lvl="0" indent="0" marL="1270000">
              <a:buNone/>
            </a:pPr>
            <a:r>
              <a:rPr sz="2000"/>
              <a:t>Thứ hai — và đây là chỗ em suýt sai — tập chữ cái seri </a:t>
            </a:r>
            <a:r>
              <a:rPr sz="2000" b="1"/>
              <a:t>phụ thuộc vị trí</a:t>
            </a:r>
            <a:r>
              <a:rPr sz="2000"/>
              <a:t>, không phải một danh sách phẳng.</a:t>
            </a:r>
          </a:p>
          <a:p>
            <a:pPr lvl="0" indent="0" marL="1270000">
              <a:buNone/>
            </a:pPr>
            <a:r>
              <a:rPr sz="2000"/>
              <a:t>Thứ ba, mã tỉnh không phải hai chữ số bất kỳ. Dải 11 đến 99 có 89 giá trị nhưng chỉ 81 mã đang dùng. Một biểu thức chính quy viết </a:t>
            </a:r>
            <a:r>
              <a:rPr sz="2000">
                <a:latin typeface="Courier"/>
              </a:rPr>
              <a:t>\d{2}</a:t>
            </a:r>
            <a:r>
              <a:rPr sz="2000"/>
              <a:t> sẽ cho qua 8 chuỗi không bao giờ tồn tại.</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S6 — Căn cứ pháp lý: một phát hiện</a:t>
            </a:r>
          </a:p>
          <a:p>
            <a:pPr lvl="0" indent="0" marL="0">
              <a:buNone/>
            </a:pPr>
            <a:r>
              <a:rPr b="1"/>
              <a:t>Nội dung trên slide</a:t>
            </a:r>
          </a:p>
          <a:p>
            <a:pPr lvl="0" indent="0" marL="1270000">
              <a:buNone/>
            </a:pPr>
            <a:r>
              <a:rPr sz="2000"/>
              <a:t>Đề bài dẫn </a:t>
            </a:r>
            <a:r>
              <a:rPr sz="2000" b="1"/>
              <a:t>Thông tư 24/2023/TT-BCA</a:t>
            </a:r>
            <a:r>
              <a:rPr sz="2000"/>
              <a:t> làm căn cứ pháp lý. Đối chiếu nguồn gốc ở Phase 1: văn bản này </a:t>
            </a:r>
            <a:r>
              <a:rPr sz="2000" b="1"/>
              <a:t>đã hết hiệu lực từ 01/01/2025</a:t>
            </a:r>
            <a:r>
              <a:rPr sz="2000"/>
              <a:t>.</a:t>
            </a:r>
          </a:p>
          <a:p>
            <a:pPr lvl="0" indent="0" marL="0">
              <a:buNone/>
            </a:pPr>
            <a:r>
              <a:rPr b="1"/>
              <a:t>Chuỗi văn bản hiện hành đang dùng:</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Văn bản</a:t>
                      </a:r>
                    </a:p>
                  </a:txBody>
                  <a:tcPr/>
                </a:tc>
                <a:tc>
                  <a:txBody>
                    <a:bodyPr/>
                    <a:lstStyle/>
                    <a:p>
                      <a:pPr lvl="0" indent="0" marL="0">
                        <a:buNone/>
                      </a:pPr>
                      <a:r>
                        <a:rPr/>
                        <a:t>Hiệu lực</a:t>
                      </a:r>
                    </a:p>
                  </a:txBody>
                  <a:tcPr/>
                </a:tc>
                <a:tc>
                  <a:txBody>
                    <a:bodyPr/>
                    <a:lstStyle/>
                    <a:p>
                      <a:pPr lvl="0" indent="0" marL="0">
                        <a:buNone/>
                      </a:pPr>
                      <a:r>
                        <a:rPr/>
                        <a:t>Nội dung với đồ án</a:t>
                      </a:r>
                    </a:p>
                  </a:txBody>
                  <a:tcPr/>
                </a:tc>
              </a:tr>
              <a:tr h="0">
                <a:tc>
                  <a:txBody>
                    <a:bodyPr/>
                    <a:lstStyle/>
                    <a:p>
                      <a:pPr lvl="0" indent="0" marL="0">
                        <a:buNone/>
                      </a:pPr>
                      <a:r>
                        <a:rPr strike="sngStrike"/>
                        <a:t>TT 24/2023/TT-BCA</a:t>
                      </a:r>
                    </a:p>
                  </a:txBody>
                </a:tc>
                <a:tc>
                  <a:txBody>
                    <a:bodyPr/>
                    <a:lstStyle/>
                    <a:p>
                      <a:pPr lvl="0" indent="0" marL="0">
                        <a:buNone/>
                      </a:pPr>
                      <a:r>
                        <a:rPr/>
                        <a:t>❌ hết hiệu lực 01/01/2025</a:t>
                      </a:r>
                    </a:p>
                  </a:txBody>
                </a:tc>
                <a:tc>
                  <a:txBody>
                    <a:bodyPr/>
                    <a:lstStyle/>
                    <a:p>
                      <a:pPr lvl="0" indent="0" marL="0">
                        <a:buNone/>
                      </a:pPr>
                      <a:r>
                        <a:rPr/>
                        <a:t>Văn bản đề bài dẫn</a:t>
                      </a:r>
                    </a:p>
                  </a:txBody>
                </a:tc>
              </a:tr>
              <a:tr h="0">
                <a:tc>
                  <a:txBody>
                    <a:bodyPr/>
                    <a:lstStyle/>
                    <a:p>
                      <a:pPr lvl="0" indent="0" marL="0">
                        <a:buNone/>
                      </a:pPr>
                      <a:r>
                        <a:rPr b="1"/>
                        <a:t>TT 79/2024/TT-BCA</a:t>
                      </a:r>
                    </a:p>
                  </a:txBody>
                </a:tc>
                <a:tc>
                  <a:txBody>
                    <a:bodyPr/>
                    <a:lstStyle/>
                    <a:p>
                      <a:pPr lvl="0" indent="0" marL="0">
                        <a:buNone/>
                      </a:pPr>
                      <a:r>
                        <a:rPr/>
                        <a:t>01/01/2025</a:t>
                      </a:r>
                    </a:p>
                  </a:txBody>
                </a:tc>
                <a:tc>
                  <a:txBody>
                    <a:bodyPr/>
                    <a:lstStyle/>
                    <a:p>
                      <a:pPr lvl="0" indent="0" marL="0">
                        <a:buNone/>
                      </a:pPr>
                      <a:r>
                        <a:rPr/>
                        <a:t>Cấu trúc biển, seri, màu sắc</a:t>
                      </a:r>
                    </a:p>
                  </a:txBody>
                </a:tc>
              </a:tr>
              <a:tr h="0">
                <a:tc>
                  <a:txBody>
                    <a:bodyPr/>
                    <a:lstStyle/>
                    <a:p>
                      <a:pPr lvl="0" indent="0" marL="0">
                        <a:buNone/>
                      </a:pPr>
                      <a:r>
                        <a:rPr/>
                        <a:t>TT 13/2025/TT-BCA</a:t>
                      </a:r>
                    </a:p>
                  </a:txBody>
                </a:tc>
                <a:tc>
                  <a:txBody>
                    <a:bodyPr/>
                    <a:lstStyle/>
                    <a:p>
                      <a:pPr lvl="0" indent="0" marL="0">
                        <a:buNone/>
                      </a:pPr>
                      <a:r>
                        <a:rPr/>
                        <a:t>2025</a:t>
                      </a:r>
                    </a:p>
                  </a:txBody>
                </a:tc>
                <a:tc>
                  <a:txBody>
                    <a:bodyPr/>
                    <a:lstStyle/>
                    <a:p>
                      <a:pPr lvl="0" indent="0" marL="0">
                        <a:buNone/>
                      </a:pPr>
                      <a:r>
                        <a:rPr/>
                        <a:t>Sửa đổi TT 79/2024</a:t>
                      </a:r>
                    </a:p>
                  </a:txBody>
                </a:tc>
              </a:tr>
              <a:tr h="0">
                <a:tc>
                  <a:txBody>
                    <a:bodyPr/>
                    <a:lstStyle/>
                    <a:p>
                      <a:pPr lvl="0" indent="0" marL="0">
                        <a:buNone/>
                      </a:pPr>
                      <a:r>
                        <a:rPr b="1"/>
                        <a:t>TT 51/2025/TT-BCA</a:t>
                      </a:r>
                    </a:p>
                  </a:txBody>
                </a:tc>
                <a:tc>
                  <a:txBody>
                    <a:bodyPr/>
                    <a:lstStyle/>
                    <a:p>
                      <a:pPr lvl="0" indent="0" marL="0">
                        <a:buNone/>
                      </a:pPr>
                      <a:r>
                        <a:rPr/>
                        <a:t>01/7/2025</a:t>
                      </a:r>
                    </a:p>
                  </a:txBody>
                </a:tc>
                <a:tc>
                  <a:txBody>
                    <a:bodyPr/>
                    <a:lstStyle/>
                    <a:p>
                      <a:pPr lvl="0" indent="0" marL="0">
                        <a:buNone/>
                      </a:pPr>
                      <a:r>
                        <a:rPr b="1"/>
                        <a:t>Thay toàn bộ phụ lục mã tỉnh</a:t>
                      </a:r>
                      <a:r>
                        <a:rPr/>
                        <a:t> — còn 34 tỉnh/thành sau sáp nhập</a:t>
                      </a:r>
                    </a:p>
                  </a:txBody>
                </a:tc>
              </a:tr>
              <a:tr h="0">
                <a:tc>
                  <a:txBody>
                    <a:bodyPr/>
                    <a:lstStyle/>
                    <a:p>
                      <a:pPr lvl="0" indent="0" marL="0">
                        <a:buNone/>
                      </a:pPr>
                      <a:r>
                        <a:rPr/>
                        <a:t>TT 81/2024 → </a:t>
                      </a:r>
                      <a:r>
                        <a:rPr b="1"/>
                        <a:t>QCVN 08:2024/BCA</a:t>
                      </a:r>
                    </a:p>
                  </a:txBody>
                </a:tc>
                <a:tc>
                  <a:txBody>
                    <a:bodyPr/>
                    <a:lstStyle/>
                    <a:p>
                      <a:pPr lvl="0" indent="0" marL="0">
                        <a:buNone/>
                      </a:pPr>
                      <a:r>
                        <a:rPr/>
                        <a:t>01/01/2025</a:t>
                      </a:r>
                    </a:p>
                  </a:txBody>
                </a:tc>
                <a:tc>
                  <a:txBody>
                    <a:bodyPr/>
                    <a:lstStyle/>
                    <a:p>
                      <a:pPr lvl="0" indent="0" marL="0">
                        <a:buNone/>
                      </a:pPr>
                      <a:r>
                        <a:rPr/>
                        <a:t>Kích thước vật lý</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Hệ quả thiết kế — điểm quan trọng nhất của slide này:</a:t>
            </a:r>
          </a:p>
          <a:p>
            <a:pPr lvl="0"/>
            <a:r>
              <a:rPr/>
              <a:t>Pháp lý </a:t>
            </a:r>
            <a:r>
              <a:rPr b="1"/>
              <a:t>thay đổi được</a:t>
            </a:r>
            <a:r>
              <a:rPr/>
              <a:t> ⇒ tri thức pháp lý phải nằm </a:t>
            </a:r>
            <a:r>
              <a:rPr b="1"/>
              <a:t>tách khỏi mô hình</a:t>
            </a:r>
          </a:p>
          <a:p>
            <a:pPr lvl="0"/>
            <a:r>
              <a:rPr/>
              <a:t>Toàn bộ luật Việt Nam gom vào </a:t>
            </a:r>
            <a:r>
              <a:rPr b="1"/>
              <a:t>một file</a:t>
            </a:r>
            <a:r>
              <a:rPr/>
              <a:t>: </a:t>
            </a:r>
            <a:r>
              <a:rPr>
                <a:latin typeface="Courier"/>
              </a:rPr>
              <a:t>ai/inference/plate_rules.py</a:t>
            </a:r>
          </a:p>
          <a:p>
            <a:pPr lvl="0"/>
            <a:r>
              <a:rPr/>
              <a:t>TT 51/2025 đổi phụ lục mã tỉnh giữa lúc làm đồ án → chỉ sửa </a:t>
            </a:r>
            <a:r>
              <a:rPr b="1"/>
              <a:t>một bảng hằng số</a:t>
            </a:r>
            <a:r>
              <a:rPr/>
              <a:t>, không huấn luyện lại gì</a:t>
            </a:r>
          </a:p>
          <a:p>
            <a:pPr lvl="0" indent="0" marL="0">
              <a:buNone/>
            </a:pPr>
            <a:r>
              <a:rPr b="1"/>
              <a:t>Hình / Bảng</a:t>
            </a:r>
          </a:p>
          <a:p>
            <a:pPr lvl="0"/>
            <a:r>
              <a:rPr/>
              <a:t>Trục thời gian ngang: 2023 → 2024 → 2025, có dấu ✗ đỏ trên TT 24/2023 tại mốc 01/01/2025</a:t>
            </a:r>
          </a:p>
          <a:p>
            <a:pPr lvl="0"/>
            <a:r>
              <a:rPr/>
              <a:t>Mũi tên từ trục thời gian trỏ vào một khối chữ nhật duy nhất ghi </a:t>
            </a:r>
            <a:r>
              <a:rPr>
                <a:latin typeface="Courier"/>
              </a:rPr>
              <a:t>plate_rules.py</a:t>
            </a:r>
          </a:p>
          <a:p>
            <a:pPr lvl="0" indent="0" marL="0">
              <a:buNone/>
            </a:pPr>
            <a:r>
              <a:rPr b="1"/>
              <a:t>Speaker notes</a:t>
            </a:r>
            <a:r>
              <a:rPr/>
              <a:t> </a:t>
            </a:r>
            <a:r>
              <a:rPr i="1"/>
              <a:t>(55 s)</a:t>
            </a:r>
          </a:p>
          <a:p>
            <a:pPr lvl="0" indent="0" marL="1270000">
              <a:buNone/>
            </a:pPr>
            <a:r>
              <a:rPr sz="2000"/>
              <a:t>Slide này em muốn kể một chuyện xảy ra trong lúc làm. Đề bài dẫn Thông tư 24 năm 2023 làm căn cứ pháp lý. Khi em đối chiếu nguồn pháp lý gốc ở giai đoạn nghiên cứu, em phát hiện văn bản đó đã hết hiệu lực từ đầu năm 2025. Em đã chuyển toàn bộ căn cứ sang Thông tư 79 năm 2024, cùng hai thông tư sửa đổi và quy chuẩn QCVN 08.</a:t>
            </a:r>
          </a:p>
          <a:p>
            <a:pPr lvl="0" indent="0" marL="1270000">
              <a:buNone/>
            </a:pPr>
            <a:r>
              <a:rPr sz="2000"/>
              <a:t>Em không nêu chuyện này để nói đề bài sai. Em nêu vì nó buộc em phải trả lời một câu hỏi thiết kế: nếu văn bản pháp lý thay đổi được, thì tri thức pháp lý không được phép nằm bên trong mô hình. Và điều đó đã xảy ra lần nữa: Thông tư 51 năm 2025 thay toàn bộ phụ lục mã tỉnh sau sáp nhập, còn 34 tỉnh thành. Vì em đã gom toàn bộ luật vào đúng một file, em chỉ phải sửa một bảng hằng số — không phải huấn luyện lại bất cứ thứ gì.</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PHẦN C — THIẾT KẾ</a:t>
            </a:r>
          </a:p>
        </p:txBody>
      </p:sp>
      <p:sp>
        <p:nvSpPr>
          <p:cNvPr id="4" name="Text Placeholder 3"/>
          <p:cNvSpPr>
            <a:spLocks noGrp="1"/>
          </p:cNvSpPr>
          <p:nvPr>
            <p:ph idx="2" sz="half" type="body"/>
          </p:nvPr>
        </p:nvSpPr>
        <p:spPr/>
        <p:txBody>
          <a:bodyPr/>
          <a:lstStyle/>
          <a:p>
            <a:pPr lvl="0" indent="0" marL="0">
              <a:spcBef>
                <a:spcPts val="3000"/>
              </a:spcBef>
              <a:buNone/>
            </a:pPr>
            <a:r>
              <a:rPr b="1"/>
              <a:t>S7 — Kiến trúc hệ thống</a:t>
            </a:r>
          </a:p>
          <a:p>
            <a:pPr lvl="0" indent="0" marL="0">
              <a:buNone/>
            </a:pPr>
            <a:r>
              <a:rPr b="1"/>
              <a:t>Nội dung trên slide</a:t>
            </a:r>
          </a:p>
          <a:p>
            <a:pPr lvl="0" indent="0" marL="0">
              <a:buNone/>
            </a:pPr>
            <a:r>
              <a:rPr b="1"/>
              <a:t>5 tầng:</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Tầng</a:t>
                      </a:r>
                    </a:p>
                  </a:txBody>
                  <a:tcPr/>
                </a:tc>
                <a:tc>
                  <a:txBody>
                    <a:bodyPr/>
                    <a:lstStyle/>
                    <a:p>
                      <a:pPr lvl="0" indent="0" marL="0">
                        <a:buNone/>
                      </a:pPr>
                      <a:r>
                        <a:rPr/>
                        <a:t>Công nghệ</a:t>
                      </a:r>
                    </a:p>
                  </a:txBody>
                  <a:tcPr/>
                </a:tc>
                <a:tc>
                  <a:txBody>
                    <a:bodyPr/>
                    <a:lstStyle/>
                    <a:p>
                      <a:pPr lvl="0" indent="0" marL="0">
                        <a:buNone/>
                      </a:pPr>
                      <a:r>
                        <a:rPr/>
                        <a:t>Vai trò</a:t>
                      </a:r>
                    </a:p>
                  </a:txBody>
                  <a:tcPr/>
                </a:tc>
              </a:tr>
              <a:tr h="0">
                <a:tc>
                  <a:txBody>
                    <a:bodyPr/>
                    <a:lstStyle/>
                    <a:p>
                      <a:pPr lvl="0" indent="0" marL="0">
                        <a:buNone/>
                      </a:pPr>
                      <a:r>
                        <a:rPr/>
                        <a:t>L1 — Trình bày</a:t>
                      </a:r>
                    </a:p>
                  </a:txBody>
                </a:tc>
                <a:tc>
                  <a:txBody>
                    <a:bodyPr/>
                    <a:lstStyle/>
                    <a:p>
                      <a:pPr lvl="0" indent="0" marL="0">
                        <a:buNone/>
                      </a:pPr>
                      <a:r>
                        <a:rPr/>
                        <a:t>React 18 + Vite + TypeScript strict + Tailwind</a:t>
                      </a:r>
                    </a:p>
                  </a:txBody>
                </a:tc>
                <a:tc>
                  <a:txBody>
                    <a:bodyPr/>
                    <a:lstStyle/>
                    <a:p>
                      <a:pPr lvl="0" indent="0" marL="0">
                        <a:buNone/>
                      </a:pPr>
                      <a:r>
                        <a:rPr/>
                        <a:t>3 trang</a:t>
                      </a:r>
                    </a:p>
                  </a:txBody>
                </a:tc>
              </a:tr>
              <a:tr h="0">
                <a:tc>
                  <a:txBody>
                    <a:bodyPr/>
                    <a:lstStyle/>
                    <a:p>
                      <a:pPr lvl="0" indent="0" marL="0">
                        <a:buNone/>
                      </a:pPr>
                      <a:r>
                        <a:rPr/>
                        <a:t>L2 — API</a:t>
                      </a:r>
                    </a:p>
                  </a:txBody>
                </a:tc>
                <a:tc>
                  <a:txBody>
                    <a:bodyPr/>
                    <a:lstStyle/>
                    <a:p>
                      <a:pPr lvl="0" indent="0" marL="0">
                        <a:buNone/>
                      </a:pPr>
                      <a:r>
                        <a:rPr/>
                        <a:t>FastAPI + Swagger</a:t>
                      </a:r>
                    </a:p>
                  </a:txBody>
                </a:tc>
                <a:tc>
                  <a:txBody>
                    <a:bodyPr/>
                    <a:lstStyle/>
                    <a:p>
                      <a:pPr lvl="0" indent="0" marL="0">
                        <a:buNone/>
                      </a:pPr>
                      <a:r>
                        <a:rPr/>
                        <a:t>10 endpoint</a:t>
                      </a:r>
                    </a:p>
                  </a:txBody>
                </a:tc>
              </a:tr>
              <a:tr h="0">
                <a:tc>
                  <a:txBody>
                    <a:bodyPr/>
                    <a:lstStyle/>
                    <a:p>
                      <a:pPr lvl="0" indent="0" marL="0">
                        <a:buNone/>
                      </a:pPr>
                      <a:r>
                        <a:rPr/>
                        <a:t>L3 — Nghiệp vụ</a:t>
                      </a:r>
                    </a:p>
                  </a:txBody>
                </a:tc>
                <a:tc>
                  <a:txBody>
                    <a:bodyPr/>
                    <a:lstStyle/>
                    <a:p>
                      <a:pPr lvl="0" indent="0" marL="0">
                        <a:buNone/>
                      </a:pPr>
                      <a:r>
                        <a:rPr/>
                        <a:t>Detection / Video / History / Statistics / Storage Service</a:t>
                      </a:r>
                    </a:p>
                  </a:txBody>
                </a:tc>
                <a:tc>
                  <a:txBody>
                    <a:bodyPr/>
                    <a:lstStyle/>
                    <a:p>
                      <a:pPr lvl="0" indent="0" marL="0">
                        <a:buNone/>
                      </a:pPr>
                      <a:r>
                        <a:rPr/>
                        <a:t>Điều phối</a:t>
                      </a:r>
                    </a:p>
                  </a:txBody>
                </a:tc>
              </a:tr>
              <a:tr h="0">
                <a:tc>
                  <a:txBody>
                    <a:bodyPr/>
                    <a:lstStyle/>
                    <a:p>
                      <a:pPr lvl="0" indent="0" marL="0">
                        <a:buNone/>
                      </a:pPr>
                      <a:r>
                        <a:rPr b="1"/>
                        <a:t>L4 — AI</a:t>
                      </a:r>
                    </a:p>
                  </a:txBody>
                </a:tc>
                <a:tc>
                  <a:txBody>
                    <a:bodyPr/>
                    <a:lstStyle/>
                    <a:p>
                      <a:pPr lvl="0" indent="0" marL="0">
                        <a:buNone/>
                      </a:pPr>
                      <a:r>
                        <a:rPr b="1"/>
                        <a:t>Python thuần — cấm import FastAPI</a:t>
                      </a:r>
                    </a:p>
                  </a:txBody>
                </a:tc>
                <a:tc>
                  <a:txBody>
                    <a:bodyPr/>
                    <a:lstStyle/>
                    <a:p>
                      <a:pPr lvl="0" indent="0" marL="0">
                        <a:buNone/>
                      </a:pPr>
                      <a:r>
                        <a:rPr/>
                        <a:t>YOLO11 + PaddleOCR + Normalizer</a:t>
                      </a:r>
                    </a:p>
                  </a:txBody>
                </a:tc>
              </a:tr>
              <a:tr h="0">
                <a:tc>
                  <a:txBody>
                    <a:bodyPr/>
                    <a:lstStyle/>
                    <a:p>
                      <a:pPr lvl="0" indent="0" marL="0">
                        <a:buNone/>
                      </a:pPr>
                      <a:r>
                        <a:rPr/>
                        <a:t>L5 — Dữ liệu</a:t>
                      </a:r>
                    </a:p>
                  </a:txBody>
                </a:tc>
                <a:tc>
                  <a:txBody>
                    <a:bodyPr/>
                    <a:lstStyle/>
                    <a:p>
                      <a:pPr lvl="0" indent="0" marL="0">
                        <a:buNone/>
                      </a:pPr>
                      <a:r>
                        <a:rPr/>
                        <a:t>SQLite + SQLAlchemy + Alembic + kho tệp</a:t>
                      </a:r>
                    </a:p>
                  </a:txBody>
                </a:tc>
                <a:tc>
                  <a:txBody>
                    <a:bodyPr/>
                    <a:lstStyle/>
                    <a:p>
                      <a:pPr lvl="0" indent="0" marL="0">
                        <a:buNone/>
                      </a:pPr>
                      <a:r>
                        <a:rPr>
                          <a:latin typeface="Courier"/>
                        </a:rPr>
                        <a:t>detection_history</a:t>
                      </a:r>
                      <a:r>
                        <a:rPr/>
                        <a:t> 18 cột · </a:t>
                      </a:r>
                      <a:r>
                        <a:rPr>
                          <a:latin typeface="Courier"/>
                        </a:rPr>
                        <a:t>detection_job</a:t>
                      </a:r>
                      <a:r>
                        <a:rPr/>
                        <a:t> 11 cột</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Đã kiểm chứng bằng chạy thật:</a:t>
            </a:r>
            <a:r>
              <a:rPr/>
              <a:t> 10 endpoint phản hồi đúng qua HTTP · Alembic migrate xong · frontend typecheck sạch, lint sạch, build thành công, 10 endpoint khớp kiểu TypeScript từng trường</a:t>
            </a:r>
          </a:p>
          <a:p>
            <a:pPr lvl="0" indent="0" marL="0">
              <a:buNone/>
            </a:pPr>
            <a:r>
              <a:rPr b="1"/>
              <a:t>Hình / Bảng</a:t>
            </a:r>
          </a:p>
          <a:p>
            <a:pPr lvl="0"/>
            <a:r>
              <a:rPr b="1"/>
              <a:t>Sơ đồ kiến trúc 5 tầng</a:t>
            </a:r>
            <a:r>
              <a:rPr/>
              <a:t> — render từ mermaid trong </a:t>
            </a:r>
            <a:r>
              <a:rPr>
                <a:latin typeface="Courier"/>
              </a:rPr>
              <a:t>docs/architecture/system-architecture.md</a:t>
            </a:r>
            <a:r>
              <a:rPr/>
              <a:t> mục 2. Tầng AI (L4) tô </a:t>
            </a:r>
            <a:r>
              <a:rPr b="1"/>
              <a:t>vàng</a:t>
            </a:r>
            <a:r>
              <a:rPr/>
              <a:t>, và phải thấy rõ </a:t>
            </a:r>
            <a:r>
              <a:rPr b="1"/>
              <a:t>không có mũi tên nào đi lên từ L4</a:t>
            </a:r>
            <a:r>
              <a:rPr/>
              <a:t>.</a:t>
            </a:r>
          </a:p>
          <a:p>
            <a:pPr lvl="0" indent="0" marL="0">
              <a:buNone/>
            </a:pPr>
            <a:r>
              <a:rPr b="1"/>
              <a:t>Speaker notes</a:t>
            </a:r>
            <a:r>
              <a:rPr/>
              <a:t> </a:t>
            </a:r>
            <a:r>
              <a:rPr i="1"/>
              <a:t>(45 s)</a:t>
            </a:r>
          </a:p>
          <a:p>
            <a:pPr lvl="0" indent="0" marL="1270000">
              <a:buNone/>
            </a:pPr>
            <a:r>
              <a:rPr sz="2000"/>
              <a:t>Hệ thống chia làm năm tầng. Tầng trình bày là React với TypeScript ở chế độ strict. Tầng API là FastAPI, mười endpoint. Tầng nghiệp vụ gồm năm service. Tầng dữ liệu là SQLite qua SQLAlchemy với Alembic migration.</a:t>
            </a:r>
          </a:p>
          <a:p>
            <a:pPr lvl="0" indent="0" marL="1270000">
              <a:buNone/>
            </a:pPr>
            <a:r>
              <a:rPr sz="2000"/>
              <a:t>Khối màu vàng ở giữa là tầng AI, và nó là điểm em muốn nhấn ở slide sau.</a:t>
            </a:r>
          </a:p>
          <a:p>
            <a:pPr lvl="0" indent="0" marL="1270000">
              <a:buNone/>
            </a:pPr>
            <a:r>
              <a:rPr sz="2000"/>
              <a:t>Về trạng thái: cả backend lẫn frontend đều đã chạy và được kiểm chứng bằng gọi HTTP thật, không phải chỉ biên dịch được. Mười endpoint phản hồi đúng, migration chạy xong, và frontend khớp kiểu dữ liệu với API tới từng trường.</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S8 — Nguyên tắc: tách tầng AI khỏi tầng API</a:t>
            </a:r>
          </a:p>
          <a:p>
            <a:pPr lvl="0" indent="0" marL="0">
              <a:buNone/>
            </a:pPr>
            <a:r>
              <a:rPr b="1"/>
              <a:t>Nội dung trên slide</a:t>
            </a:r>
          </a:p>
          <a:p>
            <a:pPr lvl="0" indent="0" marL="0">
              <a:buNone/>
            </a:pPr>
            <a:r>
              <a:rPr b="1"/>
              <a:t>Ràng buộc:</a:t>
            </a:r>
            <a:r>
              <a:rPr/>
              <a:t> </a:t>
            </a:r>
            <a:r>
              <a:rPr>
                <a:latin typeface="Courier"/>
              </a:rPr>
              <a:t>ai/inference/</a:t>
            </a:r>
            <a:r>
              <a:rPr/>
              <a:t> là Python thuần — </a:t>
            </a:r>
            <a:r>
              <a:rPr b="1"/>
              <a:t>cấm import FastAPI hoặc Pydantic</a:t>
            </a:r>
          </a:p>
          <a:p>
            <a:pPr lvl="0" indent="0">
              <a:buNone/>
            </a:pPr>
            <a:r>
              <a:rPr i="1">
                <a:solidFill>
                  <a:srgbClr val="60A0B0"/>
                </a:solidFill>
                <a:latin typeface="Courier"/>
              </a:rPr>
              <a:t># Phép kiểm chứng — phải ra rỗng</a:t>
            </a:r>
            <a:br/>
            <a:r>
              <a:rPr>
                <a:solidFill>
                  <a:srgbClr val="06287E"/>
                </a:solidFill>
                <a:latin typeface="Courier"/>
              </a:rPr>
              <a:t>grep</a:t>
            </a:r>
            <a:r>
              <a:rPr>
                <a:latin typeface="Courier"/>
              </a:rPr>
              <a:t> </a:t>
            </a:r>
            <a:r>
              <a:rPr>
                <a:solidFill>
                  <a:srgbClr val="7D9029"/>
                </a:solidFill>
                <a:latin typeface="Courier"/>
              </a:rPr>
              <a:t>-r</a:t>
            </a:r>
            <a:r>
              <a:rPr>
                <a:latin typeface="Courier"/>
              </a:rPr>
              <a:t> </a:t>
            </a:r>
            <a:r>
              <a:rPr>
                <a:solidFill>
                  <a:srgbClr val="4070A0"/>
                </a:solidFill>
                <a:latin typeface="Courier"/>
              </a:rPr>
              <a:t>"fastapi\|pydantic"</a:t>
            </a:r>
            <a:r>
              <a:rPr>
                <a:latin typeface="Courier"/>
              </a:rPr>
              <a:t> ai/inference/</a:t>
            </a:r>
          </a:p>
          <a:p>
            <a:pPr lvl="0" indent="0" marL="0">
              <a:buNone/>
            </a:pPr>
            <a:r>
              <a:rPr/>
              <a:t>Trong sơ đồ kiến trúc: </a:t>
            </a:r>
            <a:r>
              <a:rPr b="1"/>
              <a:t>khối AI không có mũi tên nào đi lên</a:t>
            </a:r>
            <a:r>
              <a:rPr/>
              <a:t>. Nó không biết gì về HTTP, về CSDL, hay về ai gọi nó.</a:t>
            </a:r>
          </a:p>
          <a:p>
            <a:pPr lvl="0" indent="0" marL="0">
              <a:buNone/>
            </a:pPr>
            <a:r>
              <a:rPr b="1"/>
              <a:t>Ba lợi ích cụ thể — không phải lý thuyết: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Lợi ích</a:t>
                      </a:r>
                    </a:p>
                  </a:txBody>
                  <a:tcPr/>
                </a:tc>
                <a:tc>
                  <a:txBody>
                    <a:bodyPr/>
                    <a:lstStyle/>
                    <a:p>
                      <a:pPr lvl="0" indent="0" marL="0">
                        <a:buNone/>
                      </a:pPr>
                      <a:r>
                        <a:rPr/>
                        <a:t>Bằng chứng</a:t>
                      </a:r>
                    </a:p>
                  </a:txBody>
                  <a:tcPr/>
                </a:tc>
              </a:tr>
              <a:tr h="0">
                <a:tc>
                  <a:txBody>
                    <a:bodyPr/>
                    <a:lstStyle/>
                    <a:p>
                      <a:pPr lvl="0" indent="0" marL="0">
                        <a:buNone/>
                      </a:pPr>
                      <a:r>
                        <a:rPr/>
                        <a:t>Kiểm thử độc lập</a:t>
                      </a:r>
                    </a:p>
                  </a:txBody>
                </a:tc>
                <a:tc>
                  <a:txBody>
                    <a:bodyPr/>
                    <a:lstStyle/>
                    <a:p>
                      <a:pPr lvl="0" indent="0" marL="0">
                        <a:buNone/>
                      </a:pPr>
                      <a:r>
                        <a:rPr b="1"/>
                        <a:t>104 unit test</a:t>
                      </a:r>
                      <a:r>
                        <a:rPr/>
                        <a:t> tầng AI chạy không cần dựng server</a:t>
                      </a:r>
                    </a:p>
                  </a:txBody>
                </a:tc>
              </a:tr>
              <a:tr h="0">
                <a:tc>
                  <a:txBody>
                    <a:bodyPr/>
                    <a:lstStyle/>
                    <a:p>
                      <a:pPr lvl="0" indent="0" marL="0">
                        <a:buNone/>
                      </a:pPr>
                      <a:r>
                        <a:rPr/>
                        <a:t>Tái dùng</a:t>
                      </a:r>
                    </a:p>
                  </a:txBody>
                </a:tc>
                <a:tc>
                  <a:txBody>
                    <a:bodyPr/>
                    <a:lstStyle/>
                    <a:p>
                      <a:pPr lvl="0" indent="0" marL="0">
                        <a:buNone/>
                      </a:pPr>
                      <a:r>
                        <a:rPr/>
                        <a:t>Cùng một pipeline dùng trong script huấn luyện, đánh giá và API</a:t>
                      </a:r>
                    </a:p>
                  </a:txBody>
                </a:tc>
              </a:tr>
              <a:tr h="0">
                <a:tc>
                  <a:txBody>
                    <a:bodyPr/>
                    <a:lstStyle/>
                    <a:p>
                      <a:pPr lvl="0" indent="0" marL="0">
                        <a:buNone/>
                      </a:pPr>
                      <a:r>
                        <a:rPr b="1"/>
                        <a:t>Thay được engine</a:t>
                      </a:r>
                    </a:p>
                  </a:txBody>
                </a:tc>
                <a:tc>
                  <a:txBody>
                    <a:bodyPr/>
                    <a:lstStyle/>
                    <a:p>
                      <a:pPr lvl="0" indent="0" marL="0">
                        <a:buNone/>
                      </a:pPr>
                      <a:r>
                        <a:rPr/>
                        <a:t>Nếu benchmark cho thấy EasyOCR tốt hơn → thay </a:t>
                      </a:r>
                      <a:r>
                        <a:rPr>
                          <a:latin typeface="Courier"/>
                        </a:rPr>
                        <a:t>PlateRecognizer</a:t>
                      </a:r>
                      <a:r>
                        <a:rPr/>
                        <a:t>, </a:t>
                      </a:r>
                      <a:r>
                        <a:rPr b="1"/>
                        <a:t>không đụng backend</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Cái giá phải trả:</a:t>
            </a:r>
            <a:r>
              <a:rPr/>
              <a:t> thêm một lớp gián tiếp, phải định nghĩa kiểu trung gian riêng (</a:t>
            </a:r>
            <a:r>
              <a:rPr>
                <a:latin typeface="Courier"/>
              </a:rPr>
              <a:t>ai/inference/types.py</a:t>
            </a:r>
            <a:r>
              <a:rPr/>
              <a:t>) thay vì dùng thẳng Pydantic model</a:t>
            </a:r>
          </a:p>
          <a:p>
            <a:pPr lvl="0" indent="0" marL="0">
              <a:buNone/>
            </a:pPr>
            <a:r>
              <a:rPr b="1"/>
              <a:t>Hình / Bảng</a:t>
            </a:r>
          </a:p>
          <a:p>
            <a:pPr lvl="0"/>
            <a:r>
              <a:rPr/>
              <a:t>Sơ đồ đơn giản hoá: 3 hộp xếp dọc (API → Service → </a:t>
            </a:r>
            <a:r>
              <a:rPr b="1"/>
              <a:t>AI</a:t>
            </a:r>
            <a:r>
              <a:rPr/>
              <a:t>), mũi tên </a:t>
            </a:r>
            <a:r>
              <a:rPr b="1"/>
              <a:t>chỉ đi xuống</a:t>
            </a:r>
            <a:r>
              <a:rPr/>
              <a:t>. Vẽ thêm một mũi tên đi lên bị gạch chéo đỏ.</a:t>
            </a:r>
          </a:p>
          <a:p>
            <a:pPr lvl="0" indent="0" marL="0">
              <a:buNone/>
            </a:pPr>
            <a:r>
              <a:rPr b="1"/>
              <a:t>Speaker notes</a:t>
            </a:r>
            <a:r>
              <a:rPr/>
              <a:t> </a:t>
            </a:r>
            <a:r>
              <a:rPr i="1"/>
              <a:t>(45 s)</a:t>
            </a:r>
          </a:p>
          <a:p>
            <a:pPr lvl="0" indent="0" marL="1270000">
              <a:buNone/>
            </a:pPr>
            <a:r>
              <a:rPr sz="2000"/>
              <a:t>Nguyên tắc kiến trúc quan trọng nhất của em là tầng AI không được biết gì về tầng web. Cụ thể: thư mục </a:t>
            </a:r>
            <a:r>
              <a:rPr sz="2000">
                <a:latin typeface="Courier"/>
              </a:rPr>
              <a:t>ai/inference</a:t>
            </a:r>
            <a:r>
              <a:rPr sz="2000"/>
              <a:t> là Python thuần, cấm import FastAPI hay Pydantic. Đây không phải một quy ước ghi trong tài liệu rồi quên — nó kiểm chứng được bằng đúng một lệnh grep, phải ra rỗng.</a:t>
            </a:r>
          </a:p>
          <a:p>
            <a:pPr lvl="0" indent="0" marL="1270000">
              <a:buNone/>
            </a:pPr>
            <a:r>
              <a:rPr sz="2000"/>
              <a:t>Vì sao đáng công như vậy? Ba lý do đo được. Một, một trăm lẻ bốn unit test của tầng AI chạy mà không cần dựng server. Hai, cùng một pipeline đó được dùng lại trong script huấn luyện và script đánh giá. Ba — và đây là lý do thật — nếu sau này em benchmark ra rằng EasyOCR đọc tốt hơn PaddleOCR, em thay đúng một lớp, không phải sửa dòng nào ở backend.</a:t>
            </a:r>
          </a:p>
          <a:p>
            <a:pPr lvl="0" indent="0" marL="1270000">
              <a:buNone/>
            </a:pPr>
            <a:r>
              <a:rPr sz="2000"/>
              <a:t>Cái giá là thêm một lớp gián tiếp và phải tự định nghĩa kiểu dữ liệu trung gian. Em thấy đó là cái giá đáng trả.</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S9 — Pipeline AI</a:t>
            </a:r>
          </a:p>
          <a:p>
            <a:pPr lvl="0" indent="0" marL="0">
              <a:buNone/>
            </a:pPr>
            <a:r>
              <a:rPr b="1"/>
              <a:t>Nội dung trên slide</a:t>
            </a:r>
          </a:p>
          <a:p>
            <a:pPr lvl="0" indent="0">
              <a:buNone/>
            </a:pPr>
            <a:r>
              <a:rPr>
                <a:latin typeface="Courier"/>
              </a:rPr>
              <a:t>Ảnh / Khung hình
   → Tiền xử lý
   → YOLO11n phát hiện biển  ──── không thấy biển → trả rỗng, HTTP 200 (KHÔNG phải lỗi)
   → Cắt vùng biển
   → Phân loại số dòng (ngưỡng AR = 2,5)
        ├─ 1 dòng → PaddleOCR
        └─ 2 dòng → RECTIFY → tách trên/dưới → ghép ngang → PaddleOCR
   → Chuẩn hoá + sửa lỗi theo VỊ TRÍ (plate_rules.py)
   → Kiểm tra hợp lệ định dạng VN
        ├─ hợp lệ  → lưu
        └─ không   → lưu + đánh dấu is_valid_format = False (KHÔNG vứt bỏ)
   → Ghi CSDL: LƯU CẢ raw_ocr_text LẪN plate_number</a:t>
            </a:r>
          </a:p>
          <a:p>
            <a:pPr lvl="0" indent="0" marL="0">
              <a:buNone/>
            </a:pPr>
            <a:r>
              <a:rPr b="1"/>
              <a:t>Hai quyết định đáng chú ý ở slide này:</a:t>
            </a:r>
          </a:p>
          <a:p>
            <a:pPr lvl="0"/>
            <a:r>
              <a:rPr/>
              <a:t>Kết quả rỗng ⇒ </a:t>
            </a:r>
            <a:r>
              <a:rPr b="1"/>
              <a:t>HTTP 200</a:t>
            </a:r>
            <a:r>
              <a:rPr/>
              <a:t>, không phải lỗi — hệ thống đang chạy đúng</a:t>
            </a:r>
          </a:p>
          <a:p>
            <a:pPr lvl="0"/>
            <a:r>
              <a:rPr/>
              <a:t>Biển không khớp định dạng ⇒ </a:t>
            </a:r>
            <a:r>
              <a:rPr b="1"/>
              <a:t>vẫn lưu</a:t>
            </a:r>
            <a:r>
              <a:rPr/>
              <a:t>, chỉ đánh dấu — đây là nguồn phân tích lỗi cho chương Đánh giá</a:t>
            </a:r>
          </a:p>
          <a:p>
            <a:pPr lvl="0" indent="0" marL="0">
              <a:buNone/>
            </a:pPr>
            <a:r>
              <a:rPr b="1"/>
              <a:t>Hình / Bảng</a:t>
            </a:r>
          </a:p>
          <a:p>
            <a:pPr lvl="0"/>
            <a:r>
              <a:rPr b="1"/>
              <a:t>Sơ đồ luồng</a:t>
            </a:r>
            <a:r>
              <a:rPr/>
              <a:t> — render từ mermaid </a:t>
            </a:r>
            <a:r>
              <a:rPr>
                <a:latin typeface="Courier"/>
              </a:rPr>
              <a:t>system-architecture.md</a:t>
            </a:r>
            <a:r>
              <a:rPr/>
              <a:t> mục 3. Nhánh 2 dòng tô </a:t>
            </a:r>
            <a:r>
              <a:rPr b="1"/>
              <a:t>đỏ</a:t>
            </a:r>
            <a:r>
              <a:rPr/>
              <a:t>.</a:t>
            </a:r>
          </a:p>
          <a:p>
            <a:pPr lvl="0" indent="0" marL="0">
              <a:buNone/>
            </a:pPr>
            <a:r>
              <a:rPr b="1"/>
              <a:t>Speaker notes</a:t>
            </a:r>
            <a:r>
              <a:rPr/>
              <a:t> </a:t>
            </a:r>
            <a:r>
              <a:rPr i="1"/>
              <a:t>(45 s)</a:t>
            </a:r>
          </a:p>
          <a:p>
            <a:pPr lvl="0" indent="0" marL="1270000">
              <a:buNone/>
            </a:pPr>
            <a:r>
              <a:rPr sz="2000"/>
              <a:t>Đây là luồng xử lý. Ảnh vào, YOLO11 tìm vùng biển, cắt ra, rồi phân nhánh theo số dòng: biển một dòng đưa thẳng vào OCR, biển hai dòng đi qua nhánh màu đỏ mà em sẽ nói kỹ ở slide 13. Kết quả OCR đi qua khối chuẩn hoá theo luật Việt Nam rồi mới ghi cơ sở dữ liệu.</a:t>
            </a:r>
          </a:p>
          <a:p>
            <a:pPr lvl="0" indent="0" marL="1270000">
              <a:buNone/>
            </a:pPr>
            <a:r>
              <a:rPr sz="2000"/>
              <a:t>Hai quyết định nhỏ nhưng em muốn nêu. Thứ nhất: ảnh xử lý xong mà không có biển số thì trả HTTP 200 với danh sách rỗng, không trả lỗi — vì hệ thống đang chạy đúng, báo lỗi ở đây sẽ đẩy người dùng đi sửa một thứ không hỏng. Thứ hai: biển đọc ra không khớp định dạng Việt Nam thì vẫn được lưu, chỉ bị đánh dấu cờ. Em không im lặng vứt dữ liệu — chính những ca đó là nguyên liệu phân tích lỗi.</a:t>
            </a:r>
          </a:p>
          <a:p>
            <a:pPr lvl="0" indent="0" marL="1270000">
              <a:buNone/>
            </a:pPr>
            <a:r>
              <a:rPr sz="2000"/>
              <a:t>Và ở bước ghi cơ sở dữ liệu, em lưu </a:t>
            </a:r>
            <a:r>
              <a:rPr sz="2000" b="1"/>
              <a:t>cả hai</a:t>
            </a:r>
            <a:r>
              <a:rPr sz="2000"/>
              <a:t> chuỗi: chuỗi OCR thô và chuỗi sau chuẩn hoá. Slide 15 sẽ giải thích vì sao.</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PHẦN D — DỮ LIỆU VÀ HUẤN LUYỆN</a:t>
            </a:r>
          </a:p>
        </p:txBody>
      </p:sp>
      <p:sp>
        <p:nvSpPr>
          <p:cNvPr id="4" name="Text Placeholder 3"/>
          <p:cNvSpPr>
            <a:spLocks noGrp="1"/>
          </p:cNvSpPr>
          <p:nvPr>
            <p:ph idx="2" sz="half" type="body"/>
          </p:nvPr>
        </p:nvSpPr>
        <p:spPr/>
        <p:txBody>
          <a:bodyPr/>
          <a:lstStyle/>
          <a:p>
            <a:pPr lvl="0" indent="0" marL="0">
              <a:spcBef>
                <a:spcPts val="3000"/>
              </a:spcBef>
              <a:buNone/>
            </a:pPr>
            <a:r>
              <a:rPr b="1"/>
              <a:t>S10 — Bộ dữ liệu</a:t>
            </a:r>
          </a:p>
          <a:p>
            <a:pPr lvl="0" indent="0" marL="0">
              <a:buNone/>
            </a:pPr>
            <a:r>
              <a:rPr b="1"/>
              <a:t>Nội dung trên slide</a:t>
            </a:r>
          </a:p>
          <a:p>
            <a:pPr lvl="0" indent="0" marL="0">
              <a:buNone/>
            </a:pPr>
            <a:r>
              <a:rPr b="1"/>
              <a:t>Quy mô hiện tại:</a:t>
            </a:r>
            <a:r>
              <a:rPr/>
              <a:t> 4.578 ảnh · 5.200 box · 1 lớp </a:t>
            </a:r>
            <a:r>
              <a:rPr>
                <a:latin typeface="Courier"/>
              </a:rPr>
              <a:t>license_plate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Tập</a:t>
                      </a:r>
                    </a:p>
                  </a:txBody>
                  <a:tcPr/>
                </a:tc>
                <a:tc>
                  <a:txBody>
                    <a:bodyPr/>
                    <a:lstStyle/>
                    <a:p>
                      <a:pPr lvl="0" indent="0" marL="0" algn="r">
                        <a:buNone/>
                      </a:pPr>
                      <a:r>
                        <a:rPr/>
                        <a:t>Ảnh</a:t>
                      </a:r>
                    </a:p>
                  </a:txBody>
                  <a:tcPr/>
                </a:tc>
                <a:tc>
                  <a:txBody>
                    <a:bodyPr/>
                    <a:lstStyle/>
                    <a:p>
                      <a:pPr lvl="0" indent="0" marL="0" algn="r">
                        <a:buNone/>
                      </a:pPr>
                      <a:r>
                        <a:rPr/>
                        <a:t>Tỉ lệ</a:t>
                      </a:r>
                    </a:p>
                  </a:txBody>
                  <a:tcPr/>
                </a:tc>
                <a:tc>
                  <a:txBody>
                    <a:bodyPr/>
                    <a:lstStyle/>
                    <a:p>
                      <a:pPr lvl="0" indent="0" marL="0" algn="r">
                        <a:buNone/>
                      </a:pPr>
                      <a:r>
                        <a:rPr/>
                        <a:t>Tỉ lệ biển 2 dòng</a:t>
                      </a:r>
                    </a:p>
                  </a:txBody>
                  <a:tcPr/>
                </a:tc>
              </a:tr>
              <a:tr h="0">
                <a:tc>
                  <a:txBody>
                    <a:bodyPr/>
                    <a:lstStyle/>
                    <a:p>
                      <a:pPr lvl="0" indent="0" marL="0">
                        <a:buNone/>
                      </a:pPr>
                      <a:r>
                        <a:rPr/>
                        <a:t>Train</a:t>
                      </a:r>
                    </a:p>
                  </a:txBody>
                </a:tc>
                <a:tc>
                  <a:txBody>
                    <a:bodyPr/>
                    <a:lstStyle/>
                    <a:p>
                      <a:pPr lvl="0" indent="0" marL="0" algn="r">
                        <a:buNone/>
                      </a:pPr>
                      <a:r>
                        <a:rPr/>
                        <a:t>3.203</a:t>
                      </a:r>
                    </a:p>
                  </a:txBody>
                </a:tc>
                <a:tc>
                  <a:txBody>
                    <a:bodyPr/>
                    <a:lstStyle/>
                    <a:p>
                      <a:pPr lvl="0" indent="0" marL="0" algn="r">
                        <a:buNone/>
                      </a:pPr>
                      <a:r>
                        <a:rPr/>
                        <a:t>69,97%</a:t>
                      </a:r>
                    </a:p>
                  </a:txBody>
                </a:tc>
                <a:tc>
                  <a:txBody>
                    <a:bodyPr/>
                    <a:lstStyle/>
                    <a:p>
                      <a:pPr lvl="0" indent="0" marL="0" algn="r">
                        <a:buNone/>
                      </a:pPr>
                      <a:r>
                        <a:rPr/>
                        <a:t>65,56%</a:t>
                      </a:r>
                    </a:p>
                  </a:txBody>
                </a:tc>
              </a:tr>
              <a:tr h="0">
                <a:tc>
                  <a:txBody>
                    <a:bodyPr/>
                    <a:lstStyle/>
                    <a:p>
                      <a:pPr lvl="0" indent="0" marL="0">
                        <a:buNone/>
                      </a:pPr>
                      <a:r>
                        <a:rPr/>
                        <a:t>Val</a:t>
                      </a:r>
                    </a:p>
                  </a:txBody>
                </a:tc>
                <a:tc>
                  <a:txBody>
                    <a:bodyPr/>
                    <a:lstStyle/>
                    <a:p>
                      <a:pPr lvl="0" indent="0" marL="0" algn="r">
                        <a:buNone/>
                      </a:pPr>
                      <a:r>
                        <a:rPr/>
                        <a:t>917</a:t>
                      </a:r>
                    </a:p>
                  </a:txBody>
                </a:tc>
                <a:tc>
                  <a:txBody>
                    <a:bodyPr/>
                    <a:lstStyle/>
                    <a:p>
                      <a:pPr lvl="0" indent="0" marL="0" algn="r">
                        <a:buNone/>
                      </a:pPr>
                      <a:r>
                        <a:rPr/>
                        <a:t>20,03%</a:t>
                      </a:r>
                    </a:p>
                  </a:txBody>
                </a:tc>
                <a:tc>
                  <a:txBody>
                    <a:bodyPr/>
                    <a:lstStyle/>
                    <a:p>
                      <a:pPr lvl="0" indent="0" marL="0" algn="r">
                        <a:buNone/>
                      </a:pPr>
                      <a:r>
                        <a:rPr/>
                        <a:t>65,54%</a:t>
                      </a:r>
                    </a:p>
                  </a:txBody>
                </a:tc>
              </a:tr>
              <a:tr h="0">
                <a:tc>
                  <a:txBody>
                    <a:bodyPr/>
                    <a:lstStyle/>
                    <a:p>
                      <a:pPr lvl="0" indent="0" marL="0">
                        <a:buNone/>
                      </a:pPr>
                      <a:r>
                        <a:rPr/>
                        <a:t>Test</a:t>
                      </a:r>
                    </a:p>
                  </a:txBody>
                </a:tc>
                <a:tc>
                  <a:txBody>
                    <a:bodyPr/>
                    <a:lstStyle/>
                    <a:p>
                      <a:pPr lvl="0" indent="0" marL="0" algn="r">
                        <a:buNone/>
                      </a:pPr>
                      <a:r>
                        <a:rPr/>
                        <a:t>458</a:t>
                      </a:r>
                    </a:p>
                  </a:txBody>
                </a:tc>
                <a:tc>
                  <a:txBody>
                    <a:bodyPr/>
                    <a:lstStyle/>
                    <a:p>
                      <a:pPr lvl="0" indent="0" marL="0" algn="r">
                        <a:buNone/>
                      </a:pPr>
                      <a:r>
                        <a:rPr/>
                        <a:t>10,00%</a:t>
                      </a:r>
                    </a:p>
                  </a:txBody>
                </a:tc>
                <a:tc>
                  <a:txBody>
                    <a:bodyPr/>
                    <a:lstStyle/>
                    <a:p>
                      <a:pPr lvl="0" indent="0" marL="0" algn="r">
                        <a:buNone/>
                      </a:pPr>
                      <a:r>
                        <a:rPr/>
                        <a:t>65,50%</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Lệch tỉ lệ 2 dòng giữa 3 tập tối đa </a:t>
            </a:r>
            <a:r>
              <a:rPr b="1"/>
              <a:t>0,06 điểm phần trăm</a:t>
            </a:r>
            <a:r>
              <a:rPr/>
              <a:t> (phân tầng, seed 42)</a:t>
            </a:r>
          </a:p>
          <a:p>
            <a:pPr lvl="0" indent="0" marL="0">
              <a:buNone/>
            </a:pPr>
            <a:r>
              <a:rPr b="1"/>
              <a:t>Chống rò rỉ — và một phát hiện:</a:t>
            </a:r>
          </a:p>
          <a:p>
            <a:pPr lvl="0"/>
            <a:r>
              <a:rPr/>
              <a:t>Perceptual hash 64-bit, ngưỡng Hamming ≤ 5, multi-index hashing </a:t>
            </a:r>
            <a:r>
              <a:rPr b="1"/>
              <a:t>chính xác</a:t>
            </a:r>
            <a:r>
              <a:rPr/>
              <a:t> (không bỏ sót cặp nào) → </a:t>
            </a:r>
            <a:r>
              <a:rPr b="1"/>
              <a:t>193 cặp / 144 nhóm</a:t>
            </a:r>
          </a:p>
          <a:p>
            <a:pPr lvl="0"/>
            <a:r>
              <a:rPr/>
              <a:t>Chia theo </a:t>
            </a:r>
            <a:r>
              <a:rPr b="1"/>
              <a:t>nhóm</a:t>
            </a:r>
            <a:r>
              <a:rPr/>
              <a:t>, không theo ảnh · sau khi chia đọc lại kết quả kiểm tra độc lập, vi phạm ⇒ trả mã lỗi</a:t>
            </a:r>
          </a:p>
          <a:p>
            <a:pPr lvl="0"/>
            <a:r>
              <a:rPr/>
              <a:t>🔴 </a:t>
            </a:r>
            <a:r>
              <a:rPr b="1"/>
              <a:t>73 / 193 cặp trùng nằm vắt qua ranh giới train↔val của chính bản chia gốc tác giả</a:t>
            </a:r>
            <a:r>
              <a:rPr/>
              <a:t> ⇒ em </a:t>
            </a:r>
            <a:r>
              <a:rPr b="1"/>
              <a:t>vứt bỏ bản chia gốc</a:t>
            </a:r>
            <a:r>
              <a:rPr/>
              <a:t>, chia lại từ đầu</a:t>
            </a:r>
          </a:p>
          <a:p>
            <a:pPr lvl="0" indent="0" marL="0">
              <a:buNone/>
            </a:pPr>
            <a:r>
              <a:rPr b="1"/>
              <a:t>Trạng thái và rủi ro — nói thẳng:</a:t>
            </a:r>
          </a:p>
          <a:p>
            <a:pPr lvl="0"/>
            <a:r>
              <a:rPr/>
              <a:t>🔄 Đang mở rộng lên </a:t>
            </a:r>
            <a:r>
              <a:rPr b="1"/>
              <a:t>~21.000 ảnh</a:t>
            </a:r>
            <a:r>
              <a:rPr/>
              <a:t> từ 8 bộ Roboflow, trong đó </a:t>
            </a:r>
            <a:r>
              <a:rPr b="1"/>
              <a:t>2 bộ có nhãn ký tự</a:t>
            </a:r>
          </a:p>
          <a:p>
            <a:pPr lvl="0"/>
            <a:r>
              <a:rPr/>
              <a:t>⚠️ Bộ chính (HuggingFace) </a:t>
            </a:r>
            <a:r>
              <a:rPr b="1"/>
              <a:t>không ghi rõ giấy phép</a:t>
            </a:r>
            <a:r>
              <a:rPr/>
              <a:t> — rủi ro pháp lý còn treo, đã ghi nhận</a:t>
            </a:r>
          </a:p>
          <a:p>
            <a:pPr lvl="0"/>
            <a:r>
              <a:rPr/>
              <a:t>⚠️ Bộ VNLP 37.300 ảnh chốt ở Phase 1 </a:t>
            </a:r>
            <a:r>
              <a:rPr b="1"/>
              <a:t>tải không được</a:t>
            </a:r>
            <a:r>
              <a:rPr/>
              <a:t> (HTTP 401, chuyển gated) ⇒ quy mô thực chỉ còn </a:t>
            </a:r>
            <a:r>
              <a:rPr b="1"/>
              <a:t>12,3%</a:t>
            </a:r>
            <a:r>
              <a:rPr/>
              <a:t> kế hoạch</a:t>
            </a:r>
          </a:p>
          <a:p>
            <a:pPr lvl="0" indent="0" marL="0">
              <a:buNone/>
            </a:pPr>
            <a:r>
              <a:rPr b="1"/>
              <a:t>Hình / Bảng</a:t>
            </a:r>
          </a:p>
          <a:p>
            <a:pPr lvl="0"/>
            <a:r>
              <a:rPr/>
              <a:t>Bảng chia tập như trên</a:t>
            </a:r>
          </a:p>
          <a:p>
            <a:pPr lvl="0"/>
            <a:r>
              <a:rPr/>
              <a:t>Biểu đồ phân bố tỉ lệ khung hình (AR) của 5.200 box — </a:t>
            </a:r>
            <a:r>
              <a:rPr b="1"/>
              <a:t>phải thấy rõ hai đỉnh và vùng trũng ở 2,2–2,6</a:t>
            </a:r>
            <a:r>
              <a:rPr/>
              <a:t>. Nguồn: </a:t>
            </a:r>
            <a:r>
              <a:rPr>
                <a:latin typeface="Courier"/>
              </a:rPr>
              <a:t>datasets/statistics/</a:t>
            </a:r>
            <a:r>
              <a:rPr/>
              <a:t>. Dùng lại ở S13.</a:t>
            </a:r>
          </a:p>
          <a:p>
            <a:pPr lvl="0" indent="0" marL="0">
              <a:buNone/>
            </a:pPr>
            <a:r>
              <a:rPr b="1"/>
              <a:t>Speaker notes</a:t>
            </a:r>
            <a:r>
              <a:rPr/>
              <a:t> </a:t>
            </a:r>
            <a:r>
              <a:rPr i="1"/>
              <a:t>(55 s)</a:t>
            </a:r>
          </a:p>
          <a:p>
            <a:pPr lvl="0" indent="0" marL="1270000">
              <a:buNone/>
            </a:pPr>
            <a:r>
              <a:rPr sz="2000"/>
              <a:t>Bộ dữ liệu hiện có 4.578 ảnh với 5.200 hộp nhãn, chia 70-20-10 và phân tầng theo số dòng biển — lệch tối đa 0,06 điểm phần trăm giữa ba tập.</a:t>
            </a:r>
          </a:p>
          <a:p>
            <a:pPr lvl="0" indent="0" marL="1270000">
              <a:buNone/>
            </a:pPr>
            <a:r>
              <a:rPr sz="2000"/>
              <a:t>Phần em muốn nhấn là chống rò rỉ. Em không chia theo ảnh mà chia theo nhóm ảnh gần trùng: chạy perceptual hash 64 bit trên toàn bộ, ngưỡng Hamming 5, tìm được 193 cặp gom thành 144 nhóm, mỗi nhóm là một đơn vị không tách được. Sau khi chia xong, script đọc lại kết quả cuối và kiểm tra lại độc lập.</a:t>
            </a:r>
          </a:p>
          <a:p>
            <a:pPr lvl="0" indent="0" marL="1270000">
              <a:buNone/>
            </a:pPr>
            <a:r>
              <a:rPr sz="2000"/>
              <a:t>Và bước này bắt được một lỗi thật: 73 trong 193 cặp trùng nằm vắt qua ranh giới train và val của chính bản chia mà tác giả bộ dữ liệu cung cấp sẵn — có những cặp giống hệt nhau, Hamming bằng 0. Ai dùng thẳng bản chia đó đều đang đo trên một tập validation đã ô nhiễm. Đó là căn cứ để em vứt bỏ bản chia gốc và chia lại từ đầu.</a:t>
            </a:r>
          </a:p>
          <a:p>
            <a:pPr lvl="0" indent="0" marL="1270000">
              <a:buNone/>
            </a:pPr>
            <a:r>
              <a:rPr sz="2000"/>
              <a:t>Hai điều em phải nói thẳng: bộ chính không ghi rõ giấy phép, và bộ 37.300 ảnh em chốt ban đầu tải không được nên quy mô thực chỉ còn 12,3% kế hoạch. Em đang mở rộng lên khoảng 21.000 ảnh, trong đó hai bộ có nhãn ký tự.</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S11 — Huấn luyện: cấu hình và lý do</a:t>
            </a:r>
          </a:p>
          <a:p>
            <a:pPr lvl="0" indent="0" marL="0">
              <a:buNone/>
            </a:pPr>
            <a:r>
              <a:rPr b="1"/>
              <a:t>Nội dung trên slide</a:t>
            </a:r>
          </a:p>
          <a:p>
            <a:pPr lvl="0" indent="0" marL="0">
              <a:buNone/>
            </a:pPr>
            <a:r>
              <a:rPr b="1"/>
              <a:t>Chọn YOLO11n — loại bằng hai bước:</a:t>
            </a:r>
          </a:p>
          <a:p>
            <a:pPr lvl="0" indent="-342900" marL="342900">
              <a:buAutoNum type="arabicPeriod"/>
            </a:pPr>
            <a:r>
              <a:rPr/>
              <a:t>Máy triển khai không GPU ⇒ bắt buộc có </a:t>
            </a:r>
            <a:r>
              <a:rPr b="1"/>
              <a:t>số liệu tốc độ CPU chính thức</a:t>
            </a:r>
            <a:r>
              <a:rPr/>
              <a:t> → YOLOv9/v10/v12/v13 bị loại vì thiếu căn cứ, không phải vì kém</a:t>
            </a:r>
          </a:p>
          <a:p>
            <a:pPr lvl="0" indent="-342900" marL="342900">
              <a:buAutoNum type="arabicPeriod"/>
            </a:pPr>
            <a:r>
              <a:rPr/>
              <a:t>YOLO11n vượt YOLOv8n </a:t>
            </a:r>
            <a:r>
              <a:rPr b="1"/>
              <a:t>đồng thời cả hai chiều</a:t>
            </a:r>
            <a:r>
              <a:rPr/>
              <a:t>: mAP 39,5 vs 37,3 · CPU 56,1 ms vs 80,4 ms</a:t>
            </a:r>
          </a:p>
          <a:p>
            <a:pPr lvl="0" indent="0" marL="0">
              <a:buNone/>
            </a:pPr>
            <a:r>
              <a:rPr b="1"/>
              <a:t>Cấu hình lần chạy CPU</a:t>
            </a:r>
            <a:r>
              <a:rPr/>
              <a:t> (đã hạ để khả thi): </a:t>
            </a:r>
            <a:r>
              <a:rPr>
                <a:latin typeface="Courier"/>
              </a:rPr>
              <a:t>imgsz 416</a:t>
            </a:r>
            <a:r>
              <a:rPr/>
              <a:t> (chuẩn: 640) · </a:t>
            </a:r>
            <a:r>
              <a:rPr>
                <a:latin typeface="Courier"/>
              </a:rPr>
              <a:t>batch 8</a:t>
            </a:r>
            <a:r>
              <a:rPr/>
              <a:t> · </a:t>
            </a:r>
            <a:r>
              <a:rPr>
                <a:latin typeface="Courier"/>
              </a:rPr>
              <a:t>40 epoch</a:t>
            </a:r>
            <a:r>
              <a:rPr/>
              <a:t> · AdamW </a:t>
            </a:r>
            <a:r>
              <a:rPr>
                <a:latin typeface="Courier"/>
              </a:rPr>
              <a:t>lr0 0,001</a:t>
            </a:r>
            <a:r>
              <a:rPr/>
              <a:t> · </a:t>
            </a:r>
            <a:r>
              <a:rPr>
                <a:latin typeface="Courier"/>
              </a:rPr>
              <a:t>workers 2</a:t>
            </a:r>
            <a:r>
              <a:rPr/>
              <a:t> · </a:t>
            </a:r>
            <a:r>
              <a:rPr>
                <a:latin typeface="Courier"/>
              </a:rPr>
              <a:t>amp</a:t>
            </a:r>
            <a:r>
              <a:rPr/>
              <a:t> tắt · </a:t>
            </a:r>
            <a:r>
              <a:rPr>
                <a:latin typeface="Courier"/>
              </a:rPr>
              <a:t>seed 42</a:t>
            </a:r>
            <a:r>
              <a:rPr/>
              <a:t> · </a:t>
            </a:r>
            <a:r>
              <a:rPr>
                <a:latin typeface="Courier"/>
              </a:rPr>
              <a:t>deterministic</a:t>
            </a:r>
          </a:p>
          <a:p>
            <a:pPr lvl="0" indent="0" marL="0">
              <a:buNone/>
            </a:pPr>
            <a:r>
              <a:rPr b="1"/>
              <a:t>Bốn thay đổi có chủ đích so với mặc định Ultralytics: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Tham số</a:t>
                      </a:r>
                    </a:p>
                  </a:txBody>
                  <a:tcPr/>
                </a:tc>
                <a:tc>
                  <a:txBody>
                    <a:bodyPr/>
                    <a:lstStyle/>
                    <a:p>
                      <a:pPr lvl="0" indent="0" marL="0" algn="ctr">
                        <a:buNone/>
                      </a:pPr>
                      <a:r>
                        <a:rPr/>
                        <a:t>Mặc định</a:t>
                      </a:r>
                    </a:p>
                  </a:txBody>
                  <a:tcPr/>
                </a:tc>
                <a:tc>
                  <a:txBody>
                    <a:bodyPr/>
                    <a:lstStyle/>
                    <a:p>
                      <a:pPr lvl="0" indent="0" marL="0" algn="ctr">
                        <a:buNone/>
                      </a:pPr>
                      <a:r>
                        <a:rPr/>
                        <a:t>Của em</a:t>
                      </a:r>
                    </a:p>
                  </a:txBody>
                  <a:tcPr/>
                </a:tc>
                <a:tc>
                  <a:txBody>
                    <a:bodyPr/>
                    <a:lstStyle/>
                    <a:p>
                      <a:pPr lvl="0" indent="0" marL="0">
                        <a:buNone/>
                      </a:pPr>
                      <a:r>
                        <a:rPr/>
                        <a:t>Lý do</a:t>
                      </a:r>
                    </a:p>
                  </a:txBody>
                  <a:tcPr/>
                </a:tc>
              </a:tr>
              <a:tr h="0">
                <a:tc>
                  <a:txBody>
                    <a:bodyPr/>
                    <a:lstStyle/>
                    <a:p>
                      <a:pPr lvl="0" indent="0" marL="0">
                        <a:buNone/>
                      </a:pPr>
                      <a:r>
                        <a:rPr>
                          <a:latin typeface="Courier"/>
                        </a:rPr>
                        <a:t>box</a:t>
                      </a:r>
                    </a:p>
                  </a:txBody>
                </a:tc>
                <a:tc>
                  <a:txBody>
                    <a:bodyPr/>
                    <a:lstStyle/>
                    <a:p>
                      <a:pPr lvl="0" indent="0" marL="0" algn="ctr">
                        <a:buNone/>
                      </a:pPr>
                      <a:r>
                        <a:rPr/>
                        <a:t>7,5</a:t>
                      </a:r>
                    </a:p>
                  </a:txBody>
                </a:tc>
                <a:tc>
                  <a:txBody>
                    <a:bodyPr/>
                    <a:lstStyle/>
                    <a:p>
                      <a:pPr lvl="0" indent="0" marL="0" algn="ctr">
                        <a:buNone/>
                      </a:pPr>
                      <a:r>
                        <a:rPr b="1"/>
                        <a:t>8,0</a:t>
                      </a:r>
                    </a:p>
                  </a:txBody>
                </a:tc>
                <a:tc>
                  <a:txBody>
                    <a:bodyPr/>
                    <a:lstStyle/>
                    <a:p>
                      <a:pPr lvl="0" indent="0" marL="0">
                        <a:buNone/>
                      </a:pPr>
                      <a:r>
                        <a:rPr/>
                        <a:t>Đầu ra detector do </a:t>
                      </a:r>
                      <a:r>
                        <a:rPr b="1"/>
                        <a:t>một mô hình khác</a:t>
                      </a:r>
                      <a:r>
                        <a:rPr/>
                        <a:t> (OCR) tiêu thụ — hộp lệch vài pixel làm mất cạnh ký tự</a:t>
                      </a:r>
                    </a:p>
                  </a:txBody>
                </a:tc>
              </a:tr>
              <a:tr h="0">
                <a:tc>
                  <a:txBody>
                    <a:bodyPr/>
                    <a:lstStyle/>
                    <a:p>
                      <a:pPr lvl="0" indent="0" marL="0">
                        <a:buNone/>
                      </a:pPr>
                      <a:r>
                        <a:rPr>
                          <a:latin typeface="Courier"/>
                        </a:rPr>
                        <a:t>fliplr</a:t>
                      </a:r>
                    </a:p>
                  </a:txBody>
                </a:tc>
                <a:tc>
                  <a:txBody>
                    <a:bodyPr/>
                    <a:lstStyle/>
                    <a:p>
                      <a:pPr lvl="0" indent="0" marL="0" algn="ctr">
                        <a:buNone/>
                      </a:pPr>
                      <a:r>
                        <a:rPr/>
                        <a:t>0,5</a:t>
                      </a:r>
                    </a:p>
                  </a:txBody>
                </a:tc>
                <a:tc>
                  <a:txBody>
                    <a:bodyPr/>
                    <a:lstStyle/>
                    <a:p>
                      <a:pPr lvl="0" indent="0" marL="0" algn="ctr">
                        <a:buNone/>
                      </a:pPr>
                      <a:r>
                        <a:rPr b="1"/>
                        <a:t>0,0 — chặn cứng bằng </a:t>
                      </a:r>
                      <a:r>
                        <a:rPr b="1">
                          <a:latin typeface="Courier"/>
                        </a:rPr>
                        <a:t>ValueError</a:t>
                      </a:r>
                    </a:p>
                  </a:txBody>
                </a:tc>
                <a:tc>
                  <a:txBody>
                    <a:bodyPr/>
                    <a:lstStyle/>
                    <a:p>
                      <a:pPr lvl="0" indent="0" marL="0">
                        <a:buNone/>
                      </a:pPr>
                      <a:r>
                        <a:rPr/>
                        <a:t>Lật ngang biển = </a:t>
                      </a:r>
                      <a:r>
                        <a:rPr b="1"/>
                        <a:t>soi gương ký tự</a:t>
                      </a:r>
                      <a:r>
                        <a:rPr/>
                        <a:t> = vật thể không tồn tại</a:t>
                      </a:r>
                    </a:p>
                  </a:txBody>
                </a:tc>
              </a:tr>
              <a:tr h="0">
                <a:tc>
                  <a:txBody>
                    <a:bodyPr/>
                    <a:lstStyle/>
                    <a:p>
                      <a:pPr lvl="0" indent="0" marL="0">
                        <a:buNone/>
                      </a:pPr>
                      <a:r>
                        <a:rPr>
                          <a:latin typeface="Courier"/>
                        </a:rPr>
                        <a:t>hsv_h</a:t>
                      </a:r>
                    </a:p>
                  </a:txBody>
                </a:tc>
                <a:tc>
                  <a:txBody>
                    <a:bodyPr/>
                    <a:lstStyle/>
                    <a:p>
                      <a:pPr lvl="0" indent="0" marL="0" algn="ctr">
                        <a:buNone/>
                      </a:pPr>
                      <a:r>
                        <a:rPr/>
                        <a:t>0,015</a:t>
                      </a:r>
                    </a:p>
                  </a:txBody>
                </a:tc>
                <a:tc>
                  <a:txBody>
                    <a:bodyPr/>
                    <a:lstStyle/>
                    <a:p>
                      <a:pPr lvl="0" indent="0" marL="0" algn="ctr">
                        <a:buNone/>
                      </a:pPr>
                      <a:r>
                        <a:rPr/>
                        <a:t>giữ, </a:t>
                      </a:r>
                      <a:r>
                        <a:rPr b="1"/>
                        <a:t>có lý do</a:t>
                      </a:r>
                    </a:p>
                  </a:txBody>
                </a:tc>
                <a:tc>
                  <a:txBody>
                    <a:bodyPr/>
                    <a:lstStyle/>
                    <a:p>
                      <a:pPr lvl="0" indent="0" marL="0">
                        <a:buNone/>
                      </a:pPr>
                      <a:r>
                        <a:rPr/>
                        <a:t>Màu nền biển </a:t>
                      </a:r>
                      <a:r>
                        <a:rPr b="1"/>
                        <a:t>mang ngữ nghĩa</a:t>
                      </a:r>
                      <a:r>
                        <a:rPr/>
                        <a:t> (loại phương tiện)</a:t>
                      </a:r>
                    </a:p>
                  </a:txBody>
                </a:tc>
              </a:tr>
              <a:tr h="0">
                <a:tc>
                  <a:txBody>
                    <a:bodyPr/>
                    <a:lstStyle/>
                    <a:p>
                      <a:pPr lvl="0" indent="0" marL="0">
                        <a:buNone/>
                      </a:pPr>
                      <a:r>
                        <a:rPr>
                          <a:latin typeface="Courier"/>
                        </a:rPr>
                        <a:t>lr0</a:t>
                      </a:r>
                    </a:p>
                  </a:txBody>
                </a:tc>
                <a:tc>
                  <a:txBody>
                    <a:bodyPr/>
                    <a:lstStyle/>
                    <a:p>
                      <a:pPr lvl="0" indent="0" marL="0" algn="ctr">
                        <a:buNone/>
                      </a:pPr>
                      <a:r>
                        <a:rPr/>
                        <a:t>—</a:t>
                      </a:r>
                    </a:p>
                  </a:txBody>
                </a:tc>
                <a:tc>
                  <a:txBody>
                    <a:bodyPr/>
                    <a:lstStyle/>
                    <a:p>
                      <a:pPr lvl="0" indent="0" marL="0" algn="ctr">
                        <a:buNone/>
                      </a:pPr>
                      <a:r>
                        <a:rPr b="1"/>
                        <a:t>0,001 cố tình thấp</a:t>
                      </a:r>
                    </a:p>
                  </a:txBody>
                </a:tc>
                <a:tc>
                  <a:txBody>
                    <a:bodyPr/>
                    <a:lstStyle/>
                    <a:p>
                      <a:pPr lvl="0" indent="0" marL="0">
                        <a:buNone/>
                      </a:pPr>
                      <a:r>
                        <a:rPr/>
                        <a:t>LR cao trên trọng số pretrain ⇒ catastrophic forgetting</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Vì sao CPU:</a:t>
            </a:r>
            <a:r>
              <a:rPr/>
              <a:t> máy phát triển Intel Core i5-14600K (14 nhân / 20 luồng), đồ hoạ tích hợp UHD 770 — </a:t>
            </a:r>
            <a:r>
              <a:rPr b="1"/>
              <a:t>không có CUDA</a:t>
            </a:r>
            <a:r>
              <a:rPr/>
              <a:t>. Đo thực: </a:t>
            </a:r>
            <a:r>
              <a:rPr b="1"/>
              <a:t>~230 s/epoch</a:t>
            </a:r>
            <a:r>
              <a:rPr/>
              <a:t> ⇒ 40 epoch ≈ 2,5 giờ.</a:t>
            </a:r>
          </a:p>
          <a:p>
            <a:pPr lvl="0" indent="0" marL="0">
              <a:buNone/>
            </a:pPr>
            <a:r>
              <a:rPr b="1"/>
              <a:t>Hình / Bảng</a:t>
            </a:r>
          </a:p>
          <a:p>
            <a:pPr lvl="0"/>
            <a:r>
              <a:rPr/>
              <a:t>Bảng bốn thay đổi như trên</a:t>
            </a:r>
          </a:p>
          <a:p>
            <a:pPr lvl="0"/>
            <a:r>
              <a:rPr/>
              <a:t>Ảnh minh hoạ nhỏ: một biển số và ảnh soi gương của nó, có dấu ✗ đỏ (minh hoạ </a:t>
            </a:r>
            <a:r>
              <a:rPr>
                <a:latin typeface="Courier"/>
              </a:rPr>
              <a:t>fliplr</a:t>
            </a:r>
            <a:r>
              <a:rPr/>
              <a:t>)</a:t>
            </a:r>
          </a:p>
          <a:p>
            <a:pPr lvl="0" indent="0" marL="0">
              <a:buNone/>
            </a:pPr>
            <a:r>
              <a:rPr b="1"/>
              <a:t>Speaker notes</a:t>
            </a:r>
            <a:r>
              <a:rPr/>
              <a:t> </a:t>
            </a:r>
            <a:r>
              <a:rPr i="1"/>
              <a:t>(50 s)</a:t>
            </a:r>
          </a:p>
          <a:p>
            <a:pPr lvl="0" indent="0" marL="1270000">
              <a:buNone/>
            </a:pPr>
            <a:r>
              <a:rPr sz="2000"/>
              <a:t>Em chọn YOLO11 biến thể nano bằng hai bước loại. Bước một: vì máy triển khai không có GPU nên tiêu chí bắt buộc là mô hình phải có số liệu tốc độ CPU chính thức. YOLOv9, v10, v12, v13 đều không có nên bị loại — vì thiếu căn cứ đánh giá, không phải vì chúng kém. Bước hai: YOLO11n vượt YOLOv8n đồng thời cả về độ chính xác lẫn tốc độ CPU, nên không có lý do chọn v8.</a:t>
            </a:r>
          </a:p>
          <a:p>
            <a:pPr lvl="0" indent="0" marL="1270000">
              <a:buNone/>
            </a:pPr>
            <a:r>
              <a:rPr sz="2000"/>
              <a:t>Về siêu tham số, em phải trung thực: em không chạy tìm kiếm tự động, không có ngân sách tính toán cho việc đó trên CPU. Em lấy mặc định Ultralytics và chỉ đổi những chỗ có lý do đặc thù bài toán.</a:t>
            </a:r>
          </a:p>
          <a:p>
            <a:pPr lvl="0" indent="0" marL="1270000">
              <a:buNone/>
            </a:pPr>
            <a:r>
              <a:rPr sz="2000"/>
              <a:t>Em xin nói một chỗ: </a:t>
            </a:r>
            <a:r>
              <a:rPr sz="2000">
                <a:latin typeface="Courier"/>
              </a:rPr>
              <a:t>fliplr</a:t>
            </a:r>
            <a:r>
              <a:rPr sz="2000"/>
              <a:t>. Mặc định của Ultralytics là 0,5, tức một nửa số ảnh huấn luyện bị lật ngang. Nhưng lật ngang một biển số là soi gương các ký tự trên đó — chữ A soi gương không phải chữ A. Đó không phải một góc nhìn khác của cùng vật thể, mà là một vật thể không tồn tại. Nguy hiểm ở chỗ sai lầm này </a:t>
            </a:r>
            <a:r>
              <a:rPr sz="2000" b="1"/>
              <a:t>không</a:t>
            </a:r>
            <a:r>
              <a:rPr sz="2000"/>
              <a:t> làm hỏng quá trình huấn luyện: loss vẫn giảm, đường cong vẫn đẹp, chỉ là mô hình kém hơn mức đáng lẽ đạt được. Vì vậy em chặn nó ở tầng mã bằng một </a:t>
            </a:r>
            <a:r>
              <a:rPr sz="2000">
                <a:latin typeface="Courier"/>
              </a:rPr>
              <a:t>ValueError</a:t>
            </a:r>
            <a:r>
              <a:rPr sz="2000"/>
              <a:t>, chứ không ghi vào comment — một quy ước trong comment sớm muộn cũng bị vi phạm.</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S12 — Kết quả detection ✅ ĐÃ CÓ SỐ CÔNG BỐ</a:t>
            </a:r>
          </a:p>
          <a:p>
            <a:pPr lvl="0" indent="0" marL="1270000">
              <a:buNone/>
            </a:pPr>
            <a:r>
              <a:rPr sz="2000" b="1"/>
              <a:t>Đo trên </a:t>
            </a:r>
            <a:r>
              <a:rPr sz="2000" b="1">
                <a:latin typeface="Courier"/>
              </a:rPr>
              <a:t>models/best.pt</a:t>
            </a:r>
            <a:r>
              <a:rPr sz="2000" b="1"/>
              <a:t> (YOLO11n, imgsz 640, split v3), tập TEST 1.514 ảnh.</a:t>
            </a:r>
          </a:p>
          <a:p>
            <a:pPr lvl="0" indent="0" marL="0">
              <a:buNone/>
            </a:pPr>
            <a:r>
              <a:rPr b="1"/>
              <a:t>Nội dung trên slide</a:t>
            </a:r>
          </a:p>
          <a:p>
            <a:pPr lvl="0" indent="0" marL="0">
              <a:buNone/>
            </a:pPr>
            <a:r>
              <a:rPr b="1"/>
              <a:t>Trạng thái: mô hình chính thức </a:t>
            </a:r>
            <a:r>
              <a:rPr b="1">
                <a:latin typeface="Courier"/>
              </a:rPr>
              <a:t>best.pt</a:t>
            </a:r>
            <a:r>
              <a:rPr b="1"/>
              <a:t> đã huấn luyện xong (20 epoch, epoch tốt nhất = 20)</a:t>
            </a:r>
          </a:p>
          <a:p>
            <a:pPr lvl="0" indent="0" marL="0">
              <a:buNone/>
            </a:pPr>
            <a:r>
              <a:rPr b="1"/>
              <a:t>Bảng công bố — đo trên tập TEST v3 (1.514 ảnh), tách theo layout: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23900"/>
                <a:gridCol w="723900"/>
                <a:gridCol w="723900"/>
                <a:gridCol w="723900"/>
                <a:gridCol w="723900"/>
                <a:gridCol w="723900"/>
                <a:gridCol w="723900"/>
              </a:tblGrid>
              <a:tr h="0">
                <a:tc>
                  <a:txBody>
                    <a:bodyPr/>
                    <a:lstStyle/>
                    <a:p>
                      <a:pPr lvl="0" indent="0" marL="0">
                        <a:buNone/>
                      </a:pPr>
                      <a:r>
                        <a:rPr/>
                        <a:t>Nhóm</a:t>
                      </a:r>
                    </a:p>
                  </a:txBody>
                  <a:tcPr/>
                </a:tc>
                <a:tc>
                  <a:txBody>
                    <a:bodyPr/>
                    <a:lstStyle/>
                    <a:p>
                      <a:pPr lvl="0" indent="0" marL="0" algn="r">
                        <a:buNone/>
                      </a:pPr>
                      <a:r>
                        <a:rPr/>
                        <a:t>N đối tượng</a:t>
                      </a:r>
                    </a:p>
                  </a:txBody>
                  <a:tcPr/>
                </a:tc>
                <a:tc>
                  <a:txBody>
                    <a:bodyPr/>
                    <a:lstStyle/>
                    <a:p>
                      <a:pPr lvl="0" indent="0" marL="0" algn="r">
                        <a:buNone/>
                      </a:pPr>
                      <a:r>
                        <a:rPr/>
                        <a:t>P</a:t>
                      </a:r>
                    </a:p>
                  </a:txBody>
                  <a:tcPr/>
                </a:tc>
                <a:tc>
                  <a:txBody>
                    <a:bodyPr/>
                    <a:lstStyle/>
                    <a:p>
                      <a:pPr lvl="0" indent="0" marL="0" algn="r">
                        <a:buNone/>
                      </a:pPr>
                      <a:r>
                        <a:rPr/>
                        <a:t>R</a:t>
                      </a:r>
                    </a:p>
                  </a:txBody>
                  <a:tcPr/>
                </a:tc>
                <a:tc>
                  <a:txBody>
                    <a:bodyPr/>
                    <a:lstStyle/>
                    <a:p>
                      <a:pPr lvl="0" indent="0" marL="0" algn="r">
                        <a:buNone/>
                      </a:pPr>
                      <a:r>
                        <a:rPr/>
                        <a:t>F1</a:t>
                      </a:r>
                    </a:p>
                  </a:txBody>
                  <a:tcPr/>
                </a:tc>
                <a:tc>
                  <a:txBody>
                    <a:bodyPr/>
                    <a:lstStyle/>
                    <a:p>
                      <a:pPr lvl="0" indent="0" marL="0" algn="r">
                        <a:buNone/>
                      </a:pPr>
                      <a:r>
                        <a:rPr/>
                        <a:t>mAP50</a:t>
                      </a:r>
                    </a:p>
                  </a:txBody>
                  <a:tcPr/>
                </a:tc>
                <a:tc>
                  <a:txBody>
                    <a:bodyPr/>
                    <a:lstStyle/>
                    <a:p>
                      <a:pPr lvl="0" indent="0" marL="0" algn="r">
                        <a:buNone/>
                      </a:pPr>
                      <a:r>
                        <a:rPr/>
                        <a:t>mAP50-95</a:t>
                      </a:r>
                    </a:p>
                  </a:txBody>
                  <a:tcPr/>
                </a:tc>
              </a:tr>
              <a:tr h="0">
                <a:tc>
                  <a:txBody>
                    <a:bodyPr/>
                    <a:lstStyle/>
                    <a:p>
                      <a:pPr lvl="0" indent="0" marL="0">
                        <a:buNone/>
                      </a:pPr>
                      <a:r>
                        <a:rPr/>
                        <a:t>Biển 1 dòng</a:t>
                      </a:r>
                    </a:p>
                  </a:txBody>
                </a:tc>
                <a:tc>
                  <a:txBody>
                    <a:bodyPr/>
                    <a:lstStyle/>
                    <a:p>
                      <a:pPr lvl="0" indent="0" marL="0" algn="r">
                        <a:buNone/>
                      </a:pPr>
                      <a:r>
                        <a:rPr/>
                        <a:t>286</a:t>
                      </a:r>
                    </a:p>
                  </a:txBody>
                </a:tc>
                <a:tc>
                  <a:txBody>
                    <a:bodyPr/>
                    <a:lstStyle/>
                    <a:p>
                      <a:pPr lvl="0" indent="0" marL="0" algn="r">
                        <a:buNone/>
                      </a:pPr>
                      <a:r>
                        <a:rPr/>
                        <a:t>0,986</a:t>
                      </a:r>
                    </a:p>
                  </a:txBody>
                </a:tc>
                <a:tc>
                  <a:txBody>
                    <a:bodyPr/>
                    <a:lstStyle/>
                    <a:p>
                      <a:pPr lvl="0" indent="0" marL="0" algn="r">
                        <a:buNone/>
                      </a:pPr>
                      <a:r>
                        <a:rPr/>
                        <a:t>0,990</a:t>
                      </a:r>
                    </a:p>
                  </a:txBody>
                </a:tc>
                <a:tc>
                  <a:txBody>
                    <a:bodyPr/>
                    <a:lstStyle/>
                    <a:p>
                      <a:pPr lvl="0" indent="0" marL="0" algn="r">
                        <a:buNone/>
                      </a:pPr>
                      <a:r>
                        <a:rPr/>
                        <a:t>0,988</a:t>
                      </a:r>
                    </a:p>
                  </a:txBody>
                </a:tc>
                <a:tc>
                  <a:txBody>
                    <a:bodyPr/>
                    <a:lstStyle/>
                    <a:p>
                      <a:pPr lvl="0" indent="0" marL="0" algn="r">
                        <a:buNone/>
                      </a:pPr>
                      <a:r>
                        <a:rPr b="1"/>
                        <a:t>0,988</a:t>
                      </a:r>
                    </a:p>
                  </a:txBody>
                </a:tc>
                <a:tc>
                  <a:txBody>
                    <a:bodyPr/>
                    <a:lstStyle/>
                    <a:p>
                      <a:pPr lvl="0" indent="0" marL="0" algn="r">
                        <a:buNone/>
                      </a:pPr>
                      <a:r>
                        <a:rPr/>
                        <a:t>0,753</a:t>
                      </a:r>
                    </a:p>
                  </a:txBody>
                </a:tc>
              </a:tr>
              <a:tr h="0">
                <a:tc>
                  <a:txBody>
                    <a:bodyPr/>
                    <a:lstStyle/>
                    <a:p>
                      <a:pPr lvl="0" indent="0" marL="0">
                        <a:buNone/>
                      </a:pPr>
                      <a:r>
                        <a:rPr/>
                        <a:t>Biển 2 dòng</a:t>
                      </a:r>
                    </a:p>
                  </a:txBody>
                </a:tc>
                <a:tc>
                  <a:txBody>
                    <a:bodyPr/>
                    <a:lstStyle/>
                    <a:p>
                      <a:pPr lvl="0" indent="0" marL="0" algn="r">
                        <a:buNone/>
                      </a:pPr>
                      <a:r>
                        <a:rPr/>
                        <a:t>1.325</a:t>
                      </a:r>
                    </a:p>
                  </a:txBody>
                </a:tc>
                <a:tc>
                  <a:txBody>
                    <a:bodyPr/>
                    <a:lstStyle/>
                    <a:p>
                      <a:pPr lvl="0" indent="0" marL="0" algn="r">
                        <a:buNone/>
                      </a:pPr>
                      <a:r>
                        <a:rPr/>
                        <a:t>0,973</a:t>
                      </a:r>
                    </a:p>
                  </a:txBody>
                </a:tc>
                <a:tc>
                  <a:txBody>
                    <a:bodyPr/>
                    <a:lstStyle/>
                    <a:p>
                      <a:pPr lvl="0" indent="0" marL="0" algn="r">
                        <a:buNone/>
                      </a:pPr>
                      <a:r>
                        <a:rPr/>
                        <a:t>0,969</a:t>
                      </a:r>
                    </a:p>
                  </a:txBody>
                </a:tc>
                <a:tc>
                  <a:txBody>
                    <a:bodyPr/>
                    <a:lstStyle/>
                    <a:p>
                      <a:pPr lvl="0" indent="0" marL="0" algn="r">
                        <a:buNone/>
                      </a:pPr>
                      <a:r>
                        <a:rPr/>
                        <a:t>0,971</a:t>
                      </a:r>
                    </a:p>
                  </a:txBody>
                </a:tc>
                <a:tc>
                  <a:txBody>
                    <a:bodyPr/>
                    <a:lstStyle/>
                    <a:p>
                      <a:pPr lvl="0" indent="0" marL="0" algn="r">
                        <a:buNone/>
                      </a:pPr>
                      <a:r>
                        <a:rPr b="1"/>
                        <a:t>0,968</a:t>
                      </a:r>
                    </a:p>
                  </a:txBody>
                </a:tc>
                <a:tc>
                  <a:txBody>
                    <a:bodyPr/>
                    <a:lstStyle/>
                    <a:p>
                      <a:pPr lvl="0" indent="0" marL="0" algn="r">
                        <a:buNone/>
                      </a:pPr>
                      <a:r>
                        <a:rPr/>
                        <a:t>0,765</a:t>
                      </a:r>
                    </a:p>
                  </a:txBody>
                </a:tc>
              </a:tr>
              <a:tr h="0">
                <a:tc>
                  <a:txBody>
                    <a:bodyPr/>
                    <a:lstStyle/>
                    <a:p>
                      <a:pPr lvl="0" indent="0" marL="0">
                        <a:buNone/>
                      </a:pPr>
                      <a:r>
                        <a:rPr b="1"/>
                        <a:t>TẤT CẢ</a:t>
                      </a:r>
                    </a:p>
                  </a:txBody>
                </a:tc>
                <a:tc>
                  <a:txBody>
                    <a:bodyPr/>
                    <a:lstStyle/>
                    <a:p>
                      <a:pPr lvl="0" indent="0" marL="0" algn="r">
                        <a:buNone/>
                      </a:pPr>
                      <a:r>
                        <a:rPr b="1"/>
                        <a:t>1.611</a:t>
                      </a:r>
                    </a:p>
                  </a:txBody>
                </a:tc>
                <a:tc>
                  <a:txBody>
                    <a:bodyPr/>
                    <a:lstStyle/>
                    <a:p>
                      <a:pPr lvl="0" indent="0" marL="0" algn="r">
                        <a:buNone/>
                      </a:pPr>
                      <a:r>
                        <a:rPr b="1"/>
                        <a:t>0,984</a:t>
                      </a:r>
                    </a:p>
                  </a:txBody>
                </a:tc>
                <a:tc>
                  <a:txBody>
                    <a:bodyPr/>
                    <a:lstStyle/>
                    <a:p>
                      <a:pPr lvl="0" indent="0" marL="0" algn="r">
                        <a:buNone/>
                      </a:pPr>
                      <a:r>
                        <a:rPr b="1"/>
                        <a:t>0,971</a:t>
                      </a:r>
                    </a:p>
                  </a:txBody>
                </a:tc>
                <a:tc>
                  <a:txBody>
                    <a:bodyPr/>
                    <a:lstStyle/>
                    <a:p>
                      <a:pPr lvl="0" indent="0" marL="0" algn="r">
                        <a:buNone/>
                      </a:pPr>
                      <a:r>
                        <a:rPr b="1"/>
                        <a:t>0,977</a:t>
                      </a:r>
                    </a:p>
                  </a:txBody>
                </a:tc>
                <a:tc>
                  <a:txBody>
                    <a:bodyPr/>
                    <a:lstStyle/>
                    <a:p>
                      <a:pPr lvl="0" indent="0" marL="0" algn="r">
                        <a:buNone/>
                      </a:pPr>
                      <a:r>
                        <a:rPr b="1"/>
                        <a:t>0,983</a:t>
                      </a:r>
                    </a:p>
                  </a:txBody>
                </a:tc>
                <a:tc>
                  <a:txBody>
                    <a:bodyPr/>
                    <a:lstStyle/>
                    <a:p>
                      <a:pPr lvl="0" indent="0" marL="0" algn="r">
                        <a:buNone/>
                      </a:pPr>
                      <a:r>
                        <a:rPr b="1"/>
                        <a:t>0,783</a:t>
                      </a:r>
                    </a:p>
                  </a:txBody>
                </a:tc>
              </a:tr>
              <a:tr h="0">
                <a:tc>
                  <a:txBody>
                    <a:bodyPr/>
                    <a:lstStyle/>
                    <a:p>
                      <a:pPr lvl="0" indent="0" marL="0">
                        <a:buNone/>
                      </a:pPr>
                      <a:r>
                        <a:rPr i="1"/>
                        <a:t>Chỉ tiêu (NFR-A1/A2/A3)</a:t>
                      </a:r>
                    </a:p>
                  </a:txBody>
                </a:tc>
                <a:tc>
                  <a:txBody>
                    <a:bodyPr/>
                    <a:lstStyle/>
                    <a:p>
                      <a:endParaRPr/>
                    </a:p>
                  </a:txBody>
                </a:tc>
                <a:tc>
                  <a:txBody>
                    <a:bodyPr/>
                    <a:lstStyle/>
                    <a:p>
                      <a:pPr lvl="0" indent="0" marL="0" algn="r">
                        <a:buNone/>
                      </a:pPr>
                      <a:r>
                        <a:rPr i="1"/>
                        <a:t>≥0,92</a:t>
                      </a:r>
                    </a:p>
                  </a:txBody>
                </a:tc>
                <a:tc>
                  <a:txBody>
                    <a:bodyPr/>
                    <a:lstStyle/>
                    <a:p>
                      <a:pPr lvl="0" indent="0" marL="0" algn="r">
                        <a:buNone/>
                      </a:pPr>
                      <a:r>
                        <a:rPr i="1"/>
                        <a:t>≥0,90</a:t>
                      </a:r>
                    </a:p>
                  </a:txBody>
                </a:tc>
                <a:tc>
                  <a:txBody>
                    <a:bodyPr/>
                    <a:lstStyle/>
                    <a:p>
                      <a:endParaRPr/>
                    </a:p>
                  </a:txBody>
                </a:tc>
                <a:tc>
                  <a:txBody>
                    <a:bodyPr/>
                    <a:lstStyle/>
                    <a:p>
                      <a:pPr lvl="0" indent="0" marL="0" algn="r">
                        <a:buNone/>
                      </a:pPr>
                      <a:r>
                        <a:rPr i="1"/>
                        <a:t>≥0,90</a:t>
                      </a:r>
                    </a:p>
                  </a:txBody>
                </a:tc>
                <a:tc>
                  <a:txBody>
                    <a:bodyPr/>
                    <a:lstStyle/>
                    <a:p>
                      <a:pPr lvl="0" indent="0" marL="0" algn="r">
                        <a:buNone/>
                      </a:pPr>
                      <a:r>
                        <a:rPr i="1"/>
                        <a:t>≥0,65</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Bốn chỉ tiêu detection đều ĐẠT.</a:t>
            </a:r>
            <a:r>
              <a:rPr/>
              <a:t> Chênh layout (A8) chỉ </a:t>
            </a:r>
            <a:r>
              <a:rPr b="1"/>
              <a:t>2,09 điểm</a:t>
            </a:r>
            <a:r>
              <a:rPr/>
              <a:t> mAP50 ⇒ </a:t>
            </a:r>
            <a:r>
              <a:rPr b="1"/>
              <a:t>detection ít nhạy với layout</a:t>
            </a:r>
            <a:r>
              <a:rPr/>
              <a:t>.</a:t>
            </a:r>
          </a:p>
          <a:p>
            <a:pPr lvl="0" indent="0" marL="0">
              <a:buNone/>
            </a:pPr>
            <a:r>
              <a:rPr b="1"/>
              <a:t>Ba điều đọc được:</a:t>
            </a:r>
          </a:p>
          <a:p>
            <a:pPr lvl="0"/>
            <a:r>
              <a:rPr/>
              <a:t>✅ </a:t>
            </a:r>
            <a:r>
              <a:rPr b="1"/>
              <a:t>Cả bốn chỉ tiêu NFR-A1/A2/A3 đều vượt mục tiêu</a:t>
            </a:r>
            <a:r>
              <a:rPr/>
              <a:t> trên tập test độc lập, đo ở đúng imgsz 640.</a:t>
            </a:r>
          </a:p>
          <a:p>
            <a:pPr lvl="0"/>
            <a:r>
              <a:rPr/>
              <a:t>✅ Đo trên </a:t>
            </a:r>
            <a:r>
              <a:rPr b="1"/>
              <a:t>split v3 đã khử trùng lặp ở ngưỡng 10</a:t>
            </a:r>
            <a:r>
              <a:rPr/>
              <a:t> ⇒ mAP không còn bị rò rỉ tên-tệp thổi phồng như baseline v1 (0,9933).</a:t>
            </a:r>
          </a:p>
          <a:p>
            <a:pPr lvl="0"/>
            <a:r>
              <a:rPr/>
              <a:t>⚠️ Điểm yếu biển 2 dòng </a:t>
            </a:r>
            <a:r>
              <a:rPr b="1"/>
              <a:t>KHÔNG</a:t>
            </a:r>
            <a:r>
              <a:rPr/>
              <a:t> nằm ở detection (chênh 2,09 điểm) mà ở tầng </a:t>
            </a:r>
            <a:r>
              <a:rPr b="1"/>
              <a:t>OCR</a:t>
            </a:r>
            <a:r>
              <a:rPr/>
              <a:t> — xem S14/S15.</a:t>
            </a:r>
          </a:p>
          <a:p>
            <a:pPr lvl="0" indent="0" marL="0">
              <a:buNone/>
            </a:pPr>
            <a:r>
              <a:rPr b="1"/>
              <a:t>Hình / Bảng</a:t>
            </a:r>
          </a:p>
          <a:p>
            <a:pPr lvl="0"/>
            <a:r>
              <a:rPr/>
              <a:t>Bảng test đầy đủ số, tách 1 dòng / 2 dòng</a:t>
            </a:r>
          </a:p>
          <a:p>
            <a:pPr lvl="0"/>
            <a:r>
              <a:rPr/>
              <a:t>Đường cong mAP theo epoch từ </a:t>
            </a:r>
            <a:r>
              <a:rPr>
                <a:latin typeface="Courier"/>
              </a:rPr>
              <a:t>runs/final-640-v3/results.csv</a:t>
            </a:r>
            <a:r>
              <a:rPr/>
              <a:t>; PR-curve </a:t>
            </a:r>
            <a:r>
              <a:rPr>
                <a:latin typeface="Courier"/>
              </a:rPr>
              <a:t>ch5-best-test_pr_curve.png</a:t>
            </a:r>
          </a:p>
          <a:p>
            <a:pPr lvl="0" indent="0" marL="0">
              <a:buNone/>
            </a:pPr>
            <a:r>
              <a:rPr b="1"/>
              <a:t>Speaker notes</a:t>
            </a:r>
            <a:r>
              <a:rPr/>
              <a:t> </a:t>
            </a:r>
            <a:r>
              <a:rPr i="1"/>
              <a:t>(50 s)</a:t>
            </a:r>
          </a:p>
          <a:p>
            <a:pPr lvl="0" indent="0" marL="1270000">
              <a:buNone/>
            </a:pPr>
            <a:r>
              <a:rPr sz="2000"/>
              <a:t>Đây là kết quả detection của mô hình chính thức </a:t>
            </a:r>
            <a:r>
              <a:rPr sz="2000">
                <a:latin typeface="Courier"/>
              </a:rPr>
              <a:t>best.pt</a:t>
            </a:r>
            <a:r>
              <a:rPr sz="2000"/>
              <a:t>, đo trên tập test 1.514 ảnh của bộ v3. Bốn chỉ tiêu — mAP50 0,983, mAP50-95 0,783, precision 0,984, recall 0,971 — đều vượt mục tiêu.</a:t>
            </a:r>
          </a:p>
          <a:p>
            <a:pPr lvl="0" indent="0" marL="1270000">
              <a:buNone/>
            </a:pPr>
            <a:r>
              <a:rPr sz="2000"/>
              <a:t>Em tách riêng biển một dòng và hai dòng vì đó là rủi ro lớn nhất của đề tài. Ở tầng phát hiện, chênh lệch giữa hai loại chỉ 2,09 điểm mAP50 — nghĩa là bộ phát hiện làm việc tốt với cả hai. Điểm yếu biển hai dòng nằm ở tầng OCR, không phải ở đây, và em sẽ trình bày thẳng ở slide sau.</a:t>
            </a:r>
          </a:p>
          <a:p>
            <a:pPr lvl="0" indent="0" marL="1270000">
              <a:buNone/>
            </a:pPr>
            <a:r>
              <a:rPr sz="2000"/>
              <a:t>Con số này đo trên split v3 đã khử trùng lặp ở ngưỡng phash 10. Baseline cũ đạt mAP 0,9933 nhưng con số đó lạc quan vì bộ v1 có rò rỉ train-test; con số 0,983 ở đây trung thực hơn. Nếu thầy cô nghi ngờ rò rỉ, em xin trình bày kỹ phần chống rò rỉ ở phần hỏi đáp.</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PHẦN E — ĐÓNG GÓP KỸ THUẬT LÕI</a:t>
            </a:r>
          </a:p>
        </p:txBody>
      </p:sp>
      <p:sp>
        <p:nvSpPr>
          <p:cNvPr id="4" name="Text Placeholder 3"/>
          <p:cNvSpPr>
            <a:spLocks noGrp="1"/>
          </p:cNvSpPr>
          <p:nvPr>
            <p:ph idx="2" sz="half" type="body"/>
          </p:nvPr>
        </p:nvSpPr>
        <p:spPr/>
        <p:txBody>
          <a:bodyPr/>
          <a:lstStyle/>
          <a:p>
            <a:pPr lvl="0" indent="0" marL="0">
              <a:spcBef>
                <a:spcPts val="3000"/>
              </a:spcBef>
              <a:buNone/>
            </a:pPr>
            <a:r>
              <a:rPr b="1"/>
              <a:t>S13 — Xử lý biển 2 dòng</a:t>
            </a:r>
          </a:p>
          <a:p>
            <a:pPr lvl="0" indent="0" marL="1270000">
              <a:buNone/>
            </a:pPr>
            <a:r>
              <a:rPr sz="2000" b="1"/>
              <a:t>Slide kỹ thuật đắt nhất của bài. Dành nhiều thời gian nhất ở đây.</a:t>
            </a:r>
          </a:p>
          <a:p>
            <a:pPr lvl="0" indent="0" marL="0">
              <a:buNone/>
            </a:pPr>
            <a:r>
              <a:rPr b="1"/>
              <a:t>Nội dung trên slide</a:t>
            </a:r>
          </a:p>
          <a:p>
            <a:pPr lvl="0" indent="0" marL="0">
              <a:buNone/>
            </a:pPr>
            <a:r>
              <a:rPr b="1"/>
              <a:t>Vấn đề — nguyên nhân gốc là KIẾN TRÚC, không phải chất lượng model:</a:t>
            </a:r>
          </a:p>
          <a:p>
            <a:pPr lvl="0"/>
            <a:r>
              <a:rPr/>
              <a:t>CRNN/CTC giả định </a:t>
            </a:r>
            <a:r>
              <a:rPr b="1"/>
              <a:t>alignment đơn điệu trên MỘT dòng</a:t>
            </a:r>
            <a:r>
              <a:rPr/>
              <a:t> — giả định này nằm trong </a:t>
            </a:r>
            <a:r>
              <a:rPr b="1"/>
              <a:t>hàm mất mát</a:t>
            </a:r>
            <a:r>
              <a:rPr/>
              <a:t>, không sửa được bằng thêm dữ liệu</a:t>
            </a:r>
          </a:p>
          <a:p>
            <a:pPr lvl="0"/>
            <a:r>
              <a:rPr/>
              <a:t>Bằng chứng cụ thể trong PaddleOCR: module recognition resize về </a:t>
            </a:r>
            <a:r>
              <a:rPr b="1"/>
              <a:t>chiều cao cố định 48 px</a:t>
            </a:r>
            <a:r>
              <a:rPr/>
              <a:t> (</a:t>
            </a:r>
            <a:r>
              <a:rPr>
                <a:latin typeface="Courier"/>
              </a:rPr>
              <a:t>rec_image_shape = 3×48×320</a:t>
            </a:r>
            <a:r>
              <a:rPr/>
              <a:t>). Crop biển xe máy có AR ≈ </a:t>
            </a:r>
            <a:r>
              <a:rPr b="1"/>
              <a:t>1,36</a:t>
            </a:r>
            <a:r>
              <a:rPr/>
              <a:t> ⇒ ép về cao 48 px thì </a:t>
            </a:r>
            <a:r>
              <a:rPr b="1"/>
              <a:t>mỗi dòng chỉ còn ~24 px</a:t>
            </a:r>
            <a:r>
              <a:rPr/>
              <a:t> — mức ký tự bắt đầu mất chi tiết</a:t>
            </a:r>
          </a:p>
          <a:p>
            <a:pPr lvl="0" indent="0" marL="0">
              <a:buNone/>
            </a:pPr>
            <a:r>
              <a:rPr b="1"/>
              <a:t>Giải pháp — split-then-hstack:</a:t>
            </a:r>
          </a:p>
          <a:p>
            <a:pPr lvl="0" indent="0">
              <a:buNone/>
            </a:pPr>
            <a:r>
              <a:rPr>
                <a:latin typeface="Courier"/>
              </a:rPr>
              <a:t>[ 59-H1 ]          RECTIFY (bắt buộc trước)
[ 234.56 ]   ───▶  tách trên/dưới (chồng lấn nhẹ)
  AR 1,36          resize 2 nửa về cùng chiều cao
                   ghép NGANG  ─▶  [ 59-H1 | 234.56 ]  ─▶ OCR gọi 1 LẦN
                                        AR ~5,4</a:t>
            </a:r>
          </a:p>
          <a:p>
            <a:pPr lvl="0"/>
            <a:r>
              <a:rPr/>
              <a:t>Mỗi dòng được dùng </a:t>
            </a:r>
            <a:r>
              <a:rPr b="1"/>
              <a:t>trọn 48 px</a:t>
            </a:r>
            <a:r>
              <a:rPr/>
              <a:t> chiều cao thay vì 24 px</a:t>
            </a:r>
          </a:p>
          <a:p>
            <a:pPr lvl="0"/>
            <a:r>
              <a:rPr/>
              <a:t>Chuỗi trở lại </a:t>
            </a:r>
            <a:r>
              <a:rPr b="1"/>
              <a:t>đơn điệu một chiều</a:t>
            </a:r>
            <a:r>
              <a:rPr/>
              <a:t> — đúng giả định CRNN</a:t>
            </a:r>
          </a:p>
          <a:p>
            <a:pPr lvl="0"/>
            <a:r>
              <a:rPr/>
              <a:t>⚠️ </a:t>
            </a:r>
            <a:r>
              <a:rPr b="1"/>
              <a:t>Bắt buộc rectify trước khi tách</a:t>
            </a:r>
            <a:r>
              <a:rPr/>
              <a:t> — biển nghiêng thì đường cắt ngang sẽ cắt qua ký tự</a:t>
            </a:r>
          </a:p>
          <a:p>
            <a:pPr lvl="0" indent="0" marL="0">
              <a:buNone/>
            </a:pPr>
            <a:r>
              <a:rPr b="1"/>
              <a:t>Nhận biết 1 dòng / 2 dòng — 3 nguồn theo thứ tự ưu tiên:</a:t>
            </a:r>
            <a:r>
              <a:rPr/>
              <a:t> nhãn thật → tên lớp → suy đoán theo </a:t>
            </a:r>
            <a:r>
              <a:rPr b="1"/>
              <a:t>AR, ngưỡng 2,5</a:t>
            </a:r>
          </a:p>
          <a:p>
            <a:pPr lvl="0" indent="0" marL="0">
              <a:buNone/>
            </a:pPr>
            <a:r>
              <a:rPr/>
              <a:t>Ngưỡng 2,5 có </a:t>
            </a:r>
            <a:r>
              <a:rPr b="1"/>
              <a:t>hai</a:t>
            </a:r>
            <a:r>
              <a:rPr/>
              <a:t> căn cứ độc lập:</a:t>
            </a:r>
          </a:p>
          <a:p>
            <a:pPr lvl="0"/>
            <a:r>
              <a:rPr/>
              <a:t>Từ QCVN 08:2024: khoảng trống (2,000 ; 4,727)</a:t>
            </a:r>
          </a:p>
          <a:p>
            <a:pPr lvl="0"/>
            <a:r>
              <a:rPr b="1"/>
              <a:t>Từ dữ liệu:</a:t>
            </a:r>
            <a:r>
              <a:rPr/>
              <a:t> phân bố AR của 5.200 box </a:t>
            </a:r>
            <a:r>
              <a:rPr b="1"/>
              <a:t>lưỡng đỉnh rõ</a:t>
            </a:r>
            <a:r>
              <a:rPr/>
              <a:t>, vùng trũng ở 2,2–2,6 → ngưỡng 2,5 rơi đúng đáy</a:t>
            </a:r>
          </a:p>
          <a:p>
            <a:pPr lvl="0" indent="0" marL="0">
              <a:buNone/>
            </a:pPr>
            <a:r>
              <a:rPr b="1"/>
              <a:t>Và em đo được độ chính xác của chính heuristic đó</a:t>
            </a:r>
            <a:r>
              <a:rPr/>
              <a:t> (bộ dữ liệu có cả nhãn thật lẫn AR):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endParaRPr/>
                    </a:p>
                  </a:txBody>
                  <a:tcPr/>
                </a:tc>
                <a:tc>
                  <a:txBody>
                    <a:bodyPr/>
                    <a:lstStyle/>
                    <a:p>
                      <a:pPr lvl="0" indent="0" marL="0" algn="r">
                        <a:buNone/>
                      </a:pPr>
                      <a:r>
                        <a:rPr/>
                        <a:t>Đoán 1 dòng</a:t>
                      </a:r>
                    </a:p>
                  </a:txBody>
                  <a:tcPr/>
                </a:tc>
                <a:tc>
                  <a:txBody>
                    <a:bodyPr/>
                    <a:lstStyle/>
                    <a:p>
                      <a:pPr lvl="0" indent="0" marL="0" algn="r">
                        <a:buNone/>
                      </a:pPr>
                      <a:r>
                        <a:rPr/>
                        <a:t>Đoán 2 dòng</a:t>
                      </a:r>
                    </a:p>
                  </a:txBody>
                  <a:tcPr/>
                </a:tc>
              </a:tr>
              <a:tr h="0">
                <a:tc>
                  <a:txBody>
                    <a:bodyPr/>
                    <a:lstStyle/>
                    <a:p>
                      <a:pPr lvl="0" indent="0" marL="0">
                        <a:buNone/>
                      </a:pPr>
                      <a:r>
                        <a:rPr b="1"/>
                        <a:t>Thật 1 dòng</a:t>
                      </a:r>
                      <a:r>
                        <a:rPr/>
                        <a:t> (1.641)</a:t>
                      </a:r>
                    </a:p>
                  </a:txBody>
                </a:tc>
                <a:tc>
                  <a:txBody>
                    <a:bodyPr/>
                    <a:lstStyle/>
                    <a:p>
                      <a:pPr lvl="0" indent="0" marL="0" algn="r">
                        <a:buNone/>
                      </a:pPr>
                      <a:r>
                        <a:rPr/>
                        <a:t>1.509 ✓</a:t>
                      </a:r>
                    </a:p>
                  </a:txBody>
                </a:tc>
                <a:tc>
                  <a:txBody>
                    <a:bodyPr/>
                    <a:lstStyle/>
                    <a:p>
                      <a:pPr lvl="0" indent="0" marL="0" algn="r">
                        <a:buNone/>
                      </a:pPr>
                      <a:r>
                        <a:rPr/>
                        <a:t>132 ✗</a:t>
                      </a:r>
                    </a:p>
                  </a:txBody>
                </a:tc>
              </a:tr>
              <a:tr h="0">
                <a:tc>
                  <a:txBody>
                    <a:bodyPr/>
                    <a:lstStyle/>
                    <a:p>
                      <a:pPr lvl="0" indent="0" marL="0">
                        <a:buNone/>
                      </a:pPr>
                      <a:r>
                        <a:rPr b="1"/>
                        <a:t>Thật 2 dòng</a:t>
                      </a:r>
                      <a:r>
                        <a:rPr/>
                        <a:t> (3.559)</a:t>
                      </a:r>
                    </a:p>
                  </a:txBody>
                </a:tc>
                <a:tc>
                  <a:txBody>
                    <a:bodyPr/>
                    <a:lstStyle/>
                    <a:p>
                      <a:pPr lvl="0" indent="0" marL="0" algn="r">
                        <a:buNone/>
                      </a:pPr>
                      <a:r>
                        <a:rPr/>
                        <a:t>7 ✗</a:t>
                      </a:r>
                    </a:p>
                  </a:txBody>
                </a:tc>
                <a:tc>
                  <a:txBody>
                    <a:bodyPr/>
                    <a:lstStyle/>
                    <a:p>
                      <a:pPr lvl="0" indent="0" marL="0" algn="r">
                        <a:buNone/>
                      </a:pPr>
                      <a:r>
                        <a:rPr/>
                        <a:t>3.552 ✓</a:t>
                      </a:r>
                    </a:p>
                  </a:txBody>
                </a:tc>
              </a:tr>
            </a:tbl>
          </a:graphicData>
        </a:graphic>
      </p:graphicFrame>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r>
              <a:rPr b="1"/>
              <a:t>97,33%</a:t>
            </a:r>
            <a:r>
              <a:rPr/>
              <a:t> (5.061/5.200), lệch </a:t>
            </a:r>
            <a:r>
              <a:rPr b="1"/>
              <a:t>một chiều tỉ lệ 19:1</a:t>
            </a:r>
            <a:r>
              <a:rPr/>
              <a:t>. Nguyên nhân: box bao polygon luôn có đệm, biển dài mảnh thì đệm theo chiều cao chiếm tỉ lệ lớn hơn ⇒ AR bị kéo xuống.</a:t>
            </a:r>
          </a:p>
          <a:p>
            <a:pPr lvl="0"/>
            <a:r>
              <a:rPr/>
              <a:t>Cài đặt: </a:t>
            </a:r>
            <a:r>
              <a:rPr>
                <a:latin typeface="Courier"/>
              </a:rPr>
              <a:t>ai/inference/two_line.py</a:t>
            </a:r>
            <a:r>
              <a:rPr/>
              <a:t> · </a:t>
            </a:r>
            <a:r>
              <a:rPr b="1"/>
              <a:t>26 unit test</a:t>
            </a:r>
          </a:p>
          <a:p>
            <a:pPr lvl="0" indent="0" marL="0">
              <a:buNone/>
            </a:pPr>
            <a:r>
              <a:rPr b="1"/>
              <a:t>Hình / Bảng</a:t>
            </a:r>
          </a:p>
          <a:p>
            <a:pPr lvl="0"/>
            <a:r>
              <a:rPr/>
              <a:t>🔴 </a:t>
            </a:r>
            <a:r>
              <a:rPr b="1"/>
              <a:t>CẦN LÀM:</a:t>
            </a:r>
            <a:r>
              <a:rPr/>
              <a:t> ảnh minh hoạ 3 bước split-then-hstack trên một crop biển xe máy thật — ảnh gốc → 2 nửa → dải ghép ngang. Xuất từ ảnh trung gian của </a:t>
            </a:r>
            <a:r>
              <a:rPr>
                <a:latin typeface="Courier"/>
              </a:rPr>
              <a:t>two_line.py</a:t>
            </a:r>
            <a:r>
              <a:rPr/>
              <a:t>. </a:t>
            </a:r>
            <a:r>
              <a:rPr b="1"/>
              <a:t>Đây là hình quan trọng nhất của cả bộ slide.</a:t>
            </a:r>
          </a:p>
          <a:p>
            <a:pPr lvl="0"/>
            <a:r>
              <a:rPr/>
              <a:t>Biểu đồ phân bố AR (dùng lại từ S10), vẽ đường thẳng đứng tại 2,5 vào đúng đáy vùng trũng</a:t>
            </a:r>
          </a:p>
          <a:p>
            <a:pPr lvl="0"/>
            <a:r>
              <a:rPr/>
              <a:t>Ma trận nhầm lẫn 2×2 như trên</a:t>
            </a:r>
          </a:p>
          <a:p>
            <a:pPr lvl="0" indent="0" marL="0">
              <a:buNone/>
            </a:pPr>
            <a:r>
              <a:rPr b="1"/>
              <a:t>Speaker notes</a:t>
            </a:r>
            <a:r>
              <a:rPr/>
              <a:t> </a:t>
            </a:r>
            <a:r>
              <a:rPr i="1"/>
              <a:t>(70 s — slide dài nhất, có chủ đích)</a:t>
            </a:r>
          </a:p>
          <a:p>
            <a:pPr lvl="0" indent="0" marL="1270000">
              <a:buNone/>
            </a:pPr>
            <a:r>
              <a:rPr sz="2000"/>
              <a:t>Đây là phần kỹ thuật lõi của đồ án.</a:t>
            </a:r>
          </a:p>
          <a:p>
            <a:pPr lvl="0" indent="0" marL="1270000">
              <a:buNone/>
            </a:pPr>
            <a:r>
              <a:rPr sz="2000"/>
              <a:t>Trước hết, vì sao biển hai dòng khó. Nguyên nhân </a:t>
            </a:r>
            <a:r>
              <a:rPr sz="2000" b="1"/>
              <a:t>không phải</a:t>
            </a:r>
            <a:r>
              <a:rPr sz="2000"/>
              <a:t> model kém, mà là giới hạn kiến trúc. Kiến trúc CRNN với hàm mất mát CTC giả định rằng văn bản chạy đơn điệu trên </a:t>
            </a:r>
            <a:r>
              <a:rPr sz="2000" b="1"/>
              <a:t>một</a:t>
            </a:r>
            <a:r>
              <a:rPr sz="2000"/>
              <a:t> dòng — giả định đó nằm ngay trong hàm mất mát, nên không thể sửa bằng cách thêm dữ liệu.</a:t>
            </a:r>
          </a:p>
          <a:p>
            <a:pPr lvl="0" indent="0" marL="1270000">
              <a:buNone/>
            </a:pPr>
            <a:r>
              <a:rPr sz="2000"/>
              <a:t>Em có một bằng chứng cụ thể hơn trong chính PaddleOCR: module nhận dạng của nó resize mọi ảnh về chiều cao cố định 48 pixel. Mà crop biển xe máy có tỉ lệ khung hình khoảng 1,36 — gần vuông. Ép một ảnh gần vuông về cao 48 pixel thì mỗi dòng chỉ còn khoảng 24 pixel. Đó là mức ký tự bắt đầu mất chi tiết.</a:t>
            </a:r>
          </a:p>
          <a:p>
            <a:pPr lvl="0" indent="0" marL="1270000">
              <a:buNone/>
            </a:pPr>
            <a:r>
              <a:rPr sz="2000"/>
              <a:t>Giải pháp của em là split-then-hstack. Nắn thẳng biển trước, cắt thành nửa trên và nửa dưới có chồng lấn nhẹ, resize hai nửa về cùng chiều cao, rồi ghép </a:t>
            </a:r>
            <a:r>
              <a:rPr sz="2000" b="1"/>
              <a:t>ngang</a:t>
            </a:r>
            <a:r>
              <a:rPr sz="2000"/>
              <a:t> thành một dải dài, và gọi OCR đúng một lần. Việc này giải quyết cả hai vấn đề cùng lúc: mỗi dòng được dùng trọn 48 pixel thay vì 24, và chuỗi trở lại đơn điệu một chiều — đúng giả định mà CRNN cần. Nói ngắn gọn, em biến một bài toán mà kiến trúc không giải được thành một bài toán mà nó giải được.</a:t>
            </a:r>
          </a:p>
          <a:p>
            <a:pPr lvl="0" indent="0" marL="1270000">
              <a:buNone/>
            </a:pPr>
            <a:r>
              <a:rPr sz="2000"/>
              <a:t>Một lưu ý: bắt buộc nắn thẳng </a:t>
            </a:r>
            <a:r>
              <a:rPr sz="2000" b="1"/>
              <a:t>trước</a:t>
            </a:r>
            <a:r>
              <a:rPr sz="2000"/>
              <a:t> khi tách, vì nếu biển nghiêng thì đường cắt ngang sẽ cắt qua giữa ký tự.</a:t>
            </a:r>
          </a:p>
          <a:p>
            <a:pPr lvl="0" indent="0" marL="1270000">
              <a:buNone/>
            </a:pPr>
            <a:r>
              <a:rPr sz="2000"/>
              <a:t>Còn việc nhận biết một dòng hay hai dòng: ngưỡng tỉ lệ khung hình 2,5 có hai căn cứ độc lập — suy từ quy chuẩn QCVN, và được chính dữ liệu xác nhận: phân bố tỉ lệ khung hình của 5.200 hộp cho hai đỉnh rõ rệt với một vùng trũng ở khoảng 2,2 đến 2,6, và ngưỡng 2,5 rơi đúng đáy vùng trũng đó.</a:t>
            </a:r>
          </a:p>
          <a:p>
            <a:pPr lvl="0" indent="0" marL="1270000">
              <a:buNone/>
            </a:pPr>
            <a:r>
              <a:rPr sz="2000"/>
              <a:t>Và vì bộ dữ liệu này có cả nhãn số dòng thật lẫn tỉ lệ khung hình, em </a:t>
            </a:r>
            <a:r>
              <a:rPr sz="2000" b="1"/>
              <a:t>đo được</a:t>
            </a:r>
            <a:r>
              <a:rPr sz="2000"/>
              <a:t> độ chính xác của chính heuristic: 97,33%. Nhưng lỗi lệch một chiều theo tỉ lệ 19 trên 1 — 132 lỗi ở hướng biển một dòng bị đoán nhầm thành hai dòng, chỉ 7 lỗi ở hướng ngược lại. Nguyên nhân là hộp bao quanh polygon luôn có đệm, mà với biển dài mảnh thì phần đệm theo chiều cao chiếm tỉ lệ lớn hơn nhiều, kéo tỉ lệ khung hình xuống.</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S14 — Bộ luật hậu xử lý theo vị trí</a:t>
            </a:r>
          </a:p>
          <a:p>
            <a:pPr lvl="0" indent="0" marL="0">
              <a:buNone/>
            </a:pPr>
            <a:r>
              <a:rPr b="1"/>
              <a:t>Nội dung trên slide</a:t>
            </a:r>
          </a:p>
          <a:p>
            <a:pPr lvl="0" indent="0" marL="0">
              <a:buNone/>
            </a:pPr>
            <a:r>
              <a:rPr b="1"/>
              <a:t>Nguyên tắc:</a:t>
            </a:r>
            <a:r>
              <a:rPr/>
              <a:t> sửa lỗi theo </a:t>
            </a:r>
            <a:r>
              <a:rPr b="1"/>
              <a:t>VỊ TRÍ</a:t>
            </a:r>
            <a:r>
              <a:rPr/>
              <a:t>, không sửa lỗi toàn cục</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Vị trí trong chuỗi</a:t>
                      </a:r>
                    </a:p>
                  </a:txBody>
                  <a:tcPr/>
                </a:tc>
                <a:tc>
                  <a:txBody>
                    <a:bodyPr/>
                    <a:lstStyle/>
                    <a:p>
                      <a:pPr lvl="0" indent="0" marL="0">
                        <a:buNone/>
                      </a:pPr>
                      <a:r>
                        <a:rPr/>
                        <a:t>Ràng buộc</a:t>
                      </a:r>
                    </a:p>
                  </a:txBody>
                  <a:tcPr/>
                </a:tc>
                <a:tc>
                  <a:txBody>
                    <a:bodyPr/>
                    <a:lstStyle/>
                    <a:p>
                      <a:pPr lvl="0" indent="0" marL="0">
                        <a:buNone/>
                      </a:pPr>
                      <a:r>
                        <a:rPr/>
                        <a:t>Luật sửa</a:t>
                      </a:r>
                    </a:p>
                  </a:txBody>
                  <a:tcPr/>
                </a:tc>
              </a:tr>
              <a:tr h="0">
                <a:tc>
                  <a:txBody>
                    <a:bodyPr/>
                    <a:lstStyle/>
                    <a:p>
                      <a:pPr lvl="0" indent="0" marL="0">
                        <a:buNone/>
                      </a:pPr>
                      <a:r>
                        <a:rPr/>
                        <a:t>2 ký tự đầu — mã tỉnh</a:t>
                      </a:r>
                    </a:p>
                  </a:txBody>
                </a:tc>
                <a:tc>
                  <a:txBody>
                    <a:bodyPr/>
                    <a:lstStyle/>
                    <a:p>
                      <a:pPr lvl="0" indent="0" marL="0">
                        <a:buNone/>
                      </a:pPr>
                      <a:r>
                        <a:rPr/>
                        <a:t>Phải là </a:t>
                      </a:r>
                      <a:r>
                        <a:rPr b="1"/>
                        <a:t>chữ số</a:t>
                      </a:r>
                      <a:r>
                        <a:rPr/>
                        <a:t>, thuộc </a:t>
                      </a:r>
                      <a:r>
                        <a:rPr b="1"/>
                        <a:t>81 mã hợp lệ</a:t>
                      </a:r>
                    </a:p>
                  </a:txBody>
                </a:tc>
                <a:tc>
                  <a:txBody>
                    <a:bodyPr/>
                    <a:lstStyle/>
                    <a:p>
                      <a:pPr lvl="0" indent="0" marL="0">
                        <a:buNone/>
                      </a:pPr>
                      <a:r>
                        <a:rPr/>
                        <a:t>ép </a:t>
                      </a:r>
                      <a:r>
                        <a:rPr>
                          <a:latin typeface="Courier"/>
                        </a:rPr>
                        <a:t>O → 0</a:t>
                      </a:r>
                      <a:r>
                        <a:rPr/>
                        <a:t>, </a:t>
                      </a:r>
                      <a:r>
                        <a:rPr>
                          <a:latin typeface="Courier"/>
                        </a:rPr>
                        <a:t>I → 1</a:t>
                      </a:r>
                      <a:r>
                        <a:rPr/>
                        <a:t>, </a:t>
                      </a:r>
                      <a:r>
                        <a:rPr>
                          <a:latin typeface="Courier"/>
                        </a:rPr>
                        <a:t>S → 5</a:t>
                      </a:r>
                    </a:p>
                  </a:txBody>
                </a:tc>
              </a:tr>
              <a:tr h="0">
                <a:tc>
                  <a:txBody>
                    <a:bodyPr/>
                    <a:lstStyle/>
                    <a:p>
                      <a:pPr lvl="0" indent="0" marL="0">
                        <a:buNone/>
                      </a:pPr>
                      <a:r>
                        <a:rPr/>
                        <a:t>Vị trí seri</a:t>
                      </a:r>
                    </a:p>
                  </a:txBody>
                </a:tc>
                <a:tc>
                  <a:txBody>
                    <a:bodyPr/>
                    <a:lstStyle/>
                    <a:p>
                      <a:pPr lvl="0" indent="0" marL="0">
                        <a:buNone/>
                      </a:pPr>
                      <a:r>
                        <a:rPr/>
                        <a:t>Phải là </a:t>
                      </a:r>
                      <a:r>
                        <a:rPr b="1"/>
                        <a:t>chữ cái</a:t>
                      </a:r>
                    </a:p>
                  </a:txBody>
                </a:tc>
                <a:tc>
                  <a:txBody>
                    <a:bodyPr/>
                    <a:lstStyle/>
                    <a:p>
                      <a:pPr lvl="0" indent="0" marL="0">
                        <a:buNone/>
                      </a:pPr>
                      <a:r>
                        <a:rPr/>
                        <a:t>ép </a:t>
                      </a:r>
                      <a:r>
                        <a:rPr>
                          <a:latin typeface="Courier"/>
                        </a:rPr>
                        <a:t>0 → O</a:t>
                      </a:r>
                      <a:r>
                        <a:rPr/>
                        <a:t>, </a:t>
                      </a:r>
                      <a:r>
                        <a:rPr>
                          <a:latin typeface="Courier"/>
                        </a:rPr>
                        <a:t>1 → I</a:t>
                      </a:r>
                      <a:r>
                        <a:rPr/>
                        <a:t>, </a:t>
                      </a:r>
                      <a:r>
                        <a:rPr>
                          <a:latin typeface="Courier"/>
                        </a:rPr>
                        <a:t>5 → S</a:t>
                      </a:r>
                    </a:p>
                  </a:txBody>
                </a:tc>
              </a:tr>
              <a:tr h="0">
                <a:tc>
                  <a:txBody>
                    <a:bodyPr/>
                    <a:lstStyle/>
                    <a:p>
                      <a:pPr lvl="0" indent="0" marL="0">
                        <a:buNone/>
                      </a:pPr>
                      <a:r>
                        <a:rPr/>
                        <a:t>Phần số đăng ký</a:t>
                      </a:r>
                    </a:p>
                  </a:txBody>
                </a:tc>
                <a:tc>
                  <a:txBody>
                    <a:bodyPr/>
                    <a:lstStyle/>
                    <a:p>
                      <a:pPr lvl="0" indent="0" marL="0">
                        <a:buNone/>
                      </a:pPr>
                      <a:r>
                        <a:rPr/>
                        <a:t>Phải là </a:t>
                      </a:r>
                      <a:r>
                        <a:rPr b="1"/>
                        <a:t>chữ số</a:t>
                      </a:r>
                    </a:p>
                  </a:txBody>
                </a:tc>
                <a:tc>
                  <a:txBody>
                    <a:bodyPr/>
                    <a:lstStyle/>
                    <a:p>
                      <a:pPr lvl="0" indent="0" marL="0">
                        <a:buNone/>
                      </a:pPr>
                      <a:r>
                        <a:rPr/>
                        <a:t>ép về chữ số</a:t>
                      </a:r>
                    </a:p>
                  </a:txBody>
                </a:tc>
              </a:tr>
              <a:tr h="0">
                <a:tc>
                  <a:txBody>
                    <a:bodyPr/>
                    <a:lstStyle/>
                    <a:p>
                      <a:pPr lvl="0" indent="0" marL="0">
                        <a:buNone/>
                      </a:pPr>
                      <a:r>
                        <a:rPr b="1"/>
                        <a:t>Vùng cấm sửa</a:t>
                      </a:r>
                    </a:p>
                  </a:txBody>
                </a:tc>
                <a:tc>
                  <a:txBody>
                    <a:bodyPr/>
                    <a:lstStyle/>
                    <a:p>
                      <a:pPr lvl="0" indent="0" marL="0">
                        <a:buNone/>
                      </a:pPr>
                      <a:r>
                        <a:rPr/>
                        <a:t>Nơi cả chữ và số đều hợp lệ</a:t>
                      </a:r>
                    </a:p>
                  </a:txBody>
                </a:tc>
                <a:tc>
                  <a:txBody>
                    <a:bodyPr/>
                    <a:lstStyle/>
                    <a:p>
                      <a:pPr lvl="0" indent="0" marL="0">
                        <a:buNone/>
                      </a:pPr>
                      <a:r>
                        <a:rPr b="1"/>
                        <a:t>tuyệt đối không đụng vào</a:t>
                      </a:r>
                    </a:p>
                  </a:txBody>
                </a:tc>
              </a:tr>
            </a:tbl>
          </a:graphicData>
        </a:graphic>
      </p:graphicFrame>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Một bảng thay thế </a:t>
            </a:r>
            <a:r>
              <a:rPr b="1"/>
              <a:t>toàn cục</a:t>
            </a:r>
            <a:r>
              <a:rPr/>
              <a:t> sẽ làm hỏng một trong hai vị trí — cùng ký tự </a:t>
            </a:r>
            <a:r>
              <a:rPr>
                <a:latin typeface="Courier"/>
              </a:rPr>
              <a:t>O</a:t>
            </a:r>
            <a:r>
              <a:rPr/>
              <a:t>/</a:t>
            </a:r>
            <a:r>
              <a:rPr>
                <a:latin typeface="Courier"/>
              </a:rPr>
              <a:t>0</a:t>
            </a:r>
            <a:r>
              <a:rPr/>
              <a:t> cần luật </a:t>
            </a:r>
            <a:r>
              <a:rPr b="1"/>
              <a:t>ngược nhau</a:t>
            </a:r>
            <a:r>
              <a:rPr/>
              <a:t> ở hai chỗ</a:t>
            </a:r>
          </a:p>
          <a:p>
            <a:pPr lvl="0" indent="0" marL="0">
              <a:buNone/>
            </a:pPr>
            <a:r>
              <a:rPr b="1"/>
              <a:t>Charset OCR: đủ 36 ký tự A–Z + 0–9 — và đây là một quyết định có lý do</a:t>
            </a:r>
          </a:p>
          <a:p>
            <a:pPr lvl="0" indent="0" marL="1270000">
              <a:buNone/>
            </a:pPr>
            <a:r>
              <a:rPr sz="2000"/>
              <a:t>❌ Mệnh đề phổ biến: </a:t>
            </a:r>
            <a:r>
              <a:rPr sz="2000" i="1"/>
              <a:t>"biển số VN chỉ dùng 20 chữ cái, 6 chữ I J O Q R W không bao giờ xuất hiện"</a:t>
            </a:r>
            <a:r>
              <a:rPr sz="2000"/>
              <a:t> — </a:t>
            </a:r>
            <a:r>
              <a:rPr sz="2000" b="1"/>
              <a:t>SAI</a:t>
            </a:r>
            <a:r>
              <a:rPr sz="2000"/>
              <a:t> Chữ </a:t>
            </a:r>
            <a:r>
              <a:rPr sz="2000" b="1"/>
              <a:t>R hợp lệ</a:t>
            </a:r>
            <a:r>
              <a:rPr sz="2000"/>
              <a:t> ở vị trí chữ cái thứ hai của seri xe máy. Tập loại trừ đúng chỉ gồm </a:t>
            </a:r>
            <a:r>
              <a:rPr sz="2000" b="1"/>
              <a:t>5 chữ: I J O Q W</a:t>
            </a:r>
            <a:r>
              <a:rPr sz="2000"/>
              <a:t>. </a:t>
            </a:r>
            <a:r>
              <a:rPr sz="2000" b="1"/>
              <a:t>Hậu quả nếu tin nhầm:</a:t>
            </a:r>
            <a:r>
              <a:rPr sz="2000"/>
              <a:t> charset 20 chữ ⇒ mô hình </a:t>
            </a:r>
            <a:r>
              <a:rPr sz="2000" b="1"/>
              <a:t>không bao giờ đoán được R</a:t>
            </a:r>
            <a:r>
              <a:rPr sz="2000"/>
              <a:t> ⇒ sai hệ thống trên cả một lớp biển xe máy — và </a:t>
            </a:r>
            <a:r>
              <a:rPr sz="2000" b="1"/>
              <a:t>hậu xử lý KHÔNG cứu được</a:t>
            </a:r>
            <a:r>
              <a:rPr sz="2000"/>
              <a:t>, vì thông tin đã mất ngay ở tầng mô hình.</a:t>
            </a:r>
          </a:p>
          <a:p>
            <a:pPr lvl="0"/>
            <a:r>
              <a:rPr/>
              <a:t>Ràng buộc hợp lệ đặt ở </a:t>
            </a:r>
            <a:r>
              <a:rPr b="1"/>
              <a:t>tầng hậu xử lý</a:t>
            </a:r>
            <a:r>
              <a:rPr/>
              <a:t> — nơi sửa được và ghi log được, không đặt ở tầng mô hình</a:t>
            </a:r>
          </a:p>
          <a:p>
            <a:pPr lvl="0"/>
            <a:r>
              <a:rPr/>
              <a:t>Cài đặt: </a:t>
            </a:r>
            <a:r>
              <a:rPr>
                <a:latin typeface="Courier"/>
              </a:rPr>
              <a:t>ai/inference/plate_rules.py</a:t>
            </a:r>
            <a:r>
              <a:rPr/>
              <a:t> + </a:t>
            </a:r>
            <a:r>
              <a:rPr>
                <a:latin typeface="Courier"/>
              </a:rPr>
              <a:t>normalizer.py</a:t>
            </a:r>
            <a:r>
              <a:rPr/>
              <a:t> · </a:t>
            </a:r>
            <a:r>
              <a:rPr b="1"/>
              <a:t>29 unit test</a:t>
            </a:r>
          </a:p>
          <a:p>
            <a:pPr lvl="0" indent="0" marL="0">
              <a:buNone/>
            </a:pPr>
            <a:r>
              <a:rPr b="1"/>
              <a:t>Hình / Bảng</a:t>
            </a:r>
          </a:p>
          <a:p>
            <a:pPr lvl="0"/>
            <a:r>
              <a:rPr/>
              <a:t>Sơ đồ một chuỗi biển số mẫu </a:t>
            </a:r>
            <a:r>
              <a:rPr>
                <a:latin typeface="Courier"/>
              </a:rPr>
              <a:t>59-H1 234.56</a:t>
            </a:r>
            <a:r>
              <a:rPr/>
              <a:t>, mỗi vị trí tô màu theo loại ràng buộc (số / chữ / cấm sửa)</a:t>
            </a:r>
          </a:p>
          <a:p>
            <a:pPr lvl="0"/>
            <a:r>
              <a:rPr/>
              <a:t>Hộp cảnh báo về chữ </a:t>
            </a:r>
            <a:r>
              <a:rPr>
                <a:latin typeface="Courier"/>
              </a:rPr>
              <a:t>R</a:t>
            </a:r>
            <a:r>
              <a:rPr/>
              <a:t>, làm nổi bật</a:t>
            </a:r>
          </a:p>
          <a:p>
            <a:pPr lvl="0" indent="0" marL="0">
              <a:buNone/>
            </a:pPr>
            <a:r>
              <a:rPr b="1"/>
              <a:t>Speaker notes</a:t>
            </a:r>
            <a:r>
              <a:rPr/>
              <a:t> </a:t>
            </a:r>
            <a:r>
              <a:rPr i="1"/>
              <a:t>(55 s)</a:t>
            </a:r>
          </a:p>
          <a:p>
            <a:pPr lvl="0" indent="0" marL="1270000">
              <a:buNone/>
            </a:pPr>
            <a:r>
              <a:rPr sz="2000"/>
              <a:t>Khối hậu xử lý xây theo một nguyên tắc: sửa lỗi theo </a:t>
            </a:r>
            <a:r>
              <a:rPr sz="2000" b="1"/>
              <a:t>vị trí</a:t>
            </a:r>
            <a:r>
              <a:rPr sz="2000"/>
              <a:t>, không sửa toàn cục. Ví dụ rõ nhất là cặp chữ O và số 0. Ở hai ký tự đầu — mã tỉnh — bắt buộc là chữ số, nên gặp chữ O phải ép về số 0. Nhưng ở vị trí seri thì bắt buộc là chữ cái, nên gặp số 0 phải ép ngược lại thành chữ O. Cùng một cặp ký tự, luật ngược nhau. Một bảng thay thế toàn cục chắc chắn làm hỏng một trong hai chỗ. Ngoài ra em có vùng cấm sửa tường minh: chỗ nào cả chữ và số đều hợp lệ thì tuyệt đối không đụng vào, vì sửa liều ở đó tạo lỗi mới thay vì sửa lỗi cũ.</a:t>
            </a:r>
          </a:p>
          <a:p>
            <a:pPr lvl="0" indent="0" marL="1270000">
              <a:buNone/>
            </a:pPr>
            <a:r>
              <a:rPr sz="2000"/>
              <a:t>Phần thứ hai em muốn nêu là charset. Có một mệnh đề rất phổ biến rằng biển số Việt Nam chỉ dùng 20 chữ cái và sáu chữ I, J, O, Q, R, W không bao giờ xuất hiện. Con số 6 đó là suy diễn số học 26 trừ 20, và nó </a:t>
            </a:r>
            <a:r>
              <a:rPr sz="2000" b="1"/>
              <a:t>sai</a:t>
            </a:r>
            <a:r>
              <a:rPr sz="2000"/>
              <a:t>. Khi em đối chiếu danh sách chữ cái ở </a:t>
            </a:r>
            <a:r>
              <a:rPr sz="2000" b="1"/>
              <a:t>vị trí thứ hai</a:t>
            </a:r>
            <a:r>
              <a:rPr sz="2000"/>
              <a:t> của seri xe mô tô thì thấy có chữ R. Tập loại trừ chắc chắn chỉ gồm 5 chữ.</a:t>
            </a:r>
          </a:p>
          <a:p>
            <a:pPr lvl="0" indent="0" marL="1270000">
              <a:buNone/>
            </a:pPr>
            <a:r>
              <a:rPr sz="2000"/>
              <a:t>Hậu quả nếu tin nhầm rất nặng: xây charset OCR 20 chữ thì mô hình </a:t>
            </a:r>
            <a:r>
              <a:rPr sz="2000" b="1"/>
              <a:t>không bao giờ</a:t>
            </a:r>
            <a:r>
              <a:rPr sz="2000"/>
              <a:t> dự đoán được ký tự R, tức là sai hệ thống trên cả một lớp biển xe máy. Và đây là loại lỗi hậu xử lý không cứu được, vì thông tin đã mất ngay ở tầng mô hình. Vì vậy em dùng đủ 36 ký tự ở tầng mô hình, và đặt ràng buộc hợp lệ ở tầng hậu xử lý — nơi sửa được và ghi log được.</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S15 — Đo định lượng đóng góp của hậu xử lý ✅ ĐÃ CÓ SỐ (OCR KHÔNG ĐẠT — trình bày trung thực)</a:t>
            </a:r>
          </a:p>
          <a:p>
            <a:pPr lvl="0" indent="0" marL="1270000">
              <a:buNone/>
            </a:pPr>
            <a:r>
              <a:rPr sz="2000" b="1"/>
              <a:t>Đã đo trên 2.801 biển có nhãn chuỗi. A4/A5/A6/A7 không đạt — kết quả thật.</a:t>
            </a:r>
          </a:p>
          <a:p>
            <a:pPr lvl="0" indent="0" marL="0">
              <a:buNone/>
            </a:pPr>
            <a:r>
              <a:rPr b="1"/>
              <a:t>Nội dung trên slide</a:t>
            </a:r>
          </a:p>
          <a:p>
            <a:pPr lvl="0" indent="0" marL="0">
              <a:buNone/>
            </a:pPr>
            <a:r>
              <a:rPr b="1"/>
              <a:t>Thiết kế phép đo — đây là đóng góp học thuật, không phải một khẳng định:</a:t>
            </a:r>
          </a:p>
          <a:p>
            <a:pPr lvl="0" indent="0" marL="0">
              <a:buNone/>
            </a:pPr>
            <a:r>
              <a:rPr/>
              <a:t>Cơ sở dữ liệu lưu </a:t>
            </a:r>
            <a:r>
              <a:rPr b="1"/>
              <a:t>cả hai</a:t>
            </a:r>
            <a:r>
              <a:rPr/>
              <a:t> chuỗi trên </a:t>
            </a:r>
            <a:r>
              <a:rPr b="1"/>
              <a:t>cùng một bản ghi</a:t>
            </a:r>
            <a:r>
              <a:rPr/>
              <a: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Cột</a:t>
                      </a:r>
                    </a:p>
                  </a:txBody>
                  <a:tcPr/>
                </a:tc>
                <a:tc>
                  <a:txBody>
                    <a:bodyPr/>
                    <a:lstStyle/>
                    <a:p>
                      <a:pPr lvl="0" indent="0" marL="0">
                        <a:buNone/>
                      </a:pPr>
                      <a:r>
                        <a:rPr/>
                        <a:t>Nội dung</a:t>
                      </a:r>
                    </a:p>
                  </a:txBody>
                  <a:tcPr/>
                </a:tc>
              </a:tr>
              <a:tr h="0">
                <a:tc>
                  <a:txBody>
                    <a:bodyPr/>
                    <a:lstStyle/>
                    <a:p>
                      <a:pPr lvl="0" indent="0" marL="0">
                        <a:buNone/>
                      </a:pPr>
                      <a:r>
                        <a:rPr>
                          <a:latin typeface="Courier"/>
                        </a:rPr>
                        <a:t>raw_ocr_text</a:t>
                      </a:r>
                    </a:p>
                  </a:txBody>
                </a:tc>
                <a:tc>
                  <a:txBody>
                    <a:bodyPr/>
                    <a:lstStyle/>
                    <a:p>
                      <a:pPr lvl="0" indent="0" marL="0">
                        <a:buNone/>
                      </a:pPr>
                      <a:r>
                        <a:rPr/>
                        <a:t>Chuỗi OCR </a:t>
                      </a:r>
                      <a:r>
                        <a:rPr b="1"/>
                        <a:t>thô</a:t>
                      </a:r>
                      <a:r>
                        <a:rPr/>
                        <a:t>, trước khi sửa regex</a:t>
                      </a:r>
                    </a:p>
                  </a:txBody>
                </a:tc>
              </a:tr>
              <a:tr h="0">
                <a:tc>
                  <a:txBody>
                    <a:bodyPr/>
                    <a:lstStyle/>
                    <a:p>
                      <a:pPr lvl="0" indent="0" marL="0">
                        <a:buNone/>
                      </a:pPr>
                      <a:r>
                        <a:rPr>
                          <a:latin typeface="Courier"/>
                        </a:rPr>
                        <a:t>plate_number</a:t>
                      </a:r>
                    </a:p>
                  </a:txBody>
                </a:tc>
                <a:tc>
                  <a:txBody>
                    <a:bodyPr/>
                    <a:lstStyle/>
                    <a:p>
                      <a:pPr lvl="0" indent="0" marL="0">
                        <a:buNone/>
                      </a:pPr>
                      <a:r>
                        <a:rPr/>
                        <a:t>Chuỗi </a:t>
                      </a:r>
                      <a:r>
                        <a:rPr b="1"/>
                        <a:t>sau</a:t>
                      </a:r>
                      <a:r>
                        <a:rPr/>
                        <a:t> chuẩn hoá</a:t>
                      </a:r>
                    </a:p>
                  </a:txBody>
                </a:tc>
              </a:tr>
            </a:tbl>
          </a:graphicData>
        </a:graphic>
      </p:graphicFrame>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 Chạy trên tập test có nhãn chuỗi, tính exact-match trên </a:t>
            </a:r>
            <a:r>
              <a:rPr b="1"/>
              <a:t>cả hai cột</a:t>
            </a:r>
            <a:r>
              <a:rPr/>
              <a:t> → </a:t>
            </a:r>
            <a:r>
              <a:rPr b="1"/>
              <a:t>Hiệu số chính là đóng góp định lượng của khối hậu xử lý</a:t>
            </a:r>
          </a:p>
          <a:p>
            <a:pPr lvl="0" indent="0" marL="0">
              <a:buNone/>
            </a:pPr>
            <a:r>
              <a:rPr b="1"/>
              <a:t>Bảng công bố — ĐÃ ĐO (2.801 biển có nhãn chuỗi):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Chỉ tiêu</a:t>
                      </a:r>
                    </a:p>
                  </a:txBody>
                  <a:tcPr/>
                </a:tc>
                <a:tc>
                  <a:txBody>
                    <a:bodyPr/>
                    <a:lstStyle/>
                    <a:p>
                      <a:pPr lvl="0" indent="0" marL="0" algn="ctr">
                        <a:buNone/>
                      </a:pPr>
                      <a:r>
                        <a:rPr/>
                        <a:t>Đo được</a:t>
                      </a:r>
                    </a:p>
                  </a:txBody>
                  <a:tcPr/>
                </a:tc>
                <a:tc>
                  <a:txBody>
                    <a:bodyPr/>
                    <a:lstStyle/>
                    <a:p>
                      <a:pPr lvl="0" indent="0" marL="0" algn="ctr">
                        <a:buNone/>
                      </a:pPr>
                      <a:r>
                        <a:rPr/>
                        <a:t>Mục tiêu</a:t>
                      </a:r>
                    </a:p>
                  </a:txBody>
                  <a:tcPr/>
                </a:tc>
                <a:tc>
                  <a:txBody>
                    <a:bodyPr/>
                    <a:lstStyle/>
                    <a:p>
                      <a:pPr lvl="0" indent="0" marL="0" algn="ctr">
                        <a:buNone/>
                      </a:pPr>
                      <a:r>
                        <a:rPr/>
                        <a:t>Ngưỡng tối thiểu</a:t>
                      </a:r>
                    </a:p>
                  </a:txBody>
                  <a:tcPr/>
                </a:tc>
                <a:tc>
                  <a:txBody>
                    <a:bodyPr/>
                    <a:lstStyle/>
                    <a:p>
                      <a:pPr lvl="0" indent="0" marL="0" algn="ctr">
                        <a:buNone/>
                      </a:pPr>
                      <a:r>
                        <a:rPr/>
                        <a:t>Đạt?</a:t>
                      </a:r>
                    </a:p>
                  </a:txBody>
                  <a:tcPr/>
                </a:tc>
              </a:tr>
              <a:tr h="0">
                <a:tc>
                  <a:txBody>
                    <a:bodyPr/>
                    <a:lstStyle/>
                    <a:p>
                      <a:pPr lvl="0" indent="0" marL="0">
                        <a:buNone/>
                      </a:pPr>
                      <a:r>
                        <a:rPr/>
                        <a:t>NFR-A4 — chính xác mức ký tự (1 − CER)</a:t>
                      </a:r>
                    </a:p>
                  </a:txBody>
                </a:tc>
                <a:tc>
                  <a:txBody>
                    <a:bodyPr/>
                    <a:lstStyle/>
                    <a:p>
                      <a:pPr lvl="0" indent="0" marL="0" algn="ctr">
                        <a:buNone/>
                      </a:pPr>
                      <a:r>
                        <a:rPr b="1"/>
                        <a:t>0,8734</a:t>
                      </a:r>
                    </a:p>
                  </a:txBody>
                </a:tc>
                <a:tc>
                  <a:txBody>
                    <a:bodyPr/>
                    <a:lstStyle/>
                    <a:p>
                      <a:pPr lvl="0" indent="0" marL="0" algn="ctr">
                        <a:buNone/>
                      </a:pPr>
                      <a:r>
                        <a:rPr/>
                        <a:t>≥ 0,95</a:t>
                      </a:r>
                    </a:p>
                  </a:txBody>
                </a:tc>
                <a:tc>
                  <a:txBody>
                    <a:bodyPr/>
                    <a:lstStyle/>
                    <a:p>
                      <a:pPr lvl="0" indent="0" marL="0" algn="ctr">
                        <a:buNone/>
                      </a:pPr>
                      <a:r>
                        <a:rPr/>
                        <a:t>≥ 0,92</a:t>
                      </a:r>
                    </a:p>
                  </a:txBody>
                </a:tc>
                <a:tc>
                  <a:txBody>
                    <a:bodyPr/>
                    <a:lstStyle/>
                    <a:p>
                      <a:pPr lvl="0" indent="0" marL="0" algn="ctr">
                        <a:buNone/>
                      </a:pPr>
                      <a:r>
                        <a:rPr/>
                        <a:t>❌</a:t>
                      </a:r>
                    </a:p>
                  </a:txBody>
                </a:tc>
              </a:tr>
              <a:tr h="0">
                <a:tc>
                  <a:txBody>
                    <a:bodyPr/>
                    <a:lstStyle/>
                    <a:p>
                      <a:pPr lvl="0" indent="0" marL="0">
                        <a:buNone/>
                      </a:pPr>
                      <a:r>
                        <a:rPr/>
                        <a:t>NFR-A5 — exact-match </a:t>
                      </a:r>
                      <a:r>
                        <a:rPr b="1"/>
                        <a:t>trước</a:t>
                      </a:r>
                      <a:r>
                        <a:rPr/>
                        <a:t> hậu xử lý</a:t>
                      </a:r>
                    </a:p>
                  </a:txBody>
                </a:tc>
                <a:tc>
                  <a:txBody>
                    <a:bodyPr/>
                    <a:lstStyle/>
                    <a:p>
                      <a:pPr lvl="0" indent="0" marL="0" algn="ctr">
                        <a:buNone/>
                      </a:pPr>
                      <a:r>
                        <a:rPr b="1"/>
                        <a:t>0,6098</a:t>
                      </a:r>
                    </a:p>
                  </a:txBody>
                </a:tc>
                <a:tc>
                  <a:txBody>
                    <a:bodyPr/>
                    <a:lstStyle/>
                    <a:p>
                      <a:pPr lvl="0" indent="0" marL="0" algn="ctr">
                        <a:buNone/>
                      </a:pPr>
                      <a:r>
                        <a:rPr/>
                        <a:t>≥ 0,85</a:t>
                      </a:r>
                    </a:p>
                  </a:txBody>
                </a:tc>
                <a:tc>
                  <a:txBody>
                    <a:bodyPr/>
                    <a:lstStyle/>
                    <a:p>
                      <a:pPr lvl="0" indent="0" marL="0" algn="ctr">
                        <a:buNone/>
                      </a:pPr>
                      <a:r>
                        <a:rPr/>
                        <a:t>≥ 0,80</a:t>
                      </a:r>
                    </a:p>
                  </a:txBody>
                </a:tc>
                <a:tc>
                  <a:txBody>
                    <a:bodyPr/>
                    <a:lstStyle/>
                    <a:p>
                      <a:pPr lvl="0" indent="0" marL="0" algn="ctr">
                        <a:buNone/>
                      </a:pPr>
                      <a:r>
                        <a:rPr/>
                        <a:t>❌</a:t>
                      </a:r>
                    </a:p>
                  </a:txBody>
                </a:tc>
              </a:tr>
              <a:tr h="0">
                <a:tc>
                  <a:txBody>
                    <a:bodyPr/>
                    <a:lstStyle/>
                    <a:p>
                      <a:pPr lvl="0" indent="0" marL="0">
                        <a:buNone/>
                      </a:pPr>
                      <a:r>
                        <a:rPr/>
                        <a:t>NFR-A6 — exact-match </a:t>
                      </a:r>
                      <a:r>
                        <a:rPr b="1"/>
                        <a:t>sau</a:t>
                      </a:r>
                      <a:r>
                        <a:rPr/>
                        <a:t> hậu xử lý</a:t>
                      </a:r>
                    </a:p>
                  </a:txBody>
                </a:tc>
                <a:tc>
                  <a:txBody>
                    <a:bodyPr/>
                    <a:lstStyle/>
                    <a:p>
                      <a:pPr lvl="0" indent="0" marL="0" algn="ctr">
                        <a:buNone/>
                      </a:pPr>
                      <a:r>
                        <a:rPr b="1"/>
                        <a:t>0,6555</a:t>
                      </a:r>
                    </a:p>
                  </a:txBody>
                </a:tc>
                <a:tc>
                  <a:txBody>
                    <a:bodyPr/>
                    <a:lstStyle/>
                    <a:p>
                      <a:pPr lvl="0" indent="0" marL="0" algn="ctr">
                        <a:buNone/>
                      </a:pPr>
                      <a:r>
                        <a:rPr/>
                        <a:t>≥ 0,90</a:t>
                      </a:r>
                    </a:p>
                  </a:txBody>
                </a:tc>
                <a:tc>
                  <a:txBody>
                    <a:bodyPr/>
                    <a:lstStyle/>
                    <a:p>
                      <a:pPr lvl="0" indent="0" marL="0" algn="ctr">
                        <a:buNone/>
                      </a:pPr>
                      <a:r>
                        <a:rPr/>
                        <a:t>≥ 0,85</a:t>
                      </a:r>
                    </a:p>
                  </a:txBody>
                </a:tc>
                <a:tc>
                  <a:txBody>
                    <a:bodyPr/>
                    <a:lstStyle/>
                    <a:p>
                      <a:pPr lvl="0" indent="0" marL="0" algn="ctr">
                        <a:buNone/>
                      </a:pPr>
                      <a:r>
                        <a:rPr/>
                        <a:t>❌</a:t>
                      </a:r>
                    </a:p>
                  </a:txBody>
                </a:tc>
              </a:tr>
              <a:tr h="0">
                <a:tc>
                  <a:txBody>
                    <a:bodyPr/>
                    <a:lstStyle/>
                    <a:p>
                      <a:pPr lvl="0" indent="0" marL="0">
                        <a:buNone/>
                      </a:pPr>
                      <a:r>
                        <a:rPr b="1"/>
                        <a:t>Hiệu số A6 − A5 = đóng góp hậu xử lý</a:t>
                      </a:r>
                    </a:p>
                  </a:txBody>
                </a:tc>
                <a:tc>
                  <a:txBody>
                    <a:bodyPr/>
                    <a:lstStyle/>
                    <a:p>
                      <a:pPr lvl="0" indent="0" marL="0" algn="ctr">
                        <a:buNone/>
                      </a:pPr>
                      <a:r>
                        <a:rPr b="1"/>
                        <a:t>+4,57 điểm</a:t>
                      </a:r>
                    </a:p>
                  </a:txBody>
                </a:tc>
                <a:tc>
                  <a:txBody>
                    <a:bodyPr/>
                    <a:lstStyle/>
                    <a:p>
                      <a:pPr lvl="0" indent="0" marL="0" algn="ctr">
                        <a:buNone/>
                      </a:pPr>
                      <a:r>
                        <a:rPr i="1"/>
                        <a:t>kỳ vọng ~5 điểm</a:t>
                      </a:r>
                    </a:p>
                  </a:txBody>
                </a:tc>
                <a:tc>
                  <a:txBody>
                    <a:bodyPr/>
                    <a:lstStyle/>
                    <a:p>
                      <a:endParaRPr/>
                    </a:p>
                  </a:txBody>
                </a:tc>
                <a:tc>
                  <a:txBody>
                    <a:bodyPr/>
                    <a:lstStyle/>
                    <a:p>
                      <a:pPr lvl="0" indent="0" marL="0" algn="ctr">
                        <a:buNone/>
                      </a:pPr>
                      <a:r>
                        <a:rPr/>
                        <a:t>—</a:t>
                      </a:r>
                    </a:p>
                  </a:txBody>
                </a:tc>
              </a:tr>
              <a:tr h="0">
                <a:tc>
                  <a:txBody>
                    <a:bodyPr/>
                    <a:lstStyle/>
                    <a:p>
                      <a:pPr lvl="0" indent="0" marL="0">
                        <a:buNone/>
                      </a:pPr>
                      <a:r>
                        <a:rPr/>
                        <a:t>NFR-A7 — chính xác E2E toàn trình</a:t>
                      </a:r>
                    </a:p>
                  </a:txBody>
                </a:tc>
                <a:tc>
                  <a:txBody>
                    <a:bodyPr/>
                    <a:lstStyle/>
                    <a:p>
                      <a:pPr lvl="0" indent="0" marL="0" algn="ctr">
                        <a:buNone/>
                      </a:pPr>
                      <a:r>
                        <a:rPr b="1"/>
                        <a:t>0,5227</a:t>
                      </a:r>
                    </a:p>
                  </a:txBody>
                </a:tc>
                <a:tc>
                  <a:txBody>
                    <a:bodyPr/>
                    <a:lstStyle/>
                    <a:p>
                      <a:pPr lvl="0" indent="0" marL="0" algn="ctr">
                        <a:buNone/>
                      </a:pPr>
                      <a:r>
                        <a:rPr/>
                        <a:t>≥ 0,88</a:t>
                      </a:r>
                    </a:p>
                  </a:txBody>
                </a:tc>
                <a:tc>
                  <a:txBody>
                    <a:bodyPr/>
                    <a:lstStyle/>
                    <a:p>
                      <a:pPr lvl="0" indent="0" marL="0" algn="ctr">
                        <a:buNone/>
                      </a:pPr>
                      <a:r>
                        <a:rPr/>
                        <a:t>≥ 0,82</a:t>
                      </a:r>
                    </a:p>
                  </a:txBody>
                </a:tc>
                <a:tc>
                  <a:txBody>
                    <a:bodyPr/>
                    <a:lstStyle/>
                    <a:p>
                      <a:pPr lvl="0" indent="0" marL="0" algn="ctr">
                        <a:buNone/>
                      </a:pPr>
                      <a:r>
                        <a:rPr/>
                        <a:t>❌</a:t>
                      </a:r>
                    </a:p>
                  </a:txBody>
                </a:tc>
              </a:tr>
            </a:tbl>
          </a:graphicData>
        </a:graphic>
      </p:graphicFrame>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Đóng góp hậu xử lý đo được: +4,57 điểm</a:t>
            </a:r>
            <a:r>
              <a:rPr/>
              <a:t> — </a:t>
            </a:r>
            <a:r>
              <a:rPr b="1"/>
              <a:t>128 biển được sửa đúng, 0 biển bị làm hỏng</a:t>
            </a:r>
            <a:r>
              <a:rPr/>
              <a:t> (loss-free ở mức chuỗi). Phép đo biến một khẳng định định tính thành con số.</a:t>
            </a:r>
          </a:p>
          <a:p>
            <a:pPr lvl="0" indent="0" marL="0">
              <a:buNone/>
            </a:pPr>
            <a:r>
              <a:rPr b="1"/>
              <a:t>Trình bày TRUNG THỰC — A4/A5/A6/A7 KHÔNG đạt, và toàn bộ khoảng cách nằm ở biển 2 dòng:</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endParaRPr/>
                    </a:p>
                  </a:txBody>
                  <a:tcPr/>
                </a:tc>
                <a:tc>
                  <a:txBody>
                    <a:bodyPr/>
                    <a:lstStyle/>
                    <a:p>
                      <a:pPr lvl="0" indent="0" marL="0" algn="ctr">
                        <a:buNone/>
                      </a:pPr>
                      <a:r>
                        <a:rPr/>
                        <a:t>Biển 1 dòng (567)</a:t>
                      </a:r>
                    </a:p>
                  </a:txBody>
                  <a:tcPr/>
                </a:tc>
                <a:tc>
                  <a:txBody>
                    <a:bodyPr/>
                    <a:lstStyle/>
                    <a:p>
                      <a:pPr lvl="0" indent="0" marL="0" algn="ctr">
                        <a:buNone/>
                      </a:pPr>
                      <a:r>
                        <a:rPr/>
                        <a:t>Biển 2 dòng (2.234)</a:t>
                      </a:r>
                    </a:p>
                  </a:txBody>
                  <a:tcPr/>
                </a:tc>
                <a:tc>
                  <a:txBody>
                    <a:bodyPr/>
                    <a:lstStyle/>
                    <a:p>
                      <a:pPr lvl="0" indent="0" marL="0" algn="ctr">
                        <a:buNone/>
                      </a:pPr>
                      <a:r>
                        <a:rPr/>
                        <a:t>Chênh</a:t>
                      </a:r>
                    </a:p>
                  </a:txBody>
                  <a:tcPr/>
                </a:tc>
              </a:tr>
              <a:tr h="0">
                <a:tc>
                  <a:txBody>
                    <a:bodyPr/>
                    <a:lstStyle/>
                    <a:p>
                      <a:pPr lvl="0" indent="0" marL="0">
                        <a:buNone/>
                      </a:pPr>
                      <a:r>
                        <a:rPr/>
                        <a:t>A4 (char)</a:t>
                      </a:r>
                    </a:p>
                  </a:txBody>
                </a:tc>
                <a:tc>
                  <a:txBody>
                    <a:bodyPr/>
                    <a:lstStyle/>
                    <a:p>
                      <a:pPr lvl="0" indent="0" marL="0" algn="ctr">
                        <a:buNone/>
                      </a:pPr>
                      <a:r>
                        <a:rPr b="1"/>
                        <a:t>0,990</a:t>
                      </a:r>
                      <a:r>
                        <a:rPr/>
                        <a:t> ✅</a:t>
                      </a:r>
                    </a:p>
                  </a:txBody>
                </a:tc>
                <a:tc>
                  <a:txBody>
                    <a:bodyPr/>
                    <a:lstStyle/>
                    <a:p>
                      <a:pPr lvl="0" indent="0" marL="0" algn="ctr">
                        <a:buNone/>
                      </a:pPr>
                      <a:r>
                        <a:rPr/>
                        <a:t>0,846</a:t>
                      </a:r>
                    </a:p>
                  </a:txBody>
                </a:tc>
                <a:tc>
                  <a:txBody>
                    <a:bodyPr/>
                    <a:lstStyle/>
                    <a:p>
                      <a:pPr lvl="0" indent="0" marL="0" algn="ctr">
                        <a:buNone/>
                      </a:pPr>
                      <a:r>
                        <a:rPr/>
                        <a:t>14,4 đ</a:t>
                      </a:r>
                    </a:p>
                  </a:txBody>
                </a:tc>
              </a:tr>
              <a:tr h="0">
                <a:tc>
                  <a:txBody>
                    <a:bodyPr/>
                    <a:lstStyle/>
                    <a:p>
                      <a:pPr lvl="0" indent="0" marL="0">
                        <a:buNone/>
                      </a:pPr>
                      <a:r>
                        <a:rPr/>
                        <a:t>A5</a:t>
                      </a:r>
                    </a:p>
                  </a:txBody>
                </a:tc>
                <a:tc>
                  <a:txBody>
                    <a:bodyPr/>
                    <a:lstStyle/>
                    <a:p>
                      <a:pPr lvl="0" indent="0" marL="0" algn="ctr">
                        <a:buNone/>
                      </a:pPr>
                      <a:r>
                        <a:rPr b="1"/>
                        <a:t>0,942</a:t>
                      </a:r>
                      <a:r>
                        <a:rPr/>
                        <a:t> ✅</a:t>
                      </a:r>
                    </a:p>
                  </a:txBody>
                </a:tc>
                <a:tc>
                  <a:txBody>
                    <a:bodyPr/>
                    <a:lstStyle/>
                    <a:p>
                      <a:pPr lvl="0" indent="0" marL="0" algn="ctr">
                        <a:buNone/>
                      </a:pPr>
                      <a:r>
                        <a:rPr/>
                        <a:t>0,526</a:t>
                      </a:r>
                    </a:p>
                  </a:txBody>
                </a:tc>
                <a:tc>
                  <a:txBody>
                    <a:bodyPr/>
                    <a:lstStyle/>
                    <a:p>
                      <a:pPr lvl="0" indent="0" marL="0" algn="ctr">
                        <a:buNone/>
                      </a:pPr>
                      <a:r>
                        <a:rPr/>
                        <a:t>41,6 đ</a:t>
                      </a:r>
                    </a:p>
                  </a:txBody>
                </a:tc>
              </a:tr>
              <a:tr h="0">
                <a:tc>
                  <a:txBody>
                    <a:bodyPr/>
                    <a:lstStyle/>
                    <a:p>
                      <a:pPr lvl="0" indent="0" marL="0">
                        <a:buNone/>
                      </a:pPr>
                      <a:r>
                        <a:rPr/>
                        <a:t>A6</a:t>
                      </a:r>
                    </a:p>
                  </a:txBody>
                </a:tc>
                <a:tc>
                  <a:txBody>
                    <a:bodyPr/>
                    <a:lstStyle/>
                    <a:p>
                      <a:pPr lvl="0" indent="0" marL="0" algn="ctr">
                        <a:buNone/>
                      </a:pPr>
                      <a:r>
                        <a:rPr b="1"/>
                        <a:t>0,949</a:t>
                      </a:r>
                      <a:r>
                        <a:rPr/>
                        <a:t> ✅</a:t>
                      </a:r>
                    </a:p>
                  </a:txBody>
                </a:tc>
                <a:tc>
                  <a:txBody>
                    <a:bodyPr/>
                    <a:lstStyle/>
                    <a:p>
                      <a:pPr lvl="0" indent="0" marL="0" algn="ctr">
                        <a:buNone/>
                      </a:pPr>
                      <a:r>
                        <a:rPr/>
                        <a:t>0,581</a:t>
                      </a:r>
                    </a:p>
                  </a:txBody>
                </a:tc>
                <a:tc>
                  <a:txBody>
                    <a:bodyPr/>
                    <a:lstStyle/>
                    <a:p>
                      <a:pPr lvl="0" indent="0" marL="0" algn="ctr">
                        <a:buNone/>
                      </a:pPr>
                      <a:r>
                        <a:rPr b="1"/>
                        <a:t>36,8 đ</a:t>
                      </a:r>
                    </a:p>
                  </a:txBody>
                </a:tc>
              </a:tr>
            </a:tbl>
          </a:graphicData>
        </a:graphic>
      </p:graphicFrame>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Biển 1 dòng </a:t>
            </a:r>
            <a:r>
              <a:rPr b="1"/>
              <a:t>vượt cả ba mục tiêu</a:t>
            </a:r>
            <a:r>
              <a:rPr/>
              <a:t>; biển 2 dòng (xe máy, 79,8% tập nhãn) kéo tổng xuống. Chênh 36,8 điểm </a:t>
            </a:r>
            <a:r>
              <a:rPr b="1"/>
              <a:t>cùng bậc độ lớn</a:t>
            </a:r>
            <a:r>
              <a:rPr/>
              <a:t> với mốc Laroca RodoSol-ALPR </a:t>
            </a:r>
            <a:r>
              <a:rPr i="1"/>
              <a:t>(Brazil, 48,6 điểm — không phải số VN)</a:t>
            </a:r>
            <a:r>
              <a:rPr/>
              <a:t>.</a:t>
            </a:r>
          </a:p>
          <a:p>
            <a:pPr lvl="0" indent="0" marL="0">
              <a:buNone/>
            </a:pPr>
            <a:r>
              <a:rPr b="1"/>
              <a:t>Hình / Bảng</a:t>
            </a:r>
          </a:p>
          <a:p>
            <a:pPr lvl="0"/>
            <a:r>
              <a:rPr/>
              <a:t>Sơ đồ hai nhánh từ một crop biển: nhánh trên → </a:t>
            </a:r>
            <a:r>
              <a:rPr>
                <a:latin typeface="Courier"/>
              </a:rPr>
              <a:t>raw_ocr_text</a:t>
            </a:r>
            <a:r>
              <a:rPr/>
              <a:t>, nhánh dưới qua khối luật → </a:t>
            </a:r>
            <a:r>
              <a:rPr>
                <a:latin typeface="Courier"/>
              </a:rPr>
              <a:t>plate_number</a:t>
            </a:r>
            <a:r>
              <a:rPr/>
              <a:t>, hai nhánh cùng đổ vào một bản ghi CSDL, có dấu trừ giữa hai con số</a:t>
            </a:r>
          </a:p>
          <a:p>
            <a:pPr lvl="0"/>
            <a:r>
              <a:rPr/>
              <a:t>Bảng A4–A7 và bảng tách 1 dòng / 2 dòng</a:t>
            </a:r>
          </a:p>
          <a:p>
            <a:pPr lvl="0" indent="0" marL="0">
              <a:buNone/>
            </a:pPr>
            <a:r>
              <a:rPr b="1"/>
              <a:t>Speaker notes</a:t>
            </a:r>
            <a:r>
              <a:rPr/>
              <a:t> </a:t>
            </a:r>
            <a:r>
              <a:rPr i="1"/>
              <a:t>(55 s)</a:t>
            </a:r>
          </a:p>
          <a:p>
            <a:pPr lvl="0" indent="0" marL="1270000">
              <a:buNone/>
            </a:pPr>
            <a:r>
              <a:rPr sz="2000"/>
              <a:t>Slide này nói về đóng góp học thuật chính, và em trình bày cả phần đạt lẫn phần không đạt.</a:t>
            </a:r>
          </a:p>
          <a:p>
            <a:pPr lvl="0" indent="0" marL="1270000">
              <a:buNone/>
            </a:pPr>
            <a:r>
              <a:rPr sz="2000"/>
              <a:t>Ý tưởng: nói "chúng em có thêm một bước sửa lỗi regex" là khẳng định định tính. Nên em lưu </a:t>
            </a:r>
            <a:r>
              <a:rPr sz="2000" b="1"/>
              <a:t>cả hai</a:t>
            </a:r>
            <a:r>
              <a:rPr sz="2000"/>
              <a:t> chuỗi trên cùng bản ghi — </a:t>
            </a:r>
            <a:r>
              <a:rPr sz="2000">
                <a:latin typeface="Courier"/>
              </a:rPr>
              <a:t>raw_ocr_text</a:t>
            </a:r>
            <a:r>
              <a:rPr sz="2000"/>
              <a:t> thô và </a:t>
            </a:r>
            <a:r>
              <a:rPr sz="2000">
                <a:latin typeface="Courier"/>
              </a:rPr>
              <a:t>plate_number</a:t>
            </a:r>
            <a:r>
              <a:rPr sz="2000"/>
              <a:t> sau chuẩn hoá — rồi tính exact-match trên cả hai. Hiệu số chính là đóng góp định lượng của khối hậu xử lý: </a:t>
            </a:r>
            <a:r>
              <a:rPr sz="2000" b="1"/>
              <a:t>+4,57 điểm, 128 biển sửa đúng, 0 biển làm hỏng</a:t>
            </a:r>
            <a:r>
              <a:rPr sz="2000"/>
              <a:t>.</a:t>
            </a:r>
          </a:p>
          <a:p>
            <a:pPr lvl="0" indent="0" marL="1270000">
              <a:buNone/>
            </a:pPr>
            <a:r>
              <a:rPr sz="2000"/>
              <a:t>Nhưng em phải nói thẳng: A4, A5, A6, A7 </a:t>
            </a:r>
            <a:r>
              <a:rPr sz="2000" b="1"/>
              <a:t>đều không đạt chỉ tiêu</a:t>
            </a:r>
            <a:r>
              <a:rPr sz="2000"/>
              <a:t>. Đây là kết quả thật, em không tô hồng. Điều quan trọng là </a:t>
            </a:r>
            <a:r>
              <a:rPr sz="2000" b="1"/>
              <a:t>toàn bộ khoảng cách nằm ở biển hai dòng</a:t>
            </a:r>
            <a:r>
              <a:rPr sz="2000"/>
              <a:t>: biển một dòng đạt char-accuracy 0,99 và exact-match sau xử lý 0,95 — vượt cả ba mục tiêu; biển hai dòng chỉ 0,85 và 0,58. Chênh 36,8 điểm.</a:t>
            </a:r>
          </a:p>
          <a:p>
            <a:pPr lvl="0" indent="0" marL="1270000">
              <a:buNone/>
            </a:pPr>
            <a:r>
              <a:rPr sz="2000"/>
              <a:t>Vì sao? Biển hai dòng là xe máy, chiếm gần 80% tập nhãn, và OCR dòng đơn không đọc tốt hai dòng dù đã tách-rồi-ghép. Đây là rủi ro R-04 mà em nêu từ đầu, và nó bộc lộ đúng bằng số liệu Việt Nam thật. Con số này cùng bậc độ lớn với mốc Laroca trên bộ RodoSol của Brazil — nhưng em nhấn mạnh đó là số Brazil, không phải số Việt Nam.</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PHẦN F — HỆ THỐNG VÀ HIỆU NĂNG</a:t>
            </a:r>
          </a:p>
        </p:txBody>
      </p:sp>
      <p:sp>
        <p:nvSpPr>
          <p:cNvPr id="4" name="Text Placeholder 3"/>
          <p:cNvSpPr>
            <a:spLocks noGrp="1"/>
          </p:cNvSpPr>
          <p:nvPr>
            <p:ph idx="2" sz="half" type="body"/>
          </p:nvPr>
        </p:nvSpPr>
        <p:spPr/>
        <p:txBody>
          <a:bodyPr/>
          <a:lstStyle/>
          <a:p>
            <a:pPr lvl="0" indent="0" marL="0">
              <a:spcBef>
                <a:spcPts val="3000"/>
              </a:spcBef>
              <a:buNone/>
            </a:pPr>
            <a:r>
              <a:rPr b="1"/>
              <a:t>S16 — Giao diện hệ thống</a:t>
            </a:r>
          </a:p>
          <a:p>
            <a:pPr lvl="0" indent="0" marL="0">
              <a:buNone/>
            </a:pPr>
            <a:r>
              <a:rPr b="1"/>
              <a:t>Nội dung trên slide</a:t>
            </a:r>
          </a:p>
          <a:p>
            <a:pPr lvl="0" indent="0" marL="0">
              <a:buNone/>
            </a:pPr>
            <a:r>
              <a:rPr b="1"/>
              <a:t>3 trang trong một khung ứng dụng chung:</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Trang</a:t>
                      </a:r>
                    </a:p>
                  </a:txBody>
                  <a:tcPr/>
                </a:tc>
                <a:tc>
                  <a:txBody>
                    <a:bodyPr/>
                    <a:lstStyle/>
                    <a:p>
                      <a:pPr lvl="0" indent="0" marL="0">
                        <a:buNone/>
                      </a:pPr>
                      <a:r>
                        <a:rPr/>
                        <a:t>Chức năng</a:t>
                      </a:r>
                    </a:p>
                  </a:txBody>
                  <a:tcPr/>
                </a:tc>
              </a:tr>
              <a:tr h="0">
                <a:tc>
                  <a:txBody>
                    <a:bodyPr/>
                    <a:lstStyle/>
                    <a:p>
                      <a:pPr lvl="0" indent="0" marL="0">
                        <a:buNone/>
                      </a:pPr>
                      <a:r>
                        <a:rPr>
                          <a:latin typeface="Courier"/>
                        </a:rPr>
                        <a:t>/</a:t>
                      </a:r>
                      <a:r>
                        <a:rPr/>
                        <a:t> — Nhận dạng ảnh </a:t>
                      </a:r>
                      <a:r>
                        <a:rPr i="1"/>
                        <a:t>(trang chủ)</a:t>
                      </a:r>
                    </a:p>
                  </a:txBody>
                </a:tc>
                <a:tc>
                  <a:txBody>
                    <a:bodyPr/>
                    <a:lstStyle/>
                    <a:p>
                      <a:pPr lvl="0" indent="0" marL="0">
                        <a:buNone/>
                      </a:pPr>
                      <a:r>
                        <a:rPr/>
                        <a:t>Upload, vẽ bounding box, hiện biển số + độ tin cậy + thời gian xử lý</a:t>
                      </a:r>
                    </a:p>
                  </a:txBody>
                </a:tc>
              </a:tr>
              <a:tr h="0">
                <a:tc>
                  <a:txBody>
                    <a:bodyPr/>
                    <a:lstStyle/>
                    <a:p>
                      <a:pPr lvl="0" indent="0" marL="0">
                        <a:buNone/>
                      </a:pPr>
                      <a:r>
                        <a:rPr>
                          <a:latin typeface="Courier"/>
                        </a:rPr>
                        <a:t>/video</a:t>
                      </a:r>
                      <a:r>
                        <a:rPr/>
                        <a:t> — Nhận dạng video</a:t>
                      </a:r>
                    </a:p>
                  </a:txBody>
                </a:tc>
                <a:tc>
                  <a:txBody>
                    <a:bodyPr/>
                    <a:lstStyle/>
                    <a:p>
                      <a:pPr lvl="0" indent="0" marL="0">
                        <a:buNone/>
                      </a:pPr>
                      <a:r>
                        <a:rPr/>
                        <a:t>Upload → </a:t>
                      </a:r>
                      <a:r>
                        <a:rPr>
                          <a:latin typeface="Courier"/>
                        </a:rPr>
                        <a:t>202 Accepted</a:t>
                      </a:r>
                      <a:r>
                        <a:rPr/>
                        <a:t> + </a:t>
                      </a:r>
                      <a:r>
                        <a:rPr>
                          <a:latin typeface="Courier"/>
                        </a:rPr>
                        <a:t>job_id</a:t>
                      </a:r>
                      <a:r>
                        <a:rPr/>
                        <a:t> → hỏi tiến độ định kỳ → video có gắn nhãn</a:t>
                      </a:r>
                    </a:p>
                  </a:txBody>
                </a:tc>
              </a:tr>
              <a:tr h="0">
                <a:tc>
                  <a:txBody>
                    <a:bodyPr/>
                    <a:lstStyle/>
                    <a:p>
                      <a:pPr lvl="0" indent="0" marL="0">
                        <a:buNone/>
                      </a:pPr>
                      <a:r>
                        <a:rPr>
                          <a:latin typeface="Courier"/>
                        </a:rPr>
                        <a:t>/history</a:t>
                      </a:r>
                      <a:r>
                        <a:rPr/>
                        <a:t> — Lịch sử</a:t>
                      </a:r>
                    </a:p>
                  </a:txBody>
                </a:tc>
                <a:tc>
                  <a:txBody>
                    <a:bodyPr/>
                    <a:lstStyle/>
                    <a:p>
                      <a:pPr lvl="0" indent="0" marL="0">
                        <a:buNone/>
                      </a:pPr>
                      <a:r>
                        <a:rPr/>
                        <a:t>Lọc, sắp xếp, phân trang — </a:t>
                      </a:r>
                      <a:r>
                        <a:rPr b="1"/>
                        <a:t>trạng thái nằm trên URL</a:t>
                      </a:r>
                      <a:r>
                        <a:rPr/>
                        <a:t>, gửi link được</a:t>
                      </a:r>
                    </a:p>
                  </a:txBody>
                </a:tc>
              </a:tr>
            </a:tbl>
          </a:graphicData>
        </a:graphic>
      </p:graphicFrame>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i="1"/>
              <a:t>Chế độ thời gian thực (webcam) giữ ở tầng API — </a:t>
            </a:r>
            <a:r>
              <a:rPr i="1">
                <a:latin typeface="Courier"/>
              </a:rPr>
              <a:t>POST /api/detect/frame</a:t>
            </a:r>
            <a:r>
              <a:rPr i="1"/>
              <a:t>, gửi từng khung qua HTTP, mục tiêu ~5 FPS; trang Webcam đã gỡ khỏi giao diện 2026-07-20.</a:t>
            </a:r>
          </a:p>
          <a:p>
            <a:pPr lvl="0" indent="0" marL="0">
              <a:buNone/>
            </a:pPr>
            <a:r>
              <a:rPr b="1"/>
              <a:t>Hai lần thu gọn phạm vi giao diện trong ngày 2026-07-20 — nói thẳng, đừng để hội đồng tự phát hiện: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Trang gỡ</a:t>
                      </a:r>
                    </a:p>
                  </a:txBody>
                  <a:tcPr/>
                </a:tc>
                <a:tc>
                  <a:txBody>
                    <a:bodyPr/>
                    <a:lstStyle/>
                    <a:p>
                      <a:pPr lvl="0" indent="0" marL="0">
                        <a:buNone/>
                      </a:pPr>
                      <a:r>
                        <a:rPr/>
                        <a:t>Yêu cầu bị ảnh hưởng</a:t>
                      </a:r>
                    </a:p>
                  </a:txBody>
                  <a:tcPr/>
                </a:tc>
                <a:tc>
                  <a:txBody>
                    <a:bodyPr/>
                    <a:lstStyle/>
                    <a:p>
                      <a:pPr lvl="0" indent="0" marL="0">
                        <a:buNone/>
                      </a:pPr>
                      <a:r>
                        <a:rPr/>
                        <a:t>Năng lực còn lại</a:t>
                      </a:r>
                    </a:p>
                  </a:txBody>
                  <a:tcPr/>
                </a:tc>
              </a:tr>
              <a:tr h="0">
                <a:tc>
                  <a:txBody>
                    <a:bodyPr/>
                    <a:lstStyle/>
                    <a:p>
                      <a:pPr lvl="0" indent="0" marL="0">
                        <a:buNone/>
                      </a:pPr>
                      <a:r>
                        <a:rPr/>
                        <a:t>Webcam</a:t>
                      </a:r>
                    </a:p>
                  </a:txBody>
                </a:tc>
                <a:tc>
                  <a:txBody>
                    <a:bodyPr/>
                    <a:lstStyle/>
                    <a:p>
                      <a:pPr lvl="0" indent="0" marL="0">
                        <a:buNone/>
                      </a:pPr>
                      <a:r>
                        <a:rPr/>
                        <a:t>FR-3.1, FR-3.4 (M/M → </a:t>
                      </a:r>
                      <a:r>
                        <a:rPr b="1"/>
                        <a:t>W</a:t>
                      </a:r>
                      <a:r>
                        <a:rPr/>
                        <a:t>)</a:t>
                      </a:r>
                    </a:p>
                  </a:txBody>
                </a:tc>
                <a:tc>
                  <a:txBody>
                    <a:bodyPr/>
                    <a:lstStyle/>
                    <a:p>
                      <a:pPr lvl="0" indent="0" marL="0">
                        <a:buNone/>
                      </a:pPr>
                      <a:r>
                        <a:rPr>
                          <a:latin typeface="Courier"/>
                        </a:rPr>
                        <a:t>POST /api/detect/frame</a:t>
                      </a:r>
                      <a:r>
                        <a:rPr/>
                        <a:t> — không đổi một dòng, vẫn có kiểm thử</a:t>
                      </a:r>
                    </a:p>
                  </a:txBody>
                </a:tc>
              </a:tr>
              <a:tr h="0">
                <a:tc>
                  <a:txBody>
                    <a:bodyPr/>
                    <a:lstStyle/>
                    <a:p>
                      <a:pPr lvl="0" indent="0" marL="0">
                        <a:buNone/>
                      </a:pPr>
                      <a:r>
                        <a:rPr b="1"/>
                        <a:t>Tổng quan (Dashboard)</a:t>
                      </a:r>
                    </a:p>
                  </a:txBody>
                </a:tc>
                <a:tc>
                  <a:txBody>
                    <a:bodyPr/>
                    <a:lstStyle/>
                    <a:p>
                      <a:pPr lvl="0" indent="0" marL="0">
                        <a:buNone/>
                      </a:pPr>
                      <a:r>
                        <a:rPr b="1"/>
                        <a:t>FR-4.1 (M → W)</a:t>
                      </a:r>
                      <a:r>
                        <a:rPr/>
                        <a:t>, FR-4.2 (S → W)</a:t>
                      </a:r>
                    </a:p>
                  </a:txBody>
                </a:tc>
                <a:tc>
                  <a:txBody>
                    <a:bodyPr/>
                    <a:lstStyle/>
                    <a:p>
                      <a:pPr lvl="0" indent="0" marL="0">
                        <a:buNone/>
                      </a:pPr>
                      <a:r>
                        <a:rPr>
                          <a:latin typeface="Courier"/>
                        </a:rPr>
                        <a:t>GET /api/statistics</a:t>
                      </a:r>
                      <a:r>
                        <a:rPr/>
                        <a:t> và </a:t>
                      </a:r>
                      <a:r>
                        <a:rPr>
                          <a:latin typeface="Courier"/>
                        </a:rPr>
                        <a:t>GET /health</a:t>
                      </a:r>
                      <a:r>
                        <a:rPr/>
                        <a:t> </a:t>
                      </a:r>
                      <a:r>
                        <a:rPr b="1"/>
                        <a:t>vẫn phục vụ</a:t>
                      </a:r>
                      <a:r>
                        <a:rPr/>
                        <a:t>, vẫn có kiểm thử tích hợp</a:t>
                      </a:r>
                    </a:p>
                  </a:txBody>
                </a:tc>
              </a:tr>
            </a:tbl>
          </a:graphicData>
        </a:graphic>
      </p:graphicFrame>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r>
              <a:rPr b="1"/>
              <a:t>FR-4.1 là lần đầu một yêu cầu mức </a:t>
            </a:r>
            <a:r>
              <a:rPr b="1" i="1"/>
              <a:t>Must</a:t>
            </a:r>
            <a:r>
              <a:rPr b="1"/>
              <a:t> bị đưa ra khỏi phạm vi.</a:t>
            </a:r>
            <a:r>
              <a:rPr/>
              <a:t> Đây là quyết định thu gọn demo, không phải một chức năng thất bại — trang đã từng chạy thật và còn nguyên trong lịch sử git. Đánh đổi đo được: gỡ </a:t>
            </a:r>
            <a:r>
              <a:rPr>
                <a:latin typeface="Courier"/>
              </a:rPr>
              <a:t>recharts</a:t>
            </a:r>
            <a:r>
              <a:rPr/>
              <a:t> làm gói tải về giảm từ ~730 KB xuống </a:t>
            </a:r>
            <a:r>
              <a:rPr b="1"/>
              <a:t>328,8 KB (−55%)</a:t>
            </a:r>
            <a:r>
              <a:rPr/>
              <a:t>. Chi tiết trả lời ở </a:t>
            </a:r>
            <a:r>
              <a:rPr b="1"/>
              <a:t>E4c</a:t>
            </a:r>
            <a:r>
              <a:rPr/>
              <a:t> của </a:t>
            </a:r>
            <a:r>
              <a:rPr>
                <a:latin typeface="Courier"/>
              </a:rPr>
              <a:t>10-defense-qa.md</a:t>
            </a:r>
            <a:r>
              <a:rPr/>
              <a:t>.</a:t>
            </a:r>
          </a:p>
          <a:p>
            <a:pPr lvl="0" indent="0" marL="0">
              <a:buNone/>
            </a:pPr>
            <a:r>
              <a:rPr b="1"/>
              <a:t>Bốn nguyên tắc giao diện:</a:t>
            </a:r>
          </a:p>
          <a:p>
            <a:pPr lvl="0"/>
            <a:r>
              <a:rPr b="1"/>
              <a:t>Bốn trạng thái đủ ở mọi vùng dữ liệu</a:t>
            </a:r>
            <a:r>
              <a:rPr/>
              <a:t>: loading / empty / error / success — riêng </a:t>
            </a:r>
            <a:r>
              <a:rPr i="1"/>
              <a:t>empty</a:t>
            </a:r>
            <a:r>
              <a:rPr/>
              <a:t> tách nhỏ theo nguyên nhân</a:t>
            </a:r>
          </a:p>
          <a:p>
            <a:pPr lvl="0"/>
            <a:r>
              <a:rPr b="1"/>
              <a:t>Kết quả rỗng ≠ lỗi</a:t>
            </a:r>
            <a:r>
              <a:rPr/>
              <a:t>: xử lý xong không thấy biển ⇒ trạng thái rỗng, không phải màn hình đỏ</a:t>
            </a:r>
          </a:p>
          <a:p>
            <a:pPr lvl="0"/>
            <a:r>
              <a:rPr b="1"/>
              <a:t>Lỗi nói tiếng người</a:t>
            </a:r>
            <a:r>
              <a:rPr/>
              <a:t>: không bao giờ để traceback lên màn hình</a:t>
            </a:r>
          </a:p>
          <a:p>
            <a:pPr lvl="0"/>
            <a:r>
              <a:rPr b="1"/>
              <a:t>Không lớp chuyển đổi tên trường</a:t>
            </a:r>
            <a:r>
              <a:rPr/>
              <a:t>: TypeScript dùng </a:t>
            </a:r>
            <a:r>
              <a:rPr>
                <a:latin typeface="Courier"/>
              </a:rPr>
              <a:t>snake_case</a:t>
            </a:r>
            <a:r>
              <a:rPr/>
              <a:t> y hệt JSON API ⇒ backend đổi schema thì </a:t>
            </a:r>
            <a:r>
              <a:rPr b="1"/>
              <a:t>báo lỗi lúc biên dịch</a:t>
            </a:r>
            <a:r>
              <a:rPr/>
              <a:t>, không lặng lẽ thành </a:t>
            </a:r>
            <a:r>
              <a:rPr>
                <a:latin typeface="Courier"/>
              </a:rPr>
              <a:t>undefined</a:t>
            </a:r>
            <a:r>
              <a:rPr/>
              <a:t> lúc chạy</a:t>
            </a:r>
          </a:p>
          <a:p>
            <a:pPr lvl="0" indent="0" marL="0">
              <a:buNone/>
            </a:pPr>
            <a:r>
              <a:rPr b="1"/>
              <a:t>Hình / Bảng</a:t>
            </a:r>
          </a:p>
          <a:p>
            <a:pPr lvl="0"/>
            <a:r>
              <a:rPr b="1"/>
              <a:t>Ảnh chụp màn hình</a:t>
            </a:r>
            <a:r>
              <a:rPr/>
              <a:t> — dùng </a:t>
            </a:r>
            <a:r>
              <a:rPr b="1"/>
              <a:t>3 tệp</a:t>
            </a:r>
            <a:r>
              <a:rPr/>
              <a:t> trong </a:t>
            </a:r>
            <a:r>
              <a:rPr>
                <a:latin typeface="Courier"/>
              </a:rPr>
              <a:t>docs/screenshots/</a:t>
            </a:r>
            <a:r>
              <a:rPr/>
              <a:t>:</a:t>
            </a:r>
          </a:p>
          <a:p>
            <a:pPr lvl="1"/>
            <a:r>
              <a:rPr>
                <a:latin typeface="Courier"/>
              </a:rPr>
              <a:t>image-detection.png</a:t>
            </a:r>
            <a:r>
              <a:rPr/>
              <a:t> (ảnh lớn — quan trọng nhất vì hiện kết quả AI thật)</a:t>
            </a:r>
          </a:p>
          <a:p>
            <a:pPr lvl="1"/>
            <a:r>
              <a:rPr>
                <a:latin typeface="Courier"/>
              </a:rPr>
              <a:t>video-detection.png</a:t>
            </a:r>
            <a:r>
              <a:rPr/>
              <a:t>, </a:t>
            </a:r>
            <a:r>
              <a:rPr>
                <a:latin typeface="Courier"/>
              </a:rPr>
              <a:t>history.png</a:t>
            </a:r>
            <a:r>
              <a:rPr/>
              <a:t> (2 ảnh nhỏ xếp hàng dưới)</a:t>
            </a:r>
          </a:p>
          <a:p>
            <a:pPr lvl="1"/>
            <a:r>
              <a:rPr/>
              <a:t>❌ </a:t>
            </a:r>
            <a:r>
              <a:rPr b="1"/>
              <a:t>Không dùng </a:t>
            </a:r>
            <a:r>
              <a:rPr b="1">
                <a:latin typeface="Courier"/>
              </a:rPr>
              <a:t>dashboard.png</a:t>
            </a:r>
            <a:r>
              <a:rPr/>
              <a:t> — trang Tổng quan đã gỡ khỏi giao diện</a:t>
            </a:r>
          </a:p>
          <a:p>
            <a:pPr lvl="0" indent="0" marL="1270000">
              <a:buNone/>
            </a:pPr>
            <a:r>
              <a:rPr sz="2000"/>
              <a:t>⚠️ </a:t>
            </a:r>
            <a:r>
              <a:rPr sz="2000" b="1"/>
              <a:t>Phải chụp lại 3 ảnh này trước khi nộp.</a:t>
            </a:r>
            <a:r>
              <a:rPr sz="2000"/>
              <a:t> Bản hiện có được chụp khi sidebar còn </a:t>
            </a:r>
            <a:r>
              <a:rPr sz="2000" b="1"/>
              <a:t>5 mục</a:t>
            </a:r>
            <a:r>
              <a:rPr sz="2000"/>
              <a:t> và trang chủ còn là </a:t>
            </a:r>
            <a:r>
              <a:rPr sz="2000" b="1"/>
              <a:t>Tổng quan</a:t>
            </a:r>
            <a:r>
              <a:rPr sz="2000"/>
              <a:t>. Giao diện bây giờ chỉ còn </a:t>
            </a:r>
            <a:r>
              <a:rPr sz="2000" b="1"/>
              <a:t>3 mục</a:t>
            </a:r>
            <a:r>
              <a:rPr sz="2000"/>
              <a:t>, trang chủ là </a:t>
            </a:r>
            <a:r>
              <a:rPr sz="2000" b="1"/>
              <a:t>Nhận dạng ảnh</a:t>
            </a:r>
            <a:r>
              <a:rPr sz="2000"/>
              <a:t> và </a:t>
            </a:r>
            <a:r>
              <a:rPr sz="2000" b="1"/>
              <a:t>không còn trang Tổng quan</a:t>
            </a:r>
            <a:r>
              <a:rPr sz="2000"/>
              <a:t> — chiếu ảnh cũ lên slide sẽ mâu thuẫn với chính lời nói ở dưới.</a:t>
            </a:r>
          </a:p>
          <a:p>
            <a:pPr lvl="0" indent="0" marL="0">
              <a:buNone/>
            </a:pPr>
            <a:r>
              <a:rPr b="1"/>
              <a:t>Speaker notes</a:t>
            </a:r>
            <a:r>
              <a:rPr/>
              <a:t> </a:t>
            </a:r>
            <a:r>
              <a:rPr i="1"/>
              <a:t>(40 s)</a:t>
            </a:r>
          </a:p>
          <a:p>
            <a:pPr lvl="0" indent="0" marL="1270000">
              <a:buNone/>
            </a:pPr>
            <a:r>
              <a:rPr sz="2000"/>
              <a:t>Giao diện gồm ba trang: nhận dạng ảnh (trang chủ), nhận dạng video và lịch sử. Hai trang nhận dạng là nguồn sinh dữ liệu, cùng đổ về một bảng lịch sử. Em xin nói thẳng hai chỗ đã thu gọn: trang webcam và trang tổng quan đều đã được gỡ khỏi giao diện ngày 20 tháng 7. Cả hai năng lực vẫn còn nguyên ở tầng API — </a:t>
            </a:r>
            <a:r>
              <a:rPr sz="2000">
                <a:latin typeface="Courier"/>
              </a:rPr>
              <a:t>POST /api/detect/frame</a:t>
            </a:r>
            <a:r>
              <a:rPr sz="2000"/>
              <a:t> cho thời gian thực và </a:t>
            </a:r>
            <a:r>
              <a:rPr sz="2000">
                <a:latin typeface="Courier"/>
              </a:rPr>
              <a:t>GET /api/statistics</a:t>
            </a:r>
            <a:r>
              <a:rPr sz="2000"/>
              <a:t> cho số liệu tổng hợp, cả hai vẫn có kiểm thử tự động. Riêng việc gỡ trang tổng quan đưa FR-4.1, một yêu cầu mức </a:t>
            </a:r>
            <a:r>
              <a:rPr sz="2000" i="1"/>
              <a:t>bắt buộc</a:t>
            </a:r>
            <a:r>
              <a:rPr sz="2000"/>
              <a:t>, ra khỏi phạm vi bản này; em nói rõ điều đó và sẵn sàng trả lời kỹ ở phần hỏi đáp.</a:t>
            </a:r>
          </a:p>
          <a:p>
            <a:pPr lvl="0" indent="0" marL="1270000">
              <a:buNone/>
            </a:pPr>
            <a:r>
              <a:rPr sz="2000"/>
              <a:t>Em xin nêu hai chi tiết thiết kế. Thứ nhất, mỗi vùng dữ liệu đều xử lý đủ bốn trạng thái, và riêng trạng thái rỗng em còn tách nhỏ theo nguyên nhân — chưa gửi gì, đã xử lý mà không thấy biển, hay không khớp bộ lọc — vì cách thoát khỏi mỗi trạng thái là khác nhau. Thứ hai, kiểu dữ liệu ở frontend dùng đúng tên trường của JSON API, không có lớp chuyển đổi ở giữa. Nhờ vậy nếu backend đổi schema thì TypeScript báo lỗi ngay lúc biên dịch, thay vì một trường lặng lẽ thành undefined lúc chạy.</a:t>
            </a:r>
          </a:p>
          <a:p>
            <a:pPr lvl="0" indent="0" marL="1270000">
              <a:buNone/>
            </a:pPr>
            <a:r>
              <a:rPr sz="2000"/>
              <a:t>Nếu thầy cô muốn, em có thể demo trực tiếp sau phần trình bày.</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S17 — Hiệu năng trên CPU ✅ ĐÃ ĐO (NFR-P1 ĐẠT)</a:t>
            </a:r>
          </a:p>
          <a:p>
            <a:pPr lvl="0" indent="0" marL="1270000">
              <a:buNone/>
            </a:pPr>
            <a:r>
              <a:rPr sz="2000" b="1"/>
              <a:t>Đã đo trên </a:t>
            </a:r>
            <a:r>
              <a:rPr sz="2000" b="1">
                <a:latin typeface="Courier"/>
              </a:rPr>
              <a:t>models/best.pt</a:t>
            </a:r>
            <a:r>
              <a:rPr sz="2000" b="1"/>
              <a:t>, máy rảnh: p95 731 ms client / 780 ms in-process.</a:t>
            </a:r>
          </a:p>
          <a:p>
            <a:pPr lvl="0" indent="0" marL="0">
              <a:buNone/>
            </a:pPr>
            <a:r>
              <a:rPr b="1"/>
              <a:t>Nội dung trên slide</a:t>
            </a:r>
          </a:p>
          <a:p>
            <a:pPr lvl="0" indent="0" marL="0">
              <a:buNone/>
            </a:pPr>
            <a:r>
              <a:rPr b="1"/>
              <a:t>Phần cứng đo (bắt buộc công bố kèm mọi con số):</a:t>
            </a:r>
            <a:r>
              <a:rPr/>
              <a:t> Intel Core i5-14600K · 14 nhân / 20 luồng · </a:t>
            </a:r>
            <a:r>
              <a:rPr b="1"/>
              <a:t>không có GPU CUDA</a:t>
            </a:r>
            <a:r>
              <a:rPr/>
              <a:t> · backend suy luận PyTorch · </a:t>
            </a:r>
            <a:r>
              <a:rPr>
                <a:latin typeface="Courier"/>
              </a:rPr>
              <a:t>imgsz</a:t>
            </a:r>
            <a:r>
              <a:rPr/>
              <a:t> 640 · một ảnh mỗi lần gọi</a:t>
            </a:r>
          </a:p>
          <a:p>
            <a:pPr lvl="0" indent="0" marL="0">
              <a:buNone/>
            </a:pPr>
            <a:r>
              <a:rPr b="1"/>
              <a:t>Bảng công bố — ĐÃ ĐO trên </a:t>
            </a:r>
            <a:r>
              <a:rPr b="1">
                <a:latin typeface="Courier"/>
              </a:rPr>
              <a:t>models/best.pt</a:t>
            </a:r>
            <a:r>
              <a:rPr b="1"/>
              <a:t>, máy rảnh:</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buNone/>
                      </a:pPr>
                      <a:r>
                        <a:rPr/>
                        <a:t>Chỉ tiêu</a:t>
                      </a:r>
                    </a:p>
                  </a:txBody>
                  <a:tcPr/>
                </a:tc>
                <a:tc>
                  <a:txBody>
                    <a:bodyPr/>
                    <a:lstStyle/>
                    <a:p>
                      <a:pPr lvl="0" indent="0" marL="0" algn="ctr">
                        <a:buNone/>
                      </a:pPr>
                      <a:r>
                        <a:rPr/>
                        <a:t>p50</a:t>
                      </a:r>
                    </a:p>
                  </a:txBody>
                  <a:tcPr/>
                </a:tc>
                <a:tc>
                  <a:txBody>
                    <a:bodyPr/>
                    <a:lstStyle/>
                    <a:p>
                      <a:pPr lvl="0" indent="0" marL="0" algn="ctr">
                        <a:buNone/>
                      </a:pPr>
                      <a:r>
                        <a:rPr/>
                        <a:t>p95</a:t>
                      </a:r>
                    </a:p>
                  </a:txBody>
                  <a:tcPr/>
                </a:tc>
                <a:tc>
                  <a:txBody>
                    <a:bodyPr/>
                    <a:lstStyle/>
                    <a:p>
                      <a:pPr lvl="0" indent="0" marL="0" algn="ctr">
                        <a:buNone/>
                      </a:pPr>
                      <a:r>
                        <a:rPr/>
                        <a:t>p99</a:t>
                      </a:r>
                    </a:p>
                  </a:txBody>
                  <a:tcPr/>
                </a:tc>
                <a:tc>
                  <a:txBody>
                    <a:bodyPr/>
                    <a:lstStyle/>
                    <a:p>
                      <a:pPr lvl="0" indent="0" marL="0" algn="ctr">
                        <a:buNone/>
                      </a:pPr>
                      <a:r>
                        <a:rPr/>
                        <a:t>Đạt?</a:t>
                      </a:r>
                    </a:p>
                  </a:txBody>
                  <a:tcPr/>
                </a:tc>
                <a:tc>
                  <a:txBody>
                    <a:bodyPr/>
                    <a:lstStyle/>
                    <a:p>
                      <a:pPr lvl="0" indent="0" marL="0" algn="ctr">
                        <a:buNone/>
                      </a:pPr>
                      <a:r>
                        <a:rPr/>
                        <a:t>Ngưỡng</a:t>
                      </a:r>
                    </a:p>
                  </a:txBody>
                  <a:tcPr/>
                </a:tc>
              </a:tr>
              <a:tr h="0">
                <a:tc>
                  <a:txBody>
                    <a:bodyPr/>
                    <a:lstStyle/>
                    <a:p>
                      <a:pPr lvl="0" indent="0" marL="0">
                        <a:buNone/>
                      </a:pPr>
                      <a:r>
                        <a:rPr/>
                        <a:t>NFR-P1 — độ trễ 1 ảnh (client-side, HTTP)</a:t>
                      </a:r>
                    </a:p>
                  </a:txBody>
                </a:tc>
                <a:tc>
                  <a:txBody>
                    <a:bodyPr/>
                    <a:lstStyle/>
                    <a:p>
                      <a:pPr lvl="0" indent="0" marL="0" algn="ctr">
                        <a:buNone/>
                      </a:pPr>
                      <a:r>
                        <a:rPr/>
                        <a:t>415 ms</a:t>
                      </a:r>
                    </a:p>
                  </a:txBody>
                </a:tc>
                <a:tc>
                  <a:txBody>
                    <a:bodyPr/>
                    <a:lstStyle/>
                    <a:p>
                      <a:pPr lvl="0" indent="0" marL="0" algn="ctr">
                        <a:buNone/>
                      </a:pPr>
                      <a:r>
                        <a:rPr b="1"/>
                        <a:t>731 ms</a:t>
                      </a:r>
                    </a:p>
                  </a:txBody>
                </a:tc>
                <a:tc>
                  <a:txBody>
                    <a:bodyPr/>
                    <a:lstStyle/>
                    <a:p>
                      <a:pPr lvl="0" indent="0" marL="0" algn="ctr">
                        <a:buNone/>
                      </a:pPr>
                      <a:r>
                        <a:rPr/>
                        <a:t>948 ms</a:t>
                      </a:r>
                    </a:p>
                  </a:txBody>
                </a:tc>
                <a:tc>
                  <a:txBody>
                    <a:bodyPr/>
                    <a:lstStyle/>
                    <a:p>
                      <a:pPr lvl="0" indent="0" marL="0" algn="ctr">
                        <a:buNone/>
                      </a:pPr>
                      <a:r>
                        <a:rPr/>
                        <a:t>✅</a:t>
                      </a:r>
                    </a:p>
                  </a:txBody>
                </a:tc>
                <a:tc>
                  <a:txBody>
                    <a:bodyPr/>
                    <a:lstStyle/>
                    <a:p>
                      <a:pPr lvl="0" indent="0" marL="0" algn="ctr">
                        <a:buNone/>
                      </a:pPr>
                      <a:r>
                        <a:rPr/>
                        <a:t>p95 ≤ 800 ms</a:t>
                      </a:r>
                    </a:p>
                  </a:txBody>
                </a:tc>
              </a:tr>
              <a:tr h="0">
                <a:tc>
                  <a:txBody>
                    <a:bodyPr/>
                    <a:lstStyle/>
                    <a:p>
                      <a:pPr lvl="0" indent="0" marL="0">
                        <a:buNone/>
                      </a:pPr>
                      <a:r>
                        <a:rPr/>
                        <a:t>NFR-P1 — độ trễ 1 ảnh (in-process)</a:t>
                      </a:r>
                    </a:p>
                  </a:txBody>
                </a:tc>
                <a:tc>
                  <a:txBody>
                    <a:bodyPr/>
                    <a:lstStyle/>
                    <a:p>
                      <a:pPr lvl="0" indent="0" marL="0" algn="ctr">
                        <a:buNone/>
                      </a:pPr>
                      <a:r>
                        <a:rPr/>
                        <a:t>419 ms</a:t>
                      </a:r>
                    </a:p>
                  </a:txBody>
                </a:tc>
                <a:tc>
                  <a:txBody>
                    <a:bodyPr/>
                    <a:lstStyle/>
                    <a:p>
                      <a:pPr lvl="0" indent="0" marL="0" algn="ctr">
                        <a:buNone/>
                      </a:pPr>
                      <a:r>
                        <a:rPr b="1"/>
                        <a:t>780 ms</a:t>
                      </a:r>
                    </a:p>
                  </a:txBody>
                </a:tc>
                <a:tc>
                  <a:txBody>
                    <a:bodyPr/>
                    <a:lstStyle/>
                    <a:p>
                      <a:pPr lvl="0" indent="0" marL="0" algn="ctr">
                        <a:buNone/>
                      </a:pPr>
                      <a:r>
                        <a:rPr/>
                        <a:t>948 ms</a:t>
                      </a:r>
                    </a:p>
                  </a:txBody>
                </a:tc>
                <a:tc>
                  <a:txBody>
                    <a:bodyPr/>
                    <a:lstStyle/>
                    <a:p>
                      <a:pPr lvl="0" indent="0" marL="0" algn="ctr">
                        <a:buNone/>
                      </a:pPr>
                      <a:r>
                        <a:rPr/>
                        <a:t>✅</a:t>
                      </a:r>
                    </a:p>
                  </a:txBody>
                </a:tc>
                <a:tc>
                  <a:txBody>
                    <a:bodyPr/>
                    <a:lstStyle/>
                    <a:p>
                      <a:pPr lvl="0" indent="0" marL="0" algn="ctr">
                        <a:buNone/>
                      </a:pPr>
                      <a:r>
                        <a:rPr/>
                        <a:t>p95 ≤ 800 ms</a:t>
                      </a:r>
                    </a:p>
                  </a:txBody>
                </a:tc>
              </a:tr>
              <a:tr h="0">
                <a:tc>
                  <a:txBody>
                    <a:bodyPr/>
                    <a:lstStyle/>
                    <a:p>
                      <a:pPr lvl="0" indent="0" marL="0">
                        <a:buNone/>
                      </a:pPr>
                      <a:r>
                        <a:rPr/>
                        <a:t>NFR-SC1 — yêu cầu đồng thời</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 (</a:t>
                      </a:r>
                      <a:r>
                        <a:rPr b="1"/>
                        <a:t>10</a:t>
                      </a:r>
                      <a:r>
                        <a:rPr/>
                        <a:t>)</a:t>
                      </a:r>
                    </a:p>
                  </a:txBody>
                </a:tc>
                <a:tc>
                  <a:txBody>
                    <a:bodyPr/>
                    <a:lstStyle/>
                    <a:p>
                      <a:pPr lvl="0" indent="0" marL="0" algn="ctr">
                        <a:buNone/>
                      </a:pPr>
                      <a:r>
                        <a:rPr/>
                        <a:t>≥ 5</a:t>
                      </a:r>
                    </a:p>
                  </a:txBody>
                </a:tc>
              </a:tr>
            </a:tbl>
          </a:graphicData>
        </a:graphic>
      </p:graphicFrame>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Phân rã độ trễ ĐO THẬT trên </a:t>
            </a:r>
            <a:r>
              <a:rPr b="1">
                <a:latin typeface="Courier"/>
              </a:rPr>
              <a:t>best.pt</a:t>
            </a:r>
            <a:r>
              <a:rPr b="1"/>
              <a:t> (T5.7b) — đối chiếu với ước lượng thiết kế:</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Bước</a:t>
                      </a:r>
                    </a:p>
                  </a:txBody>
                  <a:tcPr/>
                </a:tc>
                <a:tc>
                  <a:txBody>
                    <a:bodyPr/>
                    <a:lstStyle/>
                    <a:p>
                      <a:pPr lvl="0" indent="0" marL="0" algn="r">
                        <a:buNone/>
                      </a:pPr>
                      <a:r>
                        <a:rPr/>
                        <a:t>Ước lượng</a:t>
                      </a:r>
                    </a:p>
                  </a:txBody>
                  <a:tcPr/>
                </a:tc>
                <a:tc>
                  <a:txBody>
                    <a:bodyPr/>
                    <a:lstStyle/>
                    <a:p>
                      <a:pPr lvl="0" indent="0" marL="0" algn="r">
                        <a:buNone/>
                      </a:pPr>
                      <a:r>
                        <a:rPr b="1"/>
                        <a:t>Đo thật</a:t>
                      </a:r>
                    </a:p>
                  </a:txBody>
                  <a:tcPr/>
                </a:tc>
                <a:tc>
                  <a:txBody>
                    <a:bodyPr/>
                    <a:lstStyle/>
                    <a:p>
                      <a:pPr lvl="0" indent="0" marL="0" algn="r">
                        <a:buNone/>
                      </a:pPr>
                      <a:r>
                        <a:rPr/>
                        <a:t>% tổng</a:t>
                      </a:r>
                    </a:p>
                  </a:txBody>
                  <a:tcPr/>
                </a:tc>
              </a:tr>
              <a:tr h="0">
                <a:tc>
                  <a:txBody>
                    <a:bodyPr/>
                    <a:lstStyle/>
                    <a:p>
                      <a:pPr lvl="0" indent="0" marL="0">
                        <a:buNone/>
                      </a:pPr>
                      <a:r>
                        <a:rPr/>
                        <a:t>Giải mã ảnh</a:t>
                      </a:r>
                    </a:p>
                  </a:txBody>
                </a:tc>
                <a:tc>
                  <a:txBody>
                    <a:bodyPr/>
                    <a:lstStyle/>
                    <a:p>
                      <a:pPr lvl="0" indent="0" marL="0" algn="r">
                        <a:buNone/>
                      </a:pPr>
                      <a:r>
                        <a:rPr/>
                        <a:t>~50 ms</a:t>
                      </a:r>
                    </a:p>
                  </a:txBody>
                </a:tc>
                <a:tc>
                  <a:txBody>
                    <a:bodyPr/>
                    <a:lstStyle/>
                    <a:p>
                      <a:pPr lvl="0" indent="0" marL="0" algn="r">
                        <a:buNone/>
                      </a:pPr>
                      <a:r>
                        <a:rPr b="1"/>
                        <a:t>2,65 ms</a:t>
                      </a:r>
                    </a:p>
                  </a:txBody>
                </a:tc>
                <a:tc>
                  <a:txBody>
                    <a:bodyPr/>
                    <a:lstStyle/>
                    <a:p>
                      <a:pPr lvl="0" indent="0" marL="0" algn="r">
                        <a:buNone/>
                      </a:pPr>
                      <a:r>
                        <a:rPr/>
                        <a:t>1,5%</a:t>
                      </a:r>
                    </a:p>
                  </a:txBody>
                </a:tc>
              </a:tr>
              <a:tr h="0">
                <a:tc>
                  <a:txBody>
                    <a:bodyPr/>
                    <a:lstStyle/>
                    <a:p>
                      <a:pPr lvl="0" indent="0" marL="0">
                        <a:buNone/>
                      </a:pPr>
                      <a:r>
                        <a:rPr/>
                        <a:t>YOLO11n @ 640</a:t>
                      </a:r>
                    </a:p>
                  </a:txBody>
                </a:tc>
                <a:tc>
                  <a:txBody>
                    <a:bodyPr/>
                    <a:lstStyle/>
                    <a:p>
                      <a:pPr lvl="0" indent="0" marL="0" algn="r">
                        <a:buNone/>
                      </a:pPr>
                      <a:r>
                        <a:rPr/>
                        <a:t>~150 ms</a:t>
                      </a:r>
                    </a:p>
                  </a:txBody>
                </a:tc>
                <a:tc>
                  <a:txBody>
                    <a:bodyPr/>
                    <a:lstStyle/>
                    <a:p>
                      <a:pPr lvl="0" indent="0" marL="0" algn="r">
                        <a:buNone/>
                      </a:pPr>
                      <a:r>
                        <a:rPr b="1"/>
                        <a:t>59,83 ms</a:t>
                      </a:r>
                    </a:p>
                  </a:txBody>
                </a:tc>
                <a:tc>
                  <a:txBody>
                    <a:bodyPr/>
                    <a:lstStyle/>
                    <a:p>
                      <a:pPr lvl="0" indent="0" marL="0" algn="r">
                        <a:buNone/>
                      </a:pPr>
                      <a:r>
                        <a:rPr b="1"/>
                        <a:t>34,2%</a:t>
                      </a:r>
                    </a:p>
                  </a:txBody>
                </a:tc>
              </a:tr>
              <a:tr h="0">
                <a:tc>
                  <a:txBody>
                    <a:bodyPr/>
                    <a:lstStyle/>
                    <a:p>
                      <a:pPr lvl="0" indent="0" marL="0">
                        <a:buNone/>
                      </a:pPr>
                      <a:r>
                        <a:rPr/>
                        <a:t>Cắt vùng biển</a:t>
                      </a:r>
                    </a:p>
                  </a:txBody>
                </a:tc>
                <a:tc>
                  <a:txBody>
                    <a:bodyPr/>
                    <a:lstStyle/>
                    <a:p>
                      <a:pPr lvl="0" indent="0" marL="0" algn="r">
                        <a:buNone/>
                      </a:pPr>
                      <a:r>
                        <a:rPr/>
                        <a:t>~30 ms</a:t>
                      </a:r>
                    </a:p>
                  </a:txBody>
                </a:tc>
                <a:tc>
                  <a:txBody>
                    <a:bodyPr/>
                    <a:lstStyle/>
                    <a:p>
                      <a:pPr lvl="0" indent="0" marL="0" algn="r">
                        <a:buNone/>
                      </a:pPr>
                      <a:r>
                        <a:rPr b="1"/>
                        <a:t>0,00 ms</a:t>
                      </a:r>
                    </a:p>
                  </a:txBody>
                </a:tc>
                <a:tc>
                  <a:txBody>
                    <a:bodyPr/>
                    <a:lstStyle/>
                    <a:p>
                      <a:pPr lvl="0" indent="0" marL="0" algn="r">
                        <a:buNone/>
                      </a:pPr>
                      <a:r>
                        <a:rPr/>
                        <a:t>0,0%</a:t>
                      </a:r>
                    </a:p>
                  </a:txBody>
                </a:tc>
              </a:tr>
              <a:tr h="0">
                <a:tc>
                  <a:txBody>
                    <a:bodyPr/>
                    <a:lstStyle/>
                    <a:p>
                      <a:pPr lvl="0" indent="0" marL="0">
                        <a:buNone/>
                      </a:pPr>
                      <a:r>
                        <a:rPr/>
                        <a:t>PaddleOCR (mỗi biển)</a:t>
                      </a:r>
                    </a:p>
                  </a:txBody>
                </a:tc>
                <a:tc>
                  <a:txBody>
                    <a:bodyPr/>
                    <a:lstStyle/>
                    <a:p>
                      <a:pPr lvl="0" indent="0" marL="0" algn="r">
                        <a:buNone/>
                      </a:pPr>
                      <a:r>
                        <a:rPr/>
                        <a:t>~120 ms</a:t>
                      </a:r>
                    </a:p>
                  </a:txBody>
                </a:tc>
                <a:tc>
                  <a:txBody>
                    <a:bodyPr/>
                    <a:lstStyle/>
                    <a:p>
                      <a:pPr lvl="0" indent="0" marL="0" algn="r">
                        <a:buNone/>
                      </a:pPr>
                      <a:r>
                        <a:rPr b="1"/>
                        <a:t>112,55 ms</a:t>
                      </a:r>
                    </a:p>
                  </a:txBody>
                </a:tc>
                <a:tc>
                  <a:txBody>
                    <a:bodyPr/>
                    <a:lstStyle/>
                    <a:p>
                      <a:pPr lvl="0" indent="0" marL="0" algn="r">
                        <a:buNone/>
                      </a:pPr>
                      <a:r>
                        <a:rPr b="1"/>
                        <a:t>64,3%</a:t>
                      </a:r>
                    </a:p>
                  </a:txBody>
                </a:tc>
              </a:tr>
              <a:tr h="0">
                <a:tc>
                  <a:txBody>
                    <a:bodyPr/>
                    <a:lstStyle/>
                    <a:p>
                      <a:pPr lvl="0" indent="0" marL="0">
                        <a:buNone/>
                      </a:pPr>
                      <a:r>
                        <a:rPr/>
                        <a:t>Chuẩn hoá regex</a:t>
                      </a:r>
                    </a:p>
                  </a:txBody>
                </a:tc>
                <a:tc>
                  <a:txBody>
                    <a:bodyPr/>
                    <a:lstStyle/>
                    <a:p>
                      <a:pPr lvl="0" indent="0" marL="0" algn="r">
                        <a:buNone/>
                      </a:pPr>
                      <a:r>
                        <a:rPr/>
                        <a:t>&lt; 5 ms</a:t>
                      </a:r>
                    </a:p>
                  </a:txBody>
                </a:tc>
                <a:tc>
                  <a:txBody>
                    <a:bodyPr/>
                    <a:lstStyle/>
                    <a:p>
                      <a:pPr lvl="0" indent="0" marL="0" algn="r">
                        <a:buNone/>
                      </a:pPr>
                      <a:r>
                        <a:rPr b="1"/>
                        <a:t>0,03 ms</a:t>
                      </a:r>
                    </a:p>
                  </a:txBody>
                </a:tc>
                <a:tc>
                  <a:txBody>
                    <a:bodyPr/>
                    <a:lstStyle/>
                    <a:p>
                      <a:pPr lvl="0" indent="0" marL="0" algn="r">
                        <a:buNone/>
                      </a:pPr>
                      <a:r>
                        <a:rPr/>
                        <a:t>0,0%</a:t>
                      </a:r>
                    </a:p>
                  </a:txBody>
                </a:tc>
              </a:tr>
            </a:tbl>
          </a:graphicData>
        </a:graphic>
      </p:graphicFrame>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 </a:t>
            </a:r>
            <a:r>
              <a:rPr sz="2000" b="1"/>
              <a:t>NFR-P1 ĐẠT</a:t>
            </a:r>
            <a:r>
              <a:rPr sz="2000"/>
              <a:t> — p95 731 ms (client-side) / 780 ms (in-process), dưới mục tiêu 800 ms. Con số cũ </a:t>
            </a:r>
            <a:r>
              <a:rPr sz="2000" b="1"/>
              <a:t>5.857 ms bị bác bỏ</a:t>
            </a:r>
            <a:r>
              <a:rPr sz="2000"/>
              <a:t>: nó đo khi một tiến trình huấn luyện chiếm ~793% CPU song song, trên checkpoint epoch 7 (không phải </a:t>
            </a:r>
            <a:r>
              <a:rPr sz="2000">
                <a:latin typeface="Courier"/>
              </a:rPr>
              <a:t>best.pt</a:t>
            </a:r>
            <a:r>
              <a:rPr sz="2000"/>
              <a:t>), và có lỗi crop khiến OCR đọc ~1322 ms/ảnh. Phân rã đúng: </a:t>
            </a:r>
            <a:r>
              <a:rPr sz="2000" b="1"/>
              <a:t>OCR 64,3% / detect 34,2%</a:t>
            </a:r>
            <a:r>
              <a:rPr sz="2000"/>
              <a:t> — OCR vẫn tốn nhất nhưng </a:t>
            </a:r>
            <a:r>
              <a:rPr sz="2000" b="1"/>
              <a:t>không còn áp đảo</a:t>
            </a:r>
            <a:r>
              <a:rPr sz="2000"/>
              <a:t>, tối ưu detector giờ mới có ý nghĩa. Nguồn: </a:t>
            </a:r>
            <a:r>
              <a:rPr sz="2000">
                <a:hlinkClick r:id="rId2"/>
              </a:rPr>
              <a:t>07-benchmark-p1-resolved.json</a:t>
            </a:r>
            <a:r>
              <a:rPr sz="2000"/>
              <a:t>.</a:t>
            </a:r>
          </a:p>
          <a:p>
            <a:pPr lvl="0" indent="0" marL="0">
              <a:buNone/>
            </a:pPr>
            <a:r>
              <a:rPr b="1"/>
              <a:t>Vì sao KHÔNG dùng bảng benchmark cũ có sẵn trong kho mã</a:t>
            </a:r>
            <a:r>
              <a:rPr/>
              <a:t> (ONNX 6,18 ms, nhanh 2,35×) — ba lý do:</a:t>
            </a:r>
          </a:p>
          <a:p>
            <a:pPr lvl="0" indent="-342900" marL="342900">
              <a:buAutoNum type="arabicPeriod"/>
            </a:pPr>
            <a:r>
              <a:rPr/>
              <a:t>Đo trên </a:t>
            </a:r>
            <a:r>
              <a:rPr b="1"/>
              <a:t>mô hình tổng hợp cũ</a:t>
            </a:r>
            <a:r>
              <a:rPr/>
              <a:t>, không phải </a:t>
            </a:r>
            <a:r>
              <a:rPr>
                <a:latin typeface="Courier"/>
              </a:rPr>
              <a:t>models/best.pt</a:t>
            </a:r>
          </a:p>
          <a:p>
            <a:pPr lvl="0" indent="-342900" marL="342900">
              <a:buAutoNum type="arabicPeriod"/>
            </a:pPr>
            <a:r>
              <a:rPr/>
              <a:t>Đo ở </a:t>
            </a:r>
            <a:r>
              <a:rPr b="1">
                <a:latin typeface="Courier"/>
              </a:rPr>
              <a:t>imgsz = 320</a:t>
            </a:r>
            <a:r>
              <a:rPr/>
              <a:t>, không phải 640 của hệ thống thật</a:t>
            </a:r>
          </a:p>
          <a:p>
            <a:pPr lvl="0" indent="-342900" marL="342900">
              <a:buAutoNum type="arabicPeriod"/>
            </a:pPr>
            <a:r>
              <a:rPr b="1"/>
              <a:t>Không tái lập được</a:t>
            </a:r>
            <a:r>
              <a:rPr/>
              <a:t> — file JSON kết quả không còn trên đĩa</a:t>
            </a:r>
          </a:p>
          <a:p>
            <a:pPr lvl="0" indent="0" marL="0">
              <a:buNone/>
            </a:pPr>
            <a:r>
              <a:rPr b="1"/>
              <a:t>Hình / Bảng</a:t>
            </a:r>
          </a:p>
          <a:p>
            <a:pPr lvl="0"/>
            <a:r>
              <a:rPr/>
              <a:t>Biểu đồ cột xếp chồng ngang: ước lượng vs đo thật, có vạch đứt ở mốc 800 ms</a:t>
            </a:r>
          </a:p>
          <a:p>
            <a:pPr lvl="0"/>
            <a:r>
              <a:rPr/>
              <a:t>Bảng chỉ tiêu đã điền số</a:t>
            </a:r>
          </a:p>
          <a:p>
            <a:pPr lvl="0" indent="0" marL="0">
              <a:buNone/>
            </a:pPr>
            <a:r>
              <a:rPr b="1"/>
              <a:t>Speaker notes</a:t>
            </a:r>
            <a:r>
              <a:rPr/>
              <a:t> </a:t>
            </a:r>
            <a:r>
              <a:rPr i="1"/>
              <a:t>(50 s)</a:t>
            </a:r>
          </a:p>
          <a:p>
            <a:pPr lvl="0" indent="0" marL="1270000">
              <a:buNone/>
            </a:pPr>
            <a:r>
              <a:rPr sz="2000"/>
              <a:t>Về hiệu năng: NFR-P1 — độ trễ đầu-cuối một ảnh — em đo được p95 731 mili-giây phía client qua HTTP, và 780 mili-giây in-process, đều dưới mục tiêu 800. </a:t>
            </a:r>
            <a:r>
              <a:rPr sz="2000" b="1"/>
              <a:t>Đạt.</a:t>
            </a:r>
          </a:p>
          <a:p>
            <a:pPr lvl="0" indent="0" marL="1270000">
              <a:buNone/>
            </a:pPr>
            <a:r>
              <a:rPr sz="2000"/>
              <a:t>Em phải kể một câu chuyện phương pháp luận ở đây. Bản báo cáo đầu của em ghi con số 5.857 mili-giây — trượt nặng. Nhưng con số đó sai, và em đã truy ra ba nguyên nhân: nó đo khi một tiến trình huấn luyện đang chiếm gần 8 nhân CPU song song; nó đo trên checkpoint giữa chừng chứ không phải mô hình chính thức; và hệ thống lúc đó có một lỗi cắt ảnh khiến OCR đọc trên ảnh quá lớn, mất 1300 mili-giây một ảnh. Đo lại trên máy rảnh với mô hình đúng, con số về 731.</a:t>
            </a:r>
          </a:p>
          <a:p>
            <a:pPr lvl="0" indent="0" marL="1270000">
              <a:buNone/>
            </a:pPr>
            <a:r>
              <a:rPr sz="2000"/>
              <a:t>Phân rã cho thấy OCR chiếm 64%, phát hiện 34%. Bài học: một phép đo lấy trên hệ thống đang có lỗi trông y hệt một phép đo hợp lệ — nó vẫn có cỡ mẫu, có phân vị. Chỉ có đo lại sau khi sửa lỗi mới lộ ra.</a:t>
            </a:r>
          </a:p>
          <a:p>
            <a:pPr lvl="0" indent="0" marL="1270000">
              <a:buNone/>
            </a:pPr>
            <a:r>
              <a:rPr sz="2000"/>
              <a:t>Và nguyên tắc em chốt: mọi con số hiệu năng công bố kèm tên CPU, số luồng, kích thước ảnh, cỡ mẫu.</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PHẦN G — KẾT</a:t>
            </a:r>
          </a:p>
        </p:txBody>
      </p:sp>
      <p:sp>
        <p:nvSpPr>
          <p:cNvPr id="4" name="Text Placeholder 3"/>
          <p:cNvSpPr>
            <a:spLocks noGrp="1"/>
          </p:cNvSpPr>
          <p:nvPr>
            <p:ph idx="2" sz="half" type="body"/>
          </p:nvPr>
        </p:nvSpPr>
        <p:spPr/>
        <p:txBody>
          <a:bodyPr/>
          <a:lstStyle/>
          <a:p>
            <a:pPr lvl="0" indent="0" marL="0">
              <a:spcBef>
                <a:spcPts val="3000"/>
              </a:spcBef>
              <a:buNone/>
            </a:pPr>
            <a:r>
              <a:rPr b="1"/>
              <a:t>S18 — Hạn chế</a:t>
            </a:r>
          </a:p>
          <a:p>
            <a:pPr lvl="0" indent="0" marL="1270000">
              <a:buNone/>
            </a:pPr>
            <a:r>
              <a:rPr sz="2000" b="1"/>
              <a:t>Slide trung thực. Liệt kê thật, không tô hồng.</a:t>
            </a:r>
          </a:p>
          <a:p>
            <a:pPr lvl="0" indent="0" marL="0">
              <a:buNone/>
            </a:pPr>
            <a:r>
              <a:rPr b="1"/>
              <a:t>Nội dung trên slide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a:t>
                      </a:r>
                    </a:p>
                  </a:txBody>
                  <a:tcPr/>
                </a:tc>
                <a:tc>
                  <a:txBody>
                    <a:bodyPr/>
                    <a:lstStyle/>
                    <a:p>
                      <a:pPr lvl="0" indent="0" marL="0">
                        <a:buNone/>
                      </a:pPr>
                      <a:r>
                        <a:rPr/>
                        <a:t>Hạn chế</a:t>
                      </a:r>
                    </a:p>
                  </a:txBody>
                  <a:tcPr/>
                </a:tc>
                <a:tc>
                  <a:txBody>
                    <a:bodyPr/>
                    <a:lstStyle/>
                    <a:p>
                      <a:pPr lvl="0" indent="0" marL="0" algn="ctr">
                        <a:buNone/>
                      </a:pPr>
                      <a:r>
                        <a:rPr/>
                        <a:t>Trạng thái</a:t>
                      </a:r>
                    </a:p>
                  </a:txBody>
                  <a:tcPr/>
                </a:tc>
                <a:tc>
                  <a:txBody>
                    <a:bodyPr/>
                    <a:lstStyle/>
                    <a:p>
                      <a:pPr lvl="0" indent="0" marL="0">
                        <a:buNone/>
                      </a:pPr>
                      <a:r>
                        <a:rPr/>
                        <a:t>Nguyên nhân gốc</a:t>
                      </a:r>
                    </a:p>
                  </a:txBody>
                  <a:tcPr/>
                </a:tc>
              </a:tr>
              <a:tr h="0">
                <a:tc>
                  <a:txBody>
                    <a:bodyPr/>
                    <a:lstStyle/>
                    <a:p>
                      <a:pPr lvl="0" indent="0" marL="0">
                        <a:buNone/>
                      </a:pPr>
                      <a:r>
                        <a:rPr/>
                        <a:t>1</a:t>
                      </a:r>
                    </a:p>
                  </a:txBody>
                </a:tc>
                <a:tc>
                  <a:txBody>
                    <a:bodyPr/>
                    <a:lstStyle/>
                    <a:p>
                      <a:pPr lvl="0" indent="0" marL="0">
                        <a:buNone/>
                      </a:pPr>
                      <a:r>
                        <a:rPr b="1"/>
                        <a:t>OCR biển 2 dòng KHÔNG đạt chỉ tiêu</a:t>
                      </a:r>
                      <a:r>
                        <a:rPr/>
                        <a:t> — A4 0,873 / A5 0,610 / A6 0,656 (biển 2 dòng char_acc chỉ 0,846)</a:t>
                      </a:r>
                    </a:p>
                  </a:txBody>
                </a:tc>
                <a:tc>
                  <a:txBody>
                    <a:bodyPr/>
                    <a:lstStyle/>
                    <a:p>
                      <a:pPr lvl="0" indent="0" marL="0" algn="ctr">
                        <a:buNone/>
                      </a:pPr>
                      <a:r>
                        <a:rPr/>
                        <a:t>❌</a:t>
                      </a:r>
                    </a:p>
                  </a:txBody>
                </a:tc>
                <a:tc>
                  <a:txBody>
                    <a:bodyPr/>
                    <a:lstStyle/>
                    <a:p>
                      <a:pPr lvl="0" indent="0" marL="0">
                        <a:buNone/>
                      </a:pPr>
                      <a:r>
                        <a:rPr/>
                        <a:t>OCR dòng đơn (CRNN/CTC) đọc kém biển 2 dòng; xe máy chiếm 79,8% tập nhãn</a:t>
                      </a:r>
                    </a:p>
                  </a:txBody>
                </a:tc>
              </a:tr>
              <a:tr h="0">
                <a:tc>
                  <a:txBody>
                    <a:bodyPr/>
                    <a:lstStyle/>
                    <a:p>
                      <a:pPr lvl="0" indent="0" marL="0">
                        <a:buNone/>
                      </a:pPr>
                      <a:r>
                        <a:rPr/>
                        <a:t>2</a:t>
                      </a:r>
                    </a:p>
                  </a:txBody>
                </a:tc>
                <a:tc>
                  <a:txBody>
                    <a:bodyPr/>
                    <a:lstStyle/>
                    <a:p>
                      <a:pPr lvl="0" indent="0" marL="0">
                        <a:buNone/>
                      </a:pPr>
                      <a:r>
                        <a:rPr b="1"/>
                        <a:t>NFR-A7 (E2E) không đo được có ý nghĩa</a:t>
                      </a:r>
                      <a:r>
                        <a:rPr/>
                        <a:t> = 0,5227</a:t>
                      </a:r>
                    </a:p>
                  </a:txBody>
                </a:tc>
                <a:tc>
                  <a:txBody>
                    <a:bodyPr/>
                    <a:lstStyle/>
                    <a:p>
                      <a:pPr lvl="0" indent="0" marL="0" algn="ctr">
                        <a:buNone/>
                      </a:pPr>
                      <a:r>
                        <a:rPr/>
                        <a:t>⚠️</a:t>
                      </a:r>
                    </a:p>
                  </a:txBody>
                </a:tc>
                <a:tc>
                  <a:txBody>
                    <a:bodyPr/>
                    <a:lstStyle/>
                    <a:p>
                      <a:pPr lvl="0" indent="0" marL="0">
                        <a:buNone/>
                      </a:pPr>
                      <a:r>
                        <a:rPr/>
                        <a:t>Không bộ dữ liệu nào vừa có ảnh toàn cảnh vừa có chuỗi biển ⇒ đo trên crop, ngoài phân bố detector</a:t>
                      </a:r>
                    </a:p>
                  </a:txBody>
                </a:tc>
              </a:tr>
              <a:tr h="0">
                <a:tc>
                  <a:txBody>
                    <a:bodyPr/>
                    <a:lstStyle/>
                    <a:p>
                      <a:pPr lvl="0" indent="0" marL="0">
                        <a:buNone/>
                      </a:pPr>
                      <a:r>
                        <a:rPr/>
                        <a:t>3</a:t>
                      </a:r>
                    </a:p>
                  </a:txBody>
                </a:tc>
                <a:tc>
                  <a:txBody>
                    <a:bodyPr/>
                    <a:lstStyle/>
                    <a:p>
                      <a:pPr lvl="0" indent="0" marL="0">
                        <a:buNone/>
                      </a:pPr>
                      <a:r>
                        <a:rPr b="1"/>
                        <a:t>NFR-P2/P3 (webcam/video), A9, R5 chưa đo</a:t>
                      </a:r>
                    </a:p>
                  </a:txBody>
                </a:tc>
                <a:tc>
                  <a:txBody>
                    <a:bodyPr/>
                    <a:lstStyle/>
                    <a:p>
                      <a:pPr lvl="0" indent="0" marL="0" algn="ctr">
                        <a:buNone/>
                      </a:pPr>
                      <a:r>
                        <a:rPr/>
                        <a:t>❌</a:t>
                      </a:r>
                    </a:p>
                  </a:txBody>
                </a:tc>
                <a:tc>
                  <a:txBody>
                    <a:bodyPr/>
                    <a:lstStyle/>
                    <a:p>
                      <a:pPr lvl="0" indent="0" marL="0">
                        <a:buNone/>
                      </a:pPr>
                      <a:r>
                        <a:rPr/>
                        <a:t>Chưa có kịch bản đo cho các chế độ này</a:t>
                      </a:r>
                    </a:p>
                  </a:txBody>
                </a:tc>
              </a:tr>
              <a:tr h="0">
                <a:tc>
                  <a:txBody>
                    <a:bodyPr/>
                    <a:lstStyle/>
                    <a:p>
                      <a:pPr lvl="0" indent="0" marL="0">
                        <a:buNone/>
                      </a:pPr>
                      <a:r>
                        <a:rPr/>
                        <a:t>4</a:t>
                      </a:r>
                    </a:p>
                  </a:txBody>
                </a:tc>
                <a:tc>
                  <a:txBody>
                    <a:bodyPr/>
                    <a:lstStyle/>
                    <a:p>
                      <a:pPr lvl="0" indent="0" marL="0">
                        <a:buNone/>
                      </a:pPr>
                      <a:r>
                        <a:rPr b="1"/>
                        <a:t>Docker chưa build thật</a:t>
                      </a:r>
                      <a:r>
                        <a:rPr/>
                        <a:t> — có Dockerfile + compose, </a:t>
                      </a:r>
                      <a:r>
                        <a:rPr>
                          <a:latin typeface="Courier"/>
                        </a:rPr>
                        <a:t>docker compose config</a:t>
                      </a:r>
                      <a:r>
                        <a:rPr/>
                        <a:t> hợp lệ</a:t>
                      </a:r>
                    </a:p>
                  </a:txBody>
                </a:tc>
                <a:tc>
                  <a:txBody>
                    <a:bodyPr/>
                    <a:lstStyle/>
                    <a:p>
                      <a:pPr lvl="0" indent="0" marL="0" algn="ctr">
                        <a:buNone/>
                      </a:pPr>
                      <a:r>
                        <a:rPr/>
                        <a:t>⚠️</a:t>
                      </a:r>
                    </a:p>
                  </a:txBody>
                </a:tc>
                <a:tc>
                  <a:txBody>
                    <a:bodyPr/>
                    <a:lstStyle/>
                    <a:p>
                      <a:pPr lvl="0" indent="0" marL="0">
                        <a:buNone/>
                      </a:pPr>
                      <a:r>
                        <a:rPr/>
                        <a:t>Ưu tiên dồn vào huấn luyện và tích hợp OCR</a:t>
                      </a:r>
                    </a:p>
                  </a:txBody>
                </a:tc>
              </a:tr>
              <a:tr h="0">
                <a:tc>
                  <a:txBody>
                    <a:bodyPr/>
                    <a:lstStyle/>
                    <a:p>
                      <a:pPr lvl="0" indent="0" marL="0">
                        <a:buNone/>
                      </a:pPr>
                      <a:r>
                        <a:rPr/>
                        <a:t>5</a:t>
                      </a:r>
                    </a:p>
                  </a:txBody>
                </a:tc>
                <a:tc>
                  <a:txBody>
                    <a:bodyPr/>
                    <a:lstStyle/>
                    <a:p>
                      <a:pPr lvl="0" indent="0" marL="0">
                        <a:buNone/>
                      </a:pPr>
                      <a:r>
                        <a:rPr b="1"/>
                        <a:t>Chưa tự benchmark 3 engine OCR</a:t>
                      </a:r>
                      <a:r>
                        <a:rPr/>
                        <a:t> (PaddleOCR / EasyOCR / Tesseract)</a:t>
                      </a:r>
                    </a:p>
                  </a:txBody>
                </a:tc>
                <a:tc>
                  <a:txBody>
                    <a:bodyPr/>
                    <a:lstStyle/>
                    <a:p>
                      <a:pPr lvl="0" indent="0" marL="0" algn="ctr">
                        <a:buNone/>
                      </a:pPr>
                      <a:r>
                        <a:rPr/>
                        <a:t>❌</a:t>
                      </a:r>
                    </a:p>
                  </a:txBody>
                </a:tc>
                <a:tc>
                  <a:txBody>
                    <a:bodyPr/>
                    <a:lstStyle/>
                    <a:p>
                      <a:pPr lvl="0" indent="0" marL="0">
                        <a:buNone/>
                      </a:pPr>
                      <a:r>
                        <a:rPr/>
                        <a:t>Không tồn tại benchmark công khai nào trên biển xe máy VN 2 dòng</a:t>
                      </a:r>
                    </a:p>
                  </a:txBody>
                </a:tc>
              </a:tr>
              <a:tr h="0">
                <a:tc>
                  <a:txBody>
                    <a:bodyPr/>
                    <a:lstStyle/>
                    <a:p>
                      <a:pPr lvl="0" indent="0" marL="0">
                        <a:buNone/>
                      </a:pPr>
                      <a:r>
                        <a:rPr/>
                        <a:t>6</a:t>
                      </a:r>
                    </a:p>
                  </a:txBody>
                </a:tc>
                <a:tc>
                  <a:txBody>
                    <a:bodyPr/>
                    <a:lstStyle/>
                    <a:p>
                      <a:pPr lvl="0" indent="0" marL="0">
                        <a:buNone/>
                      </a:pPr>
                      <a:r>
                        <a:rPr b="1"/>
                        <a:t>Quy mô dữ liệu 12,3% kế hoạch</a:t>
                      </a:r>
                      <a:r>
                        <a:rPr/>
                        <a:t> — 4.578 / 37.300 ảnh</a:t>
                      </a:r>
                    </a:p>
                  </a:txBody>
                </a:tc>
                <a:tc>
                  <a:txBody>
                    <a:bodyPr/>
                    <a:lstStyle/>
                    <a:p>
                      <a:pPr lvl="0" indent="0" marL="0" algn="ctr">
                        <a:buNone/>
                      </a:pPr>
                      <a:r>
                        <a:rPr/>
                        <a:t>⚠️</a:t>
                      </a:r>
                    </a:p>
                  </a:txBody>
                </a:tc>
                <a:tc>
                  <a:txBody>
                    <a:bodyPr/>
                    <a:lstStyle/>
                    <a:p>
                      <a:pPr lvl="0" indent="0" marL="0">
                        <a:buNone/>
                      </a:pPr>
                      <a:r>
                        <a:rPr/>
                        <a:t>Bộ VNLP trả HTTP 401, chuyển gated</a:t>
                      </a:r>
                    </a:p>
                  </a:txBody>
                </a:tc>
              </a:tr>
              <a:tr h="0">
                <a:tc>
                  <a:txBody>
                    <a:bodyPr/>
                    <a:lstStyle/>
                    <a:p>
                      <a:pPr lvl="0" indent="0" marL="0">
                        <a:buNone/>
                      </a:pPr>
                      <a:r>
                        <a:rPr/>
                        <a:t>7</a:t>
                      </a:r>
                    </a:p>
                  </a:txBody>
                </a:tc>
                <a:tc>
                  <a:txBody>
                    <a:bodyPr/>
                    <a:lstStyle/>
                    <a:p>
                      <a:pPr lvl="0" indent="0" marL="0">
                        <a:buNone/>
                      </a:pPr>
                      <a:r>
                        <a:rPr b="1"/>
                        <a:t>Giấy phép bộ dữ liệu chưa rõ</a:t>
                      </a:r>
                    </a:p>
                  </a:txBody>
                </a:tc>
                <a:tc>
                  <a:txBody>
                    <a:bodyPr/>
                    <a:lstStyle/>
                    <a:p>
                      <a:pPr lvl="0" indent="0" marL="0" algn="ctr">
                        <a:buNone/>
                      </a:pPr>
                      <a:r>
                        <a:rPr/>
                        <a:t>⚠️</a:t>
                      </a:r>
                    </a:p>
                  </a:txBody>
                </a:tc>
                <a:tc>
                  <a:txBody>
                    <a:bodyPr/>
                    <a:lstStyle/>
                    <a:p>
                      <a:pPr lvl="0" indent="0" marL="0">
                        <a:buNone/>
                      </a:pPr>
                      <a:r>
                        <a:rPr/>
                        <a:t>Trang nguồn không ghi license</a:t>
                      </a:r>
                    </a:p>
                  </a:txBody>
                </a:tc>
              </a:tr>
              <a:tr h="0">
                <a:tc>
                  <a:txBody>
                    <a:bodyPr/>
                    <a:lstStyle/>
                    <a:p>
                      <a:pPr lvl="0" indent="0" marL="0">
                        <a:buNone/>
                      </a:pPr>
                      <a:r>
                        <a:rPr/>
                        <a:t>8</a:t>
                      </a:r>
                    </a:p>
                  </a:txBody>
                </a:tc>
                <a:tc>
                  <a:txBody>
                    <a:bodyPr/>
                    <a:lstStyle/>
                    <a:p>
                      <a:pPr lvl="0" indent="0" marL="0">
                        <a:buNone/>
                      </a:pPr>
                      <a:r>
                        <a:rPr b="1"/>
                        <a:t>Chưa kiểm chứng ở chế độ đa đối tượng</a:t>
                      </a:r>
                    </a:p>
                  </a:txBody>
                </a:tc>
                <a:tc>
                  <a:txBody>
                    <a:bodyPr/>
                    <a:lstStyle/>
                    <a:p>
                      <a:pPr lvl="0" indent="0" marL="0" algn="ctr">
                        <a:buNone/>
                      </a:pPr>
                      <a:r>
                        <a:rPr/>
                        <a:t>⚠️</a:t>
                      </a:r>
                    </a:p>
                  </a:txBody>
                </a:tc>
                <a:tc>
                  <a:txBody>
                    <a:bodyPr/>
                    <a:lstStyle/>
                    <a:p>
                      <a:pPr lvl="0" indent="0" marL="0">
                        <a:buNone/>
                      </a:pPr>
                      <a:r>
                        <a:rPr/>
                        <a:t>90,8% ảnh chỉ có 1 biển; toàn bộ dataset chỉ 9 ảnh có ≥ 5 biển</a:t>
                      </a:r>
                    </a:p>
                  </a:txBody>
                </a:tc>
              </a:tr>
              <a:tr h="0">
                <a:tc>
                  <a:txBody>
                    <a:bodyPr/>
                    <a:lstStyle/>
                    <a:p>
                      <a:pPr lvl="0" indent="0" marL="0">
                        <a:buNone/>
                      </a:pPr>
                      <a:r>
                        <a:rPr/>
                        <a:t>9</a:t>
                      </a:r>
                    </a:p>
                  </a:txBody>
                </a:tc>
                <a:tc>
                  <a:txBody>
                    <a:bodyPr/>
                    <a:lstStyle/>
                    <a:p>
                      <a:pPr lvl="0" indent="0" marL="0">
                        <a:buNone/>
                      </a:pPr>
                      <a:r>
                        <a:rPr/>
                        <a:t>Không có xác thực người dùng · SQLite 1 tiến trình ghi</a:t>
                      </a:r>
                    </a:p>
                  </a:txBody>
                </a:tc>
                <a:tc>
                  <a:txBody>
                    <a:bodyPr/>
                    <a:lstStyle/>
                    <a:p>
                      <a:pPr lvl="0" indent="0" marL="0" algn="ctr">
                        <a:buNone/>
                      </a:pPr>
                      <a:r>
                        <a:rPr/>
                        <a:t>⚠️</a:t>
                      </a:r>
                    </a:p>
                  </a:txBody>
                </a:tc>
                <a:tc>
                  <a:txBody>
                    <a:bodyPr/>
                    <a:lstStyle/>
                    <a:p>
                      <a:pPr lvl="0" indent="0" marL="0">
                        <a:buNone/>
                      </a:pPr>
                      <a:r>
                        <a:rPr/>
                        <a:t>Lựa chọn phạm vi có ý thức (giả định A-04, chạy nội bộ)</a:t>
                      </a:r>
                    </a:p>
                  </a:txBody>
                </a:tc>
              </a:tr>
              <a:tr h="0">
                <a:tc>
                  <a:txBody>
                    <a:bodyPr/>
                    <a:lstStyle/>
                    <a:p>
                      <a:pPr lvl="0" indent="0" marL="0">
                        <a:buNone/>
                      </a:pPr>
                      <a:r>
                        <a:rPr/>
                        <a:t>10</a:t>
                      </a:r>
                    </a:p>
                  </a:txBody>
                </a:tc>
                <a:tc>
                  <a:txBody>
                    <a:bodyPr/>
                    <a:lstStyle/>
                    <a:p>
                      <a:pPr lvl="0" indent="0" marL="0">
                        <a:buNone/>
                      </a:pPr>
                      <a:r>
                        <a:rPr b="1"/>
                        <a:t>FR-4.1 (Must) và FR-4.2 (Should) đưa ra khỏi phạm vi</a:t>
                      </a:r>
                      <a:r>
                        <a:rPr/>
                        <a:t> — trang Tổng quan gỡ khỏi giao diện 2026-07-20</a:t>
                      </a:r>
                    </a:p>
                  </a:txBody>
                </a:tc>
                <a:tc>
                  <a:txBody>
                    <a:bodyPr/>
                    <a:lstStyle/>
                    <a:p>
                      <a:pPr lvl="0" indent="0" marL="0" algn="ctr">
                        <a:buNone/>
                      </a:pPr>
                      <a:r>
                        <a:rPr/>
                        <a:t>⚠️</a:t>
                      </a:r>
                    </a:p>
                  </a:txBody>
                </a:tc>
                <a:tc>
                  <a:txBody>
                    <a:bodyPr/>
                    <a:lstStyle/>
                    <a:p>
                      <a:pPr lvl="0" indent="0" marL="0">
                        <a:buNone/>
                      </a:pPr>
                      <a:r>
                        <a:rPr/>
                        <a:t>Quyết định thu gọn demo, </a:t>
                      </a:r>
                      <a:r>
                        <a:rPr b="1"/>
                        <a:t>không</a:t>
                      </a:r>
                      <a:r>
                        <a:rPr/>
                        <a:t> phải chức năng thất bại. </a:t>
                      </a:r>
                      <a:r>
                        <a:rPr>
                          <a:latin typeface="Courier"/>
                        </a:rPr>
                        <a:t>GET /api/statistics</a:t>
                      </a:r>
                      <a:r>
                        <a:rPr/>
                        <a:t> + </a:t>
                      </a:r>
                      <a:r>
                        <a:rPr>
                          <a:latin typeface="Courier"/>
                        </a:rPr>
                        <a:t>GET /health</a:t>
                      </a:r>
                      <a:r>
                        <a:rPr/>
                        <a:t> vẫn phục vụ và vẫn có kiểm thử; đổi lại gói tải về giảm 55% (~730 KB → 328,8 KB)</a:t>
                      </a:r>
                    </a:p>
                  </a:txBody>
                </a:tc>
              </a:tr>
            </a:tbl>
          </a:graphicData>
        </a:graphic>
      </p:graphicFrame>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Ba thiên lệch dữ liệu đã đo được:</a:t>
            </a:r>
            <a:r>
              <a:rPr/>
              <a:t> ảnh gần như chỉ có 1 biển (90,8%) · biển tập trung giữa khung (heatmap x≈0,46–0,50) · box cực nhỏ tập trung ở biển xe máy (p05 diện tích 0,244% so với 1,002%)</a:t>
            </a:r>
          </a:p>
          <a:p>
            <a:pPr lvl="0" indent="0" marL="0">
              <a:buNone/>
            </a:pPr>
            <a:r>
              <a:rPr b="1"/>
              <a:t>Hình / Bảng</a:t>
            </a:r>
          </a:p>
          <a:p>
            <a:pPr lvl="0"/>
            <a:r>
              <a:rPr/>
              <a:t>Bảng như trên, cột trạng thái dùng ký hiệu ❌ / ⚠️ nhất quán</a:t>
            </a:r>
          </a:p>
          <a:p>
            <a:pPr lvl="0"/>
            <a:r>
              <a:rPr/>
              <a:t>Không thêm hình — slide này để chữ nói</a:t>
            </a:r>
          </a:p>
          <a:p>
            <a:pPr lvl="0" indent="0" marL="0">
              <a:buNone/>
            </a:pPr>
            <a:r>
              <a:rPr b="1"/>
              <a:t>Speaker notes</a:t>
            </a:r>
            <a:r>
              <a:rPr/>
              <a:t> </a:t>
            </a:r>
            <a:r>
              <a:rPr i="1"/>
              <a:t>(45 s)</a:t>
            </a:r>
          </a:p>
          <a:p>
            <a:pPr lvl="0" indent="0" marL="1270000">
              <a:buNone/>
            </a:pPr>
            <a:r>
              <a:rPr sz="2000"/>
              <a:t>Đây là slide em muốn trình bày thẳng.</a:t>
            </a:r>
          </a:p>
          <a:p>
            <a:pPr lvl="0" indent="0" marL="1270000">
              <a:buNone/>
            </a:pPr>
            <a:r>
              <a:rPr sz="2000"/>
              <a:t>Hạn chế lớn nhất, và em nói thẳng: </a:t>
            </a:r>
            <a:r>
              <a:rPr sz="2000" b="1"/>
              <a:t>OCR biển hai dòng không đạt chỉ tiêu</a:t>
            </a:r>
            <a:r>
              <a:rPr sz="2000"/>
              <a:t>. Char-accuracy tổng 0,873, exact-match sau xử lý 0,656 — đều dưới ngưỡng. Toàn bộ khoảng cách nằm ở biển hai dòng: biển một dòng đạt 0,99 và 0,95, vượt mục tiêu; biển hai dòng chỉ 0,85 và 0,58. Vì xe máy chiếm gần 80% tập nhãn nên nó kéo tổng xuống. Đây là kết quả thật, em không tô hồng, và em đã phân tích nguyên nhân: OCR dòng đơn đọc kém hai dòng dù đã tách-rồi-ghép.</a:t>
            </a:r>
          </a:p>
          <a:p>
            <a:pPr lvl="0" indent="0" marL="1270000">
              <a:buNone/>
            </a:pPr>
            <a:r>
              <a:rPr sz="2000"/>
              <a:t>Hai, NFR-A7 đo E2E ra 0,52 nhưng con số này không đại diện, vì không bộ dữ liệu nào vừa có ảnh toàn cảnh vừa có chuỗi biển, nên em buộc phải đo trên ảnh crop — ngoài phân bố của detector. Ba, một số chỉ tiêu như FPS webcam, xử lý video, điều kiện ảnh thì em chưa đo. Ngoài ra Docker mới có cấu hình hợp lệ chứ chưa build thật, và giấy phép một phần bộ dữ liệu chưa rõ — em ghi nhận từ đầu.</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S19 — Hướng phát triển</a:t>
            </a:r>
          </a:p>
          <a:p>
            <a:pPr lvl="0" indent="0" marL="0">
              <a:buNone/>
            </a:pPr>
            <a:r>
              <a:rPr b="1"/>
              <a:t>Nội dung trên slide</a:t>
            </a:r>
          </a:p>
          <a:p>
            <a:pPr lvl="0" indent="0" marL="0">
              <a:buNone/>
            </a:pPr>
            <a:r>
              <a:rPr b="1"/>
              <a:t>Ngắn hạn — xử lý nút thắt còn lại:</a:t>
            </a:r>
          </a:p>
          <a:p>
            <a:pPr lvl="0" indent="-342900" marL="342900">
              <a:buAutoNum type="arabicPeriod"/>
            </a:pPr>
            <a:r>
              <a:rPr b="1"/>
              <a:t>Cải thiện OCR biển 2 dòng</a:t>
            </a:r>
            <a:r>
              <a:rPr/>
              <a:t> — nơi chứa toàn bộ 36,8 điểm khoảng cách. Sửa hai luật ánh xạ sai đích (</a:t>
            </a:r>
            <a:r>
              <a:rPr>
                <a:latin typeface="Courier"/>
              </a:rPr>
              <a:t>L→1</a:t>
            </a:r>
            <a:r>
              <a:rPr/>
              <a:t> phải là </a:t>
            </a:r>
            <a:r>
              <a:rPr>
                <a:latin typeface="Courier"/>
              </a:rPr>
              <a:t>L→4</a:t>
            </a:r>
            <a:r>
              <a:rPr/>
              <a:t>; </a:t>
            </a:r>
            <a:r>
              <a:rPr>
                <a:latin typeface="Courier"/>
              </a:rPr>
              <a:t>7→T</a:t>
            </a:r>
            <a:r>
              <a:rPr/>
              <a:t> phải là </a:t>
            </a:r>
            <a:r>
              <a:rPr>
                <a:latin typeface="Courier"/>
              </a:rPr>
              <a:t>7→Z</a:t>
            </a:r>
            <a:r>
              <a:rPr/>
              <a:t>), xử lý 217 ca mất trọn một dòng và ký tự ma ở đường ghép hstack</a:t>
            </a:r>
          </a:p>
          <a:p>
            <a:pPr lvl="0" indent="-342900" marL="342900">
              <a:buAutoNum type="arabicPeriod"/>
            </a:pPr>
            <a:r>
              <a:rPr b="1"/>
              <a:t>Gán nhãn chuỗi cho 300–500 ảnh test v3</a:t>
            </a:r>
            <a:r>
              <a:rPr/>
              <a:t> ⇒ đo được NFR-A7 đúng cách (không phải trên crop ngoài phân bố)</a:t>
            </a:r>
          </a:p>
          <a:p>
            <a:pPr lvl="0" indent="-342900" marL="342900">
              <a:buAutoNum type="arabicPeriod"/>
            </a:pPr>
            <a:r>
              <a:rPr b="1"/>
              <a:t>Tự benchmark 3 engine OCR</a:t>
            </a:r>
            <a:r>
              <a:rPr/>
              <a:t> trên tập biển số Việt Nam có nhãn</a:t>
            </a:r>
          </a:p>
          <a:p>
            <a:pPr lvl="0" indent="-342900" marL="342900">
              <a:buAutoNum type="arabicPeriod"/>
            </a:pPr>
            <a:r>
              <a:rPr b="1"/>
              <a:t>Đo NFR-P2/P3 (webcam/video), A9, R5</a:t>
            </a:r>
            <a:r>
              <a:rPr/>
              <a:t> — các chế độ còn thiếu</a:t>
            </a:r>
          </a:p>
          <a:p>
            <a:pPr lvl="0" indent="0" marL="0">
              <a:buNone/>
            </a:pPr>
            <a:r>
              <a:rPr b="1"/>
              <a:t>Trung hạn — nâng chất lượng:</a:t>
            </a:r>
            <a:r>
              <a:rPr/>
              <a:t> 5. Fine-tune OCR trên biển số Việt Nam (charset </a:t>
            </a:r>
            <a:r>
              <a:rPr b="1"/>
              <a:t>36 ký tự</a:t>
            </a:r>
            <a:r>
              <a:rPr/>
              <a:t>, không thu hẹp) 6. Huấn luyện </a:t>
            </a:r>
            <a:r>
              <a:rPr b="1"/>
              <a:t>YOLO26n song song làm đối chứng</a:t>
            </a:r>
            <a:r>
              <a:rPr/>
              <a:t> — trên giấy tờ tốt hơn ở cả 3 chỉ số nhưng chưa có tiền lệ ALPR nào 7. Xuất </a:t>
            </a:r>
            <a:r>
              <a:rPr b="1"/>
              <a:t>ONNX Runtime</a:t>
            </a:r>
            <a:r>
              <a:rPr/>
              <a:t> để giảm độ trễ — đường tối ưu đầu tiên, trước khi nghĩ tới giảm </a:t>
            </a:r>
            <a:r>
              <a:rPr>
                <a:latin typeface="Courier"/>
              </a:rPr>
              <a:t>imgsz</a:t>
            </a:r>
            <a:r>
              <a:rPr/>
              <a:t> 8. Tự chụp một bộ test có nhãn ở đúng bối cảnh triển khai (bãi xe, cổng cơ quan)</a:t>
            </a:r>
          </a:p>
          <a:p>
            <a:pPr lvl="0" indent="0" marL="0">
              <a:buNone/>
            </a:pPr>
            <a:r>
              <a:rPr b="1"/>
              <a:t>Nếu triển khai thật — 6 việc theo thứ tự ưu tiên:</a:t>
            </a:r>
            <a:r>
              <a:rPr/>
              <a:t> xác thực + phân quyền → SQLite sang PostgreSQL → kiểm thử chịu tải → ONNX Runtime → làm rõ giấy phép dữ liệu → giám sát suy giảm mô hình</a:t>
            </a:r>
          </a:p>
          <a:p>
            <a:pPr lvl="0" indent="0" marL="0">
              <a:buNone/>
            </a:pPr>
            <a:r>
              <a:rPr b="1"/>
              <a:t>Hình / Bảng</a:t>
            </a:r>
          </a:p>
          <a:p>
            <a:pPr lvl="0"/>
            <a:r>
              <a:rPr/>
              <a:t>Lộ trình 3 mốc theo trục ngang: ngắn hạn / trung hạn / triển khai thật</a:t>
            </a:r>
          </a:p>
          <a:p>
            <a:pPr lvl="0" indent="0" marL="0">
              <a:buNone/>
            </a:pPr>
            <a:r>
              <a:rPr b="1"/>
              <a:t>Speaker notes</a:t>
            </a:r>
            <a:r>
              <a:rPr/>
              <a:t> </a:t>
            </a:r>
            <a:r>
              <a:rPr i="1"/>
              <a:t>(35 s)</a:t>
            </a:r>
          </a:p>
          <a:p>
            <a:pPr lvl="0" indent="0" marL="1270000">
              <a:buNone/>
            </a:pPr>
            <a:r>
              <a:rPr sz="2000"/>
              <a:t>Hướng phát triển của em chia ba mốc.</a:t>
            </a:r>
          </a:p>
          <a:p>
            <a:pPr lvl="0" indent="0" marL="1270000">
              <a:buNone/>
            </a:pPr>
            <a:r>
              <a:rPr sz="2000"/>
              <a:t>Ngắn hạn là mở khoá những thứ đang bị chặn: hoàn thành huấn luyện, gộp xong hai bộ dữ liệu có nhãn ký tự — riêng việc này mở khoá bốn chỉ tiêu cùng lúc — và tự chạy benchmark ba engine OCR. Đó là việc đầu tiên em làm nếu tiếp tục đề tài.</a:t>
            </a:r>
          </a:p>
          <a:p>
            <a:pPr lvl="0" indent="0" marL="1270000">
              <a:buNone/>
            </a:pPr>
            <a:r>
              <a:rPr sz="2000"/>
              <a:t>Trung hạn là fine-tune OCR trên biển số Việt Nam, huấn luyện YOLO26 song song làm đối chứng, và xuất sang ONNX Runtime để giảm độ trễ.</a:t>
            </a:r>
          </a:p>
          <a:p>
            <a:pPr lvl="0" indent="0" marL="1270000">
              <a:buNone/>
            </a:pPr>
            <a:r>
              <a:rPr sz="2000"/>
              <a:t>Còn nếu triển khai thật thì việc số một là xác thực và phân quyền — vì lịch sử biển số là dữ liệu có thể truy vết cá nhân, không có xác thực thì bất kỳ ai vào được mạng đều xem được toàn bộ.</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S20 — Kết luận</a:t>
            </a:r>
          </a:p>
          <a:p>
            <a:pPr lvl="0" indent="0" marL="0">
              <a:buNone/>
            </a:pPr>
            <a:r>
              <a:rPr b="1"/>
              <a:t>Nội dung trên slide</a:t>
            </a:r>
          </a:p>
          <a:p>
            <a:pPr lvl="0" indent="0" marL="0">
              <a:buNone/>
            </a:pPr>
            <a:r>
              <a:rPr b="1"/>
              <a:t>Đã làm được:</a:t>
            </a:r>
          </a:p>
          <a:p>
            <a:pPr lvl="0"/>
            <a:r>
              <a:rPr/>
              <a:t>✅ Hệ thống </a:t>
            </a:r>
            <a:r>
              <a:rPr b="1"/>
              <a:t>5 tầng chạy được</a:t>
            </a:r>
            <a:r>
              <a:rPr/>
              <a:t> — backend 10 endpoint kiểm chứng bằng HTTP thật; frontend typecheck / lint sạch, build thành công, 10 endpoint khớp kiểu từng trường</a:t>
            </a:r>
          </a:p>
          <a:p>
            <a:pPr lvl="0"/>
            <a:r>
              <a:rPr/>
              <a:t>✅ Bộ dữ liệu </a:t>
            </a:r>
            <a:r>
              <a:rPr b="1"/>
              <a:t>15.133 ảnh (v3, 6 nguồn)</a:t>
            </a:r>
            <a:r>
              <a:rPr/>
              <a:t> có </a:t>
            </a:r>
            <a:r>
              <a:rPr b="1"/>
              <a:t>quy trình chống rò rỉ kiểm chứng được</a:t>
            </a:r>
            <a:r>
              <a:rPr/>
              <a:t> — khử trùng lặp ở ngưỡng 10, v2→v3 giảm rò rỉ vắt split từ 9.126 xuống 0 cặp</a:t>
            </a:r>
          </a:p>
          <a:p>
            <a:pPr lvl="0"/>
            <a:r>
              <a:rPr/>
              <a:t>✅ Mô hình chính thức </a:t>
            </a:r>
            <a:r>
              <a:rPr>
                <a:latin typeface="Courier"/>
              </a:rPr>
              <a:t>best.pt</a:t>
            </a:r>
            <a:r>
              <a:rPr/>
              <a:t> </a:t>
            </a:r>
            <a:r>
              <a:rPr b="1"/>
              <a:t>huấn luyện xong</a:t>
            </a:r>
            <a:r>
              <a:rPr/>
              <a:t>: detection mAP50 </a:t>
            </a:r>
            <a:r>
              <a:rPr b="1"/>
              <a:t>0,983</a:t>
            </a:r>
            <a:r>
              <a:rPr/>
              <a:t> / mAP50-95 </a:t>
            </a:r>
            <a:r>
              <a:rPr b="1"/>
              <a:t>0,783</a:t>
            </a:r>
            <a:r>
              <a:rPr/>
              <a:t> trên tập test v3, đạt cả bốn chỉ tiêu; NFR-P1 </a:t>
            </a:r>
            <a:r>
              <a:rPr b="1"/>
              <a:t>đạt</a:t>
            </a:r>
            <a:r>
              <a:rPr/>
              <a:t> (p95 731/780 ms)</a:t>
            </a:r>
          </a:p>
          <a:p>
            <a:pPr lvl="0"/>
            <a:r>
              <a:rPr/>
              <a:t>✅ Module tách biển 2 dòng + bộ luật hậu xử lý theo vị trí — </a:t>
            </a:r>
            <a:r>
              <a:rPr b="1"/>
              <a:t>104 unit test</a:t>
            </a:r>
            <a:r>
              <a:rPr/>
              <a:t> tầng AI</a:t>
            </a:r>
          </a:p>
          <a:p>
            <a:pPr lvl="0" indent="0" marL="0">
              <a:buNone/>
            </a:pPr>
            <a:r>
              <a:rPr b="1"/>
              <a:t>Bốn đóng góp — mỗi cái kiểm chứng được:</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a:t>
                      </a:r>
                    </a:p>
                  </a:txBody>
                  <a:tcPr/>
                </a:tc>
                <a:tc>
                  <a:txBody>
                    <a:bodyPr/>
                    <a:lstStyle/>
                    <a:p>
                      <a:pPr lvl="0" indent="0" marL="0">
                        <a:buNone/>
                      </a:pPr>
                      <a:r>
                        <a:rPr/>
                        <a:t>Đóng góp</a:t>
                      </a:r>
                    </a:p>
                  </a:txBody>
                  <a:tcPr/>
                </a:tc>
                <a:tc>
                  <a:txBody>
                    <a:bodyPr/>
                    <a:lstStyle/>
                    <a:p>
                      <a:pPr lvl="0" indent="0" marL="0">
                        <a:buNone/>
                      </a:pPr>
                      <a:r>
                        <a:rPr/>
                        <a:t>Bằng chứng</a:t>
                      </a:r>
                    </a:p>
                  </a:txBody>
                  <a:tcPr/>
                </a:tc>
              </a:tr>
              <a:tr h="0">
                <a:tc>
                  <a:txBody>
                    <a:bodyPr/>
                    <a:lstStyle/>
                    <a:p>
                      <a:pPr lvl="0" indent="0" marL="0">
                        <a:buNone/>
                      </a:pPr>
                      <a:r>
                        <a:rPr/>
                        <a:t>1</a:t>
                      </a:r>
                    </a:p>
                  </a:txBody>
                </a:tc>
                <a:tc>
                  <a:txBody>
                    <a:bodyPr/>
                    <a:lstStyle/>
                    <a:p>
                      <a:pPr lvl="0" indent="0" marL="0">
                        <a:buNone/>
                      </a:pPr>
                      <a:r>
                        <a:rPr/>
                        <a:t>Bộ luật sửa lỗi OCR </a:t>
                      </a:r>
                      <a:r>
                        <a:rPr b="1"/>
                        <a:t>theo vị trí</a:t>
                      </a:r>
                      <a:r>
                        <a:rPr/>
                        <a:t>, xây từ TT 79/2024</a:t>
                      </a:r>
                    </a:p>
                  </a:txBody>
                </a:tc>
                <a:tc>
                  <a:txBody>
                    <a:bodyPr/>
                    <a:lstStyle/>
                    <a:p>
                      <a:pPr lvl="0" indent="0" marL="0">
                        <a:buNone/>
                      </a:pPr>
                      <a:r>
                        <a:rPr>
                          <a:latin typeface="Courier"/>
                        </a:rPr>
                        <a:t>plate_rules.py</a:t>
                      </a:r>
                      <a:r>
                        <a:rPr/>
                        <a:t> · 29 test</a:t>
                      </a:r>
                    </a:p>
                  </a:txBody>
                </a:tc>
              </a:tr>
              <a:tr h="0">
                <a:tc>
                  <a:txBody>
                    <a:bodyPr/>
                    <a:lstStyle/>
                    <a:p>
                      <a:pPr lvl="0" indent="0" marL="0">
                        <a:buNone/>
                      </a:pPr>
                      <a:r>
                        <a:rPr/>
                        <a:t>2</a:t>
                      </a:r>
                    </a:p>
                  </a:txBody>
                </a:tc>
                <a:tc>
                  <a:txBody>
                    <a:bodyPr/>
                    <a:lstStyle/>
                    <a:p>
                      <a:pPr lvl="0" indent="0" marL="0">
                        <a:buNone/>
                      </a:pPr>
                      <a:r>
                        <a:rPr b="1"/>
                        <a:t>Thiết kế phép đo</a:t>
                      </a:r>
                      <a:r>
                        <a:rPr/>
                        <a:t> đóng góp của hậu xử lý (</a:t>
                      </a:r>
                      <a:r>
                        <a:rPr>
                          <a:latin typeface="Courier"/>
                        </a:rPr>
                        <a:t>raw_ocr_text</a:t>
                      </a:r>
                      <a:r>
                        <a:rPr/>
                        <a:t> vs </a:t>
                      </a:r>
                      <a:r>
                        <a:rPr>
                          <a:latin typeface="Courier"/>
                        </a:rPr>
                        <a:t>plate_number</a:t>
                      </a:r>
                      <a:r>
                        <a:rPr/>
                        <a:t>)</a:t>
                      </a:r>
                    </a:p>
                  </a:txBody>
                </a:tc>
                <a:tc>
                  <a:txBody>
                    <a:bodyPr/>
                    <a:lstStyle/>
                    <a:p>
                      <a:pPr lvl="0" indent="0" marL="0">
                        <a:buNone/>
                      </a:pPr>
                      <a:r>
                        <a:rPr/>
                        <a:t>Schema CSDL 18 cột</a:t>
                      </a:r>
                    </a:p>
                  </a:txBody>
                </a:tc>
              </a:tr>
              <a:tr h="0">
                <a:tc>
                  <a:txBody>
                    <a:bodyPr/>
                    <a:lstStyle/>
                    <a:p>
                      <a:pPr lvl="0" indent="0" marL="0">
                        <a:buNone/>
                      </a:pPr>
                      <a:r>
                        <a:rPr/>
                        <a:t>3</a:t>
                      </a:r>
                    </a:p>
                  </a:txBody>
                </a:tc>
                <a:tc>
                  <a:txBody>
                    <a:bodyPr/>
                    <a:lstStyle/>
                    <a:p>
                      <a:pPr lvl="0" indent="0" marL="0">
                        <a:buNone/>
                      </a:pPr>
                      <a:r>
                        <a:rPr/>
                        <a:t>Đánh giá </a:t>
                      </a:r>
                      <a:r>
                        <a:rPr b="1"/>
                        <a:t>tách riêng</a:t>
                      </a:r>
                      <a:r>
                        <a:rPr/>
                        <a:t> biển 1 dòng / 2 dòng, không che bằng số trung bình</a:t>
                      </a:r>
                    </a:p>
                  </a:txBody>
                </a:tc>
                <a:tc>
                  <a:txBody>
                    <a:bodyPr/>
                    <a:lstStyle/>
                    <a:p>
                      <a:pPr lvl="0" indent="0" marL="0">
                        <a:buNone/>
                      </a:pPr>
                      <a:r>
                        <a:rPr>
                          <a:latin typeface="Courier"/>
                        </a:rPr>
                        <a:t>evaluate.py</a:t>
                      </a:r>
                      <a:r>
                        <a:rPr/>
                        <a:t> bảng NFR-A8</a:t>
                      </a:r>
                    </a:p>
                  </a:txBody>
                </a:tc>
              </a:tr>
              <a:tr h="0">
                <a:tc>
                  <a:txBody>
                    <a:bodyPr/>
                    <a:lstStyle/>
                    <a:p>
                      <a:pPr lvl="0" indent="0" marL="0">
                        <a:buNone/>
                      </a:pPr>
                      <a:r>
                        <a:rPr/>
                        <a:t>4</a:t>
                      </a:r>
                    </a:p>
                  </a:txBody>
                </a:tc>
                <a:tc>
                  <a:txBody>
                    <a:bodyPr/>
                    <a:lstStyle/>
                    <a:p>
                      <a:pPr lvl="0" indent="0" marL="0">
                        <a:buNone/>
                      </a:pPr>
                      <a:r>
                        <a:rPr/>
                        <a:t>Hệ thống hoàn chỉnh </a:t>
                      </a:r>
                      <a:r>
                        <a:rPr b="1"/>
                        <a:t>chạy không cần GPU</a:t>
                      </a:r>
                    </a:p>
                  </a:txBody>
                </a:tc>
                <a:tc>
                  <a:txBody>
                    <a:bodyPr/>
                    <a:lstStyle/>
                    <a:p>
                      <a:pPr lvl="0" indent="0" marL="0">
                        <a:buNone/>
                      </a:pPr>
                      <a:r>
                        <a:rPr/>
                        <a:t>5 tầng · 10 endpoint · 3 trang</a:t>
                      </a:r>
                    </a:p>
                  </a:txBody>
                </a:tc>
              </a:tr>
            </a:tbl>
          </a:graphicData>
        </a:graphic>
      </p:graphicFrame>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Ba điều đồ án này KHÔNG tuyên bố:</a:t>
            </a:r>
          </a:p>
          <a:p>
            <a:pPr lvl="0"/>
            <a:r>
              <a:rPr/>
              <a:t>❌ Không tạo ra state-of-the-art, và </a:t>
            </a:r>
            <a:r>
              <a:rPr b="1"/>
              <a:t>không đặt mục tiêu đó</a:t>
            </a:r>
          </a:p>
          <a:p>
            <a:pPr lvl="0"/>
            <a:r>
              <a:rPr/>
              <a:t>❌ Không phải sản phẩm triển khai được — thiếu xác thực, chưa kiểm thử tải đầy đủ</a:t>
            </a:r>
          </a:p>
          <a:p>
            <a:pPr lvl="0"/>
            <a:r>
              <a:rPr/>
              <a:t>❌ </a:t>
            </a:r>
            <a:r>
              <a:rPr b="1"/>
              <a:t>OCR biển 2 dòng chưa đạt chỉ tiêu</a:t>
            </a:r>
            <a:r>
              <a:rPr/>
              <a:t> — trình bày trung thực, không tô hồng</a:t>
            </a:r>
          </a:p>
          <a:p>
            <a:pPr lvl="0" indent="0" marL="0">
              <a:buNone/>
            </a:pPr>
            <a:r>
              <a:rPr b="1"/>
              <a:t>Hình / Bảng</a:t>
            </a:r>
          </a:p>
          <a:p>
            <a:pPr lvl="0"/>
            <a:r>
              <a:rPr/>
              <a:t>Hai cột song song: cột trái ✅ đã làm, cột phải ❌ không tuyên bố. Cân bằng thị giác giữa hai cột là chủ ý.</a:t>
            </a:r>
          </a:p>
          <a:p>
            <a:pPr lvl="0" indent="0" marL="0">
              <a:buNone/>
            </a:pPr>
            <a:r>
              <a:rPr b="1"/>
              <a:t>Speaker notes</a:t>
            </a:r>
            <a:r>
              <a:rPr/>
              <a:t> </a:t>
            </a:r>
            <a:r>
              <a:rPr i="1"/>
              <a:t>(35 s)</a:t>
            </a:r>
          </a:p>
          <a:p>
            <a:pPr lvl="0" indent="0" marL="1270000">
              <a:buNone/>
            </a:pPr>
            <a:r>
              <a:rPr sz="2000"/>
              <a:t>Tóm lại. Em đã xây được một hệ thống năm tầng chạy được và kiểm chứng được bằng gọi HTTP thật, một bộ dữ liệu có quy trình chống rò rỉ mà chính bước đó bắt được lỗi thật trong bản chia gốc, một mô hình phát hiện đạt cả bốn chỉ tiêu, và hai module kỹ thuật lõi là tách biển hai dòng và bộ luật hậu xử lý theo vị trí.</a:t>
            </a:r>
          </a:p>
          <a:p>
            <a:pPr lvl="0" indent="0" marL="1270000">
              <a:buNone/>
            </a:pPr>
            <a:r>
              <a:rPr sz="2000"/>
              <a:t>Đóng góp của em không nằm ở việc phát minh kiến trúc mạng — YOLO và PaddleOCR đều là công cụ có sẵn. Đóng góp nằm ở tầng giữa: bộ luật xây từ văn bản pháp lý hiện hành, cơ chế xử lý biển hai dòng, và quan trọng nhất là </a:t>
            </a:r>
            <a:r>
              <a:rPr sz="2000" b="1"/>
              <a:t>thiết kế phép đo để chứng minh chúng có tác dụng</a:t>
            </a:r>
            <a:r>
              <a:rPr sz="2000"/>
              <a:t> thay vì chỉ khẳng định — đo được +4,57 điểm đóng góp của hậu xử lý.</a:t>
            </a:r>
          </a:p>
          <a:p>
            <a:pPr lvl="0" indent="0" marL="1270000">
              <a:buNone/>
            </a:pPr>
            <a:r>
              <a:rPr sz="2000"/>
              <a:t>Và em muốn kết bằng ba điều đồ án này </a:t>
            </a:r>
            <a:r>
              <a:rPr sz="2000" b="1"/>
              <a:t>không</a:t>
            </a:r>
            <a:r>
              <a:rPr sz="2000"/>
              <a:t> tuyên bố: nó không tạo ra state-of-the-art và không đặt mục tiêu đó; nó chưa phải sản phẩm triển khai được; và </a:t>
            </a:r>
            <a:r>
              <a:rPr sz="2000" b="1"/>
              <a:t>OCR biển hai dòng chưa đạt chỉ tiêu</a:t>
            </a:r>
            <a:r>
              <a:rPr sz="2000"/>
              <a:t> — em trình bày thẳng kết quả đó kèm phân tích nguyên nhân. Em nghĩ nói rõ ranh giới cũng quan trọng như nói kết quả.</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S21 — Cảm ơn / Hỏi đáp</a:t>
            </a:r>
          </a:p>
          <a:p>
            <a:pPr lvl="0" indent="0" marL="0">
              <a:buNone/>
            </a:pPr>
            <a:r>
              <a:rPr b="1"/>
              <a:t>Nội dung trên slide</a:t>
            </a:r>
          </a:p>
          <a:p>
            <a:pPr lvl="0"/>
            <a:r>
              <a:rPr b="1"/>
              <a:t>Em xin cảm ơn thầy cô đã lắng nghe</a:t>
            </a:r>
          </a:p>
          <a:p>
            <a:pPr lvl="0"/>
            <a:r>
              <a:rPr/>
              <a:t>Lời cảm ơn giảng viên hướng dẫn</a:t>
            </a:r>
          </a:p>
          <a:p>
            <a:pPr lvl="0"/>
            <a:r>
              <a:rPr b="1"/>
              <a:t>Em xin sẵn sàng nhận câu hỏi từ hội đồng</a:t>
            </a:r>
          </a:p>
          <a:p>
            <a:pPr lvl="0"/>
            <a:r>
              <a:rPr/>
              <a:t>Góc dưới: bảng số liệu tra nhanh cỡ nhỏ (để tự tra khi trả lời, không phải để hội đồng đọc):</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Ảnh (v3)</a:t>
                      </a:r>
                    </a:p>
                  </a:txBody>
                </a:tc>
                <a:tc>
                  <a:txBody>
                    <a:bodyPr/>
                    <a:lstStyle/>
                    <a:p>
                      <a:pPr lvl="0" indent="0" marL="0">
                        <a:buNone/>
                      </a:pPr>
                      <a:r>
                        <a:rPr/>
                        <a:t>15.133 · 6 nguồn</a:t>
                      </a:r>
                    </a:p>
                  </a:txBody>
                </a:tc>
              </a:tr>
              <a:tr h="0">
                <a:tc>
                  <a:txBody>
                    <a:bodyPr/>
                    <a:lstStyle/>
                    <a:p>
                      <a:pPr lvl="0" indent="0" marL="0">
                        <a:buNone/>
                      </a:pPr>
                      <a:r>
                        <a:rPr/>
                        <a:t>Chia tập</a:t>
                      </a:r>
                    </a:p>
                  </a:txBody>
                </a:tc>
                <a:tc>
                  <a:txBody>
                    <a:bodyPr/>
                    <a:lstStyle/>
                    <a:p>
                      <a:pPr lvl="0" indent="0" marL="0">
                        <a:buNone/>
                      </a:pPr>
                      <a:r>
                        <a:rPr/>
                        <a:t>10.592 / 3.027 / 1.514</a:t>
                      </a:r>
                    </a:p>
                  </a:txBody>
                </a:tc>
              </a:tr>
              <a:tr h="0">
                <a:tc>
                  <a:txBody>
                    <a:bodyPr/>
                    <a:lstStyle/>
                    <a:p>
                      <a:pPr lvl="0" indent="0" marL="0">
                        <a:buNone/>
                      </a:pPr>
                      <a:r>
                        <a:rPr/>
                        <a:t>Mô hình</a:t>
                      </a:r>
                    </a:p>
                  </a:txBody>
                </a:tc>
                <a:tc>
                  <a:txBody>
                    <a:bodyPr/>
                    <a:lstStyle/>
                    <a:p>
                      <a:pPr lvl="0" indent="0" marL="0">
                        <a:buNone/>
                      </a:pPr>
                      <a:r>
                        <a:rPr>
                          <a:latin typeface="Courier"/>
                        </a:rPr>
                        <a:t>best.pt</a:t>
                      </a:r>
                      <a:r>
                        <a:rPr/>
                        <a:t> YOLO11n · imgsz 640 · split v3 · 20 epoch</a:t>
                      </a:r>
                    </a:p>
                  </a:txBody>
                </a:tc>
              </a:tr>
              <a:tr h="0">
                <a:tc>
                  <a:txBody>
                    <a:bodyPr/>
                    <a:lstStyle/>
                    <a:p>
                      <a:pPr lvl="0" indent="0" marL="0">
                        <a:buNone/>
                      </a:pPr>
                      <a:r>
                        <a:rPr/>
                        <a:t>Detection (test v3)</a:t>
                      </a:r>
                    </a:p>
                  </a:txBody>
                </a:tc>
                <a:tc>
                  <a:txBody>
                    <a:bodyPr/>
                    <a:lstStyle/>
                    <a:p>
                      <a:pPr lvl="0" indent="0" marL="0">
                        <a:buNone/>
                      </a:pPr>
                      <a:r>
                        <a:rPr/>
                        <a:t>mAP50 0,983 · mAP50-95 0,783 · P 0,984 · R 0,971</a:t>
                      </a:r>
                    </a:p>
                  </a:txBody>
                </a:tc>
              </a:tr>
              <a:tr h="0">
                <a:tc>
                  <a:txBody>
                    <a:bodyPr/>
                    <a:lstStyle/>
                    <a:p>
                      <a:pPr lvl="0" indent="0" marL="0">
                        <a:buNone/>
                      </a:pPr>
                      <a:r>
                        <a:rPr/>
                        <a:t>OCR (2.801 biển)</a:t>
                      </a:r>
                    </a:p>
                  </a:txBody>
                </a:tc>
                <a:tc>
                  <a:txBody>
                    <a:bodyPr/>
                    <a:lstStyle/>
                    <a:p>
                      <a:pPr lvl="0" indent="0" marL="0">
                        <a:buNone/>
                      </a:pPr>
                      <a:r>
                        <a:rPr/>
                        <a:t>A4 0,873 · A5 0,610 · A6 0,656 (KHÔNG đạt; 2 dòng yếu)</a:t>
                      </a:r>
                    </a:p>
                  </a:txBody>
                </a:tc>
              </a:tr>
              <a:tr h="0">
                <a:tc>
                  <a:txBody>
                    <a:bodyPr/>
                    <a:lstStyle/>
                    <a:p>
                      <a:pPr lvl="0" indent="0" marL="0">
                        <a:buNone/>
                      </a:pPr>
                      <a:r>
                        <a:rPr/>
                        <a:t>NFR-P1 p95</a:t>
                      </a:r>
                    </a:p>
                  </a:txBody>
                </a:tc>
                <a:tc>
                  <a:txBody>
                    <a:bodyPr/>
                    <a:lstStyle/>
                    <a:p>
                      <a:pPr lvl="0" indent="0" marL="0">
                        <a:buNone/>
                      </a:pPr>
                      <a:r>
                        <a:rPr/>
                        <a:t>731 ms client / 780 ms in-process (đạt)</a:t>
                      </a:r>
                    </a:p>
                  </a:txBody>
                </a:tc>
              </a:tr>
              <a:tr h="0">
                <a:tc>
                  <a:txBody>
                    <a:bodyPr/>
                    <a:lstStyle/>
                    <a:p>
                      <a:pPr lvl="0" indent="0" marL="0">
                        <a:buNone/>
                      </a:pPr>
                      <a:r>
                        <a:rPr/>
                        <a:t>Charset</a:t>
                      </a:r>
                    </a:p>
                  </a:txBody>
                </a:tc>
                <a:tc>
                  <a:txBody>
                    <a:bodyPr/>
                    <a:lstStyle/>
                    <a:p>
                      <a:pPr lvl="0" indent="0" marL="0">
                        <a:buNone/>
                      </a:pPr>
                      <a:r>
                        <a:rPr/>
                        <a:t>36 ký tự · loại trừ đúng 5 chữ</a:t>
                      </a:r>
                    </a:p>
                  </a:txBody>
                </a:tc>
              </a:tr>
              <a:tr h="0">
                <a:tc>
                  <a:txBody>
                    <a:bodyPr/>
                    <a:lstStyle/>
                    <a:p>
                      <a:pPr lvl="0" indent="0" marL="0">
                        <a:buNone/>
                      </a:pPr>
                      <a:r>
                        <a:rPr/>
                        <a:t>Unit test tầng AI</a:t>
                      </a:r>
                    </a:p>
                  </a:txBody>
                </a:tc>
                <a:tc>
                  <a:txBody>
                    <a:bodyPr/>
                    <a:lstStyle/>
                    <a:p>
                      <a:pPr lvl="0" indent="0" marL="0">
                        <a:buNone/>
                      </a:pPr>
                      <a:r>
                        <a:rPr/>
                        <a:t>104</a:t>
                      </a:r>
                    </a:p>
                  </a:txBody>
                </a:tc>
              </a:tr>
            </a:tbl>
          </a:graphicData>
        </a:graphic>
      </p:graphicFrame>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Hình / Bảng</a:t>
            </a:r>
          </a:p>
          <a:p>
            <a:pPr lvl="0"/>
            <a:r>
              <a:rPr/>
              <a:t>Nền tối giản, chữ lớn</a:t>
            </a:r>
          </a:p>
          <a:p>
            <a:pPr lvl="0"/>
            <a:r>
              <a:rPr/>
              <a:t>Không dùng hình động</a:t>
            </a:r>
          </a:p>
          <a:p>
            <a:pPr lvl="0" indent="0" marL="0">
              <a:buNone/>
            </a:pPr>
            <a:r>
              <a:rPr b="1"/>
              <a:t>Speaker notes</a:t>
            </a:r>
            <a:r>
              <a:rPr/>
              <a:t> </a:t>
            </a:r>
            <a:r>
              <a:rPr i="1"/>
              <a:t>(20 s)</a:t>
            </a:r>
          </a:p>
          <a:p>
            <a:pPr lvl="0" indent="0" marL="1270000">
              <a:buNone/>
            </a:pPr>
            <a:r>
              <a:rPr sz="2000"/>
              <a:t>Phần trình bày của em đến đây là hết. Em xin chân thành cảm ơn thầy/cô [tên] đã hướng dẫn em trong suốt quá trình làm đồ án, và cảm ơn hội đồng đã lắng nghe. Em xin sẵn sàng nhận câu hỏi ạ.</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Checklist trước khi vào phòng</a:t>
            </a:r>
          </a:p>
          <a:p>
            <a:pPr lvl="0" indent="0" marL="0">
              <a:buNone/>
            </a:pPr>
            <a:r>
              <a:rPr b="1"/>
              <a:t>Về nội dung slide</a:t>
            </a:r>
          </a:p>
          <a:p>
            <a:pPr lvl="0"/>
            <a:r>
              <a:rPr/>
              <a:t>☐ S12, S15, S17 — cập nhật số mới nhất nếu huấn luyện / đo đã có kết quả; nếu chưa thì </a:t>
            </a:r>
            <a:r>
              <a:rPr b="1"/>
              <a:t>giữ nguyên ô trống</a:t>
            </a:r>
            <a:r>
              <a:rPr/>
              <a:t>, đừng xoá bảng</a:t>
            </a:r>
          </a:p>
          <a:p>
            <a:pPr lvl="0"/>
            <a:r>
              <a:rPr/>
              <a:t>☐ S13 — đã render ảnh minh hoạ split-then-hstack chưa (hình quan trọng nhất, hiện </a:t>
            </a:r>
            <a:r>
              <a:rPr b="1"/>
              <a:t>còn thiếu</a:t>
            </a:r>
            <a:r>
              <a:rPr/>
              <a:t>)</a:t>
            </a:r>
          </a:p>
          <a:p>
            <a:pPr lvl="0"/>
            <a:r>
              <a:rPr/>
              <a:t>☐ Mọi con số trên slide đọc lại từ file nguồn, không chép tay</a:t>
            </a:r>
          </a:p>
          <a:p>
            <a:pPr lvl="0"/>
            <a:r>
              <a:rPr/>
              <a:t>☐ Slide S2 ghi rõ cảnh báo phạm vi áp dụng "số liệu Brazil, không phải Việt Nam"</a:t>
            </a:r>
          </a:p>
          <a:p>
            <a:pPr lvl="0"/>
            <a:r>
              <a:rPr/>
              <a:t>☐ </a:t>
            </a:r>
            <a:r>
              <a:rPr b="1"/>
              <a:t>S16 — chụp lại 3 ảnh màn hình</a:t>
            </a:r>
            <a:r>
              <a:rPr/>
              <a:t> (</a:t>
            </a:r>
            <a:r>
              <a:rPr>
                <a:latin typeface="Courier"/>
              </a:rPr>
              <a:t>image-detection</a:t>
            </a:r>
            <a:r>
              <a:rPr/>
              <a:t> · </a:t>
            </a:r>
            <a:r>
              <a:rPr>
                <a:latin typeface="Courier"/>
              </a:rPr>
              <a:t>video-detection</a:t>
            </a:r>
            <a:r>
              <a:rPr/>
              <a:t> · </a:t>
            </a:r>
            <a:r>
              <a:rPr>
                <a:latin typeface="Courier"/>
              </a:rPr>
              <a:t>history</a:t>
            </a:r>
            <a:r>
              <a:rPr/>
              <a:t>). Bản đang có chụp lúc sidebar còn 5 mục và trang chủ còn là Tổng quan; giao diện nay còn </a:t>
            </a:r>
            <a:r>
              <a:rPr b="1"/>
              <a:t>3 trang</a:t>
            </a:r>
            <a:r>
              <a:rPr/>
              <a:t>, trang chủ là Nhận dạng ảnh, </a:t>
            </a:r>
            <a:r>
              <a:rPr b="1"/>
              <a:t>không còn trang Tổng quan</a:t>
            </a:r>
            <a:r>
              <a:rPr/>
              <a:t>. Không dùng </a:t>
            </a:r>
            <a:r>
              <a:rPr>
                <a:latin typeface="Courier"/>
              </a:rPr>
              <a:t>dashboard.png</a:t>
            </a:r>
          </a:p>
          <a:p>
            <a:pPr lvl="0" indent="0" marL="0">
              <a:buNone/>
            </a:pPr>
            <a:r>
              <a:rPr b="1"/>
              <a:t>Về kỹ thuật</a:t>
            </a:r>
          </a:p>
          <a:p>
            <a:pPr lvl="0"/>
            <a:r>
              <a:rPr/>
              <a:t>☐ Backend và frontend </a:t>
            </a:r>
            <a:r>
              <a:rPr b="1"/>
              <a:t>đã khởi động trước khi vào phòng</a:t>
            </a:r>
            <a:r>
              <a:rPr/>
              <a:t> — đừng để lần chạy đầu của buổi bảo vệ là lần khởi động server</a:t>
            </a:r>
          </a:p>
          <a:p>
            <a:pPr lvl="0"/>
            <a:r>
              <a:rPr/>
              <a:t>☐ 2–3 ảnh test đã biết chắc chạy được, để sẵn trên desktop</a:t>
            </a:r>
          </a:p>
          <a:p>
            <a:pPr lvl="0"/>
            <a:r>
              <a:rPr/>
              <a:t>☐ Tab Swagger mở sẵn</a:t>
            </a:r>
          </a:p>
          <a:p>
            <a:pPr lvl="0"/>
            <a:r>
              <a:rPr/>
              <a:t>☐ File slide xuất </a:t>
            </a:r>
            <a:r>
              <a:rPr b="1"/>
              <a:t>PDF dự phòng</a:t>
            </a:r>
            <a:r>
              <a:rPr/>
              <a:t> — không phụ thuộc máy chiếu hiểu được định dạng gốc</a:t>
            </a:r>
          </a:p>
          <a:p>
            <a:pPr lvl="0"/>
            <a:r>
              <a:rPr/>
              <a:t>☐ Ảnh nhúng hết vào file, không link ngoài</a:t>
            </a:r>
          </a:p>
          <a:p>
            <a:pPr lvl="0" indent="0" marL="0">
              <a:buNone/>
            </a:pPr>
            <a:r>
              <a:rPr b="1"/>
              <a:t>Về trả lời</a:t>
            </a:r>
          </a:p>
          <a:p>
            <a:pPr lvl="0"/>
            <a:r>
              <a:rPr/>
              <a:t>☐ Đọc lại </a:t>
            </a:r>
            <a:r>
              <a:rPr>
                <a:latin typeface="Courier"/>
              </a:rPr>
              <a:t>docs/slides/10-defense-qa.md</a:t>
            </a:r>
            <a:r>
              <a:rPr/>
              <a:t>, đặc biệt mục "Ba câu dễ trả lời sai nhất": mAP 0,983 có rò rỉ không (C3) · vì sao OCR biển 2 dòng không đạt (D1) · tốc độ bao nhiêu, sao con số cũ 5.857 ms (F3)</a:t>
            </a:r>
          </a:p>
          <a:p>
            <a:pPr lvl="0"/>
            <a:r>
              <a:rPr/>
              <a:t>☐ Thuộc bảng số liệu tra nhanh ở S21</a:t>
            </a:r>
          </a:p>
          <a:p>
            <a:pPr lvl="0"/>
            <a:r>
              <a:rPr/>
              <a:t>☐ Nhớ nguyên tắc: </a:t>
            </a:r>
            <a:r>
              <a:rPr b="1"/>
              <a:t>chưa đo thì nói chưa đo</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Bản đồ slide ↔ câu hỏi phản biện</a:t>
            </a:r>
          </a:p>
          <a:p>
            <a:pPr lvl="0" indent="0" marL="0">
              <a:buNone/>
            </a:pPr>
            <a:r>
              <a:rPr/>
              <a:t>Dùng khi hội đồng hỏi giữa lúc trình bày — biết ngay câu trả lời nằm ở đâu trong </a:t>
            </a:r>
            <a:r>
              <a:rPr>
                <a:latin typeface="Courier"/>
              </a:rPr>
              <a:t>10-defense-qa.md</a:t>
            </a:r>
            <a:r>
              <a:rPr/>
              <a: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Slide</a:t>
                      </a:r>
                    </a:p>
                  </a:txBody>
                  <a:tcPr/>
                </a:tc>
                <a:tc>
                  <a:txBody>
                    <a:bodyPr/>
                    <a:lstStyle/>
                    <a:p>
                      <a:pPr lvl="0" indent="0" marL="0">
                        <a:buNone/>
                      </a:pPr>
                      <a:r>
                        <a:rPr/>
                        <a:t>Câu hỏi có thể bị hỏi ngay</a:t>
                      </a:r>
                    </a:p>
                  </a:txBody>
                  <a:tcPr/>
                </a:tc>
                <a:tc>
                  <a:txBody>
                    <a:bodyPr/>
                    <a:lstStyle/>
                    <a:p>
                      <a:pPr lvl="0" indent="0" marL="0">
                        <a:buNone/>
                      </a:pPr>
                      <a:r>
                        <a:rPr/>
                        <a:t>Mục trong Q&amp;A</a:t>
                      </a:r>
                    </a:p>
                  </a:txBody>
                  <a:tcPr/>
                </a:tc>
              </a:tr>
              <a:tr h="0">
                <a:tc>
                  <a:txBody>
                    <a:bodyPr/>
                    <a:lstStyle/>
                    <a:p>
                      <a:pPr lvl="0" indent="0" marL="0">
                        <a:buNone/>
                      </a:pPr>
                      <a:r>
                        <a:rPr/>
                        <a:t>S2</a:t>
                      </a:r>
                    </a:p>
                  </a:txBody>
                </a:tc>
                <a:tc>
                  <a:txBody>
                    <a:bodyPr/>
                    <a:lstStyle/>
                    <a:p>
                      <a:pPr lvl="0" indent="0" marL="0">
                        <a:buNone/>
                      </a:pPr>
                      <a:r>
                        <a:rPr/>
                        <a:t>"Số liệu Brazil thì liên quan gì tới VN?"</a:t>
                      </a:r>
                    </a:p>
                  </a:txBody>
                </a:tc>
                <a:tc>
                  <a:txBody>
                    <a:bodyPr/>
                    <a:lstStyle/>
                    <a:p>
                      <a:pPr lvl="0" indent="0" marL="0">
                        <a:buNone/>
                      </a:pPr>
                      <a:r>
                        <a:rPr/>
                        <a:t>A2</a:t>
                      </a:r>
                    </a:p>
                  </a:txBody>
                </a:tc>
              </a:tr>
              <a:tr h="0">
                <a:tc>
                  <a:txBody>
                    <a:bodyPr/>
                    <a:lstStyle/>
                    <a:p>
                      <a:pPr lvl="0" indent="0" marL="0">
                        <a:buNone/>
                      </a:pPr>
                      <a:r>
                        <a:rPr/>
                        <a:t>S3</a:t>
                      </a:r>
                    </a:p>
                  </a:txBody>
                </a:tc>
                <a:tc>
                  <a:txBody>
                    <a:bodyPr/>
                    <a:lstStyle/>
                    <a:p>
                      <a:pPr lvl="0" indent="0" marL="0">
                        <a:buNone/>
                      </a:pPr>
                      <a:r>
                        <a:rPr/>
                        <a:t>"Phạm vi đến đâu? Cái gì cố ý không làm?"</a:t>
                      </a:r>
                    </a:p>
                  </a:txBody>
                </a:tc>
                <a:tc>
                  <a:txBody>
                    <a:bodyPr/>
                    <a:lstStyle/>
                    <a:p>
                      <a:pPr lvl="0" indent="0" marL="0">
                        <a:buNone/>
                      </a:pPr>
                      <a:r>
                        <a:rPr/>
                        <a:t>A6</a:t>
                      </a:r>
                    </a:p>
                  </a:txBody>
                </a:tc>
              </a:tr>
              <a:tr h="0">
                <a:tc>
                  <a:txBody>
                    <a:bodyPr/>
                    <a:lstStyle/>
                    <a:p>
                      <a:pPr lvl="0" indent="0" marL="0">
                        <a:buNone/>
                      </a:pPr>
                      <a:r>
                        <a:rPr/>
                        <a:t>S4</a:t>
                      </a:r>
                    </a:p>
                  </a:txBody>
                </a:tc>
                <a:tc>
                  <a:txBody>
                    <a:bodyPr/>
                    <a:lstStyle/>
                    <a:p>
                      <a:pPr lvl="0" indent="0" marL="0">
                        <a:buNone/>
                      </a:pPr>
                      <a:r>
                        <a:rPr/>
                        <a:t>"Sao không dùng end-to-end / model nước ngoài?"</a:t>
                      </a:r>
                    </a:p>
                  </a:txBody>
                </a:tc>
                <a:tc>
                  <a:txBody>
                    <a:bodyPr/>
                    <a:lstStyle/>
                    <a:p>
                      <a:pPr lvl="0" indent="0" marL="0">
                        <a:buNone/>
                      </a:pPr>
                      <a:r>
                        <a:rPr/>
                        <a:t>A3</a:t>
                      </a:r>
                    </a:p>
                  </a:txBody>
                </a:tc>
              </a:tr>
              <a:tr h="0">
                <a:tc>
                  <a:txBody>
                    <a:bodyPr/>
                    <a:lstStyle/>
                    <a:p>
                      <a:pPr lvl="0" indent="0" marL="0">
                        <a:buNone/>
                      </a:pPr>
                      <a:r>
                        <a:rPr/>
                        <a:t>S6</a:t>
                      </a:r>
                    </a:p>
                  </a:txBody>
                </a:tc>
                <a:tc>
                  <a:txBody>
                    <a:bodyPr/>
                    <a:lstStyle/>
                    <a:p>
                      <a:pPr lvl="0" indent="0" marL="0">
                        <a:buNone/>
                      </a:pPr>
                      <a:r>
                        <a:rPr/>
                        <a:t>"Thông tư thay đổi thì hệ thống còn đúng không?"</a:t>
                      </a:r>
                    </a:p>
                  </a:txBody>
                </a:tc>
                <a:tc>
                  <a:txBody>
                    <a:bodyPr/>
                    <a:lstStyle/>
                    <a:p>
                      <a:pPr lvl="0" indent="0" marL="0">
                        <a:buNone/>
                      </a:pPr>
                      <a:r>
                        <a:rPr b="1"/>
                        <a:t>G2</a:t>
                      </a:r>
                    </a:p>
                  </a:txBody>
                </a:tc>
              </a:tr>
              <a:tr h="0">
                <a:tc>
                  <a:txBody>
                    <a:bodyPr/>
                    <a:lstStyle/>
                    <a:p>
                      <a:pPr lvl="0" indent="0" marL="0">
                        <a:buNone/>
                      </a:pPr>
                      <a:r>
                        <a:rPr/>
                        <a:t>S7, S8</a:t>
                      </a:r>
                    </a:p>
                  </a:txBody>
                </a:tc>
                <a:tc>
                  <a:txBody>
                    <a:bodyPr/>
                    <a:lstStyle/>
                    <a:p>
                      <a:pPr lvl="0" indent="0" marL="0">
                        <a:buNone/>
                      </a:pPr>
                      <a:r>
                        <a:rPr/>
                        <a:t>"Tách tầng AI có cần thiết không?" · "Sao dùng SQLite?"</a:t>
                      </a:r>
                    </a:p>
                  </a:txBody>
                </a:tc>
                <a:tc>
                  <a:txBody>
                    <a:bodyPr/>
                    <a:lstStyle/>
                    <a:p>
                      <a:pPr lvl="0" indent="0" marL="0">
                        <a:buNone/>
                      </a:pPr>
                      <a:r>
                        <a:rPr/>
                        <a:t>E1, E2, E8</a:t>
                      </a:r>
                    </a:p>
                  </a:txBody>
                </a:tc>
              </a:tr>
              <a:tr h="0">
                <a:tc>
                  <a:txBody>
                    <a:bodyPr/>
                    <a:lstStyle/>
                    <a:p>
                      <a:pPr lvl="0" indent="0" marL="0">
                        <a:buNone/>
                      </a:pPr>
                      <a:r>
                        <a:rPr/>
                        <a:t>S10</a:t>
                      </a:r>
                    </a:p>
                  </a:txBody>
                </a:tc>
                <a:tc>
                  <a:txBody>
                    <a:bodyPr/>
                    <a:lstStyle/>
                    <a:p>
                      <a:pPr lvl="0" indent="0" marL="0">
                        <a:buNone/>
                      </a:pPr>
                      <a:r>
                        <a:rPr/>
                        <a:t>"Dữ liệu ở đâu, có bản quyền không?" · "Chống rò rỉ thế nào?"</a:t>
                      </a:r>
                    </a:p>
                  </a:txBody>
                </a:tc>
                <a:tc>
                  <a:txBody>
                    <a:bodyPr/>
                    <a:lstStyle/>
                    <a:p>
                      <a:pPr lvl="0" indent="0" marL="0">
                        <a:buNone/>
                      </a:pPr>
                      <a:r>
                        <a:rPr/>
                        <a:t>B1, </a:t>
                      </a:r>
                      <a:r>
                        <a:rPr b="1"/>
                        <a:t>B3</a:t>
                      </a:r>
                    </a:p>
                  </a:txBody>
                </a:tc>
              </a:tr>
              <a:tr h="0">
                <a:tc>
                  <a:txBody>
                    <a:bodyPr/>
                    <a:lstStyle/>
                    <a:p>
                      <a:pPr lvl="0" indent="0" marL="0">
                        <a:buNone/>
                      </a:pPr>
                      <a:r>
                        <a:rPr/>
                        <a:t>S11</a:t>
                      </a:r>
                    </a:p>
                  </a:txBody>
                </a:tc>
                <a:tc>
                  <a:txBody>
                    <a:bodyPr/>
                    <a:lstStyle/>
                    <a:p>
                      <a:pPr lvl="0" indent="0" marL="0">
                        <a:buNone/>
                      </a:pPr>
                      <a:r>
                        <a:rPr/>
                        <a:t>"Sao chọn YOLO11 / nano?" · "Sao train trên CPU?"</a:t>
                      </a:r>
                    </a:p>
                  </a:txBody>
                </a:tc>
                <a:tc>
                  <a:txBody>
                    <a:bodyPr/>
                    <a:lstStyle/>
                    <a:p>
                      <a:pPr lvl="0" indent="0" marL="0">
                        <a:buNone/>
                      </a:pPr>
                      <a:r>
                        <a:rPr/>
                        <a:t>C1, C2, C4</a:t>
                      </a:r>
                    </a:p>
                  </a:txBody>
                </a:tc>
              </a:tr>
              <a:tr h="0">
                <a:tc>
                  <a:txBody>
                    <a:bodyPr/>
                    <a:lstStyle/>
                    <a:p>
                      <a:pPr lvl="0" indent="0" marL="0">
                        <a:buNone/>
                      </a:pPr>
                      <a:r>
                        <a:rPr b="1"/>
                        <a:t>S12</a:t>
                      </a:r>
                    </a:p>
                  </a:txBody>
                </a:tc>
                <a:tc>
                  <a:txBody>
                    <a:bodyPr/>
                    <a:lstStyle/>
                    <a:p>
                      <a:pPr lvl="0" indent="0" marL="0">
                        <a:buNone/>
                      </a:pPr>
                      <a:r>
                        <a:rPr/>
                        <a:t>⚠️ </a:t>
                      </a:r>
                      <a:r>
                        <a:rPr b="1"/>
                        <a:t>"mAP 0,983 cao quá, có rò rỉ không?"</a:t>
                      </a:r>
                    </a:p>
                  </a:txBody>
                </a:tc>
                <a:tc>
                  <a:txBody>
                    <a:bodyPr/>
                    <a:lstStyle/>
                    <a:p>
                      <a:pPr lvl="0" indent="0" marL="0">
                        <a:buNone/>
                      </a:pPr>
                      <a:r>
                        <a:rPr b="1"/>
                        <a:t>C3 — câu khó nhất</a:t>
                      </a:r>
                    </a:p>
                  </a:txBody>
                </a:tc>
              </a:tr>
              <a:tr h="0">
                <a:tc>
                  <a:txBody>
                    <a:bodyPr/>
                    <a:lstStyle/>
                    <a:p>
                      <a:pPr lvl="0" indent="0" marL="0">
                        <a:buNone/>
                      </a:pPr>
                      <a:r>
                        <a:rPr/>
                        <a:t>S13</a:t>
                      </a:r>
                    </a:p>
                  </a:txBody>
                </a:tc>
                <a:tc>
                  <a:txBody>
                    <a:bodyPr/>
                    <a:lstStyle/>
                    <a:p>
                      <a:pPr lvl="0" indent="0" marL="0">
                        <a:buNone/>
                      </a:pPr>
                      <a:r>
                        <a:rPr/>
                        <a:t>"Biển 2 dòng xử lý thế nào?" · "Sao biết mấy dòng?"</a:t>
                      </a:r>
                    </a:p>
                  </a:txBody>
                </a:tc>
                <a:tc>
                  <a:txBody>
                    <a:bodyPr/>
                    <a:lstStyle/>
                    <a:p>
                      <a:pPr lvl="0" indent="0" marL="0">
                        <a:buNone/>
                      </a:pPr>
                      <a:r>
                        <a:rPr/>
                        <a:t>D2, D3</a:t>
                      </a:r>
                    </a:p>
                  </a:txBody>
                </a:tc>
              </a:tr>
              <a:tr h="0">
                <a:tc>
                  <a:txBody>
                    <a:bodyPr/>
                    <a:lstStyle/>
                    <a:p>
                      <a:pPr lvl="0" indent="0" marL="0">
                        <a:buNone/>
                      </a:pPr>
                      <a:r>
                        <a:rPr/>
                        <a:t>S14</a:t>
                      </a:r>
                    </a:p>
                  </a:txBody>
                </a:tc>
                <a:tc>
                  <a:txBody>
                    <a:bodyPr/>
                    <a:lstStyle/>
                    <a:p>
                      <a:pPr lvl="0" indent="0" marL="0">
                        <a:buNone/>
                      </a:pPr>
                      <a:r>
                        <a:rPr/>
                        <a:t>"Charset gồm những ký tự nào?"</a:t>
                      </a:r>
                    </a:p>
                  </a:txBody>
                </a:tc>
                <a:tc>
                  <a:txBody>
                    <a:bodyPr/>
                    <a:lstStyle/>
                    <a:p>
                      <a:pPr lvl="0" indent="0" marL="0">
                        <a:buNone/>
                      </a:pPr>
                      <a:r>
                        <a:rPr b="1"/>
                        <a:t>D6</a:t>
                      </a:r>
                    </a:p>
                  </a:txBody>
                </a:tc>
              </a:tr>
              <a:tr h="0">
                <a:tc>
                  <a:txBody>
                    <a:bodyPr/>
                    <a:lstStyle/>
                    <a:p>
                      <a:pPr lvl="0" indent="0" marL="0">
                        <a:buNone/>
                      </a:pPr>
                      <a:r>
                        <a:rPr b="1"/>
                        <a:t>S16</a:t>
                      </a:r>
                    </a:p>
                  </a:txBody>
                </a:tc>
                <a:tc>
                  <a:txBody>
                    <a:bodyPr/>
                    <a:lstStyle/>
                    <a:p>
                      <a:pPr lvl="0" indent="0" marL="0">
                        <a:buNone/>
                      </a:pPr>
                      <a:r>
                        <a:rPr/>
                        <a:t>⚠️ </a:t>
                      </a:r>
                      <a:r>
                        <a:rPr b="1"/>
                        <a:t>"Sao bỏ hẳn một yêu cầu mức Must (FR-4.1)?"</a:t>
                      </a:r>
                      <a:r>
                        <a:rPr/>
                        <a:t> · "Sao không còn trang Webcam?"</a:t>
                      </a:r>
                    </a:p>
                  </a:txBody>
                </a:tc>
                <a:tc>
                  <a:txBody>
                    <a:bodyPr/>
                    <a:lstStyle/>
                    <a:p>
                      <a:pPr lvl="0" indent="0" marL="0">
                        <a:buNone/>
                      </a:pPr>
                      <a:r>
                        <a:rPr b="1"/>
                        <a:t>E4c</a:t>
                      </a:r>
                      <a:r>
                        <a:rPr/>
                        <a:t>, E4b</a:t>
                      </a:r>
                    </a:p>
                  </a:txBody>
                </a:tc>
              </a:tr>
              <a:tr h="0">
                <a:tc>
                  <a:txBody>
                    <a:bodyPr/>
                    <a:lstStyle/>
                    <a:p>
                      <a:pPr lvl="0" indent="0" marL="0">
                        <a:buNone/>
                      </a:pPr>
                      <a:r>
                        <a:rPr/>
                        <a:t>S15</a:t>
                      </a:r>
                    </a:p>
                  </a:txBody>
                </a:tc>
                <a:tc>
                  <a:txBody>
                    <a:bodyPr/>
                    <a:lstStyle/>
                    <a:p>
                      <a:pPr lvl="0" indent="0" marL="0">
                        <a:buNone/>
                      </a:pPr>
                      <a:r>
                        <a:rPr/>
                        <a:t>"Làm sao biết hậu xử lý có tác dụng?" · "Sao chọn PaddleOCR?"</a:t>
                      </a:r>
                    </a:p>
                  </a:txBody>
                </a:tc>
                <a:tc>
                  <a:txBody>
                    <a:bodyPr/>
                    <a:lstStyle/>
                    <a:p>
                      <a:pPr lvl="0" indent="0" marL="0">
                        <a:buNone/>
                      </a:pPr>
                      <a:r>
                        <a:rPr/>
                        <a:t>F4, </a:t>
                      </a:r>
                      <a:r>
                        <a:rPr b="1"/>
                        <a:t>D1</a:t>
                      </a:r>
                    </a:p>
                  </a:txBody>
                </a:tc>
              </a:tr>
              <a:tr h="0">
                <a:tc>
                  <a:txBody>
                    <a:bodyPr/>
                    <a:lstStyle/>
                    <a:p>
                      <a:pPr lvl="0" indent="0" marL="0">
                        <a:buNone/>
                      </a:pPr>
                      <a:r>
                        <a:rPr b="1"/>
                        <a:t>S17</a:t>
                      </a:r>
                    </a:p>
                  </a:txBody>
                </a:tc>
                <a:tc>
                  <a:txBody>
                    <a:bodyPr/>
                    <a:lstStyle/>
                    <a:p>
                      <a:pPr lvl="0" indent="0" marL="0">
                        <a:buNone/>
                      </a:pPr>
                      <a:r>
                        <a:rPr/>
                        <a:t>⚠️ </a:t>
                      </a:r>
                      <a:r>
                        <a:rPr b="1"/>
                        <a:t>"Tốc độ bao nhiêu? Đo trên máy gì?"</a:t>
                      </a:r>
                    </a:p>
                  </a:txBody>
                </a:tc>
                <a:tc>
                  <a:txBody>
                    <a:bodyPr/>
                    <a:lstStyle/>
                    <a:p>
                      <a:pPr lvl="0" indent="0" marL="0">
                        <a:buNone/>
                      </a:pPr>
                      <a:r>
                        <a:rPr b="1"/>
                        <a:t>F3</a:t>
                      </a:r>
                    </a:p>
                  </a:txBody>
                </a:tc>
              </a:tr>
              <a:tr h="0">
                <a:tc>
                  <a:txBody>
                    <a:bodyPr/>
                    <a:lstStyle/>
                    <a:p>
                      <a:pPr lvl="0" indent="0" marL="0">
                        <a:buNone/>
                      </a:pPr>
                      <a:r>
                        <a:rPr/>
                        <a:t>S18</a:t>
                      </a:r>
                    </a:p>
                  </a:txBody>
                </a:tc>
                <a:tc>
                  <a:txBody>
                    <a:bodyPr/>
                    <a:lstStyle/>
                    <a:p>
                      <a:pPr lvl="0" indent="0" marL="0">
                        <a:buNone/>
                      </a:pPr>
                      <a:r>
                        <a:rPr/>
                        <a:t>"Docker chạy được chưa?" · "Chịu được bao nhiêu người dùng?"</a:t>
                      </a:r>
                    </a:p>
                  </a:txBody>
                </a:tc>
                <a:tc>
                  <a:txBody>
                    <a:bodyPr/>
                    <a:lstStyle/>
                    <a:p>
                      <a:pPr lvl="0" indent="0" marL="0">
                        <a:buNone/>
                      </a:pPr>
                      <a:r>
                        <a:rPr/>
                        <a:t>E7, E3, G3</a:t>
                      </a:r>
                    </a:p>
                  </a:txBody>
                </a:tc>
              </a:tr>
              <a:tr h="0">
                <a:tc>
                  <a:txBody>
                    <a:bodyPr/>
                    <a:lstStyle/>
                    <a:p>
                      <a:pPr lvl="0" indent="0" marL="0">
                        <a:buNone/>
                      </a:pPr>
                      <a:r>
                        <a:rPr/>
                        <a:t>S20</a:t>
                      </a:r>
                    </a:p>
                  </a:txBody>
                </a:tc>
                <a:tc>
                  <a:txBody>
                    <a:bodyPr/>
                    <a:lstStyle/>
                    <a:p>
                      <a:pPr lvl="0" indent="0" marL="0">
                        <a:buNone/>
                      </a:pPr>
                      <a:r>
                        <a:rPr/>
                        <a:t>"Đóng góp thực sự là gì? Ghép thư viện thôi mà?"</a:t>
                      </a:r>
                    </a:p>
                  </a:txBody>
                </a:tc>
                <a:tc>
                  <a:txBody>
                    <a:bodyPr/>
                    <a:lstStyle/>
                    <a:p>
                      <a:pPr lvl="0" indent="0" marL="0">
                        <a:buNone/>
                      </a:pPr>
                      <a:r>
                        <a:rPr b="1"/>
                        <a:t>A1</a:t>
                      </a:r>
                      <a:r>
                        <a:rPr/>
                        <a:t>, G4</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2026-07-21T06:35:39Z</dcterms:created>
  <dcterms:modified xsi:type="dcterms:W3CDTF">2026-07-21T06:35:39Z</dcterms:modified>
</cp:coreProperties>
</file>

<file path=docProps/custom.xml><?xml version="1.0" encoding="utf-8"?>
<Properties xmlns="http://schemas.openxmlformats.org/officeDocument/2006/custom-properties" xmlns:vt="http://schemas.openxmlformats.org/officeDocument/2006/docPropsVTypes"/>
</file>