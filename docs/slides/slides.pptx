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</p:sldIdLst>
  <p:sldSz cx="12192000" cy="6858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Open Sans"/>
      <p:regular r:id="rId37"/>
      <p:bold r:id="rId38"/>
      <p:italic r:id="rId39"/>
      <p:boldItalic r:id="rId4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4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mpd="sng">
              <a:solidFill>
                <a:srgbClr val="7F7F7F"/>
              </a:solidFill>
            </a:ln>
          </a:left>
          <a:right>
            <a:ln w="12700" cmpd="sng">
              <a:solidFill>
                <a:srgbClr val="7F7F7F"/>
              </a:solidFill>
            </a:ln>
          </a:right>
          <a:top>
            <a:ln w="12700" cmpd="sng">
              <a:solidFill>
                <a:srgbClr val="7F7F7F"/>
              </a:solidFill>
            </a:ln>
          </a:top>
          <a:bottom>
            <a:ln w="12700" cmpd="sng">
              <a:solidFill>
                <a:srgbClr val="7F7F7F"/>
              </a:solidFill>
            </a:ln>
          </a:bottom>
          <a:insideH>
            <a:ln w="12700" cmpd="sng">
              <a:solidFill>
                <a:srgbClr val="7F7F7F"/>
              </a:solidFill>
            </a:ln>
          </a:insideH>
          <a:insideV>
            <a:ln w="12700" cmpd="sng">
              <a:solidFill>
                <a:srgbClr val="7F7F7F"/>
              </a:solidFill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34" Type="http://schemas.openxmlformats.org/officeDocument/2006/relationships/font" Target="fonts/Roboto-bold.fntdata" /><Relationship Id="rId33" Type="http://schemas.openxmlformats.org/officeDocument/2006/relationships/font" Target="fonts/Roboto-regular.fntdata" /><Relationship Id="rId36" Type="http://schemas.openxmlformats.org/officeDocument/2006/relationships/font" Target="fonts/Roboto-boldItalic.fntdata" /><Relationship Id="rId35" Type="http://schemas.openxmlformats.org/officeDocument/2006/relationships/font" Target="fonts/Roboto-italic.fntdata" /><Relationship Id="rId37" Type="http://schemas.openxmlformats.org/officeDocument/2006/relationships/font" Target="fonts/OpenSans-regular.fntdata" /><Relationship Id="rId39" Type="http://schemas.openxmlformats.org/officeDocument/2006/relationships/font" Target="fonts/OpenSans-italic.fntdata" /><Relationship Id="rId38" Type="http://schemas.openxmlformats.org/officeDocument/2006/relationships/font" Target="fonts/OpenSans-bold.fntdata" /><Relationship Id="rId41" Type="http://customschemas.google.com/relationships/presentationmetadata" Target="metadata" /><Relationship Id="rId4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1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324100"/>
            <a:ext cx="10582275" cy="38481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hyperlink" Target="mailto:mAP@0.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30600" y="2324100"/>
            <a:ext cx="5029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75100" y="2324100"/>
            <a:ext cx="4152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So với EasyOCR / Tesseract:</a:t>
                      </a:r>
                      <a:r>
                        <a:rPr/>
                        <a:t> phép đo trên 2.801 biển trong cùng tầng bao quanh cho kết quả PaddleOCR cao hơn; kết luận chỉ áp dụng cho cấu hình này• </a:t>
                      </a:r>
                      <a:r>
                        <a:rPr b="1"/>
                        <a:t>So với PP-OCRv5 Server:</a:t>
                      </a:r>
                      <a:r>
                        <a:rPr/>
                        <a:t> bản Server nặng hơn, không phù hợp ràng buộc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nhỏ, độ chính xác mức ký tự 94,5% trên tập đánh giá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67100" y="2324100"/>
            <a:ext cx="51689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13200" y="2324100"/>
            <a:ext cx="40767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46500" y="2324100"/>
            <a:ext cx="46101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27400" y="2324100"/>
            <a:ext cx="54483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Khử trùng lặp bằng pHash</a:t>
            </a:r>
            <a:r>
              <a:rPr/>
              <a:t> ở ngưỡng Hamming 10 — đo lại ở </a:t>
            </a:r>
            <a:r>
              <a:rPr b="1"/>
              <a:t>chính ngưỡng đó</a:t>
            </a:r>
            <a:r>
              <a:rPr/>
              <a:t> cho </a:t>
            </a:r>
            <a:r>
              <a:rPr b="1"/>
              <a:t>0 cặp</a:t>
            </a:r>
            <a:r>
              <a:rPr/>
              <a:t> Train–Test</a:t>
            </a:r>
          </a:p>
          <a:p>
            <a:pPr lvl="0" indent="0" marL="0">
              <a:buNone/>
            </a:pPr>
            <a:r>
              <a:rPr/>
              <a:t>⇒ Số 0 đó chứng minh </a:t>
            </a:r>
            <a:r>
              <a:rPr b="1"/>
              <a:t>bước gộp chạy đúng</a:t>
            </a:r>
            <a:r>
              <a:rPr/>
              <a:t>, không chứng minh tập test hoàn toàn độc lập: ở Hamming 12 vẫn còn </a:t>
            </a:r>
            <a:r>
              <a:rPr b="1"/>
              <a:t>791 cặp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</a:t>
            </a:r>
            <a:r>
              <a:rPr b="1"/>
              <a:t>10,05 giờ</a:t>
            </a:r>
            <a:r>
              <a:rPr/>
              <a:t> </a:t>
            </a:r>
            <a:r>
              <a:rPr i="1"/>
              <a:t>(30,2 phút/epoch)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43300" y="2324100"/>
            <a:ext cx="5003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nghẽn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0,7234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 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17800" y="2324100"/>
            <a:ext cx="66548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372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08400" y="2324100"/>
            <a:ext cx="46990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 thực nghiệm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23,07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0,7701)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Phục hồi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suy luận thuần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Điểm nghẽn thời gian là </a:t>
            </a:r>
            <a:r>
              <a:rPr b="1"/>
              <a:t>OCR (60,8%)</a:t>
            </a:r>
            <a:r>
              <a:rPr/>
              <a:t>; tầng phát hiện chiếm </a:t>
            </a:r>
            <a:r>
              <a:rPr b="1"/>
              <a:t>38,0%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Ước lượng ban đầu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thật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% tổng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ảnh + tiền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1,78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1,2%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 </a:t>
                      </a:r>
                      <a:r>
                        <a:rPr i="1"/>
                        <a:t>(YOLO11n @ 640, CPU)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55,66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38,0%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Nhận dạng chữ </a:t>
                      </a:r>
                      <a:r>
                        <a:rPr i="1"/>
                        <a:t>(PaddleOCR, mỗi biển)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89,16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60,8%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Hậu xử lý regex + kiểm tra hợp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0,03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0,0%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suy luận thuần cho một biển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405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146,63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suy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hoàn tất dưới 500 ms; độ trễ tập trung ở các ca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2324100"/>
            <a:ext cx="7696200" cy="384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1.004/1.004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độc lập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5.337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bền vững qua khởi động lại</a:t>
            </a:r>
            <a:r>
              <a:rPr/>
              <a:t>: 7.977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đóng gói và xác minh hoàn chỉnh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tổng hợp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0,7701</a:t>
                      </a:r>
                      <a:r>
                        <a:rPr/>
                        <a:t> · đầu cuối </a:t>
                      </a:r>
                      <a:r>
                        <a:rPr b="1"/>
                        <a:t>0,563</a:t>
                      </a:r>
                      <a:r>
                        <a:rPr/>
                        <a:t> </a:t>
                      </a:r>
                      <a:r>
                        <a:rPr i="1"/>
                        <a:t>(1.606 khung toàn cảnh, nhãn máy sinh)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510 ms</a:t>
                      </a:r>
                      <a:r>
                        <a:rPr/>
                        <a:t> </a:t>
                      </a:r>
                      <a:r>
                        <a:rPr i="1"/>
                        <a:t>(mục tiêu 800)</a:t>
                      </a:r>
                      <a:r>
                        <a:rPr/>
                        <a:t> · video </a:t>
                      </a:r>
                      <a:r>
                        <a:rPr b="1"/>
                        <a:t>0,87×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Luồng khung hình </a:t>
                      </a:r>
                      <a:r>
                        <a:rPr b="1"/>
                        <a:t>5,63 FPS</a:t>
                      </a:r>
                      <a:r>
                        <a:rPr/>
                        <a:t> </a:t>
                      </a:r>
                      <a:r>
                        <a:rPr i="1"/>
                        <a:t>(sàn 3, mục tiêu 5 — đo ở tầng API </a:t>
                      </a:r>
                      <a:r>
                        <a:rPr i="1">
                          <a:latin typeface="Courier"/>
                        </a:rPr>
                        <a:t>POST /api/detect/frame</a:t>
                      </a:r>
                      <a:r>
                        <a:rPr i="1"/>
                        <a:t>, không qua trang web)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và hướng phát triển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 hạn chế chính</a:t>
            </a:r>
            <a:r>
              <a:rPr/>
              <a:t> — và hướng xử lý tương ứng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Hướng phát triển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OCR biển 2 dòng còn thấp</a:t>
                      </a:r>
                      <a:r>
                        <a:rPr/>
                        <a:t> — 0,7234 so với 0,9541 của biển 1 dòng, mà biển 2 dòng chiếm 79,8% tập nhãn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Huấn luyện lại bộ nhận dạng riêng cho biển số Việt Nam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Nhãn ảnh hiện trường do mô hình sinh, không phải người gán</a:t>
                      </a:r>
                      <a:r>
                        <a:rPr/>
                        <a:t> — A7 = 56,3% phải đọc kèm hạn chế này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Xây dựng bộ nhãn chuỗi do người gán cho ảnh toàn cảnh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Chưa đánh giá xuyên bộ dữ liệu</a:t>
                      </a:r>
                      <a:r>
                        <a:rPr/>
                        <a:t> — giữ nguyên một nguồn không dùng để huấn luyện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Dựng tập test xuyên bộ để đo tổng quát hoá ngoài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</a:t>
            </a:r>
            <a:r>
              <a:rPr b="1"/>
              <a:t>5 tầng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 — mAP50 </a:t>
            </a:r>
            <a:r>
              <a:rPr b="1"/>
              <a:t>0,983</a:t>
            </a:r>
          </a:p>
          <a:p>
            <a:pPr lvl="0"/>
            <a:r>
              <a:rPr/>
              <a:t>Hậu xử lý </a:t>
            </a:r>
            <a:r>
              <a:rPr b="1"/>
              <a:t>+13,28 điểm</a:t>
            </a:r>
            <a:r>
              <a:rPr/>
              <a:t>, đo tách bạch</a:t>
            </a:r>
          </a:p>
          <a:p>
            <a:pPr lvl="0"/>
            <a:r>
              <a:rPr b="1"/>
              <a:t>1.004/1.004 kiểm thử</a:t>
            </a:r>
            <a:r>
              <a:rPr/>
              <a:t> đạt · bao phủ </a:t>
            </a:r>
            <a:r>
              <a:rPr b="1"/>
              <a:t>87,7%</a:t>
            </a:r>
          </a:p>
          <a:p>
            <a:pPr lvl="0"/>
            <a:r>
              <a:rPr/>
              <a:t>Định lượng riêng biển </a:t>
            </a:r>
            <a:r>
              <a:rPr b="1"/>
              <a:t>1 dòng</a:t>
            </a:r>
            <a:r>
              <a:rPr/>
              <a:t> và </a:t>
            </a:r>
            <a:r>
              <a:rPr b="1"/>
              <a:t>2 dòng</a:t>
            </a:r>
            <a:r>
              <a:rPr/>
              <a:t> trên cùng hệ thống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Sáu loại lỗi </a:t>
            </a:r>
            <a:r>
              <a:rPr b="1"/>
              <a:t>loại trừ lẫn nhau</a:t>
            </a:r>
            <a:r>
              <a:rPr/>
              <a:t> — </a:t>
            </a:r>
            <a:r>
              <a:rPr b="1"/>
              <a:t>644 ca sai trên 2.801 biển (22,99%)</a:t>
            </a:r>
            <a:r>
              <a:rPr/>
              <a:t>, khớp đúng 1 − A6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Mã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Loại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Số 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% ca sai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 dòng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 dòng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Nhầm ký tự</a:t>
                      </a:r>
                      <a:r>
                        <a:rPr/>
                        <a:t> </a:t>
                      </a:r>
                      <a:r>
                        <a:rPr i="1"/>
                        <a:t>(thay thế)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60,87%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Thiếu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11,80%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Thừa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3,11%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Sai thứ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Trả chuỗi rỗng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1,55%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Hỗn hợp nhiều loại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22,67%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618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0,7701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+13,28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372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0,7701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0,723)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150 ms</a:t>
                      </a:r>
                      <a:r>
                        <a:rPr/>
                        <a:t> · p95 </a:t>
                      </a:r>
                      <a:r>
                        <a:rPr b="1"/>
                        <a:t>510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1.004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Kiến trúc hai mô hình: YOLO11n và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một dòng hay hai dòng </a:t>
            </a:r>
            <a:r>
              <a:rPr b="1"/>
              <a:t>không do mô hình quyết</a:t>
            </a:r>
            <a:r>
              <a:rPr/>
              <a:t> — suy ra ở bước hậu xử lý theo tỉ lệ khung hình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324100"/>
          <a:ext cx="10579100" cy="38481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(phát hiện)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(nhận dạng)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C3k2 +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Cơ chế đặc trưng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SPPF — gộp ngữ cảnh đa tỉ lệ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— transformer có cổng, trên dải cao 64 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Đầu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head, một lớp </a:t>
                      </a:r>
                      <a:r>
                        <a:rPr>
                          <a:latin typeface="Courier"/>
                        </a:rPr>
                        <a:t>license_plate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— giải mã chuỗi không cần nhãn từng vạch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2,6M tham số</a:t>
                      </a:r>
                      <a:r>
                        <a:rPr/>
                        <a:t> · 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4,5 MB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Đo được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2"/>
                        </a:rPr>
                        <a:t>mAP@0.5</a:t>
                      </a:r>
                      <a:r>
                        <a:rPr/>
                        <a:t> = </a:t>
                      </a:r>
                      <a:r>
                        <a:rPr b="1"/>
                        <a:t>0,9829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1 − CER = </a:t>
                      </a:r>
                      <a:r>
                        <a:rPr b="1"/>
                        <a:t>94,83%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2026-08-31T05:59:44Z</dcterms:created>
  <dcterms:modified xsi:type="dcterms:W3CDTF">2026-08-31T05:59:44Z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