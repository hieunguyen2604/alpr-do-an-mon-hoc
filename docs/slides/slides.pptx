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</p:sldIdLst>
  <p:sldSz cx="12192000" cy="6858000"/>
  <p:notesSz cx="6858000" cy="9144000"/>
  <p:embeddedFontLst>
    <p:embeddedFont>
      <p:font typeface="Roboto"/>
      <p:regular r:id="rId34"/>
      <p:bold r:id="rId35"/>
      <p:italic r:id="rId36"/>
      <p:boldItalic r:id="rId37"/>
    </p:embeddedFont>
    <p:embeddedFont>
      <p:font typeface="Open Sans"/>
      <p:regular r:id="rId38"/>
      <p:bold r:id="rId39"/>
      <p:italic r:id="rId40"/>
      <p:boldItalic r:id="rId41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2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5" Type="http://schemas.openxmlformats.org/officeDocument/2006/relationships/font" Target="fonts/Roboto-bold.fntdata" /><Relationship Id="rId34" Type="http://schemas.openxmlformats.org/officeDocument/2006/relationships/font" Target="fonts/Roboto-regular.fntdata" /><Relationship Id="rId37" Type="http://schemas.openxmlformats.org/officeDocument/2006/relationships/font" Target="fonts/Roboto-boldItalic.fntdata" /><Relationship Id="rId36" Type="http://schemas.openxmlformats.org/officeDocument/2006/relationships/font" Target="fonts/Roboto-italic.fntdata" /><Relationship Id="rId38" Type="http://schemas.openxmlformats.org/officeDocument/2006/relationships/font" Target="fonts/OpenSans-regular.fntdata" /><Relationship Id="rId40" Type="http://schemas.openxmlformats.org/officeDocument/2006/relationships/font" Target="fonts/OpenSans-italic.fntdata" /><Relationship Id="rId39" Type="http://schemas.openxmlformats.org/officeDocument/2006/relationships/font" Target="fonts/OpenSans-bold.fntdata" /><Relationship Id="rId42" Type="http://customschemas.google.com/relationships/presentationmetadata" Target="metadata" /><Relationship Id="rId41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just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Mở đầu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xe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Bố cục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Đọc đúng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Ô tô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94,3%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Xe máy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45,7%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Nền tảng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Khoảng </a:t>
            </a:r>
            <a:r>
              <a:rPr b="1"/>
              <a:t>(2,000 ; 4,727)</a:t>
            </a:r>
            <a:r>
              <a:rPr/>
              <a:t> bỏ trống ⇒ phân loại số dòng bằng hình học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biển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Tỉ lệ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Số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Ô tô biển dài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4,727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Ô tô biển ngắn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Xe mô tô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Thiết kế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Tách tầng AI khỏi tầng API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Ràng buộc:</a:t>
            </a:r>
            <a:r>
              <a:rPr/>
              <a:t> </a:t>
            </a:r>
            <a:r>
              <a:rPr>
                <a:latin typeface="Courier"/>
              </a:rPr>
              <a:t>ai/inference/</a:t>
            </a:r>
            <a:r>
              <a:rPr/>
              <a:t> cấm import FastAPI hoặc Pydantic</a:t>
            </a:r>
          </a:p>
          <a:p>
            <a:pPr lvl="0"/>
            <a:r>
              <a:rPr/>
              <a:t>Khối AI </a:t>
            </a:r>
            <a:r>
              <a:rPr b="1"/>
              <a:t>không có mũi tên nào đi lên</a:t>
            </a:r>
            <a:r>
              <a:rPr/>
              <a:t> — không biết gì về HTTP, CSDL hay ai gọi nó</a:t>
            </a:r>
          </a:p>
          <a:p>
            <a:pPr lvl="0"/>
            <a:r>
              <a:rPr/>
              <a:t>Kiểm thử độc lập, không cần dựng server</a:t>
            </a:r>
          </a:p>
          <a:p>
            <a:pPr lvl="0"/>
            <a:r>
              <a:rPr/>
              <a:t>Cùng một pipeline dùng cho huấn luyện, đánh giá và phục vụ</a:t>
            </a:r>
          </a:p>
          <a:p>
            <a:pPr lvl="0"/>
            <a:r>
              <a:rPr/>
              <a:t>Thay engine OCR </a:t>
            </a:r>
            <a:r>
              <a:rPr b="1"/>
              <a:t>không đụng một dòng mã API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"fastapi\|pydantic"</a:t>
            </a:r>
            <a:r>
              <a:rPr>
                <a:latin typeface="Courier"/>
              </a:rPr>
              <a:t> ai/inference/   </a:t>
            </a:r>
            <a:r>
              <a:rPr i="1">
                <a:solidFill>
                  <a:srgbClr val="60A0B0"/>
                </a:solidFill>
                <a:latin typeface="Courier"/>
              </a:rPr>
              <a:t># phải ra rỗng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  <a:p>
            <a:pPr lvl="0" indent="0">
              <a:buNone/>
            </a:pPr>
            <a:r>
              <a:rPr>
                <a:latin typeface="Courier"/>
              </a:rPr>
              <a:t>Ảnh → YOLO11n phát hiện → cắt vùng biển
    → phân loại số dòng (ngưỡng tỉ lệ 2,5)
        ├─ 1 dòng → PaddleOCR
        └─ 2 dòng → nắn hình → tách → ghép ngang → PaddleOCR
    → chuẩn hoá + sửa lỗi theo VỊ TRÍ → kiểm tra hợp lệ
    → lưu CẢ chuỗi thô LẪN chuỗi đã sửa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Dữ liệu và huấn luyện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trên </a:t>
            </a:r>
            <a:r>
              <a:rPr b="1"/>
              <a:t>GPU đám mây</a:t>
            </a:r>
            <a:r>
              <a:rPr/>
              <a:t>, triển khai suy luận </a:t>
            </a:r>
            <a:r>
              <a:rPr b="1"/>
              <a:t>trên CPU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kỹ thuật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Nguyên nhân gốc là kiến trúc, không phải chất lượng mô hình</a:t>
            </a:r>
          </a:p>
          <a:p>
            <a:pPr lvl="0"/>
            <a:r>
              <a:rPr/>
              <a:t>CRNN/CTC giả định căn chỉnh </a:t>
            </a:r>
            <a:r>
              <a:rPr b="1"/>
              <a:t>trên một dòng</a:t>
            </a:r>
            <a:r>
              <a:rPr/>
              <a:t> — nằm trong </a:t>
            </a:r>
            <a:r>
              <a:rPr b="1"/>
              <a:t>hàm mất mát</a:t>
            </a:r>
          </a:p>
          <a:p>
            <a:pPr lvl="0"/>
            <a:r>
              <a:rPr/>
              <a:t>PaddleOCR ép cao 48 px ⇒ </a:t>
            </a:r>
            <a:r>
              <a:rPr b="1"/>
              <a:t>mỗi dòng chỉ còn ~24 px</a:t>
            </a:r>
          </a:p>
          <a:p>
            <a:pPr lvl="0" indent="0" marL="0">
              <a:buNone/>
            </a:pPr>
            <a:r>
              <a:rPr b="1"/>
              <a:t>Giải pháp — split-then-hstack</a:t>
            </a:r>
          </a:p>
          <a:p>
            <a:pPr lvl="0"/>
            <a:r>
              <a:rPr/>
              <a:t>Nắn hình → tách hai nửa chồng lấn → ghép ngang → OCR </a:t>
            </a:r>
            <a:r>
              <a:rPr b="1"/>
              <a:t>một lần</a:t>
            </a:r>
          </a:p>
          <a:p>
            <a:pPr lvl="0"/>
            <a:r>
              <a:rPr/>
              <a:t>Đọc từng nửa: </a:t>
            </a:r>
            <a:r>
              <a:rPr b="1"/>
              <a:t>3,5%</a:t>
            </a:r>
            <a:r>
              <a:rPr/>
              <a:t> · ghép ngang: </a:t>
            </a:r>
            <a:r>
              <a:rPr b="1"/>
              <a:t>64,5%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và hệ thống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Chức năng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ảnh </a:t>
                      </a:r>
                      <a:r>
                        <a:rPr i="1"/>
                        <a:t>(chủ)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Chọn ảnh là chạy ngay, khung bao + kết quả hiện cùng lúc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Bất đồng bộ — trả </a:t>
                      </a:r>
                      <a:r>
                        <a:rPr>
                          <a:latin typeface="Courier"/>
                        </a:rPr>
                        <a:t>job_id</a:t>
                      </a:r>
                      <a:r>
                        <a:rPr/>
                        <a:t>, hỏi tiến độ, xuất video gắn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Lọc, sắp xếp, phân trang — </a:t>
                      </a:r>
                      <a:r>
                        <a:rPr b="1"/>
                        <a:t>trạng thái nằm trên URL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</a:t>
            </a:r>
          </a:p>
          <a:p>
            <a:pPr lvl="0" indent="0" marL="0">
              <a:buNone/>
            </a:pPr>
            <a:r>
              <a:rPr b="1"/>
              <a:t>Em xin sẵn sàng nhận câu hỏi từ hội đồng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2026-07-28T13:34:00Z</dcterms:created>
  <dcterms:modified xsi:type="dcterms:W3CDTF">2026-07-28T13:34:00Z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