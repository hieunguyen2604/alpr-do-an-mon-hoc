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</p:sldIdLst>
  <p:sldSz cx="12192000" cy="6858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Open Sans"/>
      <p:regular r:id="rId42"/>
      <p:bold r:id="rId43"/>
      <p:italic r:id="rId44"/>
      <p:boldItalic r:id="rId45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6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9" Type="http://schemas.openxmlformats.org/officeDocument/2006/relationships/font" Target="fonts/Roboto-bold.fntdata" /><Relationship Id="rId38" Type="http://schemas.openxmlformats.org/officeDocument/2006/relationships/font" Target="fonts/Roboto-regular.fntdata" /><Relationship Id="rId41" Type="http://schemas.openxmlformats.org/officeDocument/2006/relationships/font" Target="fonts/Roboto-boldItalic.fntdata" /><Relationship Id="rId40" Type="http://schemas.openxmlformats.org/officeDocument/2006/relationships/font" Target="fonts/Roboto-italic.fntdata" /><Relationship Id="rId42" Type="http://schemas.openxmlformats.org/officeDocument/2006/relationships/font" Target="fonts/OpenSans-regular.fntdata" /><Relationship Id="rId44" Type="http://schemas.openxmlformats.org/officeDocument/2006/relationships/font" Target="fonts/OpenSans-italic.fntdata" /><Relationship Id="rId43" Type="http://schemas.openxmlformats.org/officeDocument/2006/relationships/font" Target="fonts/OpenSans-bold.fntdata" /><Relationship Id="rId46" Type="http://customschemas.google.com/relationships/presentationmetadata" Target="metadata" /><Relationship Id="rId45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/>
              <a:t>Chống rò rỉ: băm tri giác, chia theo </a:t>
            </a:r>
            <a:r>
              <a:rPr b="1"/>
              <a:t>nhóm</a:t>
            </a:r>
            <a:r>
              <a:rPr/>
              <a:t>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Các bộ công khai </a:t>
            </a:r>
            <a:r>
              <a:rPr b="1"/>
              <a:t>không độc lập với nhau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 ba </a:t>
            </a:r>
            <a:r>
              <a:rPr b="1"/>
              <a:t>ngoài</a:t>
            </a:r>
            <a:r>
              <a:rPr/>
              <a:t> mô hình nhận dạng: </a:t>
            </a:r>
            <a:r>
              <a:rPr b="1"/>
              <a:t>0,6098 → 0,7512</a:t>
            </a:r>
            <a:r>
              <a:rPr/>
              <a:t>. </a:t>
            </a: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i5-14600K · 20 luồng · KHÔNG có GPU CUDA</a:t>
            </a:r>
            <a:r>
              <a:rPr/>
              <a:t> — vượt p95 là </a:t>
            </a:r>
            <a:r>
              <a:rPr b="1"/>
              <a:t>đánh đổi có chủ 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sàn 1.500 ms · mục tiêu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Yêu cầu đồng thời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Fine-tune bộ nhận dạng: có và không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 acc </a:t>
            </a:r>
            <a:r>
              <a:rPr b="1"/>
              <a:t>0,8809</a:t>
            </a:r>
            <a:r>
              <a:rPr/>
              <a:t> nhưng chạy thật lại </a:t>
            </a:r>
            <a:r>
              <a:rPr b="1"/>
              <a:t>kém hơn</a:t>
            </a:r>
            <a:r>
              <a:rPr/>
              <a:t>: PaddleOCR </a:t>
            </a:r>
            <a:r>
              <a:rPr b="1"/>
              <a:t>đánh giá</a:t>
            </a:r>
            <a:r>
              <a:rPr/>
              <a:t> bằng nguyên ảnh, hệ thống </a:t>
            </a:r>
            <a:r>
              <a:rPr b="1"/>
              <a:t>chạy</a:t>
            </a:r>
            <a:r>
              <a:rPr/>
              <a:t> bằng cắt mảnh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Bộ demo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Model gốc</a:t>
                      </a:r>
                      <a:r>
                        <a:rPr/>
                        <a:t> — bản giao hàng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17/22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giữ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bỏ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0,8758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15/22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2026-08-02T09:48:04Z</dcterms:created>
  <dcterms:modified xsi:type="dcterms:W3CDTF">2026-08-02T09:48:04Z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