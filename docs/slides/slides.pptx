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13/2025 · TT 51/2025</a:t>
            </a:r>
            <a:r>
              <a:rPr/>
              <a:t> — sửa đổi TT 79/2024 · phụ lục mã tỉnh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phục hồi khi nhận dạng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kích hoạt </a:t>
            </a:r>
            <a:r>
              <a:rPr b="1"/>
              <a:t>sau khi nhận dạng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làm thay đổi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Cơ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biển phục hồi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lưu vết đánh giá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71800" y="2324100"/>
            <a:ext cx="61595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OCR (</a:t>
            </a:r>
            <a:r>
              <a:rPr b="1"/>
              <a:t>64,3%</a:t>
            </a:r>
            <a:r>
              <a:rPr/>
              <a:t>); tầng phát hiện chiếm </a:t>
            </a:r>
            <a:r>
              <a:rPr b="1"/>
              <a:t>34,0%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2,83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57,27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34,0%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108,28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64,3%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 minh họa trên môi trường thực tế: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Tình huống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Mục tiêu kiểm chứng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cơ bản, nhận dạng chính xác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phân tách hai nửa và ghép ngang chạy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và hiển thị lịch sử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0,7234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Độ chính xác đầu cuối chưa đo trên tập lớn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bộ dữ liệu đồng thời có ảnh toàn cảnh và nhãn chuỗi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Dữ liệu chủ yếu là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Nguồn công khai chưa đa dạng các loại biển hiếm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chưa mở rộng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Đánh giá tổng quát hóa chủ yếu trong cùng phân phối thu thập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Tập trung vào các điểm nghẽn đã xác định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số Việt Nam</a:t>
            </a:r>
          </a:p>
          <a:p>
            <a:pPr lvl="0" indent="0" marL="347663">
              <a:buAutoNum type="arabicPeriod"/>
            </a:pPr>
            <a:r>
              <a:rPr b="1"/>
              <a:t>Xây dựng tập nhãn chuỗi cho ảnh hiện trường</a:t>
            </a:r>
            <a:r>
              <a:rPr/>
              <a:t> để đo đạc độ chính xác đầu cuối hoàn chỉnh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Đánh giá kiểm thử </a:t>
            </a:r>
            <a:r>
              <a:rPr b="1"/>
              <a:t>xuyên bộ dữ liệu</a:t>
            </a:r>
            <a:r>
              <a:rPr/>
              <a:t> để đo tổng quát hóa ngoài phân phối</a:t>
            </a:r>
          </a:p>
          <a:p>
            <a:pPr lvl="0" indent="0" marL="347663">
              <a:buAutoNum startAt="3" type="arabicPeriod"/>
            </a:pPr>
            <a:r>
              <a:rPr/>
              <a:t>Xuất mô hình sang OpenVINO / ONNX Runtime để tối ưu hóa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Nhóm thực hiện xin trân trọng cảm ơn Quý Thầy/Cô và Hội đồng.</a:t>
            </a:r>
          </a:p>
          <a:p>
            <a:pPr lvl="0" indent="0" marL="0">
              <a:buNone/>
            </a:pPr>
            <a:r>
              <a:rPr b="1"/>
              <a:t>Trân trọng kính mời Hội đồng đặt câu hỏi phản biện.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của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  <a:r>
                        <a:rPr/>
                        <a:t>; bố cục một/hai dòng được suy ra ở bước hậu xử lý theo tỷ lệ khung hình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94,83%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, mỗi ca sai gán đúng một loại — </a:t>
            </a:r>
            <a:r>
              <a:rPr b="1"/>
              <a:t>697 ca trên 2.801 biển (24,88%)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tổng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Một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Hai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Bỏ sót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nhầm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(chưa đo)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445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63,85%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10,47%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2,58%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Trích </a:t>
            </a:r>
            <a:r>
              <a:rPr>
                <a:latin typeface="Courier"/>
              </a:rPr>
              <a:t>runs/final-640-v3/args.yaml</a:t>
            </a:r>
            <a:r>
              <a:rPr/>
              <a:t> và </a:t>
            </a:r>
            <a:r>
              <a:rPr>
                <a:latin typeface="Courier"/>
              </a:rPr>
              <a:t>results.csv</a:t>
            </a:r>
            <a:r>
              <a:rPr/>
              <a:t> — bản ghi </a:t>
            </a:r>
            <a:r>
              <a:rPr i="1"/>
              <a:t>đã thực thi</a:t>
            </a:r>
            <a:r>
              <a:rPr/>
              <a:t>, không phải dự định.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Epoch 1 → 20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epochs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  <a:r>
                        <a:rPr/>
                        <a:t> / </a:t>
                      </a:r>
                      <a:r>
                        <a:rPr b="1"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1,252 → 0,809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batch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seed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8</a:t>
                      </a:r>
                      <a:r>
                        <a:rPr/>
                        <a:t> / </a:t>
                      </a:r>
                      <a:r>
                        <a:rPr b="1"/>
                        <a:t>42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0,833 → 0,313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optimizer</a:t>
                      </a:r>
                      <a:r>
                        <a:rPr b="1"/>
                        <a:t> / </a:t>
                      </a:r>
                      <a:r>
                        <a:rPr b="1">
                          <a:latin typeface="Courier"/>
                        </a:rPr>
                        <a:t>lr0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AdamW</a:t>
                      </a:r>
                      <a:r>
                        <a:rPr/>
                        <a:t> / </a:t>
                      </a:r>
                      <a:r>
                        <a:rPr b="1"/>
                        <a:t>0,001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1,154 → 0,987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latin typeface="Courier"/>
                        </a:rPr>
                        <a:t>device</a:t>
                      </a:r>
                      <a:r>
                        <a:rPr b="1"/>
                        <a:t> / tham số 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cpu</a:t>
                      </a:r>
                      <a:r>
                        <a:rPr/>
                        <a:t> / </a:t>
                      </a:r>
                      <a:r>
                        <a:rPr b="1"/>
                        <a:t>2.590.035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>
                          <a:hlinkClick r:id="rId2"/>
                        </a:rPr>
                        <a:t>mAP@0.5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0,9684 → 0,9830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Thời gian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10,05 giờ</a:t>
                      </a:r>
                      <a:r>
                        <a:rPr/>
                        <a:t> </a:t>
                      </a:r>
                      <a:r>
                        <a:rPr i="1"/>
                        <a:t>(30,2 phút/epoch)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2026-08-31T05:10:26Z</dcterms:created>
  <dcterms:modified xsi:type="dcterms:W3CDTF">2026-08-31T05:10:26Z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