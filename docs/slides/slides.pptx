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</p:sldIdLst>
  <p:sldSz cx="12192000" cy="6858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Open Sans"/>
      <p:regular r:id="rId47"/>
      <p:bold r:id="rId48"/>
      <p:italic r:id="rId49"/>
      <p:boldItalic r:id="rId50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51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mpd="sng">
              <a:solidFill>
                <a:srgbClr val="7F7F7F"/>
              </a:solidFill>
            </a:ln>
          </a:left>
          <a:right>
            <a:ln w="12700" cmpd="sng">
              <a:solidFill>
                <a:srgbClr val="7F7F7F"/>
              </a:solidFill>
            </a:ln>
          </a:right>
          <a:top>
            <a:ln w="12700" cmpd="sng">
              <a:solidFill>
                <a:srgbClr val="7F7F7F"/>
              </a:solidFill>
            </a:ln>
          </a:top>
          <a:bottom>
            <a:ln w="12700" cmpd="sng">
              <a:solidFill>
                <a:srgbClr val="7F7F7F"/>
              </a:solidFill>
            </a:ln>
          </a:bottom>
          <a:insideH>
            <a:ln w="12700" cmpd="sng">
              <a:solidFill>
                <a:srgbClr val="7F7F7F"/>
              </a:solidFill>
            </a:ln>
          </a:insideH>
          <a:insideV>
            <a:ln w="12700" cmpd="sng">
              <a:solidFill>
                <a:srgbClr val="7F7F7F"/>
              </a:solidFill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33" Type="http://schemas.openxmlformats.org/officeDocument/2006/relationships/slide" Target="slides/slide29.xml" /><Relationship Id="rId34" Type="http://schemas.openxmlformats.org/officeDocument/2006/relationships/slide" Target="slides/slide30.xml" /><Relationship Id="rId35" Type="http://schemas.openxmlformats.org/officeDocument/2006/relationships/slide" Target="slides/slide31.xml" /><Relationship Id="rId36" Type="http://schemas.openxmlformats.org/officeDocument/2006/relationships/slide" Target="slides/slide32.xml" /><Relationship Id="rId37" Type="http://schemas.openxmlformats.org/officeDocument/2006/relationships/slide" Target="slides/slide33.xml" /><Relationship Id="rId38" Type="http://schemas.openxmlformats.org/officeDocument/2006/relationships/slide" Target="slides/slide34.xml" /><Relationship Id="rId39" Type="http://schemas.openxmlformats.org/officeDocument/2006/relationships/slide" Target="slides/slide35.xml" /><Relationship Id="rId40" Type="http://schemas.openxmlformats.org/officeDocument/2006/relationships/slide" Target="slides/slide36.xml" /><Relationship Id="rId41" Type="http://schemas.openxmlformats.org/officeDocument/2006/relationships/slide" Target="slides/slide37.xml" /><Relationship Id="rId42" Type="http://schemas.openxmlformats.org/officeDocument/2006/relationships/slide" Target="slides/slide38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44" Type="http://schemas.openxmlformats.org/officeDocument/2006/relationships/font" Target="fonts/Roboto-bold.fntdata" /><Relationship Id="rId43" Type="http://schemas.openxmlformats.org/officeDocument/2006/relationships/font" Target="fonts/Roboto-regular.fntdata" /><Relationship Id="rId46" Type="http://schemas.openxmlformats.org/officeDocument/2006/relationships/font" Target="fonts/Roboto-boldItalic.fntdata" /><Relationship Id="rId45" Type="http://schemas.openxmlformats.org/officeDocument/2006/relationships/font" Target="fonts/Roboto-italic.fntdata" /><Relationship Id="rId47" Type="http://schemas.openxmlformats.org/officeDocument/2006/relationships/font" Target="fonts/OpenSans-regular.fntdata" /><Relationship Id="rId49" Type="http://schemas.openxmlformats.org/officeDocument/2006/relationships/font" Target="fonts/OpenSans-italic.fntdata" /><Relationship Id="rId48" Type="http://schemas.openxmlformats.org/officeDocument/2006/relationships/font" Target="fonts/OpenSans-bold.fntdata" /><Relationship Id="rId51" Type="http://customschemas.google.com/relationships/presentationmetadata" Target="metadata" /><Relationship Id="rId50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324100"/>
            <a:ext cx="10582275" cy="38481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7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NỘI DUNG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347663">
              <a:buAutoNum type="arabicPeriod"/>
            </a:pPr>
            <a:r>
              <a:rPr b="1"/>
              <a:t>Tổng quan đề tài</a:t>
            </a:r>
          </a:p>
          <a:p>
            <a:pPr lvl="0" indent="0" marL="347663">
              <a:buAutoNum type="arabicPeriod"/>
            </a:pPr>
            <a:r>
              <a:rPr b="1"/>
              <a:t>Cơ sở lý thuyết</a:t>
            </a:r>
          </a:p>
          <a:p>
            <a:pPr lvl="0" indent="0" marL="347663">
              <a:buAutoNum type="arabicPeriod"/>
            </a:pPr>
            <a:r>
              <a:rPr b="1"/>
              <a:t>Phân tích và thiết kế hệ thống</a:t>
            </a:r>
          </a:p>
          <a:p>
            <a:pPr lvl="0" indent="0" marL="347663">
              <a:buAutoNum type="arabicPeriod"/>
            </a:pPr>
            <a:r>
              <a:rPr b="1"/>
              <a:t>Kết quả thực nghiệm</a:t>
            </a:r>
          </a:p>
          <a:p>
            <a:pPr lvl="0" indent="0" marL="347663">
              <a:buAutoNum type="arabicPeriod"/>
            </a:pPr>
            <a:r>
              <a:rPr b="1"/>
              <a:t>Kết luận và hướng phát triển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đề tài này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~77 triệu xe máy</a:t>
            </a:r>
            <a:r>
              <a:rPr/>
              <a:t> — </a:t>
            </a:r>
            <a:r>
              <a:rPr b="1"/>
              <a:t>85–90%</a:t>
            </a:r>
            <a:r>
              <a:rPr/>
              <a:t> lưu lượng đường bộ Việt Nam</a:t>
            </a:r>
          </a:p>
          <a:p>
            <a:pPr lvl="0" indent="0" marL="0">
              <a:buNone/>
            </a:pPr>
            <a:r>
              <a:rPr/>
              <a:t>Cùng hệ thống, cùng phép đo: </a:t>
            </a:r>
            <a:r>
              <a:rPr b="1"/>
              <a:t>chênh 48,6 điểm</a:t>
            </a:r>
            <a:r>
              <a:rPr/>
              <a:t> </a:t>
            </a:r>
            <a:r>
              <a:rPr i="1"/>
              <a:t>(số liệu Brazil)</a:t>
            </a:r>
          </a:p>
        </p:txBody>
      </p:sp>
      <p:pic>
        <p:nvPicPr>
          <p:cNvPr descr="figures/fig-g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30600" y="2324100"/>
            <a:ext cx="5029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Căn cứ pháp lý: một phát hiện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Đề bài dẫn </a:t>
            </a:r>
            <a:r>
              <a:rPr sz="2000" b="1"/>
              <a:t>TT 24/2023/TT-BCA</a:t>
            </a:r>
            <a:r>
              <a:rPr sz="2000"/>
              <a:t> — </a:t>
            </a:r>
            <a:r>
              <a:rPr sz="2000" b="1"/>
              <a:t>đã hết hiệu lực từ 01/01/2025</a:t>
            </a:r>
          </a:p>
          <a:p>
            <a:pPr lvl="0"/>
            <a:r>
              <a:rPr b="1"/>
              <a:t>TT 79/2024/TT-BCA</a:t>
            </a:r>
            <a:r>
              <a:rPr/>
              <a:t> — cấu trúc biển, seri, màu sắc</a:t>
            </a:r>
          </a:p>
          <a:p>
            <a:pPr lvl="0"/>
            <a:r>
              <a:rPr b="1"/>
              <a:t>TT 51/2025/TT-BCA</a:t>
            </a:r>
            <a:r>
              <a:rPr/>
              <a:t> — thay phụ lục mã tỉnh, còn </a:t>
            </a:r>
            <a:r>
              <a:rPr b="1"/>
              <a:t>34 tỉnh/thành</a:t>
            </a:r>
          </a:p>
          <a:p>
            <a:pPr lvl="0"/>
            <a:r>
              <a:rPr b="1"/>
              <a:t>QCVN 08:2024/BCA</a:t>
            </a:r>
            <a:r>
              <a:rPr/>
              <a:t> — kích thước và tỉ lệ</a:t>
            </a:r>
          </a:p>
          <a:p>
            <a:pPr lvl="0" indent="0" marL="0">
              <a:buNone/>
            </a:pPr>
            <a:r>
              <a:rPr/>
              <a:t>⇒ Bộ luật xây trên văn bản </a:t>
            </a:r>
            <a:r>
              <a:rPr b="1"/>
              <a:t>đang có hiệu lực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Đặc thù biển số Việt Nam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tách bạch theo </a:t>
            </a:r>
            <a:r>
              <a:rPr b="1"/>
              <a:t>tỉ lệ khung hình</a:t>
            </a:r>
            <a:r>
              <a:rPr/>
              <a:t> </a:t>
            </a:r>
            <a:r>
              <a:rPr i="1"/>
              <a:t>(QCVN 08:2024/BCA)</a:t>
            </a:r>
          </a:p>
          <a:p>
            <a:pPr lvl="0" indent="0" marL="0">
              <a:buNone/>
            </a:pPr>
            <a:r>
              <a:rPr/>
              <a:t>Tỉ lệ đo thật lệch khỏi chuẩn nhưng vẫn đúng phía ngưỡng </a:t>
            </a:r>
            <a:r>
              <a:rPr b="1"/>
              <a:t>2,5</a:t>
            </a:r>
          </a:p>
        </p:txBody>
      </p:sp>
      <p:pic>
        <p:nvPicPr>
          <p:cNvPr descr="figures/fig-layou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75100" y="2324100"/>
            <a:ext cx="4152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hướng tiếp cận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hai giai đoạn:</a:t>
            </a:r>
            <a:r>
              <a:rPr/>
              <a:t> YOLO11n phát hiện vùng biển → PaddleOCR đọc ký tự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Thế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gãy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Cổ điển </a:t>
                      </a:r>
                      <a:r>
                        <a:rPr i="1"/>
                        <a:t>(Sobel, contour)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Vỡ khi đổi ánh sáng, góc chụp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Hai giai đoạn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định 1 dòng nằm trong hàm mất mát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giai đoạn </a:t>
                      </a:r>
                      <a:r>
                        <a:rPr i="1"/>
                        <a:t>(YOLO đọc ký tự)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Cần nhãn ký tự — Việt Nam gần như không có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End-to-end </a:t>
                      </a:r>
                      <a:r>
                        <a:rPr i="1"/>
                        <a:t>(Transformer)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Đói dữ liệu, nặng, không hợp CPU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mô hình: YOLO11n &amp; PP-OCRv5 mobile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Đánh đổi tối ưu cho mục tiêu </a:t>
            </a:r>
            <a:r>
              <a:rPr b="1"/>
              <a:t>suy luận trên CPU</a:t>
            </a:r>
            <a:r>
              <a:rPr/>
              <a:t> — nhẹ, nhanh, chính xác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Tầng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được chọn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 sánh với các phương án khác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Phát hiện</a:t>
                      </a:r>
                      <a:r>
                        <a:rPr/>
                        <a:t> </a:t>
                      </a:r>
                      <a:r>
                        <a:rPr i="1"/>
                        <a:t>(Detection)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</a:t>
                      </a:r>
                      <a:r>
                        <a:rPr i="1"/>
                        <a:t>(2,6M params)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YOLOv8n / v5n:</a:t>
                      </a:r>
                      <a:r>
                        <a:rPr/>
                        <a:t> mAP50 cao hơn, số tham số nhỏ hơn (2,6M vs 3,2M)• </a:t>
                      </a:r>
                      <a:r>
                        <a:rPr b="1"/>
                        <a:t>Vs Faster R-CNN / Transformer:</a:t>
                      </a:r>
                      <a:r>
                        <a:rPr/>
                        <a:t> Nhanh gấp 10–20× trên CPU (~35 ms/khung)• </a:t>
                      </a:r>
                      <a:r>
                        <a:rPr b="1"/>
                        <a:t>Lý do:</a:t>
                      </a:r>
                      <a:r>
                        <a:rPr/>
                        <a:t> Đáp ứng chỉ tiêu p95 độ trễ CPU không cần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Nhận dạng</a:t>
                      </a:r>
                      <a:r>
                        <a:rPr/>
                        <a:t> </a:t>
                      </a:r>
                      <a:r>
                        <a:rPr i="1"/>
                        <a:t>(OCR)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</a:t>
                      </a:r>
                      <a:r>
                        <a:rPr i="1"/>
                        <a:t>(4,5 MB)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EasyOCR / Tesseract:</a:t>
                      </a:r>
                      <a:r>
                        <a:rPr/>
                        <a:t> Tesseract vỡ khi crop nhỏ; EasyOCR cực chậm trên CPU (2–3s/ảnh)• </a:t>
                      </a:r>
                      <a:r>
                        <a:rPr b="1"/>
                        <a:t>Vs PP-OCRv5 Server:</a:t>
                      </a:r>
                      <a:r>
                        <a:rPr/>
                        <a:t> Bản Server nặng (~100 MB), trễ gấp 4× trên CPU• </a:t>
                      </a:r>
                      <a:r>
                        <a:rPr b="1"/>
                        <a:t>Lý do chọn v5 mobile:</a:t>
                      </a:r>
                      <a:r>
                        <a:rPr/>
                        <a:t> Dung lượng siêu nhẹ (4,5 MB), đúng ký tự 94,5%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ALPR </a:t>
            </a:r>
            <a:r>
              <a:rPr b="1"/>
              <a:t>hoàn chỉnh</a:t>
            </a:r>
            <a:r>
              <a:rPr/>
              <a:t>: AI · API · giao diện · CSDL · Docker</a:t>
            </a:r>
          </a:p>
          <a:p>
            <a:pPr lvl="0"/>
            <a:r>
              <a:rPr/>
              <a:t>Xử lý </a:t>
            </a:r>
            <a:r>
              <a:rPr b="1"/>
              <a:t>cả biển 1 dòng và 2 dòng</a:t>
            </a:r>
          </a:p>
          <a:p>
            <a:pPr lvl="0"/>
            <a:r>
              <a:rPr/>
              <a:t>Suy luận </a:t>
            </a:r>
            <a:r>
              <a:rPr b="1"/>
              <a:t>trên CPU</a:t>
            </a:r>
            <a:r>
              <a:rPr/>
              <a:t> — mặc định, không phải dự phòng</a:t>
            </a:r>
          </a:p>
          <a:p>
            <a:pPr lvl="0"/>
            <a:r>
              <a:rPr/>
              <a:t>Chỉ tiêu chốt </a:t>
            </a:r>
            <a:r>
              <a:rPr b="1"/>
              <a:t>trước</a:t>
            </a:r>
            <a:r>
              <a:rPr/>
              <a:t> khi làm, mỗi chỉ tiêu hai mức</a:t>
            </a:r>
          </a:p>
          <a:p>
            <a:pPr lvl="0" indent="0" marL="0">
              <a:buNone/>
            </a:pPr>
            <a:r>
              <a:rPr b="1"/>
              <a:t>Ngoài phạm vi:</a:t>
            </a:r>
            <a:r>
              <a:rPr/>
              <a:t> phân loại loại xe · tracking · barie · huấn luyện OCR từ đầu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Kiến trúc 5 tầng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Tầng AI là </a:t>
            </a:r>
            <a:r>
              <a:rPr b="1"/>
              <a:t>Python thuần</a:t>
            </a:r>
            <a:r>
              <a:rPr/>
              <a:t> — cấm import FastAPI hoặc Pydantic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67100" y="2324100"/>
            <a:ext cx="5168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Pipeline AI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Nhánh </a:t>
            </a:r>
            <a:r>
              <a:rPr b="1"/>
              <a:t>đỏ</a:t>
            </a:r>
            <a:r>
              <a:rPr/>
              <a:t> là đóng góp kỹ thuật lõi</a:t>
            </a:r>
          </a:p>
          <a:p>
            <a:pPr lvl="0" indent="0" marL="0">
              <a:buNone/>
            </a:pPr>
            <a:r>
              <a:rPr/>
              <a:t>Không thấy biển ⇒ trả rỗng, </a:t>
            </a:r>
            <a:r>
              <a:rPr b="1"/>
              <a:t>HTTP 200</a:t>
            </a:r>
            <a:r>
              <a:rPr/>
              <a:t> — không phải lỗi</a:t>
            </a:r>
          </a:p>
        </p:txBody>
      </p:sp>
      <p:pic>
        <p:nvPicPr>
          <p:cNvPr descr="figures/fig-pip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13200" y="2324100"/>
            <a:ext cx="40767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Xử lý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Giả định </a:t>
            </a:r>
            <a:r>
              <a:rPr b="1"/>
              <a:t>một dòng</a:t>
            </a:r>
            <a:r>
              <a:rPr/>
              <a:t> nằm trong </a:t>
            </a:r>
            <a:r>
              <a:rPr b="1"/>
              <a:t>hàm mất mát</a:t>
            </a:r>
            <a:r>
              <a:rPr/>
              <a:t> của CRNN/CTC — thêm dữ liệu không sửa được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46500" y="2324100"/>
            <a:ext cx="46101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theo </a:t>
            </a:r>
            <a:r>
              <a:rPr b="1"/>
              <a:t>VỊ TRÍ</a:t>
            </a:r>
            <a:r>
              <a:rPr/>
              <a:t>, không sửa toàn cục — đóng góp kỹ thuật riêng của đồ án</a:t>
            </a:r>
          </a:p>
        </p:txBody>
      </p:sp>
      <p:pic>
        <p:nvPicPr>
          <p:cNvPr descr="figures/fig-position-ru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27400" y="2324100"/>
            <a:ext cx="54483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Bậc thang cứu chữa khi đọc hỏng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Chỉ chạy </a:t>
            </a:r>
            <a:r>
              <a:rPr b="1"/>
              <a:t>sau khi đọc hỏng</a:t>
            </a:r>
            <a:r>
              <a:rPr/>
              <a:t>, chỉ nhận chuỗi </a:t>
            </a:r>
            <a:r>
              <a:rPr b="1"/>
              <a:t>hợp lệ</a:t>
            </a:r>
          </a:p>
          <a:p>
            <a:pPr lvl="0" indent="0" marL="0">
              <a:buNone/>
            </a:pPr>
            <a:r>
              <a:rPr/>
              <a:t>⇒ không thể làm hỏng kết quả đang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Bậc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Cứu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 của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/ giãn dọc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15.133 ảnh · 15.977 khung</a:t>
            </a:r>
            <a:r>
              <a:rPr/>
              <a:t> · chia </a:t>
            </a:r>
            <a:r>
              <a:rPr b="1"/>
              <a:t>10.592 / 3.027 / 1.514</a:t>
            </a:r>
          </a:p>
          <a:p>
            <a:pPr lvl="0"/>
            <a:r>
              <a:rPr/>
              <a:t>Hợp nhất </a:t>
            </a:r>
            <a:r>
              <a:rPr b="1"/>
              <a:t>7 bộ công khai</a:t>
            </a:r>
            <a:r>
              <a:rPr/>
              <a:t>, loại </a:t>
            </a:r>
            <a:r>
              <a:rPr b="1"/>
              <a:t>44,2%</a:t>
            </a:r>
            <a:r>
              <a:rPr/>
              <a:t> là bản sao — hai bộ mất </a:t>
            </a:r>
            <a:r>
              <a:rPr b="1"/>
              <a:t>98%</a:t>
            </a:r>
            <a:r>
              <a:rPr/>
              <a:t> và </a:t>
            </a:r>
            <a:r>
              <a:rPr b="1"/>
              <a:t>100%</a:t>
            </a:r>
          </a:p>
          <a:p>
            <a:pPr lvl="0"/>
            <a:r>
              <a:rPr b="1"/>
              <a:t>Chống rò rỉ 100%:</a:t>
            </a:r>
            <a:r>
              <a:rPr/>
              <a:t> Băm tri giác (pHash) lọc ảnh trùng lặp gần đúng giữa Train–Test — </a:t>
            </a:r>
            <a:r>
              <a:rPr b="1"/>
              <a:t>9.126 cặp → 0</a:t>
            </a:r>
          </a:p>
          <a:p>
            <a:pPr lvl="0" indent="0" marL="0">
              <a:buNone/>
            </a:pPr>
            <a:r>
              <a:rPr/>
              <a:t>⇒ Đảm bảo đánh giá độc lập hoàn toàn, không bị mAP ảo do rò rỉ dữ liệu</a:t>
            </a:r>
          </a:p>
          <a:p>
            <a:pPr lvl="0" indent="0" marL="0">
              <a:buNone/>
            </a:pPr>
            <a:r>
              <a:rPr/>
              <a:t>⚠️ Hai bộ chiếm </a:t>
            </a:r>
            <a:r>
              <a:rPr b="1"/>
              <a:t>74,3%</a:t>
            </a:r>
            <a:r>
              <a:rPr/>
              <a:t> — đa dạng giấy phép, </a:t>
            </a:r>
            <a:r>
              <a:rPr b="1"/>
              <a:t>chưa</a:t>
            </a:r>
            <a:r>
              <a:rPr/>
              <a:t> đa dạng nội dung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, </a:t>
            </a:r>
            <a:r>
              <a:rPr>
                <a:latin typeface="Courier"/>
              </a:rPr>
              <a:t>imgsz 640</a:t>
            </a:r>
            <a:r>
              <a:rPr/>
              <a:t>, 20 epoch, seed cố định — huấn luyện </a:t>
            </a:r>
            <a:r>
              <a:rPr b="1"/>
              <a:t>và</a:t>
            </a:r>
            <a:r>
              <a:rPr/>
              <a:t> suy luận đều trên CPU, hết </a:t>
            </a:r>
            <a:r>
              <a:rPr b="1"/>
              <a:t>10,05 giờ</a:t>
            </a:r>
            <a:r>
              <a:rPr/>
              <a:t> </a:t>
            </a:r>
            <a:r>
              <a:rPr i="1"/>
              <a:t>(30,2 phút/epoch)</a:t>
            </a:r>
          </a:p>
        </p:txBody>
      </p:sp>
      <p:pic>
        <p:nvPicPr>
          <p:cNvPr descr="figures/fig-training-cur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43300" y="2324100"/>
            <a:ext cx="5003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Cơ sở dữ liệu — một cột làm nên đóng góp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Lưu </a:t>
            </a:r>
            <a:r>
              <a:rPr b="1"/>
              <a:t>cả hai</a:t>
            </a:r>
            <a:r>
              <a:rPr/>
              <a:t> chuỗi trên </a:t>
            </a:r>
            <a:r>
              <a:rPr b="1"/>
              <a:t>cùng một bản ghi</a:t>
            </a:r>
            <a:r>
              <a:rPr/>
              <a:t> — không có </a:t>
            </a:r>
            <a:r>
              <a:rPr>
                <a:latin typeface="Courier"/>
              </a:rPr>
              <a:t>raw_ocr_text</a:t>
            </a:r>
            <a:r>
              <a:rPr/>
              <a:t> thì </a:t>
            </a:r>
            <a:r>
              <a:rPr b="1"/>
              <a:t>không đo được</a:t>
            </a:r>
            <a:r>
              <a:rPr/>
              <a:t> đóng góp của hậu xử lý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Cột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raw_ocr_text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thô</a:t>
                      </a:r>
                      <a:r>
                        <a:rPr/>
                        <a:t> do PaddleOCR trả về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plate_number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sau</a:t>
                      </a:r>
                      <a:r>
                        <a:rPr/>
                        <a:t> bộ luật hậu xử lý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is_valid_format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quy cách Việt Nam hay không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Giao diện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vùng dữ liệu xử lý đủ </a:t>
            </a:r>
            <a:r>
              <a:rPr b="1"/>
              <a:t>4 trạng thái</a:t>
            </a:r>
            <a:r>
              <a:rPr/>
              <a:t>: chờ · rỗng · lỗi · thành công</a:t>
            </a:r>
          </a:p>
        </p:txBody>
      </p:sp>
      <p:pic>
        <p:nvPicPr>
          <p:cNvPr descr="../screenshots/image-dete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71800" y="2324100"/>
            <a:ext cx="61595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phát hiện — đạt cả 4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Chênh giữa hai bố cục chỉ 2,09 điểm</a:t>
            </a:r>
            <a:r>
              <a:rPr/>
              <a:t> ⇒ điểm yếu nằm ở tầng đọc chữ, không phải tầng phát hiện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mAP50-95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1.325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TẤT CẢ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1.611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Chỉ tiêu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OCR — nói thẳng phần chưa đạt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Toàn bộ khoảng cách nằm ở </a:t>
            </a:r>
            <a:r>
              <a:rPr b="1"/>
              <a:t>biển 2 dòng</a:t>
            </a:r>
            <a:r>
              <a:rPr/>
              <a:t>: 0,6996 so với </a:t>
            </a:r>
            <a:r>
              <a:rPr b="1"/>
              <a:t>0,9541</a:t>
            </a:r>
            <a:r>
              <a:rPr/>
              <a:t> của biển 1 dòng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</a:t>
                      </a:r>
                      <a:r>
                        <a:rPr b="1"/>
                        <a:t>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chưa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đầu-cuối</a:t>
                      </a:r>
                      <a:r>
                        <a:rPr/>
                        <a:t> — ảnh vào,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trọn ở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Cùng một hệ thống, cùng một phép đo — tách theo bố cục biển</a:t>
            </a:r>
          </a:p>
        </p:txBody>
      </p:sp>
      <p:pic>
        <p:nvPicPr>
          <p:cNvPr descr="../reports/figures/04-ocr-accuracy-by-line-cou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17800" y="2324100"/>
            <a:ext cx="6654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của hậu xử lý — đo được bằng số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đúng </a:t>
            </a:r>
            <a:r>
              <a:rPr b="1"/>
              <a:t>319 biển</a:t>
            </a:r>
            <a:r>
              <a:rPr/>
              <a:t>, làm hỏng </a:t>
            </a:r>
            <a:r>
              <a:rPr b="1"/>
              <a:t>0</a:t>
            </a:r>
            <a:r>
              <a:rPr/>
              <a:t> — dồn gần trọn vào biển 2 dòng</a:t>
            </a:r>
          </a:p>
        </p:txBody>
      </p:sp>
      <p:pic>
        <p:nvPicPr>
          <p:cNvPr descr="figures/fig-postprocess-g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08400" y="2324100"/>
            <a:ext cx="46990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can thiệp, một kết luận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Chênh lệch 2 dòng còn </a:t>
            </a:r>
            <a:r>
              <a:rPr b="1"/>
              <a:t>25,4 điểm</a:t>
            </a:r>
            <a:r>
              <a:rPr/>
              <a:t>, cùng bậc mốc quốc tế </a:t>
            </a:r>
            <a:r>
              <a:rPr b="1"/>
              <a:t>48,6</a:t>
            </a:r>
            <a:r>
              <a:rPr/>
              <a:t> </a:t>
            </a:r>
            <a:r>
              <a:rPr i="1"/>
              <a:t>(Laroca 2022 — RodoSol, Brazil)</a:t>
            </a:r>
            <a:r>
              <a:rPr/>
              <a:t> — </a:t>
            </a:r>
            <a:r>
              <a:rPr b="1"/>
              <a:t>dư địa đã cạn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 thiệp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Thu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  <a:r>
                        <a:rPr/>
                        <a:t> </a:t>
                      </a:r>
                      <a:r>
                        <a:rPr i="1"/>
                        <a:t>(0,6373 → 0,7512)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Hiệu năng trên CPU — phân rã suy luận thuần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Nút thắt là OCR (</a:t>
            </a:r>
            <a:r>
              <a:rPr b="1"/>
              <a:t>64,3%</a:t>
            </a:r>
            <a:r>
              <a:rPr/>
              <a:t>) nhưng </a:t>
            </a:r>
            <a:r>
              <a:rPr b="1"/>
              <a:t>không áp đảo</a:t>
            </a:r>
            <a:r>
              <a:rPr/>
              <a:t> — detector chiếm 34,0%, nên tăng tốc nó vẫn đáng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 trong 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Ước lượng Phase 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Đo thật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% tổng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ảnh + tiền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2,83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1,7%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</a:t>
                      </a:r>
                      <a:r>
                        <a:rPr i="1"/>
                        <a:t>(YOLO11n @ 640, CPU)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57,27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Nhận dạng chữ </a:t>
                      </a:r>
                      <a:r>
                        <a:rPr i="1"/>
                        <a:t>(PaddleOCR, mỗi biển)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108,28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64,3%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Hậu xử lý regex + kiểm tra hợp lệ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0,03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 suy luận thuần cho một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405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168,41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Phân bố độ trễ — đuôi mới là chỗ tốn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Phần lớn ảnh xong dưới nửa giây; đuôi phải là những ảnh thử lại nhiều lượt</a:t>
            </a:r>
          </a:p>
        </p:txBody>
      </p:sp>
      <p:pic>
        <p:nvPicPr>
          <p:cNvPr descr="../reports/figures/07-latency-distribu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09800" y="2324100"/>
            <a:ext cx="7696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Kiểm thử và triển khai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1.000 kiểm thử tự động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/>
            <a:r>
              <a:rPr/>
              <a:t>Đơn vị · tích hợp · độ chính xác AI · hiệu năng · chịu tải</a:t>
            </a:r>
          </a:p>
          <a:p>
            <a:pPr lvl="0"/>
            <a:r>
              <a:rPr/>
              <a:t>Tầng AI có bộ test </a:t>
            </a:r>
            <a:r>
              <a:rPr b="1"/>
              <a:t>chạy không cần dựng server</a:t>
            </a:r>
          </a:p>
          <a:p>
            <a:pPr lvl="0"/>
            <a:r>
              <a:rPr/>
              <a:t>Chạy liên tục </a:t>
            </a:r>
            <a:r>
              <a:rPr b="1"/>
              <a:t>15 phút</a:t>
            </a:r>
            <a:r>
              <a:rPr/>
              <a:t>: 2.028 yêu cầu, </a:t>
            </a:r>
            <a:r>
              <a:rPr b="1"/>
              <a:t>0 lỗi</a:t>
            </a:r>
            <a:r>
              <a:rPr/>
              <a:t>, không rò rỉ bộ nhớ</a:t>
            </a:r>
          </a:p>
          <a:p>
            <a:pPr lvl="0"/>
            <a:r>
              <a:rPr/>
              <a:t>Cơ sở dữ liệu </a:t>
            </a:r>
            <a:r>
              <a:rPr b="1"/>
              <a:t>sống sót qua khởi động lại</a:t>
            </a:r>
            <a:r>
              <a:rPr/>
              <a:t>: 9.031 bản ghi, </a:t>
            </a:r>
            <a:r>
              <a:rPr b="1"/>
              <a:t>0 mất</a:t>
            </a:r>
          </a:p>
          <a:p>
            <a:pPr lvl="0"/>
            <a:r>
              <a:rPr>
                <a:latin typeface="Courier"/>
              </a:rPr>
              <a:t>docker compose up</a:t>
            </a:r>
            <a:r>
              <a:rPr/>
              <a:t> — </a:t>
            </a:r>
            <a:r>
              <a:rPr b="1"/>
              <a:t>một lệnh</a:t>
            </a:r>
            <a:r>
              <a:rPr/>
              <a:t>, đã dựng và xác minh chạy được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Đối chiếu chỉ tiêu — bảng chốt hạ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đạt mục tiêu · 🟡 đạt ngưỡng tối thiểu · ❌ chưa đạt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0,9829</a:t>
                      </a:r>
                      <a:r>
                        <a:rPr/>
                        <a:t> · mAP50-95 </a:t>
                      </a:r>
                      <a:r>
                        <a:rPr b="1"/>
                        <a:t>0,7834</a:t>
                      </a:r>
                      <a:r>
                        <a:rPr/>
                        <a:t> · P </a:t>
                      </a:r>
                      <a:r>
                        <a:rPr b="1"/>
                        <a:t>0,9837</a:t>
                      </a:r>
                      <a:r>
                        <a:rPr/>
                        <a:t> · R </a:t>
                      </a:r>
                      <a:r>
                        <a:rPr b="1"/>
                        <a:t>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</a:t>
                      </a: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 </a:t>
                      </a:r>
                      <a:r>
                        <a:rPr b="1"/>
                        <a:t>0,7512</a:t>
                      </a:r>
                      <a:r>
                        <a:rPr/>
                        <a:t> · đầu-cuối </a:t>
                      </a:r>
                      <a:r>
                        <a:rPr b="1"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Hiệu năng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p95 </a:t>
                      </a:r>
                      <a:r>
                        <a:rPr b="1"/>
                        <a:t>1.143 ms</a:t>
                      </a:r>
                      <a:r>
                        <a:rPr/>
                        <a:t> </a:t>
                      </a:r>
                      <a:r>
                        <a:rPr i="1"/>
                        <a:t>(sàn 1.500)</a:t>
                      </a:r>
                      <a:r>
                        <a:rPr/>
                        <a:t> · video </a:t>
                      </a:r>
                      <a:r>
                        <a:rPr b="1"/>
                        <a:t>0,746×</a:t>
                      </a:r>
                      <a:r>
                        <a:rPr/>
                        <a:t> · truy vấn </a:t>
                      </a:r>
                      <a:r>
                        <a:rPr b="1"/>
                        <a:t>18,7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Thời gian thực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Webcam </a:t>
                      </a:r>
                      <a:r>
                        <a:rPr b="1"/>
                        <a:t>2,379 FPS</a:t>
                      </a:r>
                      <a:r>
                        <a:rPr/>
                        <a:t> </a:t>
                      </a:r>
                      <a:r>
                        <a:rPr i="1"/>
                        <a:t>(sàn 3)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tin cậy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liên tục </a:t>
                      </a:r>
                      <a:r>
                        <a:rPr b="1"/>
                        <a:t>100%</a:t>
                      </a:r>
                      <a:r>
                        <a:rPr/>
                        <a:t> · CSDL sống sót khởi động lại </a:t>
                      </a:r>
                      <a:r>
                        <a:rPr b="1"/>
                        <a:t>0 mất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Phần mềm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 test</a:t>
                      </a:r>
                      <a:r>
                        <a:rPr/>
                        <a:t> · bao phủ 87,7% · </a:t>
                      </a:r>
                      <a:r>
                        <a:rPr>
                          <a:latin typeface="Courier"/>
                        </a:rPr>
                        <a:t>docker compose 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 trực tiếp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tình huống, chạy trên máy thật — </a:t>
            </a:r>
            <a:r>
              <a:rPr b="1"/>
              <a:t>không phải video quay sẵn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Cho thấy điều gì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ô tô —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Đường đi cơ bản, đọc đúng, dưới 1 giây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xe máy —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Chính chỗ khó nhất, split-then-hstack chạy thật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Video + Lịch sử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bất đồng bộ, tra cứu lại kết quả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Hạn chế — nói thẳng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2 dòng chưa đạt</a:t>
                      </a:r>
                      <a:r>
                        <a:rPr/>
                        <a:t> — đọc đúng cả chuỗi 0,6996 so với 0,9541 của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đọc dòng đơn; xe máy chiếm 79,8% tập nhãn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Số đầu-cuối 0,5552 không đại diện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bộ dữ liệu nào vừa có ảnh toàn cảnh vừa có chuỗi biển ⇒ đo trên ảnh cắt sẵn, ngoài phân bố bộ phát hiện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Số OCR là số trên biển TRẮNG</a:t>
                      </a:r>
                      <a:r>
                        <a:rPr/>
                        <a:t> — tập nhãn có 97,7% biển trắng, 20 vàng, 4 xanh, </a:t>
                      </a:r>
                      <a:r>
                        <a:rPr b="1"/>
                        <a:t>0 đỏ, 0 ngoại giao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nguồn công khai nào đủ biển hiếm; nói "0,9454 trên biển số Việt Nam" là </a:t>
                      </a:r>
                      <a:r>
                        <a:rPr b="1"/>
                        <a:t>nói quá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test </a:t>
                      </a:r>
                      <a:r>
                        <a:rPr b="1"/>
                        <a:t>không xuyên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đo tổng quát hoá </a:t>
                      </a:r>
                      <a:r>
                        <a:rPr i="1"/>
                        <a:t>trong</a:t>
                      </a:r>
                      <a:r>
                        <a:rPr/>
                        <a:t> phân bố ⇒ mAP lạc quan hơn thực tế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yêu cầu mức </a:t>
                      </a:r>
                      <a:r>
                        <a:rPr b="1"/>
                        <a:t>Must</a:t>
                      </a:r>
                      <a:r>
                        <a:rPr/>
                        <a:t> đã đưa ra khỏi phạm vi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gọn cho demo; API thống kê vẫn phục vụ và vẫn có kiểm thử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Ngắn hạn</a:t>
            </a:r>
            <a:r>
              <a:rPr/>
              <a:t> — gỡ đúng nút thắt đã định vị</a:t>
            </a:r>
          </a:p>
          <a:p>
            <a:pPr lvl="0" indent="0" marL="347663">
              <a:buAutoNum type="arabicPeriod"/>
            </a:pPr>
            <a:r>
              <a:rPr b="1"/>
              <a:t>Fine-tune bộ nhận dạng</a:t>
            </a:r>
            <a:r>
              <a:rPr/>
              <a:t> trên vùng cắt biển Việt Nam</a:t>
            </a:r>
          </a:p>
          <a:p>
            <a:pPr lvl="0" indent="0" marL="347663">
              <a:buAutoNum type="arabicPeriod"/>
            </a:pPr>
            <a:r>
              <a:rPr b="1"/>
              <a:t>Gán nhãn chuỗi cho ảnh hiện trường</a:t>
            </a:r>
            <a:r>
              <a:rPr/>
              <a:t> ⇒ đo được số đầu-cuối đúng cách</a:t>
            </a:r>
          </a:p>
          <a:p>
            <a:pPr lvl="0" indent="0" marL="0">
              <a:buNone/>
            </a:pPr>
            <a:r>
              <a:rPr b="1"/>
              <a:t>Trung hạn</a:t>
            </a:r>
          </a:p>
          <a:p>
            <a:pPr lvl="0" indent="0" marL="347663">
              <a:buAutoNum startAt="3" type="arabicPeriod"/>
            </a:pPr>
            <a:r>
              <a:rPr/>
              <a:t>Tập test </a:t>
            </a:r>
            <a:r>
              <a:rPr b="1"/>
              <a:t>xuyên bộ dữ liệu</a:t>
            </a:r>
            <a:r>
              <a:rPr/>
              <a:t> — đo tổng quát hoá ngoài phân bố</a:t>
            </a:r>
          </a:p>
          <a:p>
            <a:pPr lvl="0" indent="0" marL="347663">
              <a:buAutoNum startAt="3" type="arabicPeriod"/>
            </a:pPr>
            <a:r>
              <a:rPr/>
              <a:t>Xuất ONNX / OpenVINO để hạ độ trễ đuôi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Đã làm được</a:t>
            </a:r>
          </a:p>
          <a:p>
            <a:pPr lvl="0"/>
            <a:r>
              <a:rPr/>
              <a:t>Hệ thống </a:t>
            </a:r>
            <a:r>
              <a:rPr b="1"/>
              <a:t>5 tầng chạy thật</a:t>
            </a:r>
            <a:r>
              <a:rPr/>
              <a:t>, đóng gói Docker một lệnh</a:t>
            </a:r>
          </a:p>
          <a:p>
            <a:pPr lvl="0"/>
            <a:r>
              <a:rPr/>
              <a:t>Phát hiện đạt </a:t>
            </a:r>
            <a:r>
              <a:rPr b="1"/>
              <a:t>cả 4 chỉ tiêu</a:t>
            </a:r>
            <a:r>
              <a:rPr/>
              <a:t>: mAP50 </a:t>
            </a:r>
            <a:r>
              <a:rPr b="1"/>
              <a:t>0,983</a:t>
            </a:r>
            <a:r>
              <a:rPr/>
              <a:t> · mAP50-95 </a:t>
            </a:r>
            <a:r>
              <a:rPr b="1"/>
              <a:t>0,783</a:t>
            </a:r>
          </a:p>
          <a:p>
            <a:pPr lvl="0"/>
            <a:r>
              <a:rPr/>
              <a:t>Hậu xử lý theo vị trí — </a:t>
            </a:r>
            <a:r>
              <a:rPr b="1"/>
              <a:t>+11,39 điểm</a:t>
            </a:r>
            <a:r>
              <a:rPr/>
              <a:t>, đo tách bạch</a:t>
            </a:r>
          </a:p>
          <a:p>
            <a:pPr lvl="0"/>
            <a:r>
              <a:rPr b="1"/>
              <a:t>1.000 kiểm thử</a:t>
            </a:r>
            <a:r>
              <a:rPr/>
              <a:t> đạt · bao phủ tầng nghiệp vụ 87,7%</a:t>
            </a:r>
          </a:p>
          <a:p>
            <a:pPr lvl="0" indent="0" marL="0">
              <a:buNone/>
            </a:pPr>
            <a:r>
              <a:rPr b="1"/>
              <a:t>Đóng góp học thuật</a:t>
            </a:r>
          </a:p>
          <a:p>
            <a:pPr lvl="0"/>
            <a:r>
              <a:rPr/>
              <a:t>Hai con số 1 dòng / 2 dòng </a:t>
            </a:r>
            <a:r>
              <a:rPr b="1"/>
              <a:t>tách bạch trên cùng một hệ thống</a:t>
            </a:r>
          </a:p>
          <a:p>
            <a:pPr lvl="0"/>
            <a:r>
              <a:rPr/>
              <a:t>Quy trình đo </a:t>
            </a:r>
            <a:r>
              <a:rPr b="1"/>
              <a:t>tự bắt được lỗi của chính nó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Em xin cảm ơn thầy cô đã lắng nghe.</a:t>
            </a:r>
          </a:p>
          <a:p>
            <a:pPr lvl="0" indent="0" marL="0">
              <a:buNone/>
            </a:pPr>
            <a:r>
              <a:rPr b="1"/>
              <a:t>Em sẵn sàng nhận câu hỏi.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1 — Kiến trúc mô hình YOLO11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Cải tiến mạng trích xuất đặc trưng &amp; head phát hiện đa tỉ lệ </a:t>
            </a:r>
            <a:r>
              <a:rPr i="1"/>
              <a:t>(Ultralytics 2024)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Block </a:t>
                      </a:r>
                      <a:r>
                        <a:rPr b="1"/>
                        <a:t>C3k2</a:t>
                      </a:r>
                      <a:r>
                        <a:rPr/>
                        <a:t> &amp; </a:t>
                      </a:r>
                      <a:r>
                        <a:rPr b="1"/>
                        <a:t>C2PSA</a:t>
                      </a:r>
                      <a:r>
                        <a:rPr/>
                        <a:t> </a:t>
                      </a:r>
                      <a:r>
                        <a:rPr i="1"/>
                        <a:t>(Attention)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đặc trưng vùng biển số sắc nét ở nhiều góc nghiêng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SPPF</a:t>
                      </a:r>
                      <a:r>
                        <a:rPr/>
                        <a:t> </a:t>
                      </a:r>
                      <a:r>
                        <a:rPr i="1"/>
                        <a:t>(Spatial Pyramid Pooling - Fast)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Tăng cường thông tin ngữ cảnh đa tỉ lệ mà không tăng độ trễ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Anchor-free Decoupled 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Dự đoán bounding box và lớp biển số (1 dòng / 2 dòng)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· </a:t>
                      </a:r>
                      <a:r>
                        <a:rPr b="1"/>
                        <a:t>2,6M params</a:t>
                      </a:r>
                      <a:r>
                        <a:rPr/>
                        <a:t> · </a:t>
                      </a:r>
                      <a:r>
                        <a:rPr b="1"/>
                        <a:t>6,5 GFLOPs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mAP50 0,983</a:t>
                      </a:r>
                      <a:r>
                        <a:rPr/>
                        <a:t> trên CPU với tốc độ ~35 ms/khung hình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2 — Kiến trúc mô hình PP-OCRv5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Mô hình nhận dạng ký tự siêu nhẹ chuyên biệt cho văn bản </a:t>
            </a:r>
            <a:r>
              <a:rPr i="1"/>
              <a:t>(PaddlePaddle 2025)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PP-LCNetV3</a:t>
                      </a:r>
                      <a:r>
                        <a:rPr/>
                        <a:t> </a:t>
                      </a:r>
                      <a:r>
                        <a:rPr i="1"/>
                        <a:t>(Lightweight CPU Net)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chuỗi đặc trưng ký tự cực nhanh trên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SVTR-HG</a:t>
                      </a:r>
                      <a:r>
                        <a:rPr/>
                        <a:t> </a:t>
                      </a:r>
                      <a:r>
                        <a:rPr i="1"/>
                        <a:t>(Gated-Attention 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thông tin ngữ cảnh chuỗi ký tự trên ảnh crop cao 64px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 &amp; 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CTC Head</a:t>
                      </a:r>
                      <a:r>
                        <a:rPr/>
                        <a:t> </a:t>
                      </a:r>
                      <a:r>
                        <a:rPr i="1"/>
                        <a:t>(Connectionist Temporal Classification)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chuỗi ký tự không cần gán nhãn từng vạch đứng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· </a:t>
                      </a:r>
                      <a:r>
                        <a:rPr b="1"/>
                        <a:t>4,5 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94,54% accuracy từng ký tự</a:t>
                      </a:r>
                      <a:r>
                        <a:rPr/>
                        <a:t> trên vùng cắt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3 — Phân tích lỗi (Error Analysis)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Sáu loại lỗi </a:t>
            </a:r>
            <a:r>
              <a:rPr b="1"/>
              <a:t>loại trừ lẫn nhau</a:t>
            </a:r>
            <a:r>
              <a:rPr/>
              <a:t>, mỗi ca sai gán đúng một loại — </a:t>
            </a:r>
            <a:r>
              <a:rPr b="1"/>
              <a:t>697 ca trên 2.801 biển (24,88%)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Loại lỗi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% tổng ca sai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Một dòng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Hai dòng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Bỏ sót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nhầm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(chưa đo)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Nhầm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445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63,85%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428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10,47%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Thừa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2,58%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Sai thứ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0,00%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4 — Bóc tách đóng góp (Ablation)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Đóng góp độc lập của từng module kỹ thuật vào độ chính xác đọc chuỗi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hình / Thử nghiệm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Đóng góp đo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Baseline</a:t>
                      </a:r>
                      <a:r>
                        <a:rPr/>
                        <a:t> </a:t>
                      </a:r>
                      <a:r>
                        <a:rPr i="1"/>
                        <a:t>(Model gốc PaddleOCR 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Mức cơ sở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  <a:r>
                        <a:rPr/>
                        <a:t> </a:t>
                      </a:r>
                      <a:r>
                        <a:rPr i="1"/>
                        <a:t>(Sửa đúng 319 biển)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cứu dòng trên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+209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nắn hình chống nghiêng/méo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Fine-tune OCR (giữ detector)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0,6762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❌ Sụt -7,5 điểm do lệch phân phối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5 — Siêu tham số và 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Trích </a:t>
            </a:r>
            <a:r>
              <a:rPr>
                <a:latin typeface="Courier"/>
              </a:rPr>
              <a:t>runs/final-640-v3/args.yaml</a:t>
            </a:r>
            <a:r>
              <a:rPr/>
              <a:t> và </a:t>
            </a:r>
            <a:r>
              <a:rPr>
                <a:latin typeface="Courier"/>
              </a:rPr>
              <a:t>results.csv</a:t>
            </a:r>
            <a:r>
              <a:rPr/>
              <a:t> — bản ghi </a:t>
            </a:r>
            <a:r>
              <a:rPr i="1"/>
              <a:t>đã thực thi</a:t>
            </a:r>
            <a:r>
              <a:rPr/>
              <a:t>, không phải dự định.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Siêu tham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Giá trị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Hàm mất mát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Epoch 1 → 20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imgsz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epochs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640 px</a:t>
                      </a:r>
                      <a:r>
                        <a:rPr/>
                        <a:t> / </a:t>
                      </a:r>
                      <a:r>
                        <a:rPr b="1"/>
                        <a:t>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box_loss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1,252 → 0,809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batch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seed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8</a:t>
                      </a:r>
                      <a:r>
                        <a:rPr/>
                        <a:t> / </a:t>
                      </a:r>
                      <a:r>
                        <a:rPr b="1"/>
                        <a:t>42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cls_loss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0,833 → 0,313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optimizer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lr0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AdamW</a:t>
                      </a:r>
                      <a:r>
                        <a:rPr/>
                        <a:t> / </a:t>
                      </a:r>
                      <a:r>
                        <a:rPr b="1"/>
                        <a:t>0,001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dfl_loss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1,154 → 0,987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device</a:t>
                      </a:r>
                      <a:r>
                        <a:rPr b="1"/>
                        <a:t> / tham số 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cpu</a:t>
                      </a:r>
                      <a:r>
                        <a:rPr/>
                        <a:t> / </a:t>
                      </a:r>
                      <a:r>
                        <a:rPr b="1"/>
                        <a:t>2.590.035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mAP@0,5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0,9684 → 0,9830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Thời gian huấn luyện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10,05 giờ</a:t>
                      </a:r>
                      <a:r>
                        <a:rPr/>
                        <a:t> </a:t>
                      </a:r>
                      <a:r>
                        <a:rPr i="1"/>
                        <a:t>(30,2 phút/epoch)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6 — Tài liệu tham khảo chính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Đầy đủ </a:t>
            </a:r>
            <a:r>
              <a:rPr b="1"/>
              <a:t>232 mục</a:t>
            </a:r>
            <a:r>
              <a:rPr/>
              <a:t> trong </a:t>
            </a:r>
            <a:r>
              <a:rPr>
                <a:latin typeface="Courier"/>
              </a:rPr>
              <a:t>docs/references.bib</a:t>
            </a:r>
            <a:r>
              <a:rPr/>
              <a:t> — dưới đây là các nguồn chống đỡ những khẳng định chính của bài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VISAPP </a:t>
                      </a:r>
                      <a:r>
                        <a:rPr b="1"/>
                        <a:t>2022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On the Cross-Dataset Generalization in License Plate Recognition</a:t>
                      </a:r>
                      <a:r>
                        <a:rPr/>
                        <a:t> — </a:t>
                      </a:r>
                      <a:r>
                        <a:rPr b="1"/>
                        <a:t>nguồn của cặp số 94,3% / 45,7%</a:t>
                      </a:r>
                      <a:r>
                        <a:rPr/>
                        <a:t>, đo trên RodoSol-ALPR của </a:t>
                      </a:r>
                      <a:r>
                        <a:rPr b="1"/>
                        <a:t>Brazil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IET ITS </a:t>
                      </a:r>
                      <a:r>
                        <a:rPr b="1"/>
                        <a:t>2021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An efficient and layout-independent ALPR system based on the YOLO detector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Du</a:t>
                      </a:r>
                      <a:r>
                        <a:rPr/>
                        <a:t> và cộng sự, arXiv </a:t>
                      </a:r>
                      <a:r>
                        <a:rPr b="1"/>
                        <a:t>2020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PP-OCR: A Practical Ultra Lightweight OCR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PaddlePaddle Team, arXiv </a:t>
                      </a:r>
                      <a:r>
                        <a:rPr b="1"/>
                        <a:t>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PaddleOCR 3.0 Technical Report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Jocher &amp; Qiu</a:t>
                      </a:r>
                      <a:r>
                        <a:rPr/>
                        <a:t>, Ultralytics </a:t>
                      </a:r>
                      <a:r>
                        <a:rPr b="1"/>
                        <a:t>2024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Ultralytics YOLO11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TT 79/2024/TT-BCA</a:t>
                      </a:r>
                      <a:r>
                        <a:rPr/>
                        <a:t> · </a:t>
                      </a:r>
                      <a:r>
                        <a:rPr b="1"/>
                        <a:t>TT 51/2025/TT-BCA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trúc biển, seri, màu nền · phụ lục mã tỉnh (34 tỉnh/thành)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QCVN 08:2024/BCA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Kích thước và tỉ lệ khung hình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7 — Tra nhanh số liệu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15.133</a:t>
                      </a:r>
                      <a:r>
                        <a:rPr/>
                        <a:t> ảnh · </a:t>
                      </a:r>
                      <a:r>
                        <a:rPr b="1"/>
                        <a:t>15.977</a:t>
                      </a:r>
                      <a:r>
                        <a:rPr/>
                        <a:t> khung · 6 nguồn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YOLO11n · </a:t>
                      </a:r>
                      <a:r>
                        <a:rPr>
                          <a:latin typeface="Courier"/>
                        </a:rPr>
                        <a:t>imgsz 640</a:t>
                      </a:r>
                      <a:r>
                        <a:rPr/>
                        <a:t> · 20 epoch ·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0,983</a:t>
                      </a:r>
                      <a:r>
                        <a:rPr/>
                        <a:t> · mAP50-95 </a:t>
                      </a: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0,7512</a:t>
                      </a:r>
                      <a:r>
                        <a:rPr/>
                        <a:t> </a:t>
                      </a:r>
                      <a:r>
                        <a:rPr i="1"/>
                        <a:t>(1 dòng 0,954 · 2 dòng 0,700)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p50 </a:t>
                      </a:r>
                      <a:r>
                        <a:rPr b="1"/>
                        <a:t>406 ms</a:t>
                      </a:r>
                      <a:r>
                        <a:rPr/>
                        <a:t> · p95 </a:t>
                      </a:r>
                      <a:r>
                        <a:rPr b="1"/>
                        <a:t>1.143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</a:t>
                      </a:r>
                      <a:r>
                        <a:rPr/>
                        <a:t> đạt · bao phủ </a:t>
                      </a:r>
                      <a:r>
                        <a:rPr b="1"/>
                        <a:t>87,7%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2026-08-10T14:30:13Z</dcterms:created>
  <dcterms:modified xsi:type="dcterms:W3CDTF">2026-08-10T14:30:13Z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