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Default Extension="fntdata" ContentType="application/x-fontdata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ahyp="http://schemas.microsoft.com/office/drawing/2018/hyperlinkcolor" xmlns:c="http://schemas.openxmlformats.org/drawingml/2006/chart" xmlns:com="http://schemas.openxmlformats.org/drawingml/2006/compatibility" xmlns:dgm="http://schemas.openxmlformats.org/drawingml/2006/diagram" xmlns:mc="http://schemas.openxmlformats.org/markup-compatibility/2006" xmlns:mv="urn:schemas-microsoft-com:mac:vml" xmlns:o="urn:schemas-microsoft-com:office:office" xmlns:p="http://schemas.openxmlformats.org/presentationml/2006/main" xmlns:p14="http://schemas.microsoft.com/office/powerpoint/2010/main" xmlns:p15="http://schemas.microsoft.com/office/powerpoint/2012/main" xmlns:pvml="urn:schemas-microsoft-com:office:powerpoint" xmlns:r="http://schemas.openxmlformats.org/officeDocument/2006/relationships" xmlns:v="urn:schemas-microsoft-com:vml" autoCompressPictures="0" embedTrueTypeFonts="1" saveSubsetFonts="1" strictFirstAndLastChars="0">
  <p:sldMasterIdLst>
    <p:sldMasterId id="2147483648" r:id="rId4"/>
  </p:sld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  <p:sldId id="281" r:id="rId30"/>
    <p:sldId id="282" r:id="rId31"/>
    <p:sldId id="283" r:id="rId32"/>
    <p:sldId id="284" r:id="rId33"/>
    <p:sldId id="285" r:id="rId34"/>
    <p:sldId id="286" r:id="rId35"/>
    <p:sldId id="287" r:id="rId36"/>
  </p:sldIdLst>
  <p:sldSz cx="12192000" cy="6858000"/>
  <p:notesSz cx="6858000" cy="9144000"/>
  <p:embeddedFontLst>
    <p:embeddedFont>
      <p:font typeface="Roboto"/>
      <p:regular r:id="rId37"/>
      <p:bold r:id="rId38"/>
      <p:italic r:id="rId39"/>
      <p:boldItalic r:id="rId40"/>
    </p:embeddedFont>
    <p:embeddedFont>
      <p:font typeface="Open Sans"/>
      <p:regular r:id="rId41"/>
      <p:bold r:id="rId42"/>
      <p:italic r:id="rId43"/>
      <p:boldItalic r:id="rId44"/>
    </p:embeddedFont>
  </p:embeddedFontLst>
  <p:defaultTextStyle>
    <a:defPPr algn="l" lvl="0" marR="0" rtl="0">
      <a:lnSpc>
        <a:spcPct val="100000"/>
      </a:lnSpc>
      <a:spcBef>
        <a:spcPts val="0"/>
      </a:spcBef>
      <a:spcAft>
        <a:spcPts val="0"/>
      </a:spcAft>
    </a:defPPr>
    <a:lvl1pPr algn="l" lvl="0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1pPr>
    <a:lvl2pPr algn="l" lvl="1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2pPr>
    <a:lvl3pPr algn="l" lvl="2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3pPr>
    <a:lvl4pPr algn="l" lvl="3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4pPr>
    <a:lvl5pPr algn="l" lvl="4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5pPr>
    <a:lvl6pPr algn="l" lvl="5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6pPr>
    <a:lvl7pPr algn="l" lvl="6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7pPr>
    <a:lvl8pPr algn="l" lvl="7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8pPr>
    <a:lvl9pPr algn="l" lvl="8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oundtripDataSignature="AMtx7mhu5dURU4INwSlvEO7StWDXKr50jg==" r:id="rId45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45BEF19B-5B1D-4A26-B267-ECC71EF7E2D4}">
  <a:tblStyle styleId="{45BEF19B-5B1D-4A26-B267-ECC71EF7E2D4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  <a:tblStyle styleId="{EE219758-DFE7-4E60-9379-781288D8A987}" styleName="Table_1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BEBEB"/>
          </a:solidFill>
        </a:fill>
      </a:tcStyle>
    </a:wholeTbl>
    <a:band1H>
      <a:tcTxStyle/>
      <a:tcStyle>
        <a:fill>
          <a:solidFill>
            <a:srgbClr val="F8D4D4"/>
          </a:solidFill>
        </a:fill>
      </a:tcStyle>
    </a:band1H>
    <a:band2H>
      <a:tcTxStyle/>
    </a:band2H>
    <a:band1V>
      <a:tcTxStyle/>
      <a:tcStyle>
        <a:fill>
          <a:solidFill>
            <a:srgbClr val="F8D4D4"/>
          </a:solidFill>
        </a:fill>
      </a:tcStyle>
    </a:band1V>
    <a:band2V>
      <a:tcTxStyle/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3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3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3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3"/>
          </a:solidFill>
        </a:fill>
      </a:tcStyle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5" Type="http://schemas.openxmlformats.org/officeDocument/2006/relationships/slide" Target="slides/slide1.xml" /><Relationship Id="rId6" Type="http://schemas.openxmlformats.org/officeDocument/2006/relationships/slide" Target="slides/slide2.xml" /><Relationship Id="rId7" Type="http://schemas.openxmlformats.org/officeDocument/2006/relationships/slide" Target="slides/slide3.xml" /><Relationship Id="rId8" Type="http://schemas.openxmlformats.org/officeDocument/2006/relationships/slide" Target="slides/slide4.xml" /><Relationship Id="rId9" Type="http://schemas.openxmlformats.org/officeDocument/2006/relationships/slide" Target="slides/slide5.xml" /><Relationship Id="rId10" Type="http://schemas.openxmlformats.org/officeDocument/2006/relationships/slide" Target="slides/slide6.xml" /><Relationship Id="rId11" Type="http://schemas.openxmlformats.org/officeDocument/2006/relationships/slide" Target="slides/slide7.xml" /><Relationship Id="rId12" Type="http://schemas.openxmlformats.org/officeDocument/2006/relationships/slide" Target="slides/slide8.xml" /><Relationship Id="rId13" Type="http://schemas.openxmlformats.org/officeDocument/2006/relationships/slide" Target="slides/slide9.xml" /><Relationship Id="rId14" Type="http://schemas.openxmlformats.org/officeDocument/2006/relationships/slide" Target="slides/slide10.xml" /><Relationship Id="rId15" Type="http://schemas.openxmlformats.org/officeDocument/2006/relationships/slide" Target="slides/slide11.xml" /><Relationship Id="rId16" Type="http://schemas.openxmlformats.org/officeDocument/2006/relationships/slide" Target="slides/slide12.xml" /><Relationship Id="rId17" Type="http://schemas.openxmlformats.org/officeDocument/2006/relationships/slide" Target="slides/slide13.xml" /><Relationship Id="rId18" Type="http://schemas.openxmlformats.org/officeDocument/2006/relationships/slide" Target="slides/slide14.xml" /><Relationship Id="rId19" Type="http://schemas.openxmlformats.org/officeDocument/2006/relationships/slide" Target="slides/slide15.xml" /><Relationship Id="rId20" Type="http://schemas.openxmlformats.org/officeDocument/2006/relationships/slide" Target="slides/slide16.xml" /><Relationship Id="rId21" Type="http://schemas.openxmlformats.org/officeDocument/2006/relationships/slide" Target="slides/slide17.xml" /><Relationship Id="rId22" Type="http://schemas.openxmlformats.org/officeDocument/2006/relationships/slide" Target="slides/slide18.xml" /><Relationship Id="rId23" Type="http://schemas.openxmlformats.org/officeDocument/2006/relationships/slide" Target="slides/slide19.xml" /><Relationship Id="rId24" Type="http://schemas.openxmlformats.org/officeDocument/2006/relationships/slide" Target="slides/slide20.xml" /><Relationship Id="rId25" Type="http://schemas.openxmlformats.org/officeDocument/2006/relationships/slide" Target="slides/slide21.xml" /><Relationship Id="rId26" Type="http://schemas.openxmlformats.org/officeDocument/2006/relationships/slide" Target="slides/slide22.xml" /><Relationship Id="rId27" Type="http://schemas.openxmlformats.org/officeDocument/2006/relationships/slide" Target="slides/slide23.xml" /><Relationship Id="rId28" Type="http://schemas.openxmlformats.org/officeDocument/2006/relationships/slide" Target="slides/slide24.xml" /><Relationship Id="rId29" Type="http://schemas.openxmlformats.org/officeDocument/2006/relationships/slide" Target="slides/slide25.xml" /><Relationship Id="rId30" Type="http://schemas.openxmlformats.org/officeDocument/2006/relationships/slide" Target="slides/slide26.xml" /><Relationship Id="rId31" Type="http://schemas.openxmlformats.org/officeDocument/2006/relationships/slide" Target="slides/slide27.xml" /><Relationship Id="rId32" Type="http://schemas.openxmlformats.org/officeDocument/2006/relationships/slide" Target="slides/slide28.xml" /><Relationship Id="rId33" Type="http://schemas.openxmlformats.org/officeDocument/2006/relationships/slide" Target="slides/slide29.xml" /><Relationship Id="rId34" Type="http://schemas.openxmlformats.org/officeDocument/2006/relationships/slide" Target="slides/slide30.xml" /><Relationship Id="rId35" Type="http://schemas.openxmlformats.org/officeDocument/2006/relationships/slide" Target="slides/slide31.xml" /><Relationship Id="rId36" Type="http://schemas.openxmlformats.org/officeDocument/2006/relationships/slide" Target="slides/slide32.xml" /><Relationship Id="rId1" Type="http://schemas.openxmlformats.org/officeDocument/2006/relationships/theme" Target="theme/theme1.xml" /><Relationship Id="rId2" Type="http://schemas.openxmlformats.org/officeDocument/2006/relationships/presProps" Target="presProps.xml" /><Relationship Id="rId3" Type="http://schemas.openxmlformats.org/officeDocument/2006/relationships/tableStyles" Target="tableStyles.xml" /><Relationship Id="rId4" Type="http://schemas.openxmlformats.org/officeDocument/2006/relationships/slideMaster" Target="slideMasters/slideMaster1.xml" /><Relationship Id="rId38" Type="http://schemas.openxmlformats.org/officeDocument/2006/relationships/font" Target="fonts/Roboto-bold.fntdata" /><Relationship Id="rId37" Type="http://schemas.openxmlformats.org/officeDocument/2006/relationships/font" Target="fonts/Roboto-regular.fntdata" /><Relationship Id="rId40" Type="http://schemas.openxmlformats.org/officeDocument/2006/relationships/font" Target="fonts/Roboto-boldItalic.fntdata" /><Relationship Id="rId39" Type="http://schemas.openxmlformats.org/officeDocument/2006/relationships/font" Target="fonts/Roboto-italic.fntdata" /><Relationship Id="rId41" Type="http://schemas.openxmlformats.org/officeDocument/2006/relationships/font" Target="fonts/OpenSans-regular.fntdata" /><Relationship Id="rId43" Type="http://schemas.openxmlformats.org/officeDocument/2006/relationships/font" Target="fonts/OpenSans-italic.fntdata" /><Relationship Id="rId42" Type="http://schemas.openxmlformats.org/officeDocument/2006/relationships/font" Target="fonts/OpenSans-bold.fntdata" /><Relationship Id="rId45" Type="http://customschemas.google.com/relationships/presentationmetadata" Target="metadata" /><Relationship Id="rId44" Type="http://schemas.openxmlformats.org/officeDocument/2006/relationships/font" Target="fonts/OpenSans-boldItalic.fntdata" /></Relationship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êu đề">
  <p:cSld name="Title Slid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1"/>
          <p:cNvSpPr txBox="1"/>
          <p:nvPr>
            <p:ph idx="11" type="ftr"/>
          </p:nvPr>
        </p:nvSpPr>
        <p:spPr>
          <a:xfrm>
            <a:off x="2353680" y="6480629"/>
            <a:ext cx="4288103" cy="236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21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" name="Google Shape;18;p2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" name="Google Shape;19;p21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20" name="Google Shape;20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" name="Google Shape;21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2" name="Google Shape;22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23" name="Google Shape;23;p2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4" name="Google Shape;24;p21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25" name="Google Shape;25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6" name="Google Shape;26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7" name="Google Shape;27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8" name="Google Shape;28;p21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" name="Google Shape;29;p21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30" name="Google Shape;30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31" name="Google Shape;31;p21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  <p:sp>
        <p:nvSpPr>
          <p:cNvPr id="32" name="Google Shape;32;p21"/>
          <p:cNvSpPr/>
          <p:nvPr/>
        </p:nvSpPr>
        <p:spPr>
          <a:xfrm>
            <a:off x="105836" y="6604291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" name="Google Shape;33;p21"/>
          <p:cNvSpPr txBox="1"/>
          <p:nvPr>
            <p:ph idx="12" type="sldNum"/>
          </p:nvPr>
        </p:nvSpPr>
        <p:spPr>
          <a:xfrm>
            <a:off x="75604" y="658755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" name="Google Shape;34;p21"/>
          <p:cNvSpPr txBox="1"/>
          <p:nvPr>
            <p:ph type="ctrTitle"/>
          </p:nvPr>
        </p:nvSpPr>
        <p:spPr>
          <a:xfrm>
            <a:off x="952500" y="1333500"/>
            <a:ext cx="10287000" cy="1905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4400"/>
              <a:buNone/>
              <a:defRPr b="1" sz="4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" name="Google Shape;35;p21"/>
          <p:cNvSpPr txBox="1"/>
          <p:nvPr>
            <p:ph type="subTitle" idx="1"/>
          </p:nvPr>
        </p:nvSpPr>
        <p:spPr>
          <a:xfrm>
            <a:off x="952500" y="3524250"/>
            <a:ext cx="10287000" cy="2000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2800"/>
              <a:buNone/>
              <a:defRPr b="1" sz="2800">
                <a:solidFill>
                  <a:srgbClr val="000046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" name="Google Shape;36;p21"/>
          <p:cNvSpPr txBox="1"/>
          <p:nvPr>
            <p:ph idx="3" type="body"/>
          </p:nvPr>
        </p:nvSpPr>
        <p:spPr>
          <a:xfrm>
            <a:off x="4680970" y="4963048"/>
            <a:ext cx="2830058" cy="345005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 i="0" sz="14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" name="Google Shape;37;p21"/>
          <p:cNvSpPr txBox="1"/>
          <p:nvPr>
            <p:ph idx="4" type="body"/>
          </p:nvPr>
        </p:nvSpPr>
        <p:spPr>
          <a:xfrm>
            <a:off x="1850807" y="3630811"/>
            <a:ext cx="8490387" cy="6442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A5A5A5"/>
              </a:buClr>
              <a:buSzPts val="1200"/>
              <a:buNone/>
              <a:defRPr sz="1200">
                <a:solidFill>
                  <a:srgbClr val="A5A5A5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" name="Google Shape;38;p21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21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" name="Google Shape;40;p2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1" name="Google Shape;41;p21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42" name="Google Shape;42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" name="Google Shape;43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4" name="Google Shape;44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5" name="Google Shape;45;p2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6" name="Google Shape;46;p21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47" name="Google Shape;47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" name="Google Shape;48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9" name="Google Shape;49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50" name="Google Shape;50;p21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51;p21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52" name="Google Shape;52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53" name="Google Shape;53;p21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Mục lục">
  <p:cSld name="2_Mục lục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2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56" name="Google Shape;56;p22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57" name="Google Shape;57;p2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8" name="Google Shape;58;p2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9" name="Google Shape;59;p2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60" name="Google Shape;60;p22"/>
          <p:cNvSpPr txBox="1"/>
          <p:nvPr>
            <p:ph idx="11" type="ftr"/>
          </p:nvPr>
        </p:nvSpPr>
        <p:spPr>
          <a:xfrm>
            <a:off x="3465443" y="6466114"/>
            <a:ext cx="5261114" cy="2553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61" name="Google Shape;61;p22"/>
          <p:cNvGrpSpPr/>
          <p:nvPr/>
        </p:nvGrpSpPr>
        <p:grpSpPr>
          <a:xfrm>
            <a:off x="-1259888" y="1121391"/>
            <a:ext cx="4841288" cy="5054000"/>
            <a:chOff x="-1259888" y="901609"/>
            <a:chExt cx="4841288" cy="5054000"/>
          </a:xfrm>
        </p:grpSpPr>
        <p:grpSp>
          <p:nvGrpSpPr>
            <p:cNvPr id="62" name="Google Shape;62;p22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63" name="Google Shape;63;p22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4" name="Google Shape;64;p22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5" name="Google Shape;65;p22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66" name="Google Shape;66;p22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67" name="Google Shape;67;p22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68" name="Google Shape;68;p22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9" name="Google Shape;69;p22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0" name="Google Shape;70;p22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71" name="Google Shape;71;p22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72" name="Google Shape;72;p22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73" name="Google Shape;73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74" name="Google Shape;74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5" name="Google Shape;75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6" name="Google Shape;76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77" name="Google Shape;77;p22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78" name="Google Shape;78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79" name="Google Shape;79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0" name="Google Shape;80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1" name="Google Shape;81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82" name="Google Shape;82;p22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83" name="Google Shape;83;p22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4" name="Google Shape;84;p22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5" name="Google Shape;85;p22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86" name="Google Shape;86;p22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87" name="Google Shape;87;p22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88" name="Google Shape;88;p22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9" name="Google Shape;89;p22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0" name="Google Shape;90;p22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91" name="Google Shape;91;p22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92" name="Google Shape;92;p22"/>
          <p:cNvGrpSpPr/>
          <p:nvPr/>
        </p:nvGrpSpPr>
        <p:grpSpPr>
          <a:xfrm flipH="1">
            <a:off x="8607643" y="1121391"/>
            <a:ext cx="4841288" cy="5054000"/>
            <a:chOff x="-1259888" y="901609"/>
            <a:chExt cx="4841288" cy="5054000"/>
          </a:xfrm>
        </p:grpSpPr>
        <p:grpSp>
          <p:nvGrpSpPr>
            <p:cNvPr id="93" name="Google Shape;93;p22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94" name="Google Shape;94;p22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5" name="Google Shape;95;p22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6" name="Google Shape;96;p22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97" name="Google Shape;97;p22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98" name="Google Shape;98;p22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99" name="Google Shape;99;p22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0" name="Google Shape;100;p22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1" name="Google Shape;101;p22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02" name="Google Shape;102;p22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03" name="Google Shape;103;p22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104" name="Google Shape;104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105" name="Google Shape;105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6" name="Google Shape;106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7" name="Google Shape;107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108" name="Google Shape;108;p22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109" name="Google Shape;109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110" name="Google Shape;110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1" name="Google Shape;111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2" name="Google Shape;112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113" name="Google Shape;113;p22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114" name="Google Shape;114;p22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5" name="Google Shape;115;p22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6" name="Google Shape;116;p22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17" name="Google Shape;117;p22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18" name="Google Shape;118;p22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119" name="Google Shape;119;p22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20" name="Google Shape;120;p22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21" name="Google Shape;121;p22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22" name="Google Shape;122;p22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123" name="Google Shape;123;p22"/>
          <p:cNvSpPr/>
          <p:nvPr/>
        </p:nvSpPr>
        <p:spPr>
          <a:xfrm>
            <a:off x="11924591" y="658314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" name="Google Shape;124;p22"/>
          <p:cNvSpPr txBox="1"/>
          <p:nvPr>
            <p:ph idx="12" type="sldNum"/>
          </p:nvPr>
        </p:nvSpPr>
        <p:spPr>
          <a:xfrm>
            <a:off x="11900400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25" name="Google Shape;125;p22"/>
          <p:cNvSpPr txBox="1"/>
          <p:nvPr/>
        </p:nvSpPr>
        <p:spPr>
          <a:xfrm>
            <a:off x="4702630" y="640081"/>
            <a:ext cx="3028822" cy="646331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NỘI DUNG</a:t>
            </a:r>
            <a:endParaRPr/>
          </a:p>
        </p:txBody>
      </p:sp>
      <p:sp>
        <p:nvSpPr>
          <p:cNvPr id="126" name="Google Shape;126;p22"/>
          <p:cNvSpPr txBox="1"/>
          <p:nvPr>
            <p:ph idx="1" type="body"/>
          </p:nvPr>
        </p:nvSpPr>
        <p:spPr>
          <a:xfrm>
            <a:off x="2735144" y="1286346"/>
            <a:ext cx="6721714" cy="4699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3683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Calibri"/>
              <a:buAutoNum type="arabicPeriod"/>
              <a:defRPr sz="22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27" name="Google Shape;127;p22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28" name="Google Shape;128;p22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129" name="Google Shape;129;p2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0" name="Google Shape;130;p2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1" name="Google Shape;131;p2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pic>
        <p:nvPicPr>
          <p:cNvPr descr="A picture containing clipart, vector graphics&#10;&#10;Description automatically generated" id="132" name="Google Shape;132;p2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22"/>
          <p:cNvSpPr txBox="1"/>
          <p:nvPr>
            <p:ph idx="10" type="dt"/>
          </p:nvPr>
        </p:nvSpPr>
        <p:spPr>
          <a:xfrm>
            <a:off x="796022" y="6454635"/>
            <a:ext cx="2132276" cy="26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oi dung" type="obj">
  <p:cSld name="Title and Content"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23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23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37" name="Google Shape;137;p23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138" name="Google Shape;138;p23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9" name="Google Shape;139;p23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40" name="Google Shape;140;p23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41" name="Google Shape;141;p23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3" name="Google Shape;143;p23"/>
          <p:cNvSpPr txBox="1"/>
          <p:nvPr>
            <p:ph idx="1"/>
          </p:nvPr>
        </p:nvSpPr>
        <p:spPr>
          <a:xfrm>
            <a:off x="774145" y="1233824"/>
            <a:ext cx="10579654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44" name="Google Shape;144;p23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45" name="Google Shape;145;p23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146" name="Google Shape;146;p23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7" name="Google Shape;147;p23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8" name="Google Shape;148;p23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9" name="Google Shape;149;p23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0" name="Google Shape;150;p23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1" name="Google Shape;151;p23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52" name="Google Shape;152;p23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3" name="Google Shape;153;p23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23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156" name="Google Shape;156;p23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157" name="Google Shape;157;p23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58" name="Google Shape;158;p23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59" name="Google Shape;159;p23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oi dung 2">
  <p:cSld name="Noi dung 2"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4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24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63" name="Google Shape;163;p24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164" name="Google Shape;164;p2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65" name="Google Shape;165;p2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66" name="Google Shape;166;p2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67" name="Google Shape;167;p24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24"/>
          <p:cNvSpPr txBox="1"/>
          <p:nvPr>
            <p:ph type="title"/>
          </p:nvPr>
        </p:nvSpPr>
        <p:spPr>
          <a:xfrm>
            <a:off x="774146" y="202009"/>
            <a:ext cx="3932227" cy="169804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sz="40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9" name="Google Shape;169;p24"/>
          <p:cNvSpPr txBox="1"/>
          <p:nvPr>
            <p:ph idx="1" type="body"/>
          </p:nvPr>
        </p:nvSpPr>
        <p:spPr>
          <a:xfrm>
            <a:off x="774144" y="2113808"/>
            <a:ext cx="3932227" cy="40631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70" name="Google Shape;170;p24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71" name="Google Shape;171;p24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172" name="Google Shape;172;p24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3" name="Google Shape;173;p24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4" name="Google Shape;174;p24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5" name="Google Shape;175;p24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6" name="Google Shape;176;p24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7" name="Google Shape;177;p24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78" name="Google Shape;178;p24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9" name="Google Shape;179;p24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182" name="Google Shape;182;p24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183" name="Google Shape;183;p2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84" name="Google Shape;184;p2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85" name="Google Shape;185;p2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86" name="Google Shape;186;p24"/>
          <p:cNvSpPr txBox="1"/>
          <p:nvPr>
            <p:ph idx="2" type="body"/>
          </p:nvPr>
        </p:nvSpPr>
        <p:spPr>
          <a:xfrm>
            <a:off x="5085934" y="202009"/>
            <a:ext cx="6267866" cy="59696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ống" type="blank">
  <p:cSld name="Blank"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25"/>
          <p:cNvSpPr txBox="1"/>
          <p:nvPr>
            <p:ph idx="11" type="ftr"/>
          </p:nvPr>
        </p:nvSpPr>
        <p:spPr>
          <a:xfrm>
            <a:off x="3684104" y="6481647"/>
            <a:ext cx="482379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9" name="Google Shape;189;p25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25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1" name="Google Shape;191;p25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192" name="Google Shape;192;p25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93" name="Google Shape;193;p25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94" name="Google Shape;194;p25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95" name="Google Shape;195;p25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6" name="Google Shape;196;p25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197" name="Google Shape;197;p25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98" name="Google Shape;198;p25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99" name="Google Shape;199;p25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00" name="Google Shape;200;p25"/>
          <p:cNvSpPr/>
          <p:nvPr/>
        </p:nvSpPr>
        <p:spPr>
          <a:xfrm>
            <a:off x="11926541" y="6589084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" name="Google Shape;201;p25"/>
          <p:cNvSpPr/>
          <p:nvPr/>
        </p:nvSpPr>
        <p:spPr>
          <a:xfrm>
            <a:off x="16026" y="4629289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" name="Google Shape;202;p25"/>
          <p:cNvSpPr/>
          <p:nvPr/>
        </p:nvSpPr>
        <p:spPr>
          <a:xfrm>
            <a:off x="16026" y="5005641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25"/>
          <p:cNvSpPr/>
          <p:nvPr/>
        </p:nvSpPr>
        <p:spPr>
          <a:xfrm>
            <a:off x="16026" y="5381993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25"/>
          <p:cNvSpPr/>
          <p:nvPr/>
        </p:nvSpPr>
        <p:spPr>
          <a:xfrm>
            <a:off x="16026" y="5758345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25"/>
          <p:cNvSpPr/>
          <p:nvPr/>
        </p:nvSpPr>
        <p:spPr>
          <a:xfrm>
            <a:off x="16026" y="6134697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25"/>
          <p:cNvSpPr/>
          <p:nvPr/>
        </p:nvSpPr>
        <p:spPr>
          <a:xfrm>
            <a:off x="16026" y="6511050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207" name="Google Shape;207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208" name="Google Shape;208;p25"/>
          <p:cNvSpPr txBox="1"/>
          <p:nvPr>
            <p:ph idx="12" type="sldNum"/>
          </p:nvPr>
        </p:nvSpPr>
        <p:spPr>
          <a:xfrm>
            <a:off x="11897699" y="656024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09" name="Google Shape;209;p25"/>
          <p:cNvSpPr txBox="1"/>
          <p:nvPr>
            <p:ph idx="10" type="dt"/>
          </p:nvPr>
        </p:nvSpPr>
        <p:spPr>
          <a:xfrm>
            <a:off x="838200" y="6481647"/>
            <a:ext cx="2148299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Tiêu đề chương">
  <p:cSld name="3_Tiêu đề chương"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ackground pattern&#10;&#10;Description automatically generated" id="211" name="Google Shape;211;p2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212" name="Google Shape;212;p26"/>
          <p:cNvSpPr/>
          <p:nvPr/>
        </p:nvSpPr>
        <p:spPr>
          <a:xfrm>
            <a:off x="-1" y="-3113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26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4" name="Google Shape;214;p26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215" name="Google Shape;215;p26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6" name="Google Shape;216;p26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7" name="Google Shape;217;p26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218" name="Google Shape;218;p26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9" name="Google Shape;219;p26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220" name="Google Shape;220;p26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21" name="Google Shape;221;p26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22" name="Google Shape;222;p26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23" name="Google Shape;223;p26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26"/>
          <p:cNvSpPr txBox="1"/>
          <p:nvPr>
            <p:ph idx="10" type="dt"/>
          </p:nvPr>
        </p:nvSpPr>
        <p:spPr>
          <a:xfrm>
            <a:off x="6060300" y="6481647"/>
            <a:ext cx="2090098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5" name="Google Shape;225;p26"/>
          <p:cNvSpPr txBox="1"/>
          <p:nvPr>
            <p:ph idx="11" type="ftr"/>
          </p:nvPr>
        </p:nvSpPr>
        <p:spPr>
          <a:xfrm>
            <a:off x="838200" y="6481647"/>
            <a:ext cx="447592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6" name="Google Shape;226;p26"/>
          <p:cNvSpPr/>
          <p:nvPr/>
        </p:nvSpPr>
        <p:spPr>
          <a:xfrm>
            <a:off x="95208" y="658315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7" name="Google Shape;227;p26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28" name="Google Shape;228;p26"/>
          <p:cNvSpPr/>
          <p:nvPr>
            <p:ph idx="1" type="body"/>
          </p:nvPr>
        </p:nvSpPr>
        <p:spPr>
          <a:xfrm>
            <a:off x="1704109" y="3019167"/>
            <a:ext cx="4583866" cy="1439258"/>
          </a:xfrm>
          <a:prstGeom prst="roundRect">
            <a:avLst>
              <a:gd fmla="val 2631" name="adj"/>
            </a:avLst>
          </a:prstGeom>
          <a:solidFill>
            <a:srgbClr val="F2F2F2"/>
          </a:solidFill>
          <a:ln cap="rnd" cmpd="sng" w="19050">
            <a:solidFill>
              <a:srgbClr val="00C6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72FF"/>
              </a:buClr>
              <a:buSzPts val="2000"/>
              <a:buNone/>
              <a:defRPr b="1" i="0" sz="2000">
                <a:solidFill>
                  <a:srgbClr val="0072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grpSp>
        <p:nvGrpSpPr>
          <p:cNvPr id="229" name="Google Shape;229;p26"/>
          <p:cNvGrpSpPr/>
          <p:nvPr/>
        </p:nvGrpSpPr>
        <p:grpSpPr>
          <a:xfrm>
            <a:off x="-1" y="4458425"/>
            <a:ext cx="8647103" cy="664514"/>
            <a:chOff x="-349411" y="1322122"/>
            <a:chExt cx="8647103" cy="664514"/>
          </a:xfrm>
        </p:grpSpPr>
        <p:cxnSp>
          <p:nvCxnSpPr>
            <p:cNvPr id="230" name="Google Shape;230;p26"/>
            <p:cNvCxnSpPr/>
            <p:nvPr/>
          </p:nvCxnSpPr>
          <p:spPr>
            <a:xfrm>
              <a:off x="-349411" y="1986636"/>
              <a:ext cx="6360520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31" name="Google Shape;231;p26"/>
            <p:cNvCxnSpPr/>
            <p:nvPr/>
          </p:nvCxnSpPr>
          <p:spPr>
            <a:xfrm flipH="1" rot="10800000">
              <a:off x="6011109" y="1480500"/>
              <a:ext cx="591405" cy="506136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32" name="Google Shape;232;p26"/>
            <p:cNvCxnSpPr/>
            <p:nvPr/>
          </p:nvCxnSpPr>
          <p:spPr>
            <a:xfrm>
              <a:off x="6602514" y="1480500"/>
              <a:ext cx="1378423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33" name="Google Shape;233;p26"/>
            <p:cNvSpPr/>
            <p:nvPr/>
          </p:nvSpPr>
          <p:spPr>
            <a:xfrm>
              <a:off x="7980937" y="1322122"/>
              <a:ext cx="316755" cy="316755"/>
            </a:xfrm>
            <a:prstGeom prst="ellipse">
              <a:avLst/>
            </a:prstGeom>
            <a:gradFill>
              <a:gsLst>
                <a:gs pos="0">
                  <a:srgbClr val="00F7FF"/>
                </a:gs>
                <a:gs pos="100000">
                  <a:srgbClr val="00C6FF"/>
                </a:gs>
              </a:gsLst>
              <a:lin ang="27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34" name="Google Shape;234;p26"/>
          <p:cNvSpPr/>
          <p:nvPr/>
        </p:nvSpPr>
        <p:spPr>
          <a:xfrm>
            <a:off x="796022" y="2736380"/>
            <a:ext cx="2019600" cy="2019600"/>
          </a:xfrm>
          <a:prstGeom prst="ellipse">
            <a:avLst/>
          </a:prstGeom>
          <a:gradFill>
            <a:gsLst>
              <a:gs pos="0">
                <a:srgbClr val="00C6FF"/>
              </a:gs>
              <a:gs pos="100000">
                <a:srgbClr val="0072FF"/>
              </a:gs>
            </a:gsLst>
            <a:lin ang="5400000" scaled="0"/>
          </a:gradFill>
          <a:ln cap="flat" cmpd="sng" w="12700">
            <a:solidFill>
              <a:srgbClr val="00C6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5" name="Google Shape;235;p26"/>
          <p:cNvSpPr/>
          <p:nvPr>
            <p:ph idx="2" type="pic"/>
          </p:nvPr>
        </p:nvSpPr>
        <p:spPr>
          <a:xfrm>
            <a:off x="690326" y="2728996"/>
            <a:ext cx="2020888" cy="2019600"/>
          </a:xfrm>
          <a:prstGeom prst="ellipse">
            <a:avLst/>
          </a:prstGeom>
          <a:solidFill>
            <a:schemeClr val="lt1"/>
          </a:solidFill>
          <a:ln cap="flat" cmpd="sng" w="1905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  <a:effectLst>
            <a:outerShdw blurRad="63500" sx="102000" rotWithShape="0" algn="ctr" sy="102000">
              <a:srgbClr val="000000">
                <a:alpha val="40000"/>
              </a:srgbClr>
            </a:outerShdw>
          </a:effectLst>
        </p:spPr>
      </p:sp>
      <p:sp>
        <p:nvSpPr>
          <p:cNvPr id="236" name="Google Shape;236;p26"/>
          <p:cNvSpPr txBox="1"/>
          <p:nvPr>
            <p:ph idx="3" type="body"/>
          </p:nvPr>
        </p:nvSpPr>
        <p:spPr>
          <a:xfrm>
            <a:off x="2711214" y="2263753"/>
            <a:ext cx="3576761" cy="62200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3600"/>
              <a:buNone/>
              <a:defRPr b="1" sz="36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Mục lục">
  <p:cSld name="1_Mục lục">
    <p:spTree>
      <p:nvGrpSpPr>
        <p:cNvPr id="237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27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39" name="Google Shape;239;p27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240" name="Google Shape;240;p27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41" name="Google Shape;241;p27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42" name="Google Shape;242;p27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43" name="Google Shape;243;p27"/>
          <p:cNvSpPr txBox="1"/>
          <p:nvPr>
            <p:ph idx="11" type="ftr"/>
          </p:nvPr>
        </p:nvSpPr>
        <p:spPr>
          <a:xfrm>
            <a:off x="3465443" y="6466114"/>
            <a:ext cx="5261114" cy="2553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244" name="Google Shape;244;p27"/>
          <p:cNvGrpSpPr/>
          <p:nvPr/>
        </p:nvGrpSpPr>
        <p:grpSpPr>
          <a:xfrm>
            <a:off x="-2323526" y="1121391"/>
            <a:ext cx="4841288" cy="5054000"/>
            <a:chOff x="-1259888" y="901609"/>
            <a:chExt cx="4841288" cy="5054000"/>
          </a:xfrm>
        </p:grpSpPr>
        <p:grpSp>
          <p:nvGrpSpPr>
            <p:cNvPr id="245" name="Google Shape;245;p27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246" name="Google Shape;246;p27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47" name="Google Shape;247;p27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48" name="Google Shape;248;p27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49" name="Google Shape;249;p27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50" name="Google Shape;250;p27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251" name="Google Shape;251;p27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2" name="Google Shape;252;p27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3" name="Google Shape;253;p27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54" name="Google Shape;254;p27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55" name="Google Shape;255;p27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256" name="Google Shape;256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57" name="Google Shape;257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8" name="Google Shape;258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9" name="Google Shape;259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60" name="Google Shape;260;p27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261" name="Google Shape;261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62" name="Google Shape;262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3" name="Google Shape;263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4" name="Google Shape;264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65" name="Google Shape;265;p27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266" name="Google Shape;266;p27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7" name="Google Shape;267;p27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8" name="Google Shape;268;p27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69" name="Google Shape;269;p27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70" name="Google Shape;270;p27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271" name="Google Shape;271;p27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2" name="Google Shape;272;p27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3" name="Google Shape;273;p27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74" name="Google Shape;274;p27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275" name="Google Shape;275;p27"/>
          <p:cNvGrpSpPr/>
          <p:nvPr/>
        </p:nvGrpSpPr>
        <p:grpSpPr>
          <a:xfrm flipH="1">
            <a:off x="9674240" y="1121391"/>
            <a:ext cx="4841288" cy="5054000"/>
            <a:chOff x="-1259888" y="901609"/>
            <a:chExt cx="4841288" cy="5054000"/>
          </a:xfrm>
        </p:grpSpPr>
        <p:grpSp>
          <p:nvGrpSpPr>
            <p:cNvPr id="276" name="Google Shape;276;p27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277" name="Google Shape;277;p27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8" name="Google Shape;278;p27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9" name="Google Shape;279;p27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80" name="Google Shape;280;p27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81" name="Google Shape;281;p27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282" name="Google Shape;282;p27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3" name="Google Shape;283;p27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4" name="Google Shape;284;p27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85" name="Google Shape;285;p27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86" name="Google Shape;286;p27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287" name="Google Shape;287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88" name="Google Shape;288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9" name="Google Shape;289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0" name="Google Shape;290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91" name="Google Shape;291;p27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292" name="Google Shape;292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93" name="Google Shape;293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4" name="Google Shape;294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5" name="Google Shape;295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96" name="Google Shape;296;p27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297" name="Google Shape;297;p27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8" name="Google Shape;298;p27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9" name="Google Shape;299;p27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300" name="Google Shape;300;p27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301" name="Google Shape;301;p27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302" name="Google Shape;302;p27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03" name="Google Shape;303;p27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04" name="Google Shape;304;p27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305" name="Google Shape;305;p27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306" name="Google Shape;306;p27"/>
          <p:cNvSpPr/>
          <p:nvPr/>
        </p:nvSpPr>
        <p:spPr>
          <a:xfrm>
            <a:off x="82718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7" name="Google Shape;307;p27"/>
          <p:cNvSpPr txBox="1"/>
          <p:nvPr>
            <p:ph idx="12" type="sldNum"/>
          </p:nvPr>
        </p:nvSpPr>
        <p:spPr>
          <a:xfrm>
            <a:off x="58527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08" name="Google Shape;308;p27"/>
          <p:cNvSpPr txBox="1"/>
          <p:nvPr/>
        </p:nvSpPr>
        <p:spPr>
          <a:xfrm>
            <a:off x="4702630" y="640081"/>
            <a:ext cx="3028822" cy="646331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360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09" name="Google Shape;309;p27"/>
          <p:cNvSpPr txBox="1"/>
          <p:nvPr>
            <p:ph idx="1" type="body"/>
          </p:nvPr>
        </p:nvSpPr>
        <p:spPr>
          <a:xfrm>
            <a:off x="2033899" y="1559014"/>
            <a:ext cx="8124204" cy="415366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AutoNum type="arabicPeriod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0" name="Google Shape;310;p27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11" name="Google Shape;311;p27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312" name="Google Shape;312;p27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13" name="Google Shape;313;p27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14" name="Google Shape;314;p27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15" name="Google Shape;315;p27"/>
          <p:cNvSpPr txBox="1"/>
          <p:nvPr>
            <p:ph idx="10" type="dt"/>
          </p:nvPr>
        </p:nvSpPr>
        <p:spPr>
          <a:xfrm>
            <a:off x="796022" y="6454635"/>
            <a:ext cx="2132276" cy="26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6" name="Google Shape;316;p27"/>
          <p:cNvSpPr txBox="1"/>
          <p:nvPr>
            <p:ph idx="2" type="body"/>
          </p:nvPr>
        </p:nvSpPr>
        <p:spPr>
          <a:xfrm>
            <a:off x="4859729" y="734646"/>
            <a:ext cx="2714625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b="1" sz="36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7" name="Google Shape;317;p27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êu đề chương">
  <p:cSld name="Section Header"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ackground pattern&#10;&#10;Description automatically generated" id="319" name="Google Shape;319;p2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320" name="Google Shape;320;p28"/>
          <p:cNvSpPr/>
          <p:nvPr/>
        </p:nvSpPr>
        <p:spPr>
          <a:xfrm>
            <a:off x="-1" y="-3113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1" name="Google Shape;321;p28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2" name="Google Shape;322;p28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323" name="Google Shape;323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24" name="Google Shape;324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25" name="Google Shape;325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26" name="Google Shape;326;p28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7" name="Google Shape;327;p28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328" name="Google Shape;328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29" name="Google Shape;329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30" name="Google Shape;330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331" name="Google Shape;331;p28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2" name="Google Shape;332;p28"/>
          <p:cNvSpPr txBox="1"/>
          <p:nvPr>
            <p:ph type="title"/>
          </p:nvPr>
        </p:nvSpPr>
        <p:spPr>
          <a:xfrm>
            <a:off x="1470929" y="2095027"/>
            <a:ext cx="9941071" cy="884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4400"/>
              <a:buNone/>
              <a:defRPr b="1" sz="44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3" name="Google Shape;333;p28"/>
          <p:cNvSpPr txBox="1"/>
          <p:nvPr>
            <p:ph type="body" idx="1"/>
          </p:nvPr>
        </p:nvSpPr>
        <p:spPr>
          <a:xfrm>
            <a:off x="1470930" y="3169159"/>
            <a:ext cx="9941070" cy="695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sz="2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4" name="Google Shape;334;p28"/>
          <p:cNvSpPr txBox="1"/>
          <p:nvPr>
            <p:ph idx="3" type="body"/>
          </p:nvPr>
        </p:nvSpPr>
        <p:spPr>
          <a:xfrm>
            <a:off x="1470930" y="4137397"/>
            <a:ext cx="7147030" cy="91669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F2F2F2"/>
              </a:buClr>
              <a:buSzPts val="1000"/>
              <a:buNone/>
              <a:defRPr sz="1000">
                <a:solidFill>
                  <a:srgbClr val="F2F2F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5" name="Google Shape;335;p28"/>
          <p:cNvSpPr txBox="1"/>
          <p:nvPr>
            <p:ph idx="4" type="body"/>
          </p:nvPr>
        </p:nvSpPr>
        <p:spPr>
          <a:xfrm>
            <a:off x="8896576" y="5231902"/>
            <a:ext cx="2521280" cy="157781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12000"/>
              <a:buNone/>
              <a:defRPr b="1" sz="120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336" name="Google Shape;336;p28"/>
          <p:cNvCxnSpPr/>
          <p:nvPr/>
        </p:nvCxnSpPr>
        <p:spPr>
          <a:xfrm>
            <a:off x="1574156" y="2979683"/>
            <a:ext cx="3565003" cy="0"/>
          </a:xfrm>
          <a:prstGeom prst="straightConnector1">
            <a:avLst/>
          </a:prstGeom>
          <a:noFill/>
          <a:ln cap="rnd" cmpd="sng" w="2540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37" name="Google Shape;337;p28"/>
          <p:cNvSpPr txBox="1"/>
          <p:nvPr>
            <p:ph idx="10" type="dt"/>
          </p:nvPr>
        </p:nvSpPr>
        <p:spPr>
          <a:xfrm>
            <a:off x="6060300" y="6481647"/>
            <a:ext cx="2090098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8" name="Google Shape;338;p28"/>
          <p:cNvSpPr txBox="1"/>
          <p:nvPr>
            <p:ph idx="11" type="ftr"/>
          </p:nvPr>
        </p:nvSpPr>
        <p:spPr>
          <a:xfrm>
            <a:off x="838200" y="6481647"/>
            <a:ext cx="447592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339" name="Google Shape;339;p28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340" name="Google Shape;340;p28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1" name="Google Shape;341;p28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2" name="Google Shape;342;p28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3" name="Google Shape;343;p28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4" name="Google Shape;344;p28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5" name="Google Shape;345;p28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46" name="Google Shape;346;p28"/>
          <p:cNvSpPr/>
          <p:nvPr/>
        </p:nvSpPr>
        <p:spPr>
          <a:xfrm>
            <a:off x="95208" y="658315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7" name="Google Shape;347;p28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descr="Background pattern&#10;&#10;Description automatically generated" id="348" name="Google Shape;348;p2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349" name="Google Shape;349;p28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0" name="Google Shape;350;p28"/>
          <p:cNvSpPr/>
          <p:nvPr/>
        </p:nvSpPr>
        <p:spPr>
          <a:xfrm>
            <a:off x="16026" y="4629289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28"/>
          <p:cNvSpPr/>
          <p:nvPr/>
        </p:nvSpPr>
        <p:spPr>
          <a:xfrm>
            <a:off x="16026" y="5005641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2" name="Google Shape;352;p28"/>
          <p:cNvSpPr/>
          <p:nvPr/>
        </p:nvSpPr>
        <p:spPr>
          <a:xfrm>
            <a:off x="16026" y="5381993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28"/>
          <p:cNvSpPr/>
          <p:nvPr/>
        </p:nvSpPr>
        <p:spPr>
          <a:xfrm>
            <a:off x="16026" y="5758345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4" name="Google Shape;354;p28"/>
          <p:cNvSpPr/>
          <p:nvPr/>
        </p:nvSpPr>
        <p:spPr>
          <a:xfrm>
            <a:off x="16026" y="6134697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5" name="Google Shape;355;p28"/>
          <p:cNvSpPr/>
          <p:nvPr/>
        </p:nvSpPr>
        <p:spPr>
          <a:xfrm>
            <a:off x="16026" y="6511050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6" name="Google Shape;356;p28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57" name="Google Shape;357;p28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358" name="Google Shape;358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59" name="Google Shape;359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60" name="Google Shape;360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61" name="Google Shape;361;p28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62" name="Google Shape;362;p28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363" name="Google Shape;363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64" name="Google Shape;364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65" name="Google Shape;365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366" name="Google Shape;366;p28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28"/>
          <p:cNvSpPr txBox="1"/>
          <p:nvPr>
            <p:ph idx="5" type="sldNum"/>
          </p:nvPr>
        </p:nvSpPr>
        <p:spPr>
          <a:xfrm>
            <a:off x="1189939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68" name="Google Shape;368;p28"/>
          <p:cNvSpPr txBox="1"/>
          <p:nvPr>
            <p:ph idx="6" type="body"/>
          </p:nvPr>
        </p:nvSpPr>
        <p:spPr>
          <a:xfrm>
            <a:off x="1470930" y="2095027"/>
            <a:ext cx="6264164" cy="884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4400"/>
              <a:buNone/>
              <a:defRPr b="1" sz="44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9" name="Google Shape;369;p28"/>
          <p:cNvSpPr txBox="1"/>
          <p:nvPr>
            <p:ph idx="7" type="body"/>
          </p:nvPr>
        </p:nvSpPr>
        <p:spPr>
          <a:xfrm>
            <a:off x="1470930" y="3169159"/>
            <a:ext cx="8913813" cy="695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sz="2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0" name="Google Shape;370;p28"/>
          <p:cNvSpPr txBox="1"/>
          <p:nvPr>
            <p:ph idx="8" type="body"/>
          </p:nvPr>
        </p:nvSpPr>
        <p:spPr>
          <a:xfrm>
            <a:off x="1470930" y="4137397"/>
            <a:ext cx="7147030" cy="91669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F2F2F2"/>
              </a:buClr>
              <a:buSzPts val="1000"/>
              <a:buNone/>
              <a:defRPr sz="1000">
                <a:solidFill>
                  <a:srgbClr val="F2F2F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371" name="Google Shape;371;p28"/>
          <p:cNvCxnSpPr/>
          <p:nvPr/>
        </p:nvCxnSpPr>
        <p:spPr>
          <a:xfrm>
            <a:off x="1574156" y="2979683"/>
            <a:ext cx="3565003" cy="0"/>
          </a:xfrm>
          <a:prstGeom prst="straightConnector1">
            <a:avLst/>
          </a:prstGeom>
          <a:noFill/>
          <a:ln cap="rnd" cmpd="sng" w="2540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 sanh 1">
  <p:cSld name="Two Content">
    <p:spTree>
      <p:nvGrpSpPr>
        <p:cNvPr id="372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29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4" name="Google Shape;374;p29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75" name="Google Shape;375;p29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376" name="Google Shape;376;p29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77" name="Google Shape;377;p29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78" name="Google Shape;378;p29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79" name="Google Shape;379;p29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0" name="Google Shape;380;p29"/>
          <p:cNvSpPr txBox="1"/>
          <p:nvPr>
            <p:ph sz="half" idx="1"/>
          </p:nvPr>
        </p:nvSpPr>
        <p:spPr>
          <a:xfrm>
            <a:off x="774144" y="1233825"/>
            <a:ext cx="5202000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1" name="Google Shape;381;p29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382" name="Google Shape;382;p29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383" name="Google Shape;383;p29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4" name="Google Shape;384;p29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5" name="Google Shape;385;p29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6" name="Google Shape;386;p29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7" name="Google Shape;387;p29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8" name="Google Shape;388;p29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89" name="Google Shape;389;p29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0" name="Google Shape;390;p29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1" name="Google Shape;391;p29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2" name="Google Shape;392;p29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393" name="Google Shape;393;p29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394" name="Google Shape;394;p29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95" name="Google Shape;395;p29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96" name="Google Shape;396;p29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97" name="Google Shape;397;p29"/>
          <p:cNvSpPr txBox="1"/>
          <p:nvPr>
            <p:ph sz="half" idx="2"/>
          </p:nvPr>
        </p:nvSpPr>
        <p:spPr>
          <a:xfrm>
            <a:off x="6151800" y="1228490"/>
            <a:ext cx="5202000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98" name="Google Shape;398;p29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 sanh 2">
  <p:cSld name="Comparison">
    <p:spTree>
      <p:nvGrpSpPr>
        <p:cNvPr id="399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p30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1" name="Google Shape;401;p30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02" name="Google Shape;402;p30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403" name="Google Shape;403;p30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04" name="Google Shape;404;p30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05" name="Google Shape;405;p30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06" name="Google Shape;406;p30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7" name="Google Shape;407;p30"/>
          <p:cNvSpPr txBox="1"/>
          <p:nvPr>
            <p:ph sz="half" idx="2"/>
          </p:nvPr>
        </p:nvSpPr>
        <p:spPr>
          <a:xfrm>
            <a:off x="774144" y="1962615"/>
            <a:ext cx="5202000" cy="42143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08" name="Google Shape;408;p30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409" name="Google Shape;409;p30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410" name="Google Shape;410;p30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1" name="Google Shape;411;p30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2" name="Google Shape;412;p30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3" name="Google Shape;413;p30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4" name="Google Shape;414;p30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5" name="Google Shape;415;p30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16" name="Google Shape;416;p30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7" name="Google Shape;417;p30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8" name="Google Shape;418;p30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9" name="Google Shape;419;p30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420" name="Google Shape;420;p30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421" name="Google Shape;421;p30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22" name="Google Shape;422;p30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23" name="Google Shape;423;p30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24" name="Google Shape;424;p30"/>
          <p:cNvSpPr txBox="1"/>
          <p:nvPr>
            <p:ph sz="quarter" idx="4"/>
          </p:nvPr>
        </p:nvSpPr>
        <p:spPr>
          <a:xfrm>
            <a:off x="6151800" y="1957280"/>
            <a:ext cx="5202000" cy="42143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5" name="Google Shape;425;p30"/>
          <p:cNvSpPr txBox="1"/>
          <p:nvPr>
            <p:ph type="body" idx="1"/>
          </p:nvPr>
        </p:nvSpPr>
        <p:spPr>
          <a:xfrm>
            <a:off x="774144" y="1233825"/>
            <a:ext cx="5202794" cy="504825"/>
          </a:xfrm>
          <a:prstGeom prst="rect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6" name="Google Shape;426;p30"/>
          <p:cNvSpPr txBox="1"/>
          <p:nvPr>
            <p:ph type="body" sz="quarter" idx="3"/>
          </p:nvPr>
        </p:nvSpPr>
        <p:spPr>
          <a:xfrm>
            <a:off x="6151006" y="1233825"/>
            <a:ext cx="5202794" cy="504825"/>
          </a:xfrm>
          <a:prstGeom prst="rect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7" name="Google Shape;427;p30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Hình ảnh">
  <p:cSld name="Content with Caption"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p31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0" name="Google Shape;430;p3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31" name="Google Shape;431;p31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432" name="Google Shape;432;p3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3" name="Google Shape;433;p3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4" name="Google Shape;434;p3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35" name="Google Shape;435;p3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sz="40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7" name="Google Shape;437;p31"/>
          <p:cNvSpPr txBox="1"/>
          <p:nvPr>
            <p:ph type="body" sz="half" idx="2"/>
          </p:nvPr>
        </p:nvSpPr>
        <p:spPr>
          <a:xfrm>
            <a:off x="771525" y="1066800"/>
            <a:ext cx="10582275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38" name="Google Shape;438;p31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439" name="Google Shape;439;p31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440" name="Google Shape;440;p31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1" name="Google Shape;441;p31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2" name="Google Shape;442;p31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3" name="Google Shape;443;p31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4" name="Google Shape;444;p31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5" name="Google Shape;445;p31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46" name="Google Shape;446;p31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7" name="Google Shape;447;p31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8" name="Google Shape;448;p31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450" name="Google Shape;450;p31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451" name="Google Shape;451;p3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52" name="Google Shape;452;p3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53" name="Google Shape;453;p3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54" name="Google Shape;454;p31"/>
          <p:cNvSpPr/>
          <p:nvPr>
            <p:ph idx="1"/>
          </p:nvPr>
        </p:nvSpPr>
        <p:spPr>
          <a:xfrm>
            <a:off x="771525" y="2209800"/>
            <a:ext cx="10582275" cy="3962400"/>
          </a:xfrm>
          <a:prstGeom prst="roundRect">
            <a:avLst>
              <a:gd fmla="val 574" name="adj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ong 1">
  <p:cSld name="Trang trong 1">
    <p:spTree>
      <p:nvGrpSpPr>
        <p:cNvPr id="455" name="Shape 4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" name="Google Shape;456;p32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57" name="Google Shape;457;p32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458" name="Google Shape;458;p3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59" name="Google Shape;459;p3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60" name="Google Shape;460;p3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461" name="Google Shape;461;p32"/>
          <p:cNvSpPr/>
          <p:nvPr/>
        </p:nvSpPr>
        <p:spPr>
          <a:xfrm>
            <a:off x="22186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2" name="Google Shape;462;p32"/>
          <p:cNvSpPr txBox="1"/>
          <p:nvPr>
            <p:ph idx="12" type="sldNum"/>
          </p:nvPr>
        </p:nvSpPr>
        <p:spPr>
          <a:xfrm>
            <a:off x="-2005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63" name="Google Shape;463;p32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64" name="Google Shape;464;p32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465" name="Google Shape;465;p3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66" name="Google Shape;466;p3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67" name="Google Shape;467;p3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68" name="Google Shape;468;p32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9" name="Google Shape;469;p32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0" name="Google Shape;470;p32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ong 2">
  <p:cSld name="Trang trong 2">
    <p:spTree>
      <p:nvGrpSpPr>
        <p:cNvPr id="471" name="Shape 4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2" name="Google Shape;472;p33"/>
          <p:cNvSpPr/>
          <p:nvPr/>
        </p:nvSpPr>
        <p:spPr>
          <a:xfrm>
            <a:off x="22186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3" name="Google Shape;473;p33"/>
          <p:cNvSpPr txBox="1"/>
          <p:nvPr>
            <p:ph idx="12" type="sldNum"/>
          </p:nvPr>
        </p:nvSpPr>
        <p:spPr>
          <a:xfrm>
            <a:off x="-2005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êu đề">
  <p:cSld name="1_Tiêu đề">
    <p:spTree>
      <p:nvGrpSpPr>
        <p:cNvPr id="474" name="Shape 4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Google Shape;475;p34"/>
          <p:cNvSpPr txBox="1"/>
          <p:nvPr>
            <p:ph idx="11" type="ftr"/>
          </p:nvPr>
        </p:nvSpPr>
        <p:spPr>
          <a:xfrm>
            <a:off x="2353680" y="6480629"/>
            <a:ext cx="4288103" cy="236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6" name="Google Shape;476;p34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7" name="Google Shape;477;p34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78" name="Google Shape;478;p34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479" name="Google Shape;479;p3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80" name="Google Shape;480;p3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81" name="Google Shape;481;p3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82" name="Google Shape;482;p34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83" name="Google Shape;483;p34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484" name="Google Shape;484;p3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5" name="Google Shape;485;p3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6" name="Google Shape;486;p3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487" name="Google Shape;487;p34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8" name="Google Shape;488;p34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489" name="Google Shape;489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490" name="Google Shape;490;p34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  <p:sp>
        <p:nvSpPr>
          <p:cNvPr id="491" name="Google Shape;491;p34"/>
          <p:cNvSpPr/>
          <p:nvPr/>
        </p:nvSpPr>
        <p:spPr>
          <a:xfrm>
            <a:off x="11924591" y="658314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2" name="Google Shape;492;p34"/>
          <p:cNvSpPr txBox="1"/>
          <p:nvPr>
            <p:ph idx="12" type="sldNum"/>
          </p:nvPr>
        </p:nvSpPr>
        <p:spPr>
          <a:xfrm>
            <a:off x="11894359" y="6566401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93" name="Google Shape;493;p34"/>
          <p:cNvSpPr txBox="1"/>
          <p:nvPr>
            <p:ph idx="1" type="body"/>
          </p:nvPr>
        </p:nvSpPr>
        <p:spPr>
          <a:xfrm>
            <a:off x="1850807" y="2208158"/>
            <a:ext cx="8490387" cy="69616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4400"/>
              <a:buNone/>
              <a:defRPr b="1" sz="4400"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4" name="Google Shape;494;p34"/>
          <p:cNvSpPr txBox="1"/>
          <p:nvPr>
            <p:ph idx="2" type="body"/>
          </p:nvPr>
        </p:nvSpPr>
        <p:spPr>
          <a:xfrm>
            <a:off x="876991" y="3039455"/>
            <a:ext cx="10438019" cy="45944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2000"/>
              <a:buNone/>
              <a:defRPr b="1" sz="2000">
                <a:solidFill>
                  <a:srgbClr val="000046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5" name="Google Shape;495;p34"/>
          <p:cNvSpPr txBox="1"/>
          <p:nvPr>
            <p:ph idx="3" type="body"/>
          </p:nvPr>
        </p:nvSpPr>
        <p:spPr>
          <a:xfrm>
            <a:off x="4680970" y="4963048"/>
            <a:ext cx="2830058" cy="345005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 i="0" sz="14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6" name="Google Shape;496;p34"/>
          <p:cNvSpPr txBox="1"/>
          <p:nvPr>
            <p:ph idx="4" type="body"/>
          </p:nvPr>
        </p:nvSpPr>
        <p:spPr>
          <a:xfrm>
            <a:off x="1850807" y="3630811"/>
            <a:ext cx="8490387" cy="6442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FBFBF"/>
              </a:buClr>
              <a:buSzPts val="1200"/>
              <a:buNone/>
              <a:defRPr sz="1200">
                <a:solidFill>
                  <a:srgbClr val="BFBFB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7" name="Google Shape;497;p34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1" Target="../slideLayouts/slideLayout11.xml" Type="http://schemas.openxmlformats.org/officeDocument/2006/relationships/slideLayout" /><Relationship Id="rId10" Target="../slideLayouts/slideLayout10.xml" Type="http://schemas.openxmlformats.org/officeDocument/2006/relationships/slideLayout" /><Relationship Id="rId13" Target="../slideLayouts/slideLayout13.xml" Type="http://schemas.openxmlformats.org/officeDocument/2006/relationships/slideLayout" /><Relationship Id="rId12" Target="../slideLayouts/slideLayout12.xml" Type="http://schemas.openxmlformats.org/officeDocument/2006/relationships/slideLayout" /><Relationship Id="rId1" Target="../slideLayouts/slideLayout1.xml" Type="http://schemas.openxmlformats.org/officeDocument/2006/relationships/slideLayout" /><Relationship Id="rId2" Target="../slideLayouts/slideLayout2.xml" Type="http://schemas.openxmlformats.org/officeDocument/2006/relationships/slideLayout" /><Relationship Id="rId3" Target="../slideLayouts/slideLayout3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5" Target="../theme/theme1.xml" Type="http://schemas.openxmlformats.org/officeDocument/2006/relationships/theme" /><Relationship Id="rId14" Target="../slideLayouts/slideLayout14.xml" Type="http://schemas.openxmlformats.org/officeDocument/2006/relationships/slideLayout" /><Relationship Id="rId5" Target="../slideLayouts/slideLayout5.xml" Type="http://schemas.openxmlformats.org/officeDocument/2006/relationships/slideLayout" /><Relationship Id="rId6" Target="../slideLayouts/slideLayout6.xml" Type="http://schemas.openxmlformats.org/officeDocument/2006/relationships/slideLayout" /><Relationship Id="rId7" Target="../slideLayouts/slideLayout7.xml" Type="http://schemas.openxmlformats.org/officeDocument/2006/relationships/slideLayout" /><Relationship Id="rId8" Target="../slideLayouts/slideLayout8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ahyp="http://schemas.microsoft.com/office/drawing/2018/hyperlinkcolor" xmlns:c="http://schemas.openxmlformats.org/drawingml/2006/chart" xmlns:com="http://schemas.openxmlformats.org/drawingml/2006/compatibility" xmlns:dgm="http://schemas.openxmlformats.org/drawingml/2006/diagram" xmlns:mc="http://schemas.openxmlformats.org/markup-compatibility/2006" xmlns:mv="urn:schemas-microsoft-com:mac:vml" xmlns:o="urn:schemas-microsoft-com:office:office" xmlns:p="http://schemas.openxmlformats.org/presentationml/2006/main" xmlns:p14="http://schemas.microsoft.com/office/powerpoint/2010/main" xmlns:p15="http://schemas.microsoft.com/office/powerpoint/2012/main" xmlns:pvml="urn:schemas-microsoft-com:office:powerpoint" xmlns:r="http://schemas.openxmlformats.org/officeDocument/2006/relationships" xmlns:v="urn:schemas-microsoft-com:vml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0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rmAutofit/>
          </a:bodyPr>
          <a:lstStyle>
            <a:lvl1pPr algn="l" lvl="0" marR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b="1" cap="none" i="0" strike="noStrike" sz="4000" u="none">
                <a:solidFill>
                  <a:srgbClr val="0072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20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="t" anchorCtr="0" bIns="45700" lIns="91425" rIns="91425" spcFirstLastPara="1" tIns="45700" wrap="square">
            <a:normAutofit/>
          </a:bodyPr>
          <a:lstStyle>
            <a:lvl1pPr algn="l" indent="-406400" lvl="0" marL="457200" marR="0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cap="none" i="0" strike="noStrike" sz="2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indent="-381000" lvl="1" marL="9144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cap="none" i="0" strike="noStrike" sz="24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indent="-355600" lvl="2" marL="13716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cap="none" i="0" strike="noStrike" sz="20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indent="-342900" lvl="3" marL="18288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indent="-342900" lvl="4" marL="22860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indent="-342900" lvl="5" marL="27432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indent="-342900" lvl="6" marL="32004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indent="-342900" lvl="7" marL="36576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indent="-342900" lvl="8" marL="41148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" name="Google Shape;12;p2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l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" name="Google Shape;13;p2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" name="Google Shape;14;p2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r" indent="0" lvl="0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r" indent="0" lvl="1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r" indent="0" lvl="2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r" indent="0" lvl="3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r" indent="0" lvl="4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r" indent="0" lvl="5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r" indent="0" lvl="6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r" indent="0" lvl="7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r" indent="0" lvl="8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algn="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folHlink="folHlink" hlink="hlink" tx1="dk1" tx2="lt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</p:sldLayoutIdLst>
  <p:hf dt="0" ftr="0" hdr="0"/>
  <p:txStyles>
    <p:title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9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0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1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2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3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4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5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6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7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8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9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21"/>
          <p:cNvSpPr txBox="1"/>
          <p:nvPr>
            <p:ph type="ctrTitle"/>
          </p:nvPr>
        </p:nvSpPr>
        <p:spPr>
          <a:xfrm>
            <a:off x="952500" y="1333500"/>
            <a:ext cx="10287000" cy="1905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Xây dựng hệ thống nhận dạng biển số xe bằng Trí tuệ nhân tạo</a:t>
            </a:r>
          </a:p>
        </p:txBody>
      </p:sp>
      <p:sp>
        <p:nvSpPr>
          <p:cNvPr id="35" name="Google Shape;35;p21"/>
          <p:cNvSpPr txBox="1"/>
          <p:nvPr>
            <p:ph idx="1" type="subTitle"/>
          </p:nvPr>
        </p:nvSpPr>
        <p:spPr>
          <a:xfrm>
            <a:off x="952500" y="3524250"/>
            <a:ext cx="10287000" cy="200025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Đồ án tốt nghiệp đại học · Trường Đại học Công nghệ Thông tin, ĐHQG-HCM</a:t>
            </a:r>
            <a:br/>
            <a:br/>
            <a:r>
              <a:rPr/>
              <a:t>Phạm Công Thành — 25410013 · Nguyễn Minh Hiếu — 25410007</a:t>
            </a:r>
            <a:br/>
            <a:r>
              <a:rPr/>
              <a:t>GVHD: ThS. Cáp Phạm Đình Thăng</a:t>
            </a:r>
          </a:p>
        </p:txBody>
      </p:sp>
      <p:sp>
        <p:nvSpPr>
          <p:cNvPr id="38" name="Google Shape;38;p21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Tháng 9 năm 2026</a:t>
            </a:r>
          </a:p>
        </p:txBody>
      </p:sp>
      <p:sp>
        <p:nvSpPr>
          <p:cNvPr id="33" name="Google Shape;33;p21"/>
          <p:cNvSpPr txBox="1"/>
          <p:nvPr>
            <p:ph idx="12" type="sldNum"/>
          </p:nvPr>
        </p:nvSpPr>
        <p:spPr>
          <a:xfrm>
            <a:off x="75604" y="658755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NỘI DUNG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347663">
              <a:buAutoNum type="arabicPeriod"/>
            </a:pPr>
            <a:r>
              <a:rPr b="1"/>
              <a:t>Tổng quan đề tài</a:t>
            </a:r>
          </a:p>
          <a:p>
            <a:pPr lvl="0" indent="0" marL="347663">
              <a:buAutoNum type="arabicPeriod"/>
            </a:pPr>
            <a:r>
              <a:rPr b="1"/>
              <a:t>Cơ sở lý thuyết</a:t>
            </a:r>
          </a:p>
          <a:p>
            <a:pPr lvl="0" indent="0" marL="347663">
              <a:buAutoNum type="arabicPeriod"/>
            </a:pPr>
            <a:r>
              <a:rPr b="1"/>
              <a:t>Phân tích và thiết kế hệ thống</a:t>
            </a:r>
          </a:p>
          <a:p>
            <a:pPr lvl="0" indent="0" marL="347663">
              <a:buAutoNum type="arabicPeriod"/>
            </a:pPr>
            <a:r>
              <a:rPr b="1"/>
              <a:t>Kết quả thực nghiệm</a:t>
            </a:r>
          </a:p>
          <a:p>
            <a:pPr lvl="0" indent="0" marL="347663">
              <a:buAutoNum type="arabicPeriod"/>
            </a:pPr>
            <a:r>
              <a:rPr b="1"/>
              <a:t>Kết luận và hướng phát triển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Vì sao đề tài này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~77 triệu xe máy</a:t>
            </a:r>
            <a:r>
              <a:rPr/>
              <a:t> — </a:t>
            </a:r>
            <a:r>
              <a:rPr b="1"/>
              <a:t>85–90%</a:t>
            </a:r>
            <a:r>
              <a:rPr/>
              <a:t> lưu lượng đường bộ Việt Nam</a:t>
            </a:r>
          </a:p>
          <a:p>
            <a:pPr lvl="0" indent="0" marL="0">
              <a:buNone/>
            </a:pPr>
            <a:r>
              <a:rPr/>
              <a:t>Cùng hệ thống, cùng phép đo: </a:t>
            </a:r>
            <a:r>
              <a:rPr b="1"/>
              <a:t>chênh 48,6 điểm</a:t>
            </a:r>
            <a:r>
              <a:rPr/>
              <a:t> </a:t>
            </a:r>
            <a:r>
              <a:rPr i="1"/>
              <a:t>(số liệu Brazil)</a:t>
            </a:r>
          </a:p>
        </p:txBody>
      </p:sp>
      <p:pic>
        <p:nvPicPr>
          <p:cNvPr descr="figures/fig-gap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454400" y="2209800"/>
            <a:ext cx="51816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Mục tiêu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/>
              <a:t>Hệ thống ALPR </a:t>
            </a:r>
            <a:r>
              <a:rPr b="1"/>
              <a:t>hoàn chỉnh</a:t>
            </a:r>
            <a:r>
              <a:rPr/>
              <a:t>: AI · API · giao diện · CSDL · Docker</a:t>
            </a:r>
          </a:p>
          <a:p>
            <a:pPr lvl="0"/>
            <a:r>
              <a:rPr/>
              <a:t>Xử lý </a:t>
            </a:r>
            <a:r>
              <a:rPr b="1"/>
              <a:t>cả biển 1 dòng và 2 dòng</a:t>
            </a:r>
          </a:p>
          <a:p>
            <a:pPr lvl="0"/>
            <a:r>
              <a:rPr/>
              <a:t>Suy luận </a:t>
            </a:r>
            <a:r>
              <a:rPr b="1"/>
              <a:t>hoàn toàn trên CPU</a:t>
            </a:r>
            <a:r>
              <a:rPr/>
              <a:t> — mặc định, không phải dự phòng</a:t>
            </a:r>
          </a:p>
          <a:p>
            <a:pPr lvl="0"/>
            <a:r>
              <a:rPr/>
              <a:t>Chỉ tiêu chốt </a:t>
            </a:r>
            <a:r>
              <a:rPr b="1"/>
              <a:t>trước</a:t>
            </a:r>
            <a:r>
              <a:rPr/>
              <a:t> khi làm, mỗi chỉ tiêu hai mức</a:t>
            </a:r>
          </a:p>
          <a:p>
            <a:pPr lvl="0" indent="0" marL="0">
              <a:buNone/>
            </a:pPr>
            <a:r>
              <a:rPr b="1"/>
              <a:t>Ngoài phạm vi:</a:t>
            </a:r>
            <a:r>
              <a:rPr/>
              <a:t> phân loại loại xe · tracking · barie · huấn luyện OCR từ đầu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Chọn hướng tiếp cận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Chọn hai giai đoạn:</a:t>
            </a:r>
            <a:r>
              <a:rPr/>
              <a:t> YOLO11n phát hiện vùng biển → PaddleOCR đọc ký tự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Thế hệ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Điểm gãy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Cổ điển </a:t>
                      </a:r>
                      <a:r>
                        <a:rPr i="1"/>
                        <a:t>(Sobel, contour)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Vỡ khi đổi ánh sáng, góc chụp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Hai giai đoạn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Giả định 1 dòng nằm trong hàm mất mát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Một giai đoạn </a:t>
                      </a:r>
                      <a:r>
                        <a:rPr i="1"/>
                        <a:t>(YOLO đọc ký tự)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Cần nhãn ký tự — Việt Nam gần như không có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End-to-end </a:t>
                      </a:r>
                      <a:r>
                        <a:rPr i="1"/>
                        <a:t>(Transformer)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Đói dữ liệu, nặng, không hợp CPU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Đặc thù biển số Việt Nam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Bố cục tách bạch theo </a:t>
            </a:r>
            <a:r>
              <a:rPr b="1"/>
              <a:t>tỉ lệ khung hình</a:t>
            </a:r>
            <a:r>
              <a:rPr/>
              <a:t> </a:t>
            </a:r>
            <a:r>
              <a:rPr i="1"/>
              <a:t>(QCVN 08:2024/BCA)</a:t>
            </a:r>
          </a:p>
          <a:p>
            <a:pPr lvl="0" indent="0" marL="0">
              <a:buNone/>
            </a:pPr>
            <a:r>
              <a:rPr/>
              <a:t>Tỉ lệ đo thật lệch khỏi chuẩn nhưng vẫn đúng phía ngưỡng </a:t>
            </a:r>
            <a:r>
              <a:rPr b="1"/>
              <a:t>2,5</a:t>
            </a:r>
          </a:p>
        </p:txBody>
      </p:sp>
      <p:pic>
        <p:nvPicPr>
          <p:cNvPr descr="figures/fig-layou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911600" y="2209800"/>
            <a:ext cx="42799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Căn cứ pháp lý: một phát hiện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Đề bài dẫn </a:t>
            </a:r>
            <a:r>
              <a:rPr sz="2000" b="1"/>
              <a:t>TT 24/2023/TT-BCA</a:t>
            </a:r>
            <a:r>
              <a:rPr sz="2000"/>
              <a:t> — văn bản này </a:t>
            </a:r>
            <a:r>
              <a:rPr sz="2000" b="1"/>
              <a:t>đã hết hiệu lực từ 01/01/2025</a:t>
            </a:r>
          </a:p>
          <a:p>
            <a:pPr lvl="0"/>
            <a:r>
              <a:rPr b="1"/>
              <a:t>TT 79/2024/TT-BCA</a:t>
            </a:r>
            <a:r>
              <a:rPr/>
              <a:t> — cấu trúc biển, seri, màu sắc</a:t>
            </a:r>
          </a:p>
          <a:p>
            <a:pPr lvl="0"/>
            <a:r>
              <a:rPr b="1"/>
              <a:t>TT 51/2025/TT-BCA</a:t>
            </a:r>
            <a:r>
              <a:rPr/>
              <a:t> — thay phụ lục mã tỉnh, còn </a:t>
            </a:r>
            <a:r>
              <a:rPr b="1"/>
              <a:t>34 tỉnh/thành</a:t>
            </a:r>
          </a:p>
          <a:p>
            <a:pPr lvl="0"/>
            <a:r>
              <a:rPr b="1"/>
              <a:t>QCVN 08:2024/BCA</a:t>
            </a:r>
            <a:r>
              <a:rPr/>
              <a:t> — kích thước và tỉ lệ</a:t>
            </a:r>
          </a:p>
          <a:p>
            <a:pPr lvl="0" indent="0" marL="0">
              <a:buNone/>
            </a:pPr>
            <a:r>
              <a:rPr/>
              <a:t>⇒ Bộ luật xây trên văn bản </a:t>
            </a:r>
            <a:r>
              <a:rPr b="1"/>
              <a:t>đang có hiệu lực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Kiến trúc 5 tầng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Tầng AI là </a:t>
            </a:r>
            <a:r>
              <a:rPr b="1"/>
              <a:t>Python thuần</a:t>
            </a:r>
            <a:r>
              <a:rPr/>
              <a:t> — cấm import FastAPI hoặc Pydantic</a:t>
            </a:r>
          </a:p>
        </p:txBody>
      </p:sp>
      <p:pic>
        <p:nvPicPr>
          <p:cNvPr descr="figures/fig-architectu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390900" y="2209800"/>
            <a:ext cx="53340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Pipeline AI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Nhánh </a:t>
            </a:r>
            <a:r>
              <a:rPr b="1"/>
              <a:t>đỏ</a:t>
            </a:r>
            <a:r>
              <a:rPr/>
              <a:t> là đóng góp kỹ thuật lõi</a:t>
            </a:r>
          </a:p>
          <a:p>
            <a:pPr lvl="0" indent="0" marL="0">
              <a:buNone/>
            </a:pPr>
            <a:r>
              <a:rPr/>
              <a:t>Không thấy biển ⇒ trả rỗng, </a:t>
            </a:r>
            <a:r>
              <a:rPr b="1"/>
              <a:t>HTTP 200</a:t>
            </a:r>
            <a:r>
              <a:rPr/>
              <a:t> — không phải lỗi</a:t>
            </a:r>
          </a:p>
        </p:txBody>
      </p:sp>
      <p:pic>
        <p:nvPicPr>
          <p:cNvPr descr="figures/fig-pipelin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949700" y="2209800"/>
            <a:ext cx="42037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Xử lý biển 2 dòng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Giả định </a:t>
            </a:r>
            <a:r>
              <a:rPr b="1"/>
              <a:t>một dòng</a:t>
            </a:r>
            <a:r>
              <a:rPr/>
              <a:t> nằm trong </a:t>
            </a:r>
            <a:r>
              <a:rPr b="1"/>
              <a:t>hàm mất mát</a:t>
            </a:r>
            <a:r>
              <a:rPr/>
              <a:t> của CRNN/CTC — thêm dữ liệu không sửa được</a:t>
            </a:r>
          </a:p>
        </p:txBody>
      </p:sp>
      <p:pic>
        <p:nvPicPr>
          <p:cNvPr descr="figures/fig-two-lin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83000" y="2209800"/>
            <a:ext cx="47371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Bộ luật hậu xử lý theo vị trí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Sửa theo </a:t>
            </a:r>
            <a:r>
              <a:rPr b="1"/>
              <a:t>VỊ TRÍ</a:t>
            </a:r>
            <a:r>
              <a:rPr/>
              <a:t>, không sửa toàn cục — đóng góp kỹ thuật riêng của đồ án</a:t>
            </a:r>
          </a:p>
        </p:txBody>
      </p:sp>
      <p:pic>
        <p:nvPicPr>
          <p:cNvPr descr="figures/fig-position-rule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251200" y="2209800"/>
            <a:ext cx="56134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Bậc thang cứu chữa khi đọc hỏng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Chỉ chạy </a:t>
            </a:r>
            <a:r>
              <a:rPr b="1"/>
              <a:t>sau khi đọc hỏng</a:t>
            </a:r>
            <a:r>
              <a:rPr/>
              <a:t>, chỉ nhận chuỗi </a:t>
            </a:r>
            <a:r>
              <a:rPr b="1"/>
              <a:t>hợp lệ</a:t>
            </a:r>
          </a:p>
          <a:p>
            <a:pPr lvl="0" indent="0" marL="0">
              <a:buNone/>
            </a:pPr>
            <a:r>
              <a:rPr/>
              <a:t>⇒ không thể làm hỏng kết quả đang đúng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Bậc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Cứu được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Cứu dòng trên của 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209 biển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Nắn hình / giãn dọc chống méo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34 biển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Cơ sở dữ liệu — một cột làm nên đóng góp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Lưu </a:t>
            </a:r>
            <a:r>
              <a:rPr b="1"/>
              <a:t>cả hai</a:t>
            </a:r>
            <a:r>
              <a:rPr/>
              <a:t> chuỗi trên </a:t>
            </a:r>
            <a:r>
              <a:rPr b="1"/>
              <a:t>cùng một bản ghi</a:t>
            </a:r>
            <a:r>
              <a:rPr/>
              <a:t> — không có </a:t>
            </a:r>
            <a:r>
              <a:rPr>
                <a:latin typeface="Courier"/>
              </a:rPr>
              <a:t>raw_ocr_text</a:t>
            </a:r>
            <a:r>
              <a:rPr/>
              <a:t> thì </a:t>
            </a:r>
            <a:r>
              <a:rPr b="1"/>
              <a:t>không đo được</a:t>
            </a:r>
            <a:r>
              <a:rPr/>
              <a:t> đóng góp của hậu xử lý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Cột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Nội dung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raw_ocr_text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Chuỗi </a:t>
                      </a:r>
                      <a:r>
                        <a:rPr b="1"/>
                        <a:t>thô</a:t>
                      </a:r>
                      <a:r>
                        <a:rPr/>
                        <a:t> do PaddleOCR trả về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plate_number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Chuỗi </a:t>
                      </a:r>
                      <a:r>
                        <a:rPr b="1"/>
                        <a:t>sau</a:t>
                      </a:r>
                      <a:r>
                        <a:rPr/>
                        <a:t> bộ luật hậu xử lý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is_valid_format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Hợp quy cách Việt Nam hay không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Giao diện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Mọi vùng dữ liệu xử lý đủ </a:t>
            </a:r>
            <a:r>
              <a:rPr b="1"/>
              <a:t>4 trạng thái</a:t>
            </a:r>
            <a:r>
              <a:rPr/>
              <a:t>: chờ · rỗng · lỗi · thành công</a:t>
            </a:r>
          </a:p>
        </p:txBody>
      </p:sp>
      <p:pic>
        <p:nvPicPr>
          <p:cNvPr descr="../screenshots/image-detect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82900" y="2209800"/>
            <a:ext cx="63373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Bộ dữ liệu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15.133 ảnh · 15.977 khung</a:t>
            </a:r>
            <a:r>
              <a:rPr/>
              <a:t> · chia </a:t>
            </a:r>
            <a:r>
              <a:rPr b="1"/>
              <a:t>10.592 / 3.027 / 1.514</a:t>
            </a:r>
          </a:p>
          <a:p>
            <a:pPr lvl="0"/>
            <a:r>
              <a:rPr/>
              <a:t>Hợp nhất </a:t>
            </a:r>
            <a:r>
              <a:rPr b="1"/>
              <a:t>7 bộ công khai</a:t>
            </a:r>
            <a:r>
              <a:rPr/>
              <a:t>, loại </a:t>
            </a:r>
            <a:r>
              <a:rPr b="1"/>
              <a:t>44,2%</a:t>
            </a:r>
            <a:r>
              <a:rPr/>
              <a:t> là bản sao — hai bộ mất </a:t>
            </a:r>
            <a:r>
              <a:rPr b="1"/>
              <a:t>98%</a:t>
            </a:r>
            <a:r>
              <a:rPr/>
              <a:t> và </a:t>
            </a:r>
            <a:r>
              <a:rPr b="1"/>
              <a:t>100%</a:t>
            </a:r>
          </a:p>
          <a:p>
            <a:pPr lvl="0"/>
            <a:r>
              <a:rPr/>
              <a:t>Chống rò rỉ: băm tri giác, chia theo </a:t>
            </a:r>
            <a:r>
              <a:rPr b="1"/>
              <a:t>nhóm</a:t>
            </a:r>
            <a:r>
              <a:rPr/>
              <a:t> — </a:t>
            </a:r>
            <a:r>
              <a:rPr b="1"/>
              <a:t>9.126 cặp → 0</a:t>
            </a:r>
          </a:p>
          <a:p>
            <a:pPr lvl="0" indent="0" marL="0">
              <a:buNone/>
            </a:pPr>
            <a:r>
              <a:rPr/>
              <a:t>⇒ Các bộ công khai </a:t>
            </a:r>
            <a:r>
              <a:rPr b="1"/>
              <a:t>không độc lập với nhau</a:t>
            </a:r>
          </a:p>
          <a:p>
            <a:pPr lvl="0" indent="0" marL="0">
              <a:buNone/>
            </a:pPr>
            <a:r>
              <a:rPr/>
              <a:t>⚠️ Hai bộ chiếm </a:t>
            </a:r>
            <a:r>
              <a:rPr b="1"/>
              <a:t>74,3%</a:t>
            </a:r>
            <a:r>
              <a:rPr/>
              <a:t> — đa dạng giấy phép, </a:t>
            </a:r>
            <a:r>
              <a:rPr b="1"/>
              <a:t>chưa</a:t>
            </a:r>
            <a:r>
              <a:rPr/>
              <a:t> đa dạng nội dung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Huấn luyện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YOLO11n</a:t>
            </a:r>
            <a:r>
              <a:rPr/>
              <a:t>, </a:t>
            </a:r>
            <a:r>
              <a:rPr>
                <a:latin typeface="Courier"/>
              </a:rPr>
              <a:t>imgsz 640</a:t>
            </a:r>
            <a:r>
              <a:rPr/>
              <a:t>, 20 epoch, seed cố định — huấn luyện </a:t>
            </a:r>
            <a:r>
              <a:rPr b="1"/>
              <a:t>và</a:t>
            </a:r>
            <a:r>
              <a:rPr/>
              <a:t> suy luận đều trên CPU, hết 10,1 giờ, không dùng GPU nào</a:t>
            </a:r>
          </a:p>
        </p:txBody>
      </p:sp>
      <p:pic>
        <p:nvPicPr>
          <p:cNvPr descr="figures/fig-training-curv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479800" y="2209800"/>
            <a:ext cx="51562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quả phát hiện — đạt cả 4 chỉ tiêu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Chênh giữa hai bố cục chỉ 2,09 điểm</a:t>
            </a:r>
            <a:r>
              <a:rPr/>
              <a:t> ⇒ điểm yếu nằm ở tầng đọc chữ, không phải tầng phát hiện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1752600"/>
                <a:gridCol w="1752600"/>
                <a:gridCol w="1752600"/>
                <a:gridCol w="1752600"/>
                <a:gridCol w="1752600"/>
                <a:gridCol w="1752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Nhóm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mAP50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mAP50-95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Biển 1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286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0,986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0,988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0,753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1.325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0,969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0,968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0,765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TẤT CẢ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1.611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0,984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0,971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0,983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0,783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Chỉ tiêu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i="1"/>
                        <a:t>≥0,92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i="1"/>
                        <a:t>≥0,90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i="1"/>
                        <a:t>≥0,90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i="1"/>
                        <a:t>≥0,65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quả OCR — nói thẳng phần chưa đạt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Toàn bộ khoảng cách nằm ở </a:t>
            </a:r>
            <a:r>
              <a:rPr b="1"/>
              <a:t>biển 2 dòng</a:t>
            </a:r>
            <a:r>
              <a:rPr/>
              <a:t>: 0,6996 so với </a:t>
            </a:r>
            <a:r>
              <a:rPr b="1"/>
              <a:t>0,9541</a:t>
            </a:r>
            <a:r>
              <a:rPr/>
              <a:t> của biển 1 dòng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2641600"/>
                <a:gridCol w="2641600"/>
                <a:gridCol w="2641600"/>
                <a:gridCol w="2641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Đo cái gì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Đo được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Ngưỡng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từng </a:t>
                      </a:r>
                      <a:r>
                        <a:rPr b="1"/>
                        <a:t>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0,9454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</a:t>
                      </a:r>
                      <a:r>
                        <a:rPr b="1"/>
                        <a:t>cả chuỗi</a:t>
                      </a:r>
                      <a:r>
                        <a:rPr/>
                        <a:t> — chưa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0,6373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</a:t>
                      </a:r>
                      <a:r>
                        <a:rPr b="1"/>
                        <a:t>cả chuỗi</a:t>
                      </a:r>
                      <a:r>
                        <a:rPr/>
                        <a:t> — sau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0,7512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</a:t>
                      </a:r>
                      <a:r>
                        <a:rPr b="1"/>
                        <a:t>đầu-cuối</a:t>
                      </a:r>
                      <a:r>
                        <a:rPr/>
                        <a:t> — ảnh vào, chuỗi ra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0,5552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Khoảng cách nằm trọn ở biển 2 dòng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Cùng một hệ thống, cùng một phép đo — tách theo bố cục biển</a:t>
            </a:r>
          </a:p>
        </p:txBody>
      </p:sp>
      <p:pic>
        <p:nvPicPr>
          <p:cNvPr descr="../reports/figures/04-ocr-accuracy-by-line-coun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616200" y="2209800"/>
            <a:ext cx="68580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Đóng góp của hậu xử lý — đo được bằng số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Sửa đúng </a:t>
            </a:r>
            <a:r>
              <a:rPr b="1"/>
              <a:t>319 biển</a:t>
            </a:r>
            <a:r>
              <a:rPr/>
              <a:t>, làm hỏng </a:t>
            </a:r>
            <a:r>
              <a:rPr b="1"/>
              <a:t>0</a:t>
            </a:r>
            <a:r>
              <a:rPr/>
              <a:t> — dồn gần trọn vào biển 2 dòng</a:t>
            </a:r>
          </a:p>
        </p:txBody>
      </p:sp>
      <p:pic>
        <p:nvPicPr>
          <p:cNvPr descr="figures/fig-postprocess-gai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32200" y="2209800"/>
            <a:ext cx="48387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 can thiệp, một kết luận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Cả ba </a:t>
            </a:r>
            <a:r>
              <a:rPr b="1"/>
              <a:t>ngoài</a:t>
            </a:r>
            <a:r>
              <a:rPr/>
              <a:t> mô hình nhận dạng: </a:t>
            </a:r>
            <a:r>
              <a:rPr b="1"/>
              <a:t>0,6098 → 0,7512</a:t>
            </a:r>
            <a:r>
              <a:rPr/>
              <a:t>. </a:t>
            </a:r>
            <a:r>
              <a:rPr b="1"/>
              <a:t>Dư địa đã cạn</a:t>
            </a:r>
            <a:r>
              <a:rPr/>
              <a:t> — lỗi còn lại là ký tự </a:t>
            </a:r>
            <a:r>
              <a:rPr i="1"/>
              <a:t>chưa từng đọc ra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Can thiệp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Thu được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Bộ luật hậu xử lý theo vị trí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+11,39 điểm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Cứu dòng trên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209 biển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Nắn hình chống méo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34 biển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Hiệu năng trên CPU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i5-14600K · 20 luồng · KHÔNG có GPU CUDA</a:t>
            </a:r>
            <a:r>
              <a:rPr/>
              <a:t> — vượt p95 là </a:t>
            </a:r>
            <a:r>
              <a:rPr b="1"/>
              <a:t>đánh đổi có chủ ý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Chỉ số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Đo được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Ngưỡng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Độ trễ p50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406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Độ trễ p95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1.143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sàn 1.500 ms · mục tiêu 800 ms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Yêu cầu đồng thời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≥ 5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Phân bố độ trễ — đuôi mới là chỗ tốn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Phần lớn ảnh xong dưới nửa giây; đuôi phải là những ảnh phải thử lại nhiều lượt</a:t>
            </a:r>
          </a:p>
        </p:txBody>
      </p:sp>
      <p:pic>
        <p:nvPicPr>
          <p:cNvPr descr="../reports/figures/07-latency-distribut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82800" y="2209800"/>
            <a:ext cx="79248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Kiểm thử và triển khai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1.000 kiểm thử tự động</a:t>
            </a:r>
            <a:r>
              <a:rPr/>
              <a:t> đạt · bao phủ tầng nghiệp vụ </a:t>
            </a:r>
            <a:r>
              <a:rPr b="1"/>
              <a:t>87,7%</a:t>
            </a:r>
          </a:p>
          <a:p>
            <a:pPr lvl="0"/>
            <a:r>
              <a:rPr/>
              <a:t>Đơn vị · tích hợp · độ chính xác AI · hiệu năng · chịu tải</a:t>
            </a:r>
          </a:p>
          <a:p>
            <a:pPr lvl="0"/>
            <a:r>
              <a:rPr/>
              <a:t>Tầng AI có bộ test </a:t>
            </a:r>
            <a:r>
              <a:rPr b="1"/>
              <a:t>chạy không cần dựng server</a:t>
            </a:r>
          </a:p>
          <a:p>
            <a:pPr lvl="0"/>
            <a:r>
              <a:rPr/>
              <a:t>Chạy liên tục </a:t>
            </a:r>
            <a:r>
              <a:rPr b="1"/>
              <a:t>15 phút</a:t>
            </a:r>
            <a:r>
              <a:rPr/>
              <a:t>: 2.028 yêu cầu, </a:t>
            </a:r>
            <a:r>
              <a:rPr b="1"/>
              <a:t>0 lỗi</a:t>
            </a:r>
            <a:r>
              <a:rPr/>
              <a:t>, không rò rỉ bộ nhớ</a:t>
            </a:r>
          </a:p>
          <a:p>
            <a:pPr lvl="0"/>
            <a:r>
              <a:rPr/>
              <a:t>Cơ sở dữ liệu </a:t>
            </a:r>
            <a:r>
              <a:rPr b="1"/>
              <a:t>sống sót qua khởi động lại</a:t>
            </a:r>
            <a:r>
              <a:rPr/>
              <a:t>: 9.031 bản ghi, </a:t>
            </a:r>
            <a:r>
              <a:rPr b="1"/>
              <a:t>0 mất</a:t>
            </a:r>
          </a:p>
          <a:p>
            <a:pPr lvl="0"/>
            <a:r>
              <a:rPr>
                <a:latin typeface="Courier"/>
              </a:rPr>
              <a:t>docker compose up</a:t>
            </a:r>
            <a:r>
              <a:rPr/>
              <a:t> — </a:t>
            </a:r>
            <a:r>
              <a:rPr b="1"/>
              <a:t>một lệnh</a:t>
            </a:r>
            <a:r>
              <a:rPr/>
              <a:t>, đã dựng và xác minh chạy được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Đối chiếu chỉ tiêu — bảng chốt hạ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đạt mục tiêu · 🟡 đạt ngưỡng tối thiểu · ❌ chưa đạt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Nhóm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Chỉ tiêu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Kết quả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mAP50 </a:t>
                      </a:r>
                      <a:r>
                        <a:rPr b="1"/>
                        <a:t>0,9829</a:t>
                      </a:r>
                      <a:r>
                        <a:rPr/>
                        <a:t> · mAP50-95 </a:t>
                      </a:r>
                      <a:r>
                        <a:rPr b="1"/>
                        <a:t>0,7834</a:t>
                      </a:r>
                      <a:r>
                        <a:rPr/>
                        <a:t> · P </a:t>
                      </a:r>
                      <a:r>
                        <a:rPr b="1"/>
                        <a:t>0,9837</a:t>
                      </a:r>
                      <a:r>
                        <a:rPr/>
                        <a:t> · R </a:t>
                      </a:r>
                      <a:r>
                        <a:rPr b="1"/>
                        <a:t>0,9714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Đọc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từng ký tự </a:t>
                      </a:r>
                      <a:r>
                        <a:rPr b="1"/>
                        <a:t>0,9454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Đọc chuỗi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cả chuỗi </a:t>
                      </a:r>
                      <a:r>
                        <a:rPr b="1"/>
                        <a:t>0,7512</a:t>
                      </a:r>
                      <a:r>
                        <a:rPr/>
                        <a:t> · đầu-cuối </a:t>
                      </a:r>
                      <a:r>
                        <a:rPr b="1"/>
                        <a:t>0,5552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Hiệu năng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p95 </a:t>
                      </a:r>
                      <a:r>
                        <a:rPr b="1"/>
                        <a:t>1.143 ms</a:t>
                      </a:r>
                      <a:r>
                        <a:rPr/>
                        <a:t> </a:t>
                      </a:r>
                      <a:r>
                        <a:rPr i="1"/>
                        <a:t>(sàn 1.500)</a:t>
                      </a:r>
                      <a:r>
                        <a:rPr/>
                        <a:t> · video </a:t>
                      </a:r>
                      <a:r>
                        <a:rPr b="1"/>
                        <a:t>0,746×</a:t>
                      </a:r>
                      <a:r>
                        <a:rPr/>
                        <a:t> · truy vấn </a:t>
                      </a:r>
                      <a:r>
                        <a:rPr b="1"/>
                        <a:t>18,7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Thời gian thực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Webcam </a:t>
                      </a:r>
                      <a:r>
                        <a:rPr b="1"/>
                        <a:t>2,379 FPS</a:t>
                      </a:r>
                      <a:r>
                        <a:rPr/>
                        <a:t> </a:t>
                      </a:r>
                      <a:r>
                        <a:rPr i="1"/>
                        <a:t>(sàn 3)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Độ tin cậy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Chạy liên tục </a:t>
                      </a:r>
                      <a:r>
                        <a:rPr b="1"/>
                        <a:t>100%</a:t>
                      </a:r>
                      <a:r>
                        <a:rPr/>
                        <a:t> · CSDL sống sót khởi động lại </a:t>
                      </a:r>
                      <a:r>
                        <a:rPr b="1"/>
                        <a:t>0 mất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Phần mềm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1.000 test</a:t>
                      </a:r>
                      <a:r>
                        <a:rPr/>
                        <a:t> · bao phủ 87,7% · </a:t>
                      </a:r>
                      <a:r>
                        <a:rPr>
                          <a:latin typeface="Courier"/>
                        </a:rPr>
                        <a:t>docker compose up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Demo trực tiếp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 tình huống, chạy trên máy thật — </a:t>
            </a:r>
            <a:r>
              <a:rPr b="1"/>
              <a:t>không phải video quay sẵn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Bước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Cho thấy điều gì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Ảnh ô tô — biển 1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Đường đi cơ bản, đọc đúng, dưới 1 giây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Ảnh xe máy — 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Chính chỗ khó nhất, split-then-hstack chạy thật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Video + Lịch sử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Xử lý bất đồng bộ, tra cứu lại kết quả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Hạn chế — nói thẳng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1231900"/>
          <a:ext cx="10579100" cy="49403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Hạn chế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Nguyên nhân gốc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Biển 2 dòng chưa đạt</a:t>
                      </a:r>
                      <a:r>
                        <a:rPr/>
                        <a:t> — đọc đúng cả chuỗi 0,6996 so với 0,9541 của biển 1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Bộ đọc dòng đơn; xe máy chiếm 79,8% tập nhãn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Số đầu-cuối 0,5552 không đại diện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Không bộ dữ liệu nào vừa có ảnh toàn cảnh vừa có chuỗi biển ⇒ đo trên ảnh cắt sẵn, ngoài phân bố bộ phát hiện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Số OCR là số trên biển TRẮNG</a:t>
                      </a:r>
                      <a:r>
                        <a:rPr/>
                        <a:t> — tập nhãn có 97,7% biển trắng, 20 vàng, 4 xanh, </a:t>
                      </a:r>
                      <a:r>
                        <a:rPr b="1"/>
                        <a:t>0 đỏ, 0 ngoại giao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Không nguồn công khai nào đủ biển hiếm; nói "0,9454 trên biển số Việt Nam" là </a:t>
                      </a:r>
                      <a:r>
                        <a:rPr b="1"/>
                        <a:t>nói quá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Tập test </a:t>
                      </a:r>
                      <a:r>
                        <a:rPr b="1"/>
                        <a:t>không xuyên bộ dữ liệu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Chỉ đo tổng quát hoá </a:t>
                      </a:r>
                      <a:r>
                        <a:rPr i="1"/>
                        <a:t>trong</a:t>
                      </a:r>
                      <a:r>
                        <a:rPr/>
                        <a:t> phân bố ⇒ mAP lạc quan hơn thực tế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Một yêu cầu mức </a:t>
                      </a:r>
                      <a:r>
                        <a:rPr b="1"/>
                        <a:t>Must</a:t>
                      </a:r>
                      <a:r>
                        <a:rPr/>
                        <a:t> đã đưa ra khỏi phạm vi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Thu gọn cho demo; API thống kê vẫn phục vụ và vẫn có kiểm thử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Hướng phát triển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Ngắn hạn</a:t>
            </a:r>
            <a:r>
              <a:rPr/>
              <a:t> — gỡ đúng nút thắt đã định vị</a:t>
            </a:r>
          </a:p>
          <a:p>
            <a:pPr lvl="0" indent="0" marL="347663">
              <a:buAutoNum type="arabicPeriod"/>
            </a:pPr>
            <a:r>
              <a:rPr b="1"/>
              <a:t>Fine-tune bộ nhận dạng</a:t>
            </a:r>
            <a:r>
              <a:rPr/>
              <a:t> trên vùng cắt biển Việt Nam</a:t>
            </a:r>
          </a:p>
          <a:p>
            <a:pPr lvl="0" indent="0" marL="347663">
              <a:buAutoNum type="arabicPeriod"/>
            </a:pPr>
            <a:r>
              <a:rPr b="1"/>
              <a:t>Gán nhãn chuỗi cho ảnh hiện trường</a:t>
            </a:r>
            <a:r>
              <a:rPr/>
              <a:t> ⇒ đo được số đầu-cuối đúng cách</a:t>
            </a:r>
          </a:p>
          <a:p>
            <a:pPr lvl="0" indent="0" marL="0">
              <a:buNone/>
            </a:pPr>
            <a:r>
              <a:rPr b="1"/>
              <a:t>Trung hạn</a:t>
            </a:r>
          </a:p>
          <a:p>
            <a:pPr lvl="0" indent="0" marL="347663">
              <a:buAutoNum startAt="3" type="arabicPeriod"/>
            </a:pPr>
            <a:r>
              <a:rPr/>
              <a:t>Tập test </a:t>
            </a:r>
            <a:r>
              <a:rPr b="1"/>
              <a:t>xuyên bộ dữ liệu</a:t>
            </a:r>
            <a:r>
              <a:rPr/>
              <a:t> — đo tổng quát hoá ngoài phân bố</a:t>
            </a:r>
          </a:p>
          <a:p>
            <a:pPr lvl="0" indent="0" marL="347663">
              <a:buAutoNum startAt="3" type="arabicPeriod"/>
            </a:pPr>
            <a:r>
              <a:rPr/>
              <a:t>Xuất ONNX / OpenVINO để hạ độ trễ đuôi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luận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Đã làm được</a:t>
            </a:r>
          </a:p>
          <a:p>
            <a:pPr lvl="0"/>
            <a:r>
              <a:rPr/>
              <a:t>Hệ thống </a:t>
            </a:r>
            <a:r>
              <a:rPr b="1"/>
              <a:t>5 tầng chạy thật</a:t>
            </a:r>
            <a:r>
              <a:rPr/>
              <a:t>, đóng gói Docker một lệnh</a:t>
            </a:r>
          </a:p>
          <a:p>
            <a:pPr lvl="0"/>
            <a:r>
              <a:rPr/>
              <a:t>Phát hiện đạt </a:t>
            </a:r>
            <a:r>
              <a:rPr b="1"/>
              <a:t>cả 4 chỉ tiêu</a:t>
            </a:r>
            <a:r>
              <a:rPr/>
              <a:t>: mAP50 </a:t>
            </a:r>
            <a:r>
              <a:rPr b="1"/>
              <a:t>0,983</a:t>
            </a:r>
            <a:r>
              <a:rPr/>
              <a:t> · mAP50-95 </a:t>
            </a:r>
            <a:r>
              <a:rPr b="1"/>
              <a:t>0,783</a:t>
            </a:r>
          </a:p>
          <a:p>
            <a:pPr lvl="0"/>
            <a:r>
              <a:rPr/>
              <a:t>Hậu xử lý theo vị trí — </a:t>
            </a:r>
            <a:r>
              <a:rPr b="1"/>
              <a:t>+11,39 điểm</a:t>
            </a:r>
            <a:r>
              <a:rPr/>
              <a:t>, đo tách bạch</a:t>
            </a:r>
          </a:p>
          <a:p>
            <a:pPr lvl="0"/>
            <a:r>
              <a:rPr b="1"/>
              <a:t>1.000 kiểm thử</a:t>
            </a:r>
            <a:r>
              <a:rPr/>
              <a:t> đạt · bao phủ tầng nghiệp vụ 87,7%</a:t>
            </a:r>
          </a:p>
          <a:p>
            <a:pPr lvl="0" indent="0" marL="0">
              <a:buNone/>
            </a:pPr>
            <a:r>
              <a:rPr b="1"/>
              <a:t>Đóng góp học thuật</a:t>
            </a:r>
          </a:p>
          <a:p>
            <a:pPr lvl="0"/>
            <a:r>
              <a:rPr/>
              <a:t>Hai con số 1 dòng / 2 dòng </a:t>
            </a:r>
            <a:r>
              <a:rPr b="1"/>
              <a:t>tách bạch trên cùng một hệ thống</a:t>
            </a:r>
          </a:p>
          <a:p>
            <a:pPr lvl="0"/>
            <a:r>
              <a:rPr/>
              <a:t>Quy trình đo </a:t>
            </a:r>
            <a:r>
              <a:rPr b="1"/>
              <a:t>tự bắt được lỗi của chính nó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Cảm ơn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Em xin cảm ơn thầy cô đã lắng nghe.</a:t>
            </a:r>
          </a:p>
          <a:p>
            <a:pPr lvl="0" indent="0" marL="0">
              <a:buNone/>
            </a:pPr>
            <a:r>
              <a:rPr b="1"/>
              <a:t>Em xin sẵn sàng nhận câu hỏi.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Tra nhanh số liệu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1231900"/>
          <a:ext cx="10579100" cy="49403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Dữ liệu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15.133</a:t>
                      </a:r>
                      <a:r>
                        <a:rPr/>
                        <a:t> ảnh · </a:t>
                      </a:r>
                      <a:r>
                        <a:rPr b="1"/>
                        <a:t>15.977</a:t>
                      </a:r>
                      <a:r>
                        <a:rPr/>
                        <a:t> khung · 6 nguồn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Mô hình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YOLO11n · </a:t>
                      </a:r>
                      <a:r>
                        <a:rPr>
                          <a:latin typeface="Courier"/>
                        </a:rPr>
                        <a:t>imgsz 640</a:t>
                      </a:r>
                      <a:r>
                        <a:rPr/>
                        <a:t> · 20 epoch · CPU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mAP50 </a:t>
                      </a:r>
                      <a:r>
                        <a:rPr b="1"/>
                        <a:t>0,983</a:t>
                      </a:r>
                      <a:r>
                        <a:rPr/>
                        <a:t> · mAP50-95 </a:t>
                      </a:r>
                      <a:r>
                        <a:rPr b="1"/>
                        <a:t>0,783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từng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0,9454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cả chuỗi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0,7512</a:t>
                      </a:r>
                      <a:r>
                        <a:rPr/>
                        <a:t> </a:t>
                      </a:r>
                      <a:r>
                        <a:rPr i="1"/>
                        <a:t>(1 dòng 0,954 · 2 dòng 0,700)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Độ trễ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p50 </a:t>
                      </a:r>
                      <a:r>
                        <a:rPr b="1"/>
                        <a:t>406 ms</a:t>
                      </a:r>
                      <a:r>
                        <a:rPr/>
                        <a:t> · p95 </a:t>
                      </a:r>
                      <a:r>
                        <a:rPr b="1"/>
                        <a:t>1.143 ms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Kiểm thử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1.000</a:t>
                      </a:r>
                      <a:r>
                        <a:rPr/>
                        <a:t> đạt · bao phủ </a:t>
                      </a:r>
                      <a:r>
                        <a:rPr b="1"/>
                        <a:t>87,7%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Fine-tune bộ nhận dạng: có và không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Val acc </a:t>
            </a:r>
            <a:r>
              <a:rPr b="1"/>
              <a:t>0,8809</a:t>
            </a:r>
            <a:r>
              <a:rPr/>
              <a:t> nhưng chạy thật lại </a:t>
            </a:r>
            <a:r>
              <a:rPr b="1"/>
              <a:t>kém hơn</a:t>
            </a:r>
            <a:r>
              <a:rPr/>
              <a:t>: PaddleOCR </a:t>
            </a:r>
            <a:r>
              <a:rPr b="1"/>
              <a:t>đánh giá</a:t>
            </a:r>
            <a:r>
              <a:rPr/>
              <a:t> bằng nguyên ảnh, hệ thống </a:t>
            </a:r>
            <a:r>
              <a:rPr b="1"/>
              <a:t>chạy</a:t>
            </a:r>
            <a:r>
              <a:rPr/>
              <a:t> bằng cắt mảnh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Cấu hình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Đúng cả chuỗi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Bộ demo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Model gốc</a:t>
                      </a:r>
                      <a:r>
                        <a:rPr/>
                        <a:t> — bản giao hàng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0,7512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17/22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Fine-tune, giữ bước dò chữ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0,6762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14/22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Fine-tune, bỏ bước dò chữ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0,8758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15/22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UIT Pallete">
      <a:dk1>
        <a:srgbClr val="2A2F4F"/>
      </a:dk1>
      <a:lt1>
        <a:srgbClr val="FFFFFF"/>
      </a:lt1>
      <a:dk2>
        <a:srgbClr val="1C305E"/>
      </a:dk2>
      <a:lt2>
        <a:srgbClr val="E7E6E6"/>
      </a:lt2>
      <a:accent1>
        <a:srgbClr val="0071FF"/>
      </a:accent1>
      <a:accent2>
        <a:srgbClr val="FAAB78"/>
      </a:accent2>
      <a:accent3>
        <a:srgbClr val="EC7171"/>
      </a:accent3>
      <a:accent4>
        <a:srgbClr val="FFCD38"/>
      </a:accent4>
      <a:accent5>
        <a:srgbClr val="4700D8"/>
      </a:accent5>
      <a:accent6>
        <a:srgbClr val="41855B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Xây dựng hệ thống nhận dạng biển số xe bằng Trí tuệ nhân tạo</dc:title>
  <dc:creator>Phạm Công Thành — 25410013 · Nguyễn Minh Hiếu — 25410007; GVHD: ThS. Cáp Phạm Đình Thăng</dc:creator>
  <cp:keywords/>
  <dcterms:created xsi:type="dcterms:W3CDTF">2026-08-02T07:02:14Z</dcterms:created>
  <dcterms:modified xsi:type="dcterms:W3CDTF">2026-08-02T07:02:14Z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Tháng 9 năm 2026</vt:lpwstr>
  </property>
  <property fmtid="{D5CDD505-2E9C-101B-9397-08002B2CF9AE}" pid="3" name="subtitle">
    <vt:lpwstr>Đồ án tốt nghiệp đại học · Trường Đại học Công nghệ Thông tin, ĐHQG-HCM</vt:lpwstr>
  </property>
</Properties>
</file>