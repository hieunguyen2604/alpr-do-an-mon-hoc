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</p:sldIdLst>
  <p:sldSz cx="12192000" cy="6858000"/>
  <p:notesSz cx="6858000" cy="9144000"/>
  <p:embeddedFontLst>
    <p:embeddedFont>
      <p:font typeface="Roboto"/>
      <p:regular r:id="rId40"/>
      <p:bold r:id="rId41"/>
      <p:italic r:id="rId42"/>
      <p:boldItalic r:id="rId43"/>
    </p:embeddedFont>
    <p:embeddedFont>
      <p:font typeface="Open Sans"/>
      <p:regular r:id="rId44"/>
      <p:bold r:id="rId45"/>
      <p:italic r:id="rId46"/>
      <p:boldItalic r:id="rId47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8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1" Type="http://schemas.openxmlformats.org/officeDocument/2006/relationships/font" Target="fonts/Roboto-bold.fntdata" /><Relationship Id="rId40" Type="http://schemas.openxmlformats.org/officeDocument/2006/relationships/font" Target="fonts/Roboto-regular.fntdata" /><Relationship Id="rId43" Type="http://schemas.openxmlformats.org/officeDocument/2006/relationships/font" Target="fonts/Roboto-boldItalic.fntdata" /><Relationship Id="rId42" Type="http://schemas.openxmlformats.org/officeDocument/2006/relationships/font" Target="fonts/Roboto-italic.fntdata" /><Relationship Id="rId44" Type="http://schemas.openxmlformats.org/officeDocument/2006/relationships/font" Target="fonts/OpenSans-regular.fntdata" /><Relationship Id="rId46" Type="http://schemas.openxmlformats.org/officeDocument/2006/relationships/font" Target="fonts/OpenSans-italic.fntdata" /><Relationship Id="rId45" Type="http://schemas.openxmlformats.org/officeDocument/2006/relationships/font" Target="fonts/OpenSans-bold.fntdata" /><Relationship Id="rId48" Type="http://customschemas.google.com/relationships/presentationmetadata" Target="metadata" /><Relationship Id="rId47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/>
              <a:t>Chống rò rỉ: băm tri giác, chia theo </a:t>
            </a:r>
            <a:r>
              <a:rPr b="1"/>
              <a:t>nhóm</a:t>
            </a:r>
            <a:r>
              <a:rPr/>
              <a:t>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Các bộ công khai </a:t>
            </a:r>
            <a:r>
              <a:rPr b="1"/>
              <a:t>không độc lập với nhau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</a:t>
            </a:r>
            <a:r>
              <a:rPr b="1"/>
              <a:t>0,6098 → 0,7512</a:t>
            </a:r>
            <a:r>
              <a:rPr/>
              <a:t>. </a:t>
            </a: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  <a:r>
              <a:rPr/>
              <a:t> — vượt p95 là </a:t>
            </a:r>
            <a:r>
              <a:rPr b="1"/>
              <a:t>đánh đổi có chủ 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Fine-tune bộ nhận dạng: có và không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 acc </a:t>
            </a:r>
            <a:r>
              <a:rPr b="1"/>
              <a:t>0,8809</a:t>
            </a:r>
            <a:r>
              <a:rPr/>
              <a:t> nhưng chạy thật lại </a:t>
            </a:r>
            <a:r>
              <a:rPr b="1"/>
              <a:t>kém hơn</a:t>
            </a:r>
            <a:r>
              <a:rPr/>
              <a:t>: PaddleOCR </a:t>
            </a:r>
            <a:r>
              <a:rPr b="1"/>
              <a:t>đánh giá</a:t>
            </a:r>
            <a:r>
              <a:rPr/>
              <a:t> bằng nguyên ảnh, hệ thống </a:t>
            </a:r>
            <a:r>
              <a:rPr b="1"/>
              <a:t>chạy</a:t>
            </a:r>
            <a:r>
              <a:rPr/>
              <a:t> bằng cắt mảnh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Bộ demo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Model gốc</a:t>
                      </a:r>
                      <a:r>
                        <a:rPr/>
                        <a:t> — bản giao hàng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17/22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giữ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bỏ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0,8758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15/22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PaddleOCR — và vì sao bản 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do </a:t>
            </a:r>
            <a:r>
              <a:rPr b="1"/>
              <a:t>kỹ thuật</a:t>
            </a:r>
            <a:r>
              <a:rPr/>
              <a:t>, không phải độ chính xác — nhẹ hơn EasyOCR ~10 lần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Chuỗi đúng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Trung vị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PP-OCRv5_mobile</a:t>
                      </a:r>
                      <a:r>
                        <a:rPr/>
                        <a:t> — đang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67,0%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23,0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PP-OCRv6_medium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72,5%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386,9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v6 chính xác hơn — vì sao vẫn không đổi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Gói không có bản </a:t>
            </a:r>
            <a:r>
              <a:rPr b="1"/>
              <a:t>Tiny</a:t>
            </a:r>
            <a:r>
              <a:rPr/>
              <a:t> — chỉ Medium, chậm </a:t>
            </a:r>
            <a:r>
              <a:rPr b="1"/>
              <a:t>16,8 lần</a:t>
            </a:r>
            <a:r>
              <a:rPr/>
              <a:t>. Ràng buộc </a:t>
            </a:r>
            <a:r>
              <a:rPr b="1"/>
              <a:t>phần cứng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Hiện tại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Nếu đổi sang v6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NFR-P1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1.143 ms 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vượt sàn</a:t>
                      </a:r>
                      <a:r>
                        <a:rPr/>
                        <a:t> 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NFR-P2 FPS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2,379 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tệ hơn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2026-08-02T13:47:26Z</dcterms:created>
  <dcterms:modified xsi:type="dcterms:W3CDTF">2026-08-02T13:47:26Z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