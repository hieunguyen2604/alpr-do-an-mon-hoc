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430090eb0543f6" /><Relationship Type="http://schemas.openxmlformats.org/officeDocument/2006/relationships/extended-properties" Target="/docProps/app.xml" Id="R374d041650e14f28" /><Relationship Type="http://schemas.openxmlformats.org/officeDocument/2006/relationships/officeDocument" Target="/ppt/presentation.xml" Id="R9a94ca719fb141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cc5611608a4425"/>
  </p:sldMasterIdLst>
  <p:notesMasterIdLst>
    <p:notesMasterId xmlns:r="http://schemas.openxmlformats.org/officeDocument/2006/relationships" r:id="R879f5a78a08c4108"/>
  </p:notesMasterIdLst>
  <p:sldIdLst>
    <p:sldId xmlns:r="http://schemas.openxmlformats.org/officeDocument/2006/relationships" id="256" r:id="Reeed9e0958574a5e"/>
    <p:sldId xmlns:r="http://schemas.openxmlformats.org/officeDocument/2006/relationships" id="257" r:id="R241e6dd308fe490a"/>
    <p:sldId xmlns:r="http://schemas.openxmlformats.org/officeDocument/2006/relationships" id="258" r:id="R67ee17de19154b1d"/>
    <p:sldId xmlns:r="http://schemas.openxmlformats.org/officeDocument/2006/relationships" id="259" r:id="Rd73a7c5c53494cef"/>
    <p:sldId xmlns:r="http://schemas.openxmlformats.org/officeDocument/2006/relationships" id="260" r:id="R69a376c612d646e5"/>
    <p:sldId xmlns:r="http://schemas.openxmlformats.org/officeDocument/2006/relationships" id="261" r:id="R9fd52795596342b3"/>
    <p:sldId xmlns:r="http://schemas.openxmlformats.org/officeDocument/2006/relationships" id="262" r:id="R8be47ce84c0c410e"/>
    <p:sldId xmlns:r="http://schemas.openxmlformats.org/officeDocument/2006/relationships" id="263" r:id="R9d6e7f33b649431b"/>
    <p:sldId xmlns:r="http://schemas.openxmlformats.org/officeDocument/2006/relationships" id="264" r:id="R07f2a6c7b9954e79"/>
    <p:sldId xmlns:r="http://schemas.openxmlformats.org/officeDocument/2006/relationships" id="265" r:id="Rc702f0b510064a9a"/>
    <p:sldId xmlns:r="http://schemas.openxmlformats.org/officeDocument/2006/relationships" id="266" r:id="R1f0213aa9cd548ba"/>
    <p:sldId xmlns:r="http://schemas.openxmlformats.org/officeDocument/2006/relationships" id="267" r:id="R398f4bd54a224f4f"/>
    <p:sldId xmlns:r="http://schemas.openxmlformats.org/officeDocument/2006/relationships" id="268" r:id="R758a5077b7dc44b9"/>
    <p:sldId xmlns:r="http://schemas.openxmlformats.org/officeDocument/2006/relationships" id="269" r:id="R2856069487fe4d3f"/>
    <p:sldId xmlns:r="http://schemas.openxmlformats.org/officeDocument/2006/relationships" id="270" r:id="R37c289404c034114"/>
    <p:sldId xmlns:r="http://schemas.openxmlformats.org/officeDocument/2006/relationships" id="271" r:id="R31e53b6b3fd84948"/>
    <p:sldId xmlns:r="http://schemas.openxmlformats.org/officeDocument/2006/relationships" id="272" r:id="R4e6021a709f04d31"/>
    <p:sldId xmlns:r="http://schemas.openxmlformats.org/officeDocument/2006/relationships" id="273" r:id="R18ce21dcd08d435b"/>
    <p:sldId xmlns:r="http://schemas.openxmlformats.org/officeDocument/2006/relationships" id="274" r:id="Rfff50d18b55f4b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51a135a12a4053" /><Relationship Type="http://schemas.openxmlformats.org/officeDocument/2006/relationships/slideMaster" Target="/ppt/slideMasters/slideMaster1.xml" Id="R47cc5611608a4425" /><Relationship Type="http://schemas.openxmlformats.org/officeDocument/2006/relationships/notesMaster" Target="/ppt/notesMasters/notesMaster1.xml" Id="R879f5a78a08c4108" /><Relationship Type="http://schemas.openxmlformats.org/officeDocument/2006/relationships/presProps" Target="/ppt/presProps.xml" Id="R2b55615c0f7040e9" /><Relationship Type="http://schemas.openxmlformats.org/officeDocument/2006/relationships/viewProps" Target="/ppt/viewProps.xml" Id="R5a477e44007e4009" /><Relationship Type="http://schemas.openxmlformats.org/officeDocument/2006/relationships/tableStyles" Target="/ppt/tableStyles.xml" Id="R920a3cd7f4ac4f42" /><Relationship Type="http://schemas.openxmlformats.org/officeDocument/2006/relationships/slide" Target="/ppt/slides/slide1.xml" Id="Reeed9e0958574a5e" /><Relationship Type="http://schemas.openxmlformats.org/officeDocument/2006/relationships/slide" Target="/ppt/slides/slide2.xml" Id="R241e6dd308fe490a" /><Relationship Type="http://schemas.openxmlformats.org/officeDocument/2006/relationships/slide" Target="/ppt/slides/slide3.xml" Id="R67ee17de19154b1d" /><Relationship Type="http://schemas.openxmlformats.org/officeDocument/2006/relationships/slide" Target="/ppt/slides/slide4.xml" Id="Rd73a7c5c53494cef" /><Relationship Type="http://schemas.openxmlformats.org/officeDocument/2006/relationships/slide" Target="/ppt/slides/slide5.xml" Id="R69a376c612d646e5" /><Relationship Type="http://schemas.openxmlformats.org/officeDocument/2006/relationships/slide" Target="/ppt/slides/slide6.xml" Id="R9fd52795596342b3" /><Relationship Type="http://schemas.openxmlformats.org/officeDocument/2006/relationships/slide" Target="/ppt/slides/slide7.xml" Id="R8be47ce84c0c410e" /><Relationship Type="http://schemas.openxmlformats.org/officeDocument/2006/relationships/slide" Target="/ppt/slides/slide8.xml" Id="R9d6e7f33b649431b" /><Relationship Type="http://schemas.openxmlformats.org/officeDocument/2006/relationships/slide" Target="/ppt/slides/slide9.xml" Id="R07f2a6c7b9954e79" /><Relationship Type="http://schemas.openxmlformats.org/officeDocument/2006/relationships/slide" Target="/ppt/slides/slide10.xml" Id="Rc702f0b510064a9a" /><Relationship Type="http://schemas.openxmlformats.org/officeDocument/2006/relationships/slide" Target="/ppt/slides/slide11.xml" Id="R1f0213aa9cd548ba" /><Relationship Type="http://schemas.openxmlformats.org/officeDocument/2006/relationships/slide" Target="/ppt/slides/slide12.xml" Id="R398f4bd54a224f4f" /><Relationship Type="http://schemas.openxmlformats.org/officeDocument/2006/relationships/slide" Target="/ppt/slides/slide13.xml" Id="R758a5077b7dc44b9" /><Relationship Type="http://schemas.openxmlformats.org/officeDocument/2006/relationships/slide" Target="/ppt/slides/slide14.xml" Id="R2856069487fe4d3f" /><Relationship Type="http://schemas.openxmlformats.org/officeDocument/2006/relationships/slide" Target="/ppt/slides/slide15.xml" Id="R37c289404c034114" /><Relationship Type="http://schemas.openxmlformats.org/officeDocument/2006/relationships/slide" Target="/ppt/slides/slide16.xml" Id="R31e53b6b3fd84948" /><Relationship Type="http://schemas.openxmlformats.org/officeDocument/2006/relationships/slide" Target="/ppt/slides/slide17.xml" Id="R4e6021a709f04d31" /><Relationship Type="http://schemas.openxmlformats.org/officeDocument/2006/relationships/slide" Target="/ppt/slides/slide18.xml" Id="R18ce21dcd08d435b" /><Relationship Type="http://schemas.openxmlformats.org/officeDocument/2006/relationships/slide" Target="/ppt/slides/slide19.xml" Id="Rfff50d18b55f4b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08692ce8d6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b8a4f5ba64071" /><Relationship Type="http://schemas.openxmlformats.org/officeDocument/2006/relationships/notesMaster" Target="/ppt/notesMasters/notesMaster1.xml" Id="Ra088579ba7bd48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4cc315c7724fe2" /><Relationship Type="http://schemas.openxmlformats.org/officeDocument/2006/relationships/notesMaster" Target="/ppt/notesMasters/notesMaster1.xml" Id="Ra6e7eb45cc6b42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e57936da754ea8" /><Relationship Type="http://schemas.openxmlformats.org/officeDocument/2006/relationships/notesMaster" Target="/ppt/notesMasters/notesMaster1.xml" Id="R83bb9066133746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9fd03eada741e5" /><Relationship Type="http://schemas.openxmlformats.org/officeDocument/2006/relationships/notesMaster" Target="/ppt/notesMasters/notesMaster1.xml" Id="R5b0a8cc8ea66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3eb1c30a004d95" /><Relationship Type="http://schemas.openxmlformats.org/officeDocument/2006/relationships/notesMaster" Target="/ppt/notesMasters/notesMaster1.xml" Id="R21e7ce0b639548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754295693470c" /><Relationship Type="http://schemas.openxmlformats.org/officeDocument/2006/relationships/notesMaster" Target="/ppt/notesMasters/notesMaster1.xml" Id="R3171c29bb95242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3699ba0c294eba" /><Relationship Type="http://schemas.openxmlformats.org/officeDocument/2006/relationships/notesMaster" Target="/ppt/notesMasters/notesMaster1.xml" Id="R69c6deb9a3c944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24a29d315544e8" /><Relationship Type="http://schemas.openxmlformats.org/officeDocument/2006/relationships/notesMaster" Target="/ppt/notesMasters/notesMaster1.xml" Id="R62ebb0f5812742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2f7486c8f2434e" /><Relationship Type="http://schemas.openxmlformats.org/officeDocument/2006/relationships/notesMaster" Target="/ppt/notesMasters/notesMaster1.xml" Id="Rd4a374c0350745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53108ca52e4e33" /><Relationship Type="http://schemas.openxmlformats.org/officeDocument/2006/relationships/notesMaster" Target="/ppt/notesMasters/notesMaster1.xml" Id="R9b2d5ad52dde4c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57a9701ef34595" /><Relationship Type="http://schemas.openxmlformats.org/officeDocument/2006/relationships/notesMaster" Target="/ppt/notesMasters/notesMaster1.xml" Id="Rf8aa61fd6cf14c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bf658eda4e4699" /><Relationship Type="http://schemas.openxmlformats.org/officeDocument/2006/relationships/notesMaster" Target="/ppt/notesMasters/notesMaster1.xml" Id="R73f8446ccc624b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510484e3f5406c" /><Relationship Type="http://schemas.openxmlformats.org/officeDocument/2006/relationships/notesMaster" Target="/ppt/notesMasters/notesMaster1.xml" Id="R6dcc0396f94a46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a2031a4e774223" /><Relationship Type="http://schemas.openxmlformats.org/officeDocument/2006/relationships/notesMaster" Target="/ppt/notesMasters/notesMaster1.xml" Id="Rcd71d29cf50444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dd7acdbc5946d9" /><Relationship Type="http://schemas.openxmlformats.org/officeDocument/2006/relationships/notesMaster" Target="/ppt/notesMasters/notesMaster1.xml" Id="Rcea0d49bca6b41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81ff69d9904d80" /><Relationship Type="http://schemas.openxmlformats.org/officeDocument/2006/relationships/notesMaster" Target="/ppt/notesMasters/notesMaster1.xml" Id="Rc27d49c0409a44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f283d7720f4e79" /><Relationship Type="http://schemas.openxmlformats.org/officeDocument/2006/relationships/notesMaster" Target="/ppt/notesMasters/notesMaster1.xml" Id="Rd988346aa59240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bd575249a4411c" /><Relationship Type="http://schemas.openxmlformats.org/officeDocument/2006/relationships/notesMaster" Target="/ppt/notesMasters/notesMaster1.xml" Id="R7c369ed8773c41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80e181a3664c34" /><Relationship Type="http://schemas.openxmlformats.org/officeDocument/2006/relationships/notesMaster" Target="/ppt/notesMasters/notesMaster1.xml" Id="R08985a5070af4b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 và ch2-co-so-ly-thuyet.md.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docs/papers/mon-hoc/ch1-gioi-thieu.md. Phạm vi chỉ là nhận dạng biển số, không bao gồm tracking hoặc barie.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 và ch4-thuc-nghiem.md, Bảng 4.7.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docs/papers/mon-hoc/ch2-co-so-ly-thuyet.md và ch4-thuc-nghiem.md.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docs/papers/mon-hoc/ch4-thuc-nghiem.md, Bảng 4.8 đến 4.10. Không cộng chéo số tuyệt đối từ các lượt đo khác nhau.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 và ch5-ket-luan.md.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docs/papers/mon-hoc/ch5-ket-luan.md. Các hạng mục này chưa hoàn thành nên chỉ xuất hiện ở phần hạn chế và hướng phát triển.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3be81ae394e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6878f632c426d" /><Relationship Type="http://schemas.openxmlformats.org/officeDocument/2006/relationships/image" Target="/ppt/media/image.png" Id="R80cef39639c641b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ef39639c641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3402EB-7BF9-4A9F-9F60-D0B0F2913F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505b020b71489d" /><Relationship Type="http://schemas.openxmlformats.org/officeDocument/2006/relationships/slideLayout" Target="/ppt/slideLayouts/slideLayout1.xml" Id="R4dfb798ca5434f3a" /><Relationship Type="http://schemas.openxmlformats.org/officeDocument/2006/relationships/slideLayout" Target="/ppt/slideLayouts/slideLayout2.xml" Id="R8db093c3571747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1BBBA75-3E2E-45B9-B927-49E33929732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fb798ca5434f3a"/>
    <p:sldLayoutId xmlns:r="http://schemas.openxmlformats.org/officeDocument/2006/relationships" id="2147483650" r:id="R8db093c35717473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ec0dac32af4dbf" /><Relationship Type="http://schemas.openxmlformats.org/officeDocument/2006/relationships/image" Target="/ppt/media/image2.png" Id="Rc6f83990453b4d0a" /><Relationship Type="http://schemas.openxmlformats.org/officeDocument/2006/relationships/notesSlide" Target="/ppt/notesSlides/notesSlide1.xml" Id="Rb97623631499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37f20a1df34ba4" /><Relationship Type="http://schemas.openxmlformats.org/officeDocument/2006/relationships/notesSlide" Target="/ppt/notesSlides/notesSlide2.xml" Id="R992cd1596b7b48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d2925be29c41d4" /><Relationship Type="http://schemas.openxmlformats.org/officeDocument/2006/relationships/notesSlide" Target="/ppt/notesSlides/notesSlide3.xml" Id="R0592fff7c2a742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2cdba8f47e420d" /><Relationship Type="http://schemas.openxmlformats.org/officeDocument/2006/relationships/notesSlide" Target="/ppt/notesSlides/notesSlide4.xml" Id="R8c0cee49082b4e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9a33503f194a15" /><Relationship Type="http://schemas.openxmlformats.org/officeDocument/2006/relationships/image" Target="/ppt/media/image3.png" Id="Rd3a1d0abc854435f" /><Relationship Type="http://schemas.openxmlformats.org/officeDocument/2006/relationships/notesSlide" Target="/ppt/notesSlides/notesSlide5.xml" Id="R7c7d7df1758b45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d43ad43ca24285" /><Relationship Type="http://schemas.openxmlformats.org/officeDocument/2006/relationships/notesSlide" Target="/ppt/notesSlides/notesSlide6.xml" Id="Rc9ce8f9f5c63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0e2b45ff1e45d5" /><Relationship Type="http://schemas.openxmlformats.org/officeDocument/2006/relationships/image" Target="/ppt/media/image4.png" Id="R0ea27c4e4a954e7c" /><Relationship Type="http://schemas.openxmlformats.org/officeDocument/2006/relationships/notesSlide" Target="/ppt/notesSlides/notesSlide7.xml" Id="R5a23a170dfed41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bbd0eab7dc4352" /><Relationship Type="http://schemas.openxmlformats.org/officeDocument/2006/relationships/image" Target="/ppt/media/image5.png" Id="R1f8a285cca484fc5" /><Relationship Type="http://schemas.openxmlformats.org/officeDocument/2006/relationships/notesSlide" Target="/ppt/notesSlides/notesSlide8.xml" Id="R51b1131cd90644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1b40f52a648e8" /><Relationship Type="http://schemas.openxmlformats.org/officeDocument/2006/relationships/notesSlide" Target="/ppt/notesSlides/notesSlide9.xml" Id="Rc714d9d9c1c447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0f885b706454a" /><Relationship Type="http://schemas.openxmlformats.org/officeDocument/2006/relationships/image" Target="/ppt/media/image6.png" Id="R0edd5441d01e46c6" /><Relationship Type="http://schemas.openxmlformats.org/officeDocument/2006/relationships/notesSlide" Target="/ppt/notesSlides/notesSlide10.xml" Id="R8fabe14b872e42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8e95b2e2c24ba0" /><Relationship Type="http://schemas.openxmlformats.org/officeDocument/2006/relationships/image" Target="/ppt/media/image7.png" Id="R89466556e79c45a8" /><Relationship Type="http://schemas.openxmlformats.org/officeDocument/2006/relationships/notesSlide" Target="/ppt/notesSlides/notesSlide11.xml" Id="R896654755f5349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b6a1250cfb4370" /><Relationship Type="http://schemas.openxmlformats.org/officeDocument/2006/relationships/notesSlide" Target="/ppt/notesSlides/notesSlide12.xml" Id="Rbd9b27135f3d4a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e4e4d727a045a2" /><Relationship Type="http://schemas.openxmlformats.org/officeDocument/2006/relationships/image" Target="/ppt/media/image8.png" Id="Rbf27708942444444" /><Relationship Type="http://schemas.openxmlformats.org/officeDocument/2006/relationships/notesSlide" Target="/ppt/notesSlides/notesSlide13.xml" Id="R3cd5b5bd42434c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51e1d113544efb" /><Relationship Type="http://schemas.openxmlformats.org/officeDocument/2006/relationships/image" Target="/ppt/media/image9.png" Id="Rf3e302e4dcd34d84" /><Relationship Type="http://schemas.openxmlformats.org/officeDocument/2006/relationships/notesSlide" Target="/ppt/notesSlides/notesSlide14.xml" Id="R1562e455227b4f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cc79485ae2427b" /><Relationship Type="http://schemas.openxmlformats.org/officeDocument/2006/relationships/notesSlide" Target="/ppt/notesSlides/notesSlide15.xml" Id="R92bc0448ee6645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a3244d85944ff9" /><Relationship Type="http://schemas.openxmlformats.org/officeDocument/2006/relationships/image" Target="/ppt/media/image10.png" Id="Rb93531541449432e" /><Relationship Type="http://schemas.openxmlformats.org/officeDocument/2006/relationships/notesSlide" Target="/ppt/notesSlides/notesSlide16.xml" Id="R7ffe429bd80d49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34d28168fb40bf" /><Relationship Type="http://schemas.openxmlformats.org/officeDocument/2006/relationships/notesSlide" Target="/ppt/notesSlides/notesSlide17.xml" Id="R90d5a38c451247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143f6eacd4f92" /><Relationship Type="http://schemas.openxmlformats.org/officeDocument/2006/relationships/notesSlide" Target="/ppt/notesSlides/notesSlide18.xml" Id="R933a9558122b4b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ee0893cd254265" /><Relationship Type="http://schemas.openxmlformats.org/officeDocument/2006/relationships/image" Target="/ppt/media/image11.png" Id="Re28bd0ab43354740" /><Relationship Type="http://schemas.openxmlformats.org/officeDocument/2006/relationships/notesSlide" Target="/ppt/notesSlides/notesSlide19.xml" Id="R24c0dfa4dcc74e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DA6FC6-49BB-4405-994A-A516FE63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10698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Xây dựng hệ thống nhận diện</a:t>
            </a:r>
            <a:endParaRPr sz="3000"/>
          </a:p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biển số xe bằng Trí tuệ nhân tạo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0A962D-F944-4592-B935-805882E9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63240"/>
            <a:ext cx="8915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6354A"/>
                </a:solidFill>
              </a:rPr>
              <a:t>Đồ án môn học · Xử lý ảnh và ứng dụng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281E06-C5B3-4B6C-8B22-1B17D4BF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3873500"/>
            <a:ext cx="36195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Phạm Nguyễn Thế Châu – 25410004
Nguyễn Minh Hiếu – 25410007</a:t>
            </a:r>
            <a:endParaRPr sz="130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AF9994A-F2BC-4FBF-9296-19E3710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635500"/>
            <a:ext cx="711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GVHD: ThS. Cáp Phạm Đình Thăng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08AC22-7546-4F2B-98FA-7F90C2E2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651500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8D98A9"/>
                </a:solidFill>
              </a:rPr>
              <a:t>Tháng 9 · 2026</a:t>
            </a:r>
            <a:endParaRPr sz="1000"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4D9F089-FE27-4E81-ACB1-90F4DFDF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" y="36576"/>
            <a:ext cx="37947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83990453b4d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" y="68580"/>
            <a:ext cx="3246120" cy="333963"/>
          </a:xfrm>
          <a:prstGeom xmlns:a="http://schemas.openxmlformats.org/drawingml/2006/main" prst="rect">
            <a:avLst/>
          </a:prstGeom>
        </p:spPr>
      </p:pic>
      <p:sp>
        <p:nvSpPr>
          <p:cNvPr id="2" name="Text 3_Right">
            <a:extLst xmlns:a="http://schemas.openxmlformats.org/drawingml/2006/main">
              <a:ext uri="{FF2B5EF4-FFF2-40B4-BE49-F238E27FC236}">
                <a16:creationId xmlns:a16="http://schemas.microsoft.com/office/drawing/2014/main" id="{D7F6B2D8-A06E-A086-DB56-471DF42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3500"/>
            <a:ext cx="36195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Nguyễn Công Hậu – 25410006
Phạm Công Thành – 25410013</a:t>
            </a:r>
          </a:p>
        </p:txBody>
      </p:sp>
    </p:spTree>
    <p:extLst>
      <p:ext uri="{BB962C8B-B14F-4D97-AF65-F5344CB8AC3E}">
        <p14:creationId xmlns:p14="http://schemas.microsoft.com/office/powerpoint/2010/main" val="103432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3D17D7-5B7A-4E1F-B743-1DB2362E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Nội dung trình bày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037D69-1A7A-43F4-9F1E-7F7F049F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4 phần theo rubric báo cáo của giảng viên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1671FA0-4BEA-4853-831F-92FB615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879DBA8-95E8-471C-BA29-52682B3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4650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01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785F95-2B2A-41F4-BE23-B40273D0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4650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Bài toán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B77599C-10B0-40D0-BB05-60334715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5A3559B-7C5B-4968-88FB-EA4F723C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5234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02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1339D9-C5B5-448E-B968-65FBE05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5234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6354A"/>
                </a:solidFill>
              </a:rPr>
              <a:t>Phương pháp đề xuất (Pipeline &amp; Xử lý ảnh thích ứng)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1FC8676-CDE3-4636-8941-246939CC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188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87AA55-3144-48AE-837C-421E68D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5818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03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71983E-D606-4C99-A9C9-2AF3E260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818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Kết quả thực nghiệm &amp; Bóc tách đóng góp (Ablation)</a:t>
            </a:r>
            <a:endParaRPr sz="18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4A21541-F168-4B05-A36F-AEAC3AC9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772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0640874-6A67-492E-B506-A1AE6778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402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04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569F2D-3CE2-4619-9FEC-A1766A82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402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Kết luận và hướng phát triển</a:t>
            </a:r>
            <a:endParaRPr sz="1800"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48DB506-F7DD-4B85-97AE-447034E7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2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64973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2206246-C253-405F-B9E4-7B971100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Định nghĩa bài toán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78A1A8-B474-4E77-9095-036D472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Từ ảnh phương tiện đến vị trí, chuỗi ký tự và màu nền biển số</a:t>
            </a:r>
          </a:p>
        </p:txBody>
      </p:sp>
      <p:sp>
        <p:nvSpPr>
          <p:cNvPr id="3" name="formula-box">
            <a:extLst xmlns:a="http://schemas.openxmlformats.org/drawingml/2006/main">
              <a:ext uri="{FF2B5EF4-FFF2-40B4-BE49-F238E27FC236}">
                <a16:creationId xmlns:a16="http://schemas.microsoft.com/office/drawing/2014/main" id="{6A936EB7-7862-44D7-8707-6FA42C7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ED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B790982F-C035-4590-A579-4F3ED561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05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ĐẦU VÀO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D81A3A1F-409D-4F33-B497-12961F43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I ∈ ℝᴴˣᵂˣ³</a:t>
            </a:r>
          </a:p>
        </p:txBody>
      </p:sp>
      <p:sp>
        <p:nvSpPr>
          <p:cNvPr id="6" name="mapping">
            <a:extLst xmlns:a="http://schemas.openxmlformats.org/drawingml/2006/main">
              <a:ext uri="{FF2B5EF4-FFF2-40B4-BE49-F238E27FC236}">
                <a16:creationId xmlns:a16="http://schemas.microsoft.com/office/drawing/2014/main" id="{00179D27-F4CD-4787-84BA-C71E58C8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fθ(I) = (b, y, c)</a:t>
            </a:r>
          </a:p>
        </p:txBody>
      </p:sp>
      <p:sp>
        <p:nvSpPr>
          <p:cNvPr id="7" name="constraint">
            <a:extLst xmlns:a="http://schemas.openxmlformats.org/drawingml/2006/main">
              <a:ext uri="{FF2B5EF4-FFF2-40B4-BE49-F238E27FC236}">
                <a16:creationId xmlns:a16="http://schemas.microsoft.com/office/drawing/2014/main" id="{0434A7B0-5DFD-42C2-8737-2ECA0D56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CPU  •  p95 ≤ 1,5 giây</a:t>
            </a:r>
          </a:p>
        </p:txBody>
      </p:sp>
      <p:sp>
        <p:nvSpPr>
          <p:cNvPr id="8" name="symbol-0">
            <a:extLst xmlns:a="http://schemas.openxmlformats.org/drawingml/2006/main">
              <a:ext uri="{FF2B5EF4-FFF2-40B4-BE49-F238E27FC236}">
                <a16:creationId xmlns:a16="http://schemas.microsoft.com/office/drawing/2014/main" id="{6289BEC4-6EF9-40B9-8156-35E18B6A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9" name="meaning-0">
            <a:extLst xmlns:a="http://schemas.openxmlformats.org/drawingml/2006/main">
              <a:ext uri="{FF2B5EF4-FFF2-40B4-BE49-F238E27FC236}">
                <a16:creationId xmlns:a16="http://schemas.microsoft.com/office/drawing/2014/main" id="{F81C66AC-3D38-4727-AE0A-A25C813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Hộp bao biển số trong ảnh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C3D00-D306-4E47-AD1A-64EACA66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symbol-1">
            <a:extLst xmlns:a="http://schemas.openxmlformats.org/drawingml/2006/main">
              <a:ext uri="{FF2B5EF4-FFF2-40B4-BE49-F238E27FC236}">
                <a16:creationId xmlns:a16="http://schemas.microsoft.com/office/drawing/2014/main" id="{D84540D1-E888-411A-8AA3-074FA86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y ∈ Σⁿ</a:t>
            </a:r>
          </a:p>
        </p:txBody>
      </p:sp>
      <p:sp>
        <p:nvSpPr>
          <p:cNvPr id="12" name="meaning-1">
            <a:extLst xmlns:a="http://schemas.openxmlformats.org/drawingml/2006/main">
              <a:ext uri="{FF2B5EF4-FFF2-40B4-BE49-F238E27FC236}">
                <a16:creationId xmlns:a16="http://schemas.microsoft.com/office/drawing/2014/main" id="{D2F55367-A7DF-4574-A89B-0F87A9ED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Chuỗi biển số, n ∈ {7, 8, 9}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8B1F0-8530-40E9-A3AE-E4A65A7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4" name="symbol-2">
            <a:extLst xmlns:a="http://schemas.openxmlformats.org/drawingml/2006/main">
              <a:ext uri="{FF2B5EF4-FFF2-40B4-BE49-F238E27FC236}">
                <a16:creationId xmlns:a16="http://schemas.microsoft.com/office/drawing/2014/main" id="{46CA01BF-6CBA-44FA-B31A-2D483B42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15" name="meaning-2">
            <a:extLst xmlns:a="http://schemas.openxmlformats.org/drawingml/2006/main">
              <a:ext uri="{FF2B5EF4-FFF2-40B4-BE49-F238E27FC236}">
                <a16:creationId xmlns:a16="http://schemas.microsoft.com/office/drawing/2014/main" id="{B7F7F2F1-7E0C-4E26-A9FC-3D261F48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Nhãn màu nền biển</a:t>
            </a:r>
          </a:p>
        </p:txBody>
      </p:sp>
      <p:sp>
        <p:nvSpPr>
          <p:cNvPr id="16" name="metric-note">
            <a:extLst xmlns:a="http://schemas.openxmlformats.org/drawingml/2006/main">
              <a:ext uri="{FF2B5EF4-FFF2-40B4-BE49-F238E27FC236}">
                <a16:creationId xmlns:a16="http://schemas.microsoft.com/office/drawing/2014/main" id="{AA4C5062-5C6B-402F-B79E-9F048189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Tiêu chí vận hành chính: đúng toàn bộ chuỗi, không chỉ đúng từng ký tự</a:t>
            </a:r>
          </a:p>
        </p:txBody>
      </p:sp>
    </p:spTree>
    <p:extLst>
      <p:ext uri="{BB962C8B-B14F-4D97-AF65-F5344CB8AC3E}">
        <p14:creationId xmlns:p14="http://schemas.microsoft.com/office/powerpoint/2010/main" val="14257133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7F676F1E-47D1-42D4-98A9-1CA5274B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Ý nghĩa thực tiễn và thách thức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4E96E0-24E9-492D-BD70-F9B07FC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Bài toán có giá trị triển khai rõ ràng nhưng chịu ràng buộc đặc thù tại Việt Nam</a:t>
            </a:r>
          </a:p>
        </p:txBody>
      </p:sp>
      <p:sp>
        <p:nvSpPr>
          <p:cNvPr id="3" name="practical-head">
            <a:extLst xmlns:a="http://schemas.openxmlformats.org/drawingml/2006/main">
              <a:ext uri="{FF2B5EF4-FFF2-40B4-BE49-F238E27FC236}">
                <a16:creationId xmlns:a16="http://schemas.microsoft.com/office/drawing/2014/main" id="{4826EF8F-CCD8-432F-93DB-95B1E4F4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Ý nghĩa thực tiễn</a:t>
            </a:r>
          </a:p>
        </p:txBody>
      </p:sp>
      <p:sp>
        <p:nvSpPr>
          <p:cNvPr id="4" name="practical-body">
            <a:extLst xmlns:a="http://schemas.openxmlformats.org/drawingml/2006/main">
              <a:ext uri="{FF2B5EF4-FFF2-40B4-BE49-F238E27FC236}">
                <a16:creationId xmlns:a16="http://schemas.microsoft.com/office/drawing/2014/main" id="{4A3E696D-9A7B-4ACB-90C1-97F5609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5243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Tự động nhập biển số từ camera hoặc ảnh tĩnh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Lõi nhận dạng cho bãi đỗ xe, thu phí và kiểm soát ra vào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Chạy trên CPU phổ thông, thuận lợi khi triển khai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8A0E3-652C-44A3-9EBE-3CFF233B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6" name="challenge-head">
            <a:extLst xmlns:a="http://schemas.openxmlformats.org/drawingml/2006/main">
              <a:ext uri="{FF2B5EF4-FFF2-40B4-BE49-F238E27FC236}">
                <a16:creationId xmlns:a16="http://schemas.microsoft.com/office/drawing/2014/main" id="{1A43F425-454F-4122-BCAE-ABD3451A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Thách thức kỹ thuật</a:t>
            </a:r>
          </a:p>
        </p:txBody>
      </p:sp>
      <p:sp>
        <p:nvSpPr>
          <p:cNvPr id="7" name="challenge-body">
            <a:extLst xmlns:a="http://schemas.openxmlformats.org/drawingml/2006/main">
              <a:ext uri="{FF2B5EF4-FFF2-40B4-BE49-F238E27FC236}">
                <a16:creationId xmlns:a16="http://schemas.microsoft.com/office/drawing/2014/main" id="{E887232F-6907-4094-AF1C-CFE1F3D1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77 triệu xe máy, biển hai dòng là trường hợp phổ biến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Biển 190 × 140 mm là đối tượng nhỏ trong khung hình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Chói phản quang, nhòe, bụi bẩn và góc nghiêng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CRNN/CTC ưu tiên chuỗi một dòng ngang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D0B195A4-583A-4B24-A9EF-A158232F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76875"/>
            <a:ext cx="7715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B9DBF2"/>
            </a:solidFill>
            <a:prstDash val="solid"/>
          </a:ln>
        </p:spPr>
      </p:sp>
      <p:sp>
        <p:nvSpPr>
          <p:cNvPr id="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00BE5F86-3614-47A4-A9A6-70FED7E3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149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Biển hai dòng là điểm nghẽn cần giải quyết, không phải trường hợp ngoại lệ</a:t>
            </a:r>
          </a:p>
        </p:txBody>
      </p:sp>
    </p:spTree>
    <p:extLst>
      <p:ext uri="{BB962C8B-B14F-4D97-AF65-F5344CB8AC3E}">
        <p14:creationId xmlns:p14="http://schemas.microsoft.com/office/powerpoint/2010/main" val="16226095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1d0abc85443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06440" y="1371600"/>
            <a:ext cx="5349240" cy="4297680"/>
          </a:xfrm>
          <a:prstGeom xmlns:a="http://schemas.openxmlformats.org/drawingml/2006/main" prst="rect">
            <a:avLst/>
          </a:prstGeom>
        </p:spPr>
      </p:pic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FA408A0-2BC8-4FAF-8A6C-A26FA17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Khảo sát các hướng tiếp cận</a:t>
            </a:r>
          </a:p>
        </p:txBody>
      </p:sp>
      <p:sp>
        <p:nvSpPr>
          <p:cNvPr id="12" name="subtitle">
            <a:extLst xmlns:a="http://schemas.openxmlformats.org/drawingml/2006/main">
              <a:ext uri="{FF2B5EF4-FFF2-40B4-BE49-F238E27FC236}">
                <a16:creationId xmlns:a16="http://schemas.microsoft.com/office/drawing/2014/main" id="{3DA09FE6-F4B2-46FB-A924-FC5A49E5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Bốn phương án được đối chiếu theo khả năng xử lý biển Việt Nam và ràng buộc CPU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429000"/>
                <a:gridCol w="428625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tiếp cận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nhận dạng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 chính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Morphology + SVM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Phân đoạn từng ký tự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Nhạy với nhiễu và góc nghiêng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YOLO + OCR dựng sẵn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EasyOCR hoặc Tesseract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Suy giảm mạnh trên biển hai dòng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End-to-end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LPRNet hoặc CRNN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Cần dữ liệu Việt Nam để huấn luyện lại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pháp đề tài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YOLO11n + PP-OCRv5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Biến đổi hình học, phù hợp CPU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</a:tr>
            </a:tbl>
          </a:graphicData>
        </a:graphic>
      </p:graphicFrame>
      <p:sp>
        <p:nvSpPr>
          <p:cNvPr id="14" name="decision">
            <a:extLst xmlns:a="http://schemas.openxmlformats.org/drawingml/2006/main">
              <a:ext uri="{FF2B5EF4-FFF2-40B4-BE49-F238E27FC236}">
                <a16:creationId xmlns:a16="http://schemas.microsoft.com/office/drawing/2014/main" id="{0E08E669-7FA5-46D9-97DF-F8EFC111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BD3F2"/>
            </a:solidFill>
            <a:prstDash val="solid"/>
          </a:ln>
        </p:spPr>
      </p:sp>
      <p:sp>
        <p:nvSpPr>
          <p:cNvPr id="15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65757BCF-70E0-4C21-97D4-AF1AA294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Lựa chọn phương án 4: không huấn luyện lại OCR, vẫn tối ưu được trên CPU</a:t>
            </a:r>
          </a:p>
        </p:txBody>
      </p:sp>
    </p:spTree>
    <p:extLst>
      <p:ext uri="{BB962C8B-B14F-4D97-AF65-F5344CB8AC3E}">
        <p14:creationId xmlns:p14="http://schemas.microsoft.com/office/powerpoint/2010/main" val="15627231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09745D-3706-4BE1-A569-2CA34F74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Pipeline xử lý tổng thể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B6D6AE-0403-4740-B7E7-96B218F2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Đóng góp cốt lõi nằm ở hai khối: Xử lý ảnh thích ứng và Hậu xử lý tri thức chuyên miền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1CC53B-C0A3-47DD-9FED-524DF4D5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9EB28FF-D46B-4704-9DAC-8D1D936C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Ảnh đầu vào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25E4EE-EE04-48BA-BFBB-B375DFF3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Camera / ảnh thực tế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5733B0-A0FB-4913-BA9C-0EFB6A1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4B7AF19-F6E9-4FD5-9BE7-BB98CE30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4919564-8395-4490-ADE3-CA8AC65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YOLO11n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09ED87D-6251-49B5-BF76-8BE92F20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Phát hiện biển số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280E64-584D-4B46-A22D-EEBA8F14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C938D2F-BD25-4695-8836-5560E661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850FFD-C12F-482B-B99A-792B9CD2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Xử lý ảnh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7A6250E-BAC3-47F7-B6B9-2E96DE75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Deskew · Tách–ghép dòng · CLAHE · Lọc song phương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CCD4A20-2747-4A42-B5B9-016337B9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82054F9-BBE5-494E-9988-A62D5685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1F6ABEF-A566-4360-8A79-0BD33A6B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PaddleOCR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16065F-CDA7-40C3-B1A9-AE18FF8F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PP-OCRv5 Mobile (Thuần CPU)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752B2F3-EFB7-49CA-84C8-9E84C184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A0D6DFF-9B7E-4058-A76D-2A85A824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CE64F93-E4A3-4922-BC85-9C8D067A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Hậu xử lý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180E913-E814-4AFD-A2E1-746CD00B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Kiểm tra 34 tỉnh · Mặt nạ vị trí · Ma trận hoán vị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E331DE6-0896-4D4E-A87E-5489E69A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F6DFB9-C2CE-4CFD-BF54-BCAFE404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E0BE038-55DD-4ED4-97C4-9344D58A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Kết quả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E5FD77E-1F2C-4FF2-9C37-EA0029D9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Chuỗi biển số chuẩn hóa + Màu sắc &amp; Loại xe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F9446FD-78EE-44E6-8B0B-DA7D53A7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800600"/>
            <a:ext cx="649224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EE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1165574-B7CC-4FBA-BDA5-49FDC808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873752"/>
            <a:ext cx="6345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5FD4"/>
                </a:solidFill>
                <a:latin typeface="Arial"/>
                <a:ea typeface="Arial"/>
                <a:cs typeface="Arial"/>
              </a:rPr>
              <a:t>Không sửa đổi cấu trúc OCR → Tái cấu trúc hình học ảnh để tương thích tối ưu với OCR sẵn có</a:t>
            </a:r>
            <a:endParaRPr sz="1050"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FBD29616-8535-47A3-A290-C90DFCB5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5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747362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3C67A5-9BAB-4F80-A1AD-5A974EC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Vì sao biển hai dòng làm OCR đọc sai?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B7CEA0-6585-4971-AAB5-D9504F62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Hình học đầu vào vi phạm giả định thứ tự thời gian đơn điệu của hàm mất mát CTC Loss</a:t>
            </a:r>
            <a:endParaRPr sz="1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27c4e4a954e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1389888"/>
            <a:ext cx="5532120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8C79054-6DBE-4BAD-954D-312DEA18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0500"/>
            <a:ext cx="4526280" cy="381000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18A258F-5CED-476B-97F9-B5B1097D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587500"/>
            <a:ext cx="406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Xung đột đặc trưng 2 dòng</a:t>
            </a:r>
            <a:endParaRPr sz="1350" b="1">
              <a:solidFill>
                <a:srgbClr val="DC262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1F9C747-EF6B-4A14-9E40-0FBFF5B9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968500"/>
            <a:ext cx="4064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Tầng CNN hạ chiều cao H → 1 để tạo chuỗi 1D
• Hai hàng ký tự bị ép chung cột đặc trưng t
• Phá vỡ giả định đơn điệu của CTC Loss
• OCR đọc nhảy dòng, nuốt chữ hoặc sinh rác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DFDF341-2A40-401A-9F20-E616145A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127500"/>
            <a:ext cx="40640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Giải pháp: Biến đổi hình học đưa về 1 dòng ngang chuẩn hóa trước khi đưa vào OCR</a:t>
            </a:r>
            <a:endParaRPr sz="115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1E54997-0052-401B-B640-679B1B93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7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290202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03C905-0631-4603-99EC-FC9C1F5C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Chuẩn hóa biển hai dòng bằng biến đổi hình học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FECEEE-9A46-4770-827B-97AB8E46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Chuỗi 5 phép biến đổi hình học giúp chuẩn hóa biển 2 dòng thành 1 dòng chất lượng cao</a:t>
            </a:r>
            <a:endParaRPr sz="115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a285cca484f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80760" y="1298448"/>
            <a:ext cx="5257800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9B5A699-0011-4D6A-8641-0531CE3B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3F18152-548D-484E-B3BE-48FD5702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1790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A94885E-05A8-4620-9C06-0CA4E402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Phân loại 1 / 2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7E913F-CF97-4249-8E32-52FC2740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Ngưỡng AR = 2,50 (khoảng cách rộng giữa 1,36 và 4,73)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E09E8F0-53D4-4AD6-95D1-64283E7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219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79E807-B507-4A9B-9C3C-45426682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9514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5C57AC0-E0CE-4479-B976-49549F2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9456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Nắn phẳng Affine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F9DBEC0-5BA0-4DE6-8171-5E958DD6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945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Tìm góc xoay tối ưu bằng cv2.minAreaRect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B3A2672-EFB5-438A-A6DC-60245BD4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E21B207-5612-44B3-82D6-6B70DC37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  <a:endParaRPr sz="1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53E0EF-789C-4D47-9F6B-D1983C7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Tách hai dòng ổn định</a:t>
            </a:r>
            <a:endParaRPr sz="15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E84E57-27A9-4072-B32F-EC4EC87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971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Cắt cố định 5/12 trên &amp; 1/3 dưới, loại ốc vít tim biển</a:t>
            </a:r>
            <a:endParaRPr sz="11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D4417FA-054C-4494-B213-5AB2E611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31262F3-DE51-4382-B3F5-3260F1B8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962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83D3B79-C613-48D5-818B-12F84FE5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490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Ghép ngang nối tiếp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6D7779F-1878-4F51-8079-6A08256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74904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Dòng trên + dòng dưới → Chuỗi 1 dòng duy nhất</a:t>
            </a:r>
            <a:endParaRPr sz="11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53AE3C5-EDAD-49C0-93AE-399B6CC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537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B44C567-4EF6-4C54-B4F8-FA01EF30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2686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5</a:t>
            </a:r>
            <a:endParaRPr sz="1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C61B2ED-5DE3-4D46-9FFD-0F1BFCF0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26280"/>
            <a:ext cx="2540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CLAHE &amp; Lọc song phương</a:t>
            </a:r>
            <a:endParaRPr sz="15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D71120B-F6DC-42F2-B1C7-0810CE7F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4526280"/>
            <a:ext cx="203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Tăng tương phản cục bộ, khử nhiễu mà bảo toàn nét chữ</a:t>
            </a:r>
            <a:endParaRPr sz="1150"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549CCBAA-C2E0-4CDE-9C5B-C52C1F04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8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751089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B0456F-C43F-47D0-830F-AFFC8555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Hậu xử lý theo vị trí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791E800-6A2F-449E-B80F-58893DA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Khai thác quy chuẩn Việt Nam (TT 79/2024 &amp; TT 51/2025) theo từng vị trí ký tự trong chuỗi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AEA06D-7F7A-4358-99FB-E5D1B6F9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5F8B962-D15C-41FB-AEBB-C691F43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1. Danh mục 34 Mã địa phương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527F052-E43C-4FFB-8BB3-4C33D036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 soát theo 34 tỉnh/thành hợp lệ (TT 51/2025); loại bỏ hoàn toàn các mã giả lập không tồn tại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7B1F055-5777-40BB-B3FD-ED197A86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7736F54-5DA9-4BB7-90FB-F91F3451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2. Mặt nạ cú pháp định dạng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BE2EB7-995D-45FA-9DD5-1FE4F108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Ràng buộc nghiêm ngặt vị trí số và chữ theo quy chuẩn DD-L DDD.DD hoặc DD-L? DDD.DD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D68384A-C991-40A4-B380-2662AF20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FC57B45-36DE-4B04-B28F-D2091256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3. Tập ký tự seri theo loại xe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0B421F5-FCC6-4D4B-BDB8-9FB082A3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Xe con không chứa ký tự 'R'; xe máy phân biệt rõ 'G' và 'R' ở từng vị trí seri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2DB0C3-79AF-4D5C-95DC-11F64D02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8ECF73-CA9E-473A-BD8D-2106206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4. Ma trận hoán vị bất đối xứng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766CA0B-C822-4C1F-8EEB-EDE717C4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Sửa lỗi OCR có định hướng: 'O','D' → '0' khi ở vị trí số; '0' → 'D' khi ở vị trí chữ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622EFB8-2674-4F0E-A66C-DADF3B3D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92040"/>
            <a:ext cx="9784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CFE2F6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51D0FFB-BA9D-4C40-B00E-F2073A6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846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0F2A5F"/>
                </a:solidFill>
              </a:rPr>
              <a:t>Ví dụ thực tế: Tại vị trí số, 'O' được sửa thành '0'; nhưng tại vị trí chữ, '0' được sửa thành 'D' chứ không sửa thành 'O' để bảo toàn tính hợp lệ.</a:t>
            </a:r>
            <a:endParaRPr sz="1700"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89B2779C-CBC3-4B2F-B7CC-CEE1C29A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9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67630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3ECFAC-890E-43E9-871A-0534236C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Bộ dữ liệu: Khử trùng lặp trước khi đánh giá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C2BBB1-934F-44EF-958E-6FFCE2D1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Triệt tiêu rò rỉ dữ liệu (Data Leakage) khi các bộ dữ liệu công khai fork chéo lẫn nhau</a:t>
            </a:r>
            <a:endParaRPr sz="1150"/>
          </a:p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d5441d01e46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1417320"/>
            <a:ext cx="5166360" cy="425196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1B3E567-55CC-4499-90E3-EC5E54C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84632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7509F42-C35F-4119-8246-A14620F7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7452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0F2A5F"/>
                </a:solidFill>
              </a:rPr>
              <a:t>27.711 ảnh</a:t>
            </a:r>
            <a:endParaRPr sz="2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B00FDB7-6D74-4CDB-9645-BC44996C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5748B"/>
                </a:solidFill>
              </a:rPr>
              <a:t>Gộp từ 7 bộ dữ liệu ALPR công khai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600845B-6097-4431-B485-FE9DB4D8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− 44,2%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EB57296-3D29-4DA7-90C0-A439829C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02152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26354A"/>
                </a:solidFill>
              </a:rPr>
              <a:t>ảnh trùng bị loại bằng pHash DCT 64-bit (Hamming ≤ 6)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55000DC-C87A-4595-897F-F6805AF2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49A68"/>
                </a:solidFill>
              </a:rPr>
              <a:t>15.133 ảnh độc lập (10.592 Train / 3.027 Val / 1.514 Test)</a:t>
            </a:r>
            <a:endParaRPr sz="1700"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B32F6D0-D11E-4544-A8CA-556FD03C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6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614511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66556e79c45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0" y="1389888"/>
            <a:ext cx="6217920" cy="4297680"/>
          </a:xfrm>
          <a:prstGeom xmlns:a="http://schemas.openxmlformats.org/drawingml/2006/main" prst="rect">
            <a:avLst/>
          </a:prstGeom>
        </p:spPr>
      </p:pic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1A8852B-6D65-4EB1-9CC9-1B0F2ED4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Phương pháp đánh giá</a:t>
            </a:r>
          </a:p>
        </p:txBody>
      </p:sp>
      <p:sp>
        <p:nvSpPr>
          <p:cNvPr id="12" name="subtitle">
            <a:extLst xmlns:a="http://schemas.openxmlformats.org/drawingml/2006/main">
              <a:ext uri="{FF2B5EF4-FFF2-40B4-BE49-F238E27FC236}">
                <a16:creationId xmlns:a16="http://schemas.microsoft.com/office/drawing/2014/main" id="{3C9AA794-FCDD-4023-962A-F606AAA0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 riêng chất lượng phát hiện, nhận dạng toàn chuỗi và độ trễ đầu cuối</a:t>
            </a:r>
          </a:p>
        </p:txBody>
      </p:sp>
      <p:sp>
        <p:nvSpPr>
          <p:cNvPr id="13" name="metric-type-0">
            <a:extLst xmlns:a="http://schemas.openxmlformats.org/drawingml/2006/main">
              <a:ext uri="{FF2B5EF4-FFF2-40B4-BE49-F238E27FC236}">
                <a16:creationId xmlns:a16="http://schemas.microsoft.com/office/drawing/2014/main" id="{AE513A95-1744-4E37-A9D2-613C8CB1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PHÁT HIỆN</a:t>
            </a:r>
          </a:p>
        </p:txBody>
      </p:sp>
      <p:sp>
        <p:nvSpPr>
          <p:cNvPr id="14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170981FB-4A9D-4F2C-A7B9-2224C105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15" name="metric-desc-0">
            <a:extLst xmlns:a="http://schemas.openxmlformats.org/drawingml/2006/main">
              <a:ext uri="{FF2B5EF4-FFF2-40B4-BE49-F238E27FC236}">
                <a16:creationId xmlns:a16="http://schemas.microsoft.com/office/drawing/2014/main" id="{F64C9091-FE1D-492D-8941-982E5CC8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IoU ≥ 0,5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7C21F-D903-43FE-A89C-DA3AA2D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7" name="metric-type-1">
            <a:extLst xmlns:a="http://schemas.openxmlformats.org/drawingml/2006/main">
              <a:ext uri="{FF2B5EF4-FFF2-40B4-BE49-F238E27FC236}">
                <a16:creationId xmlns:a16="http://schemas.microsoft.com/office/drawing/2014/main" id="{B97EB87E-9ABF-439C-977B-F570FAAC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NHẬN DẠNG</a:t>
            </a:r>
          </a:p>
        </p:txBody>
      </p:sp>
      <p:sp>
        <p:nvSpPr>
          <p:cNvPr id="1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BAF5054-1F48-4791-B75E-F6F1CDAC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71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S₀ và S₁</a:t>
            </a:r>
          </a:p>
        </p:txBody>
      </p:sp>
      <p:sp>
        <p:nvSpPr>
          <p:cNvPr id="19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8E04B985-D4EE-442C-A0AC-C78B0A29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Đúng cả chuỗi trước và sau hậu xử lý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D0223-0C46-4066-9390-18FC33BC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21" name="metric-type-2">
            <a:extLst xmlns:a="http://schemas.openxmlformats.org/drawingml/2006/main">
              <a:ext uri="{FF2B5EF4-FFF2-40B4-BE49-F238E27FC236}">
                <a16:creationId xmlns:a16="http://schemas.microsoft.com/office/drawing/2014/main" id="{3682A318-31DC-462A-B1A0-5C05BA9F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KÝ TỰ</a:t>
            </a:r>
          </a:p>
        </p:txBody>
      </p:sp>
      <p:sp>
        <p:nvSpPr>
          <p:cNvPr id="22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F1F5FC37-FFB8-477B-BBC0-CC6D4D2A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71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CER</a:t>
            </a:r>
          </a:p>
        </p:txBody>
      </p:sp>
      <p:sp>
        <p:nvSpPr>
          <p:cNvPr id="23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25C63D7D-5D08-442A-9CE4-5371D158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Tỉ lệ ký tự sai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10911-C720-4678-BAEF-C4F27C50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25" name="metric-type-3">
            <a:extLst xmlns:a="http://schemas.openxmlformats.org/drawingml/2006/main">
              <a:ext uri="{FF2B5EF4-FFF2-40B4-BE49-F238E27FC236}">
                <a16:creationId xmlns:a16="http://schemas.microsoft.com/office/drawing/2014/main" id="{8E0B4880-A481-4E9C-B3B8-FA61531E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HIỆU NĂNG</a:t>
            </a:r>
          </a:p>
        </p:txBody>
      </p:sp>
      <p:sp>
        <p:nvSpPr>
          <p:cNvPr id="26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A2D6A06D-358B-4646-8688-06604378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p50 / p95 / p99</a:t>
            </a:r>
          </a:p>
        </p:txBody>
      </p:sp>
      <p:sp>
        <p:nvSpPr>
          <p:cNvPr id="27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542A626C-48BA-45AD-80A1-DA8175D4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Phân vị độ trễ đầu cuối trên CPU</a:t>
            </a:r>
          </a:p>
        </p:txBody>
      </p:sp>
      <p:sp>
        <p:nvSpPr>
          <p:cNvPr id="28" name="strict-note">
            <a:extLst xmlns:a="http://schemas.openxmlformats.org/drawingml/2006/main">
              <a:ext uri="{FF2B5EF4-FFF2-40B4-BE49-F238E27FC236}">
                <a16:creationId xmlns:a16="http://schemas.microsoft.com/office/drawing/2014/main" id="{A593FC71-5F5A-49FC-9D7F-9301B4E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Một ký tự sai được tính là sai toàn bộ biển số</a:t>
            </a:r>
          </a:p>
        </p:txBody>
      </p:sp>
    </p:spTree>
    <p:extLst>
      <p:ext uri="{BB962C8B-B14F-4D97-AF65-F5344CB8AC3E}">
        <p14:creationId xmlns:p14="http://schemas.microsoft.com/office/powerpoint/2010/main" val="10543402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4461C2-ED9E-4EC7-94A7-21B2BE96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Kết quả đo được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2FBD2E-6BEF-479E-AA5F-32DDF91F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Phát hiện và độ trễ đạt xuất sắc mục tiêu; độ chính xác toàn chuỗi phản ánh trung thực bài toán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6DB8EA-570D-45BA-BAEF-E3C44333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08760"/>
            <a:ext cx="2560320" cy="3017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9A68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5BB8C4F-F602-4A63-BE40-8CFE4FDC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828800"/>
            <a:ext cx="2340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49A68"/>
                </a:solidFill>
              </a:rPr>
              <a:t>0,9829</a:t>
            </a:r>
            <a:endParaRPr sz="2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A23251-5EEF-44CB-9AD1-6E80E3F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46888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6354A"/>
                </a:solidFill>
              </a:rPr>
              <a:t>mAP@0.5 (Phát hiện)</a:t>
            </a:r>
            <a:endParaRPr sz="11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D1EABA-6405-4454-9D86-CDF8C8D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32504"/>
            <a:ext cx="23408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ĐẠT mục tiêu 0,90</a:t>
            </a:r>
            <a:endParaRPr sz="1000" b="1">
              <a:solidFill>
                <a:srgbClr val="05966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A19E408-3718-4D66-8F1A-D150FD0F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508760"/>
            <a:ext cx="2560320" cy="3017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9A68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20686C-C1BB-4DB1-8979-9143536D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28800"/>
            <a:ext cx="2340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49A68"/>
                </a:solidFill>
              </a:rPr>
              <a:t>0,984 / 0,971</a:t>
            </a:r>
            <a:endParaRPr sz="2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8C48C7-A1C9-478A-A574-BCC5A03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888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6354A"/>
                </a:solidFill>
              </a:rPr>
              <a:t>Precision / Recall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38DFB1-25D6-4FD5-BDAD-1366CD2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032504"/>
            <a:ext cx="23408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ĐẠT</a:t>
            </a:r>
            <a:endParaRPr sz="1000" b="1">
              <a:solidFill>
                <a:srgbClr val="05966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174A64-35CD-4A47-B217-CFAA44B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1508760"/>
            <a:ext cx="2560320" cy="3017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8818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A6796F5-5FD5-46F5-8EEF-01A01D4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828800"/>
            <a:ext cx="2340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D88818"/>
                </a:solidFill>
              </a:rPr>
              <a:t>0,7701</a:t>
            </a:r>
            <a:endParaRPr sz="2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FD4985D-B02A-4563-982C-6694D55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6888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6354A"/>
                </a:solidFill>
              </a:rPr>
              <a:t>Độ chính xác toàn chuỗi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8DAD8C2-AE1B-4ADB-986A-14757338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32504"/>
            <a:ext cx="23408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CHƯA ĐẠT ngưỡng 0,85</a:t>
            </a:r>
            <a:endParaRPr sz="1000" b="1">
              <a:solidFill>
                <a:srgbClr val="DC262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9667054-06B0-496B-B06E-0716518C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1508760"/>
            <a:ext cx="2560320" cy="3017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9A68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3B99339-6743-44C5-82F4-56F601D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1828800"/>
            <a:ext cx="2340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49A68"/>
                </a:solidFill>
              </a:rPr>
              <a:t>510 ms</a:t>
            </a:r>
            <a:endParaRPr sz="2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CC409D-3AAD-4211-AA45-8A319313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46888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6354A"/>
                </a:solidFill>
              </a:rPr>
              <a:t>Độ trễ p95 trên CPU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79841D-226E-4AA2-9124-DA218D40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032504"/>
            <a:ext cx="23408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ĐẠT mục tiêu ≤ 800 ms</a:t>
            </a:r>
            <a:endParaRPr sz="1000" b="1">
              <a:solidFill>
                <a:srgbClr val="05966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7058C68-EE0F-4B78-8E38-EF904DF3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074920"/>
            <a:ext cx="7863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0F2A5F"/>
                </a:solidFill>
              </a:rPr>
              <a:t>Nhận định khách quan: Hệ thống tối ưu xuất sắc trên CPU; khoảng cách độ chính xác tập trung ở biển hai dòng.</a:t>
            </a:r>
            <a:endParaRPr sz="1900"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34A145A8-764D-4FA8-B4F8-E64BDE9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12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435279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EB619C-EF61-4EEC-B646-6AAC626A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Khoảng cách nằm ở biển hai dòng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793F01-A50E-43F3-8D40-C987E85F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Độ chính xác mức ký tự gần bằng nhau, nhưng sai số tích lũy trên chuỗi phân hóa rất lớn</a:t>
            </a:r>
            <a:endParaRPr sz="1150"/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770894244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8001" y="1333500"/>
            <a:ext cx="5709227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46A8D46-EF03-4502-A77C-3F41DEA2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34340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DE2A8B-04C2-4B4B-9593-2DF9DFD0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5FD4"/>
                </a:solidFill>
              </a:rPr>
              <a:t>95,41%</a:t>
            </a:r>
            <a:endParaRPr sz="3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1A8AC6F-2B5D-4FF7-9D58-33D981D9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9572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một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0B0A7E6-C15F-4EEE-BF20-D3569EE9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15468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72,34%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1E10A0-5FD6-4909-B223-598B959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hai dòng</a:t>
            </a:r>
            <a:endParaRPr sz="15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5F1A332-837D-425F-A9E0-A56183E6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301752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12700">
            <a:solidFill>
              <a:srgbClr val="FF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F2B0564-8BA6-46E9-A5FF-2322E263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645152"/>
            <a:ext cx="3746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74343"/>
                </a:solidFill>
                <a:latin typeface="Segoe UI"/>
                <a:ea typeface="Segoe UI"/>
                <a:cs typeface="Segoe UI"/>
              </a:rPr>
              <a:t>Điểm nghẽn cốt lõi: Biển hai dòng</a:t>
            </a:r>
            <a:endParaRPr sz="1100" b="1">
              <a:latin typeface="Segoe UI"/>
              <a:ea typeface="Segoe UI"/>
              <a:cs typeface="Segoe UI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6381A654-A224-413A-AFC7-0F96E470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13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2668373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33150E-AE6A-4255-A93F-B5E02CCC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Lỗi thực tế trông như thế nào?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404A03-1A1C-40E1-9E2A-3394D893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Hậu xử lý cứu được nhiều ca OCR thô; các ca còn sai tập trung ở dòng trên của biển hai dòng</a:t>
            </a:r>
            <a:endParaRPr sz="1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302e4dcd34d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000" y="1270000"/>
            <a:ext cx="10714182" cy="4572000"/>
          </a:xfrm>
          <a:prstGeom xmlns:a="http://schemas.openxmlformats.org/drawingml/2006/main" prst="rect">
            <a:avLst/>
          </a:prstGeom>
        </p:spPr>
      </p:pic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44E6D7B-4D8E-4413-BD32-B8A5F575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14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657129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8AD357-5A66-4E93-9FF4-C5655B5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Bóc tách đóng góp từng bước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57B3435-6F81-465E-8162-1DEAA3CB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Mức cải thiện và chi phí tính toán được báo cáo cùng nhau trên đúng đường đo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3333750"/>
                <a:gridCol w="3143250"/>
              </a:tblGrid>
              <a:tr h="690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Can thiệp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 cải thiện (+Δ metric)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Chi phí tính toán (+ms trễ)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Tách-ghép ngang + PP-OCRv5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+34,92 điểm S₀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Chưa đo tách riêng</a:t>
                      </a:r>
                    </a:p>
                  </a:txBody>
                  <a:tcPr marL="95250" marR="95250" marT="66675" marB="66675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Hậu xử lý theo vị trí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+13,28 điểm S₁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+0,03 ms</a:t>
                      </a:r>
                    </a:p>
                  </a:txBody>
                  <a:tcPr marL="95250" marR="95250" marT="66675" marB="66675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Thử lại có nắn phẳng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 biển đúng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+276,80 ms p95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ablation-note">
            <a:extLst xmlns:a="http://schemas.openxmlformats.org/drawingml/2006/main">
              <a:ext uri="{FF2B5EF4-FFF2-40B4-BE49-F238E27FC236}">
                <a16:creationId xmlns:a16="http://schemas.microsoft.com/office/drawing/2014/main" id="{F72D1F5E-B378-4D14-95E2-4DCC0DBC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Tách-ghép tạo mức tăng lớn nhất; chi phí độc lập của bước này chưa có phép đo hợp lệ</a:t>
            </a:r>
          </a:p>
        </p:txBody>
      </p:sp>
    </p:spTree>
    <p:extLst>
      <p:ext uri="{BB962C8B-B14F-4D97-AF65-F5344CB8AC3E}">
        <p14:creationId xmlns:p14="http://schemas.microsoft.com/office/powerpoint/2010/main" val="167084503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FF9419-B81A-4AAF-A276-82335660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Demo: hệ thống chạy thật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0D58B5D-09EB-4F4A-A8B2-A730B6FB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Khởi chạy một lệnh duy nhất · Giao diện Web trực quan · Đầy đủ API và lịch sử nhận dạng</a:t>
            </a:r>
            <a:endParaRPr sz="1150"/>
          </a:p>
        </p:txBody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53154144943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397000"/>
            <a:ext cx="6017638" cy="43180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6D66DFE-8B67-40A0-BEA4-9E513FE8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397764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6E7D939-C187-4C0E-8224-C6459F24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3337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0F2A5F"/>
                </a:solidFill>
                <a:latin typeface="Courier New"/>
                <a:ea typeface="Courier New"/>
                <a:cs typeface="Courier New"/>
              </a:rPr>
              <a:t>docker compose up</a:t>
            </a:r>
            <a:endParaRPr sz="1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CCCF11A-1F07-4F54-B547-AF7175C2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88920"/>
            <a:ext cx="32461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26354A"/>
                </a:solidFill>
              </a:rPr>
              <a:t>• Nhận dạng ảnh tĩnh, luồng video và webcam trực tiếp
• Đối chiếu chuỗi OCR thô và chuỗi chuẩn hóa theo luật
• Nhận dạng màu sắc biển (HSV) và loại phương tiện
• Bảng theo dõi lịch sử và độ trễ suy luận từng bước</a:t>
            </a:r>
            <a:endParaRPr sz="15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76A35BB-06CC-45D4-91D8-9907B115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31546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EE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7378EA6-179F-4093-AE2E-657A9D89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645152"/>
            <a:ext cx="30083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5FD4"/>
                </a:solidFill>
                <a:latin typeface="Arial"/>
                <a:ea typeface="Arial"/>
                <a:cs typeface="Arial"/>
              </a:rPr>
              <a:t>Kiểm thử tự động trên 39 mẫu kiểm chuẩn có nhãn expected.json</a:t>
            </a:r>
            <a:endParaRPr sz="1050"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6FF293C-7D9C-4957-8F4F-3E1F6DD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17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4952888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024D2652-1840-4F51-9B0A-E34D7F00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Kết luận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9C1A88-0FA6-4DD9-9FD4-5A7CA0CE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Hệ thống đạt mục tiêu phát hiện và độ trễ; điểm nghẽn còn lại nằm ở biển hai dòng</a:t>
            </a:r>
          </a:p>
        </p:txBody>
      </p:sp>
      <p:sp>
        <p:nvSpPr>
          <p:cNvPr id="3" name="conclusion-card-0">
            <a:extLst xmlns:a="http://schemas.openxmlformats.org/drawingml/2006/main">
              <a:ext uri="{FF2B5EF4-FFF2-40B4-BE49-F238E27FC236}">
                <a16:creationId xmlns:a16="http://schemas.microsoft.com/office/drawing/2014/main" id="{B64DFB2C-1CC1-4573-933D-E41E8F8C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clusion-value-0">
            <a:extLst xmlns:a="http://schemas.openxmlformats.org/drawingml/2006/main">
              <a:ext uri="{FF2B5EF4-FFF2-40B4-BE49-F238E27FC236}">
                <a16:creationId xmlns:a16="http://schemas.microsoft.com/office/drawing/2014/main" id="{82640B26-1888-4BC9-8AE0-87526509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0,9829</a:t>
            </a:r>
          </a:p>
        </p:txBody>
      </p:sp>
      <p:sp>
        <p:nvSpPr>
          <p:cNvPr id="5" name="conclusion-label-0">
            <a:extLst xmlns:a="http://schemas.openxmlformats.org/drawingml/2006/main">
              <a:ext uri="{FF2B5EF4-FFF2-40B4-BE49-F238E27FC236}">
                <a16:creationId xmlns:a16="http://schemas.microsoft.com/office/drawing/2014/main" id="{C6BB1451-495B-4A23-9480-252991F3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6" name="conclusion-card-1">
            <a:extLst xmlns:a="http://schemas.openxmlformats.org/drawingml/2006/main">
              <a:ext uri="{FF2B5EF4-FFF2-40B4-BE49-F238E27FC236}">
                <a16:creationId xmlns:a16="http://schemas.microsoft.com/office/drawing/2014/main" id="{1A34F5FE-376B-4332-B5A0-CC21B189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onclusion-value-1">
            <a:extLst xmlns:a="http://schemas.openxmlformats.org/drawingml/2006/main">
              <a:ext uri="{FF2B5EF4-FFF2-40B4-BE49-F238E27FC236}">
                <a16:creationId xmlns:a16="http://schemas.microsoft.com/office/drawing/2014/main" id="{147B4A1D-068C-410B-9891-97CF411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+34,92 điểm</a:t>
            </a:r>
          </a:p>
        </p:txBody>
      </p:sp>
      <p:sp>
        <p:nvSpPr>
          <p:cNvPr id="8" name="conclusion-label-1">
            <a:extLst xmlns:a="http://schemas.openxmlformats.org/drawingml/2006/main">
              <a:ext uri="{FF2B5EF4-FFF2-40B4-BE49-F238E27FC236}">
                <a16:creationId xmlns:a16="http://schemas.microsoft.com/office/drawing/2014/main" id="{50F4D875-3CB5-4991-9209-5F4DD864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Tách-ghép ngang</a:t>
            </a:r>
          </a:p>
        </p:txBody>
      </p:sp>
      <p:sp>
        <p:nvSpPr>
          <p:cNvPr id="9" name="conclusion-card-2">
            <a:extLst xmlns:a="http://schemas.openxmlformats.org/drawingml/2006/main">
              <a:ext uri="{FF2B5EF4-FFF2-40B4-BE49-F238E27FC236}">
                <a16:creationId xmlns:a16="http://schemas.microsoft.com/office/drawing/2014/main" id="{6311CF28-F4BE-400F-997D-17649463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onclusion-value-2">
            <a:extLst xmlns:a="http://schemas.openxmlformats.org/drawingml/2006/main">
              <a:ext uri="{FF2B5EF4-FFF2-40B4-BE49-F238E27FC236}">
                <a16:creationId xmlns:a16="http://schemas.microsoft.com/office/drawing/2014/main" id="{8E745A4F-A7F5-4CCA-ADA2-CE512CA8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+13,28 điểm</a:t>
            </a:r>
          </a:p>
        </p:txBody>
      </p:sp>
      <p:sp>
        <p:nvSpPr>
          <p:cNvPr id="11" name="conclusion-label-2">
            <a:extLst xmlns:a="http://schemas.openxmlformats.org/drawingml/2006/main">
              <a:ext uri="{FF2B5EF4-FFF2-40B4-BE49-F238E27FC236}">
                <a16:creationId xmlns:a16="http://schemas.microsoft.com/office/drawing/2014/main" id="{4A7244BC-4E42-4B57-87D8-8DBC1432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Hậu xử lý vị trí</a:t>
            </a:r>
          </a:p>
        </p:txBody>
      </p:sp>
      <p:sp>
        <p:nvSpPr>
          <p:cNvPr id="12" name="conclusion-card-3">
            <a:extLst xmlns:a="http://schemas.openxmlformats.org/drawingml/2006/main">
              <a:ext uri="{FF2B5EF4-FFF2-40B4-BE49-F238E27FC236}">
                <a16:creationId xmlns:a16="http://schemas.microsoft.com/office/drawing/2014/main" id="{E81A7AD7-A626-4A3F-AE31-896A5A2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nclusion-value-3">
            <a:extLst xmlns:a="http://schemas.openxmlformats.org/drawingml/2006/main">
              <a:ext uri="{FF2B5EF4-FFF2-40B4-BE49-F238E27FC236}">
                <a16:creationId xmlns:a16="http://schemas.microsoft.com/office/drawing/2014/main" id="{D0781FB4-D6B1-4FC8-8255-473C6768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509,76 ms</a:t>
            </a:r>
          </a:p>
        </p:txBody>
      </p:sp>
      <p:sp>
        <p:nvSpPr>
          <p:cNvPr id="14" name="conclusion-label-3">
            <a:extLst xmlns:a="http://schemas.openxmlformats.org/drawingml/2006/main">
              <a:ext uri="{FF2B5EF4-FFF2-40B4-BE49-F238E27FC236}">
                <a16:creationId xmlns:a16="http://schemas.microsoft.com/office/drawing/2014/main" id="{E97B18D3-0B51-40E8-BBCE-BD3C07B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Độ trễ p95 CPU</a:t>
            </a:r>
          </a:p>
        </p:txBody>
      </p:sp>
      <p:sp>
        <p:nvSpPr>
          <p:cNvPr id="15" name="remaining-gap">
            <a:extLst xmlns:a="http://schemas.openxmlformats.org/drawingml/2006/main">
              <a:ext uri="{FF2B5EF4-FFF2-40B4-BE49-F238E27FC236}">
                <a16:creationId xmlns:a16="http://schemas.microsoft.com/office/drawing/2014/main" id="{39A8C45B-0F2F-4B11-848F-03F4A5C7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Biển một dòng S₁ = 0,9541  •  Biển hai dòng S₁ = 0,7234</a:t>
            </a:r>
          </a:p>
        </p:txBody>
      </p:sp>
      <p:sp>
        <p:nvSpPr>
          <p:cNvPr id="16" name="conclusion-takeaway">
            <a:extLst xmlns:a="http://schemas.openxmlformats.org/drawingml/2006/main">
              <a:ext uri="{FF2B5EF4-FFF2-40B4-BE49-F238E27FC236}">
                <a16:creationId xmlns:a16="http://schemas.microsoft.com/office/drawing/2014/main" id="{CF61252E-D36A-4D4A-AE77-BACD3D94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Nhóm thực hiện đã định vị rõ nguyên nhân và hướng xử lý tiếp theo</a:t>
            </a:r>
          </a:p>
        </p:txBody>
      </p:sp>
    </p:spTree>
    <p:extLst>
      <p:ext uri="{BB962C8B-B14F-4D97-AF65-F5344CB8AC3E}">
        <p14:creationId xmlns:p14="http://schemas.microsoft.com/office/powerpoint/2010/main" val="10209277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FBDAAEE-57CF-446D-90B8-10284B22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Hạn chế và hướng phát triển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A3E2EB-77EF-4A50-8CAC-A7227949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Mỗi hướng phát triển gắn trực tiếp với một hạn chế đã đo hoặc đã xác định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952500" y="1666875"/>
          <a:ext xmlns:a="http://schemas.openxmlformats.org/drawingml/2006/main" cx="102870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95750"/>
                <a:gridCol w="6191250"/>
              </a:tblGrid>
              <a:tr h="75009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 chế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phát triển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Biển hai dòng S₁ = 0,7234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 recognizer chuyên biệt cho biển Việt Nam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Bảng ánh xạ nhầm lẫn còn hạn chế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Mở rộng từ ma trận nhầm lẫn trên dữ liệu mới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Tập test chưa xuyên nguồn dữ liệu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Bổ sung đánh giá chéo theo nguồn và chuỗi biển số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scope-note">
            <a:extLst xmlns:a="http://schemas.openxmlformats.org/drawingml/2006/main">
              <a:ext uri="{FF2B5EF4-FFF2-40B4-BE49-F238E27FC236}">
                <a16:creationId xmlns:a16="http://schemas.microsoft.com/office/drawing/2014/main" id="{EAA661FF-739A-4BB6-97D2-F4D9F9C9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Ưu tiên tiếp theo: bộ nhận dạng ký tự chuyên biệt cho bố cục hai dòng</a:t>
            </a:r>
          </a:p>
        </p:txBody>
      </p:sp>
    </p:spTree>
    <p:extLst>
      <p:ext uri="{BB962C8B-B14F-4D97-AF65-F5344CB8AC3E}">
        <p14:creationId xmlns:p14="http://schemas.microsoft.com/office/powerpoint/2010/main" val="40335190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bd0ab433547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00" y="1460500"/>
            <a:ext cx="5327542" cy="4191000"/>
          </a:xfrm>
          <a:prstGeom xmlns:a="http://schemas.openxmlformats.org/drawingml/2006/main" prst="rect">
            <a:avLst/>
          </a:prstGeom>
        </p:spPr>
      </p:pic>
      <p:sp>
        <p:nvSpPr>
          <p:cNvPr id="12" name="thanks">
            <a:extLst xmlns:a="http://schemas.openxmlformats.org/drawingml/2006/main">
              <a:ext uri="{FF2B5EF4-FFF2-40B4-BE49-F238E27FC236}">
                <a16:creationId xmlns:a16="http://schemas.microsoft.com/office/drawing/2014/main" id="{7976EFD3-B033-4C77-B522-362485CF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TRÂN TRỌNG CẢM ƠN</a:t>
            </a:r>
          </a:p>
        </p:txBody>
      </p:sp>
      <p:sp>
        <p:nvSpPr>
          <p:cNvPr id="13" name="qa">
            <a:extLst xmlns:a="http://schemas.openxmlformats.org/drawingml/2006/main">
              <a:ext uri="{FF2B5EF4-FFF2-40B4-BE49-F238E27FC236}">
                <a16:creationId xmlns:a16="http://schemas.microsoft.com/office/drawing/2014/main" id="{5FC09FF9-A77D-4DA4-9092-0B0A173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Q&amp;A</a:t>
            </a:r>
          </a:p>
        </p:txBody>
      </p:sp>
      <p:sp>
        <p:nvSpPr>
          <p:cNvPr id="14" name="topic">
            <a:extLst xmlns:a="http://schemas.openxmlformats.org/drawingml/2006/main">
              <a:ext uri="{FF2B5EF4-FFF2-40B4-BE49-F238E27FC236}">
                <a16:creationId xmlns:a16="http://schemas.microsoft.com/office/drawing/2014/main" id="{162F3C5E-9BD6-419B-9702-752581C4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Xây dựng hệ thống nhận diện biển số xe bằng Trí tuệ nhân tạo</a:t>
            </a:r>
          </a:p>
        </p:txBody>
      </p:sp>
      <p:sp>
        <p:nvSpPr>
          <p:cNvPr id="15" name="team">
            <a:extLst xmlns:a="http://schemas.openxmlformats.org/drawingml/2006/main">
              <a:ext uri="{FF2B5EF4-FFF2-40B4-BE49-F238E27FC236}">
                <a16:creationId xmlns:a16="http://schemas.microsoft.com/office/drawing/2014/main" id="{A4F4EA84-6363-487C-9832-604B859D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Nhóm thực hiện: Phạm Nguyễn Thế Châu  •  Nguyễn Công Hậu  •  Nguyễn Minh Hiếu  •  Phạm Công Thành</a:t>
            </a:r>
          </a:p>
        </p:txBody>
      </p:sp>
    </p:spTree>
    <p:extLst>
      <p:ext uri="{BB962C8B-B14F-4D97-AF65-F5344CB8AC3E}">
        <p14:creationId xmlns:p14="http://schemas.microsoft.com/office/powerpoint/2010/main" val="17985576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2026-09-14T12:55:54.7840000Z</dcterms:created>
  <dcterms:modified xsi:type="dcterms:W3CDTF">2026-09-14T12:55:54.7840000Z</dcterms:modified>
</coreProperties>
</file>