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e400823edc4d8e" /><Relationship Type="http://schemas.openxmlformats.org/officeDocument/2006/relationships/extended-properties" Target="/docProps/app.xml" Id="Rc5a1afb954854bfc" /><Relationship Type="http://schemas.openxmlformats.org/officeDocument/2006/relationships/officeDocument" Target="/ppt/presentation.xml" Id="R7aa97191f43641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27b5628d004bb7"/>
  </p:sldMasterIdLst>
  <p:notesMasterIdLst>
    <p:notesMasterId xmlns:r="http://schemas.openxmlformats.org/officeDocument/2006/relationships" r:id="R229a32d043eb45db"/>
  </p:notesMasterIdLst>
  <p:sldIdLst>
    <p:sldId xmlns:r="http://schemas.openxmlformats.org/officeDocument/2006/relationships" id="256" r:id="R8dab0e24fc0d477d"/>
    <p:sldId xmlns:r="http://schemas.openxmlformats.org/officeDocument/2006/relationships" id="257" r:id="R4cebc2028c734eb6"/>
    <p:sldId xmlns:r="http://schemas.openxmlformats.org/officeDocument/2006/relationships" id="258" r:id="R161e8ff9f3664730"/>
    <p:sldId xmlns:r="http://schemas.openxmlformats.org/officeDocument/2006/relationships" id="259" r:id="R7aba0825dbb64a57"/>
    <p:sldId xmlns:r="http://schemas.openxmlformats.org/officeDocument/2006/relationships" id="260" r:id="Rcc41f50bf0ea427d"/>
    <p:sldId xmlns:r="http://schemas.openxmlformats.org/officeDocument/2006/relationships" id="261" r:id="R0e79dff3d7c24cbf"/>
    <p:sldId xmlns:r="http://schemas.openxmlformats.org/officeDocument/2006/relationships" id="262" r:id="Ra338a2c425b44101"/>
    <p:sldId xmlns:r="http://schemas.openxmlformats.org/officeDocument/2006/relationships" id="263" r:id="R39ef09dafc6649f0"/>
    <p:sldId xmlns:r="http://schemas.openxmlformats.org/officeDocument/2006/relationships" id="264" r:id="Re956ab8f787b42fb"/>
    <p:sldId xmlns:r="http://schemas.openxmlformats.org/officeDocument/2006/relationships" id="265" r:id="R5a42645a4c5b4cac"/>
    <p:sldId xmlns:r="http://schemas.openxmlformats.org/officeDocument/2006/relationships" id="266" r:id="Rf580d730b532432f"/>
    <p:sldId xmlns:r="http://schemas.openxmlformats.org/officeDocument/2006/relationships" id="267" r:id="R745132956cd24321"/>
    <p:sldId xmlns:r="http://schemas.openxmlformats.org/officeDocument/2006/relationships" id="268" r:id="R110689fccb2f4c0e"/>
    <p:sldId xmlns:r="http://schemas.openxmlformats.org/officeDocument/2006/relationships" id="269" r:id="R1a1c08c18e3f4913"/>
    <p:sldId xmlns:r="http://schemas.openxmlformats.org/officeDocument/2006/relationships" id="270" r:id="R4dba236202b54fe1"/>
    <p:sldId xmlns:r="http://schemas.openxmlformats.org/officeDocument/2006/relationships" id="271" r:id="R5b24dc7fde0e4ec3"/>
    <p:sldId xmlns:r="http://schemas.openxmlformats.org/officeDocument/2006/relationships" id="272" r:id="R617e5b0db9e044bb"/>
    <p:sldId xmlns:r="http://schemas.openxmlformats.org/officeDocument/2006/relationships" id="273" r:id="R85318cf2da8a42bb"/>
    <p:sldId xmlns:r="http://schemas.openxmlformats.org/officeDocument/2006/relationships" id="274" r:id="R38fefa79e2e649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24da0924624fc2" /><Relationship Type="http://schemas.openxmlformats.org/officeDocument/2006/relationships/slideMaster" Target="/ppt/slideMasters/slideMaster1.xml" Id="R1827b5628d004bb7" /><Relationship Type="http://schemas.openxmlformats.org/officeDocument/2006/relationships/notesMaster" Target="/ppt/notesMasters/notesMaster1.xml" Id="R229a32d043eb45db" /><Relationship Type="http://schemas.openxmlformats.org/officeDocument/2006/relationships/presProps" Target="/ppt/presProps.xml" Id="R36cd5d635fc8435b" /><Relationship Type="http://schemas.openxmlformats.org/officeDocument/2006/relationships/viewProps" Target="/ppt/viewProps.xml" Id="R0ca740d27cb749d4" /><Relationship Type="http://schemas.openxmlformats.org/officeDocument/2006/relationships/tableStyles" Target="/ppt/tableStyles.xml" Id="Rab189e05547a418f" /><Relationship Type="http://schemas.openxmlformats.org/officeDocument/2006/relationships/slide" Target="/ppt/slides/slide1.xml" Id="R8dab0e24fc0d477d" /><Relationship Type="http://schemas.openxmlformats.org/officeDocument/2006/relationships/slide" Target="/ppt/slides/slide2.xml" Id="R4cebc2028c734eb6" /><Relationship Type="http://schemas.openxmlformats.org/officeDocument/2006/relationships/slide" Target="/ppt/slides/slide3.xml" Id="R161e8ff9f3664730" /><Relationship Type="http://schemas.openxmlformats.org/officeDocument/2006/relationships/slide" Target="/ppt/slides/slide4.xml" Id="R7aba0825dbb64a57" /><Relationship Type="http://schemas.openxmlformats.org/officeDocument/2006/relationships/slide" Target="/ppt/slides/slide5.xml" Id="Rcc41f50bf0ea427d" /><Relationship Type="http://schemas.openxmlformats.org/officeDocument/2006/relationships/slide" Target="/ppt/slides/slide6.xml" Id="R0e79dff3d7c24cbf" /><Relationship Type="http://schemas.openxmlformats.org/officeDocument/2006/relationships/slide" Target="/ppt/slides/slide7.xml" Id="Ra338a2c425b44101" /><Relationship Type="http://schemas.openxmlformats.org/officeDocument/2006/relationships/slide" Target="/ppt/slides/slide8.xml" Id="R39ef09dafc6649f0" /><Relationship Type="http://schemas.openxmlformats.org/officeDocument/2006/relationships/slide" Target="/ppt/slides/slide9.xml" Id="Re956ab8f787b42fb" /><Relationship Type="http://schemas.openxmlformats.org/officeDocument/2006/relationships/slide" Target="/ppt/slides/slide10.xml" Id="R5a42645a4c5b4cac" /><Relationship Type="http://schemas.openxmlformats.org/officeDocument/2006/relationships/slide" Target="/ppt/slides/slide11.xml" Id="Rf580d730b532432f" /><Relationship Type="http://schemas.openxmlformats.org/officeDocument/2006/relationships/slide" Target="/ppt/slides/slide12.xml" Id="R745132956cd24321" /><Relationship Type="http://schemas.openxmlformats.org/officeDocument/2006/relationships/slide" Target="/ppt/slides/slide13.xml" Id="R110689fccb2f4c0e" /><Relationship Type="http://schemas.openxmlformats.org/officeDocument/2006/relationships/slide" Target="/ppt/slides/slide14.xml" Id="R1a1c08c18e3f4913" /><Relationship Type="http://schemas.openxmlformats.org/officeDocument/2006/relationships/slide" Target="/ppt/slides/slide15.xml" Id="R4dba236202b54fe1" /><Relationship Type="http://schemas.openxmlformats.org/officeDocument/2006/relationships/slide" Target="/ppt/slides/slide16.xml" Id="R5b24dc7fde0e4ec3" /><Relationship Type="http://schemas.openxmlformats.org/officeDocument/2006/relationships/slide" Target="/ppt/slides/slide17.xml" Id="R617e5b0db9e044bb" /><Relationship Type="http://schemas.openxmlformats.org/officeDocument/2006/relationships/slide" Target="/ppt/slides/slide18.xml" Id="R85318cf2da8a42bb" /><Relationship Type="http://schemas.openxmlformats.org/officeDocument/2006/relationships/slide" Target="/ppt/slides/slide19.xml" Id="R38fefa79e2e649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e2c191c7064e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1622700b16482e" /><Relationship Type="http://schemas.openxmlformats.org/officeDocument/2006/relationships/notesMaster" Target="/ppt/notesMasters/notesMaster1.xml" Id="R0ef1b3cbf4eb47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12419b7f7549d3" /><Relationship Type="http://schemas.openxmlformats.org/officeDocument/2006/relationships/notesMaster" Target="/ppt/notesMasters/notesMaster1.xml" Id="R2ede160f19ea45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bbcd3b312844a7" /><Relationship Type="http://schemas.openxmlformats.org/officeDocument/2006/relationships/notesMaster" Target="/ppt/notesMasters/notesMaster1.xml" Id="R713c2551ff2043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304a4b7890481e" /><Relationship Type="http://schemas.openxmlformats.org/officeDocument/2006/relationships/notesMaster" Target="/ppt/notesMasters/notesMaster1.xml" Id="Rfa135945f1064b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6d8963f3a5040fd" /><Relationship Type="http://schemas.openxmlformats.org/officeDocument/2006/relationships/notesMaster" Target="/ppt/notesMasters/notesMaster1.xml" Id="Rae86d676b6c34d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0616faeefc4443" /><Relationship Type="http://schemas.openxmlformats.org/officeDocument/2006/relationships/notesMaster" Target="/ppt/notesMasters/notesMaster1.xml" Id="R4101814f627547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f10fed750a4796" /><Relationship Type="http://schemas.openxmlformats.org/officeDocument/2006/relationships/notesMaster" Target="/ppt/notesMasters/notesMaster1.xml" Id="R0d6b2cfadf914e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ee98dd24394979" /><Relationship Type="http://schemas.openxmlformats.org/officeDocument/2006/relationships/notesMaster" Target="/ppt/notesMasters/notesMaster1.xml" Id="Re69c1651b9b845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39932df07b4855" /><Relationship Type="http://schemas.openxmlformats.org/officeDocument/2006/relationships/notesMaster" Target="/ppt/notesMasters/notesMaster1.xml" Id="R8e833931d6254f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087bd85f2b4863" /><Relationship Type="http://schemas.openxmlformats.org/officeDocument/2006/relationships/notesMaster" Target="/ppt/notesMasters/notesMaster1.xml" Id="R2faaa9a3c7ec44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0559dcba674485" /><Relationship Type="http://schemas.openxmlformats.org/officeDocument/2006/relationships/notesMaster" Target="/ppt/notesMasters/notesMaster1.xml" Id="R401c691bc18e49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d7278adfb641a0" /><Relationship Type="http://schemas.openxmlformats.org/officeDocument/2006/relationships/notesMaster" Target="/ppt/notesMasters/notesMaster1.xml" Id="Rb151801ca9924c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251c48fd78450b" /><Relationship Type="http://schemas.openxmlformats.org/officeDocument/2006/relationships/notesMaster" Target="/ppt/notesMasters/notesMaster1.xml" Id="R4d4e1d13a3c246b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fa417554724689" /><Relationship Type="http://schemas.openxmlformats.org/officeDocument/2006/relationships/notesMaster" Target="/ppt/notesMasters/notesMaster1.xml" Id="R7dd75c62440d474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4bee95a426542a3" /><Relationship Type="http://schemas.openxmlformats.org/officeDocument/2006/relationships/notesMaster" Target="/ppt/notesMasters/notesMaster1.xml" Id="R16dcdbef6d28469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0fed22fae0440aa" /><Relationship Type="http://schemas.openxmlformats.org/officeDocument/2006/relationships/notesMaster" Target="/ppt/notesMasters/notesMaster1.xml" Id="Rfe0725cd0ca9430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499ed16f610420d" /><Relationship Type="http://schemas.openxmlformats.org/officeDocument/2006/relationships/notesMaster" Target="/ppt/notesMasters/notesMaster1.xml" Id="R8dc9edcac4514b3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4b4237be6fc41f4" /><Relationship Type="http://schemas.openxmlformats.org/officeDocument/2006/relationships/notesMaster" Target="/ppt/notesMasters/notesMaster1.xml" Id="R2ce8f85fd9a94bf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892e1365fe34c6e" /><Relationship Type="http://schemas.openxmlformats.org/officeDocument/2006/relationships/notesMaster" Target="/ppt/notesMasters/notesMaster1.xml" Id="Ra1c6850429564e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docs/papers/mon-hoc/ch1-gioi-thieu.md và ch2-co-so-ly-thuyet.md.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docs/papers/mon-hoc/ch1-gioi-thieu.md. Phạm vi chỉ là nhận dạng biển số, không bao gồm tracking hoặc barie.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docs/papers/mon-hoc/ch1-gioi-thieu.md và ch4-thuc-nghiem.md, Bảng 4.7.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docs/papers/mon-hoc/ch2-co-so-ly-thuyet.md và ch4-thuc-nghiem.md.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docs/papers/mon-hoc/ch4-thuc-nghiem.md, Bảng 4.8 đến 4.10. Không cộng chéo số tuyệt đối từ các lượt đo khác nhau.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docs/papers/mon-hoc/ch4-thuc-nghiem.md và ch5-ket-luan.md.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nội bộ: docs/papers/mon-hoc/ch5-ket-luan.md. Các hạng mục này chưa hoàn thành nên chỉ xuất hiện ở phần hạn chế và hướng phát triển.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40ea73927a46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b279522d5549c6" /><Relationship Type="http://schemas.openxmlformats.org/officeDocument/2006/relationships/image" Target="/ppt/media/image.png" Id="R152ec00b9e7b411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2ec00b9e7b41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7FC641D-20BA-456B-83B6-DC4E569A2A9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46304" y="6473952"/>
            <a:ext cx="201168" cy="1463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5B6A7D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3218925551446e" /><Relationship Type="http://schemas.openxmlformats.org/officeDocument/2006/relationships/slideLayout" Target="/ppt/slideLayouts/slideLayout1.xml" Id="Raccf746c28bc412d" /><Relationship Type="http://schemas.openxmlformats.org/officeDocument/2006/relationships/slideLayout" Target="/ppt/slideLayouts/slideLayout2.xml" Id="R599be294bf12422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ED98A9B-F0AB-4612-ADB8-C3A156149E8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46304" y="6473952"/>
            <a:ext cx="201168" cy="1463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5B6A7D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ct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cf746c28bc412d"/>
    <p:sldLayoutId xmlns:r="http://schemas.openxmlformats.org/officeDocument/2006/relationships" id="2147483650" r:id="R599be294bf124225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61404099e748c7" /><Relationship Type="http://schemas.openxmlformats.org/officeDocument/2006/relationships/image" Target="/ppt/media/image2.png" Id="Rd3fdac232dd44e0a" /><Relationship Type="http://schemas.openxmlformats.org/officeDocument/2006/relationships/notesSlide" Target="/ppt/notesSlides/notesSlide1.xml" Id="R954590d3a55047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a758a24ebe462a" /><Relationship Type="http://schemas.openxmlformats.org/officeDocument/2006/relationships/notesSlide" Target="/ppt/notesSlides/notesSlide2.xml" Id="R3619397ad50740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5224c83e4449cb" /><Relationship Type="http://schemas.openxmlformats.org/officeDocument/2006/relationships/notesSlide" Target="/ppt/notesSlides/notesSlide3.xml" Id="R74108916650b48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0012ec8d434aa6" /><Relationship Type="http://schemas.openxmlformats.org/officeDocument/2006/relationships/notesSlide" Target="/ppt/notesSlides/notesSlide4.xml" Id="R18e71ac706444d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c77954c0824af0" /><Relationship Type="http://schemas.openxmlformats.org/officeDocument/2006/relationships/notesSlide" Target="/ppt/notesSlides/notesSlide5.xml" Id="Redc14ea997a445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bd59d8da6c45fc" /><Relationship Type="http://schemas.openxmlformats.org/officeDocument/2006/relationships/notesSlide" Target="/ppt/notesSlides/notesSlide6.xml" Id="R0d1b56bb8e7744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2eabd427ac47ed" /><Relationship Type="http://schemas.openxmlformats.org/officeDocument/2006/relationships/image" Target="/ppt/media/image3.png" Id="R13b14b7290424705" /><Relationship Type="http://schemas.openxmlformats.org/officeDocument/2006/relationships/notesSlide" Target="/ppt/notesSlides/notesSlide7.xml" Id="R7df945e21c874d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e8e9d546174db4" /><Relationship Type="http://schemas.openxmlformats.org/officeDocument/2006/relationships/image" Target="/ppt/media/image4.png" Id="Re000cfa6ea95413d" /><Relationship Type="http://schemas.openxmlformats.org/officeDocument/2006/relationships/notesSlide" Target="/ppt/notesSlides/notesSlide8.xml" Id="R50e21aa9104b42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b608d84ade44a1" /><Relationship Type="http://schemas.openxmlformats.org/officeDocument/2006/relationships/notesSlide" Target="/ppt/notesSlides/notesSlide9.xml" Id="R268465a9aa934a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59837581c24c06" /><Relationship Type="http://schemas.openxmlformats.org/officeDocument/2006/relationships/image" Target="/ppt/media/image5.png" Id="R07d3c37a6f804153" /><Relationship Type="http://schemas.openxmlformats.org/officeDocument/2006/relationships/notesSlide" Target="/ppt/notesSlides/notesSlide10.xml" Id="Re26ddbb1396b40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f666fe669d48aa" /><Relationship Type="http://schemas.openxmlformats.org/officeDocument/2006/relationships/notesSlide" Target="/ppt/notesSlides/notesSlide11.xml" Id="R555bc369a52749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1d12f8d62a4acc" /><Relationship Type="http://schemas.openxmlformats.org/officeDocument/2006/relationships/notesSlide" Target="/ppt/notesSlides/notesSlide12.xml" Id="R1e91b2cd863a4f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85e549837c46a6" /><Relationship Type="http://schemas.openxmlformats.org/officeDocument/2006/relationships/image" Target="/ppt/media/image6.png" Id="R40e40f6c9c8e41ad" /><Relationship Type="http://schemas.openxmlformats.org/officeDocument/2006/relationships/notesSlide" Target="/ppt/notesSlides/notesSlide13.xml" Id="Rb95175a59d9542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1b9d362d104068" /><Relationship Type="http://schemas.openxmlformats.org/officeDocument/2006/relationships/image" Target="/ppt/media/image7.png" Id="R2463b04b7e3e4655" /><Relationship Type="http://schemas.openxmlformats.org/officeDocument/2006/relationships/notesSlide" Target="/ppt/notesSlides/notesSlide14.xml" Id="R2e3916c0844f421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9a450aed204ee3" /><Relationship Type="http://schemas.openxmlformats.org/officeDocument/2006/relationships/notesSlide" Target="/ppt/notesSlides/notesSlide15.xml" Id="Rc52388ecab4b40d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34be7320034a63" /><Relationship Type="http://schemas.openxmlformats.org/officeDocument/2006/relationships/image" Target="/ppt/media/image8.png" Id="Rf783e1dcf3184899" /><Relationship Type="http://schemas.openxmlformats.org/officeDocument/2006/relationships/notesSlide" Target="/ppt/notesSlides/notesSlide16.xml" Id="R01bf4b36f58b494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03af59670b45eb" /><Relationship Type="http://schemas.openxmlformats.org/officeDocument/2006/relationships/notesSlide" Target="/ppt/notesSlides/notesSlide17.xml" Id="R6a20000bbc83475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86a6e0824c4ef8" /><Relationship Type="http://schemas.openxmlformats.org/officeDocument/2006/relationships/notesSlide" Target="/ppt/notesSlides/notesSlide18.xml" Id="R503b7f27cc93474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9cce2003744ab5" /><Relationship Type="http://schemas.openxmlformats.org/officeDocument/2006/relationships/notesSlide" Target="/ppt/notesSlides/notesSlide19.xml" Id="R33b18553a9be433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4B7DA1B-61D4-4A9A-855E-356E519D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508760"/>
            <a:ext cx="106984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0F2A5F"/>
                </a:solidFill>
              </a:rPr>
              <a:t>Xây dựng hệ thống nhận diện</a:t>
            </a:r>
            <a:endParaRPr sz="3000"/>
          </a:p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0F2A5F"/>
                </a:solidFill>
              </a:rPr>
              <a:t>biển số xe bằng Trí tuệ nhân tạo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AAE71AC-8E87-48CC-9926-38430BD5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3063240"/>
            <a:ext cx="8915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6354A"/>
                </a:solidFill>
              </a:rPr>
              <a:t>Đồ án môn học · Xử lý ảnh và ứng dụng</a:t>
            </a:r>
            <a:endParaRPr sz="16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C3E55D4-9E65-49C0-96F6-2266707B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000" y="3873500"/>
            <a:ext cx="3619500" cy="584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Phạm Nguyễn Thế Châu – 25410004
Nguyễn Minh Hiếu – 25410007</a:t>
            </a:r>
            <a:endParaRPr sz="130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E5ECA4C-8D79-4E0D-AFB8-44BA637D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4635500"/>
            <a:ext cx="7112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475569"/>
                </a:solidFill>
                <a:latin typeface="Segoe UI"/>
                <a:ea typeface="Segoe UI"/>
                <a:cs typeface="Segoe UI"/>
              </a:rPr>
              <a:t>GVHD: ThS. Cáp Phạm Đình Thăng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00A6E75-F465-450D-BA54-5BFE42E4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5651500"/>
            <a:ext cx="26517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8D98A9"/>
                </a:solidFill>
              </a:rPr>
              <a:t>Tháng 9 · 2026</a:t>
            </a:r>
            <a:endParaRPr sz="1000"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EE15865-D16E-41F6-95CE-137F940F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" y="36576"/>
            <a:ext cx="37947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9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dac232dd44e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" y="68580"/>
            <a:ext cx="3246120" cy="333963"/>
          </a:xfrm>
          <a:prstGeom xmlns:a="http://schemas.openxmlformats.org/drawingml/2006/main" prst="rect">
            <a:avLst/>
          </a:prstGeom>
        </p:spPr>
      </p:pic>
      <p:sp>
        <p:nvSpPr>
          <p:cNvPr id="2" name="Text 3_Right">
            <a:extLst xmlns:a="http://schemas.openxmlformats.org/drawingml/2006/main">
              <a:ext uri="{FF2B5EF4-FFF2-40B4-BE49-F238E27FC236}">
                <a16:creationId xmlns:a16="http://schemas.microsoft.com/office/drawing/2014/main" id="{D7F6B2D8-A06E-A086-DB56-471DF42C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73500"/>
            <a:ext cx="3619500" cy="4924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Nguyễn Công Hậu – 25410006
Phạm Công Thành – 25410013</a:t>
            </a:r>
          </a:p>
        </p:txBody>
      </p:sp>
    </p:spTree>
    <p:extLst>
      <p:ext uri="{BB962C8B-B14F-4D97-AF65-F5344CB8AC3E}">
        <p14:creationId xmlns:p14="http://schemas.microsoft.com/office/powerpoint/2010/main" val="10100632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4D9A88E-3BE5-42F2-ACB3-2240F83B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Nội dung trình bày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1530B7D-B3B2-491A-BB9F-E1E5B420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4 phần theo rubric báo cáo của giảng viên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328799F-6E4C-4CE0-8328-3C52B4AB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987552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55DED99-1872-41C7-BDF6-EB9F5B15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746504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BCEB"/>
                </a:solidFill>
              </a:rPr>
              <a:t>01</a:t>
            </a:r>
            <a:endParaRPr sz="18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AD4DCEA-975B-4F34-99AA-2DF4D6A5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46504"/>
            <a:ext cx="8138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6354A"/>
                </a:solidFill>
              </a:rPr>
              <a:t>Bài toán</a:t>
            </a:r>
            <a:endParaRPr sz="18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0FCDA42-9C22-494F-A248-E6D6ED6F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6040"/>
            <a:ext cx="987552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2F8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1C7830C-DA2B-4766-BC39-35972576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752344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BCEB"/>
                </a:solidFill>
              </a:rPr>
              <a:t>02</a:t>
            </a:r>
            <a:endParaRPr sz="18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3F73D08-D65E-4353-9B3B-B9693419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752344"/>
            <a:ext cx="8138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6354A"/>
                </a:solidFill>
              </a:rPr>
              <a:t>Phương pháp đề xuất</a:t>
            </a:r>
            <a:endParaRPr sz="18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6C2282F-8D0F-4886-BE39-0B79DCD9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1880"/>
            <a:ext cx="987552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AC2C32E-F288-440A-BC55-E4B7E85E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58184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BCEB"/>
                </a:solidFill>
              </a:rPr>
              <a:t>03</a:t>
            </a:r>
            <a:endParaRPr sz="18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81DB34A-BE09-4CB9-BC5F-F8AA2E0F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58184"/>
            <a:ext cx="8138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6354A"/>
                </a:solidFill>
              </a:rPr>
              <a:t>Thực nghiệm</a:t>
            </a:r>
            <a:endParaRPr sz="18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8A5A1F3-D894-4CEF-A215-DFD17623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17720"/>
            <a:ext cx="9875520" cy="68580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C6CA70D-6B3B-47BC-98EB-1074326F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764024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BCEB"/>
                </a:solidFill>
              </a:rPr>
              <a:t>04</a:t>
            </a:r>
            <a:endParaRPr sz="1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CCEB7DE-4D01-4D35-AFB8-BF890EA6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4024"/>
            <a:ext cx="8138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26354A"/>
                </a:solidFill>
              </a:rPr>
              <a:t>Kết luận và hướng phát triển</a:t>
            </a:r>
            <a:endParaRPr sz="1800"/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597DBE96-73C8-4677-B518-DDDA2517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502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4B91"/>
                </a:solidFill>
                <a:latin typeface="Segoe UI"/>
                <a:ea typeface="Segoe UI"/>
                <a:cs typeface="Segoe UI"/>
              </a:rPr>
              <a:t>2</a:t>
            </a:r>
            <a:endParaRPr sz="900" b="1">
              <a:solidFill>
                <a:srgbClr val="004B91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6503072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A368F281-8DFA-4794-9FA0-B6DD7FC2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Định nghĩa bài toán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D3B5F5E-DF5F-4FBE-9405-B42A3C6F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Từ ảnh phương tiện đến vị trí, chuỗi ký tự và màu nền biển số</a:t>
            </a:r>
          </a:p>
        </p:txBody>
      </p:sp>
      <p:sp>
        <p:nvSpPr>
          <p:cNvPr id="3" name="formula-box">
            <a:extLst xmlns:a="http://schemas.openxmlformats.org/drawingml/2006/main">
              <a:ext uri="{FF2B5EF4-FFF2-40B4-BE49-F238E27FC236}">
                <a16:creationId xmlns:a16="http://schemas.microsoft.com/office/drawing/2014/main" id="{C078E67B-1A6B-4DA6-804C-BEB126C2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4767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BED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input-label">
            <a:extLst xmlns:a="http://schemas.openxmlformats.org/drawingml/2006/main">
              <a:ext uri="{FF2B5EF4-FFF2-40B4-BE49-F238E27FC236}">
                <a16:creationId xmlns:a16="http://schemas.microsoft.com/office/drawing/2014/main" id="{2BEEF7D6-7AFA-4098-8104-153D8019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05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B5E2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6B5E2"/>
                </a:solidFill>
                <a:latin typeface="Segoe UI"/>
                <a:ea typeface="Segoe UI"/>
                <a:cs typeface="Segoe UI"/>
              </a:rPr>
              <a:t>ĐẦU VÀO</a:t>
            </a:r>
          </a:p>
        </p:txBody>
      </p:sp>
      <p:sp>
        <p:nvSpPr>
          <p:cNvPr id="5" name="input">
            <a:extLst xmlns:a="http://schemas.openxmlformats.org/drawingml/2006/main">
              <a:ext uri="{FF2B5EF4-FFF2-40B4-BE49-F238E27FC236}">
                <a16:creationId xmlns:a16="http://schemas.microsoft.com/office/drawing/2014/main" id="{0A302692-3A74-47E3-A2E9-02A0D3EC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383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I ∈ ℝᴴˣᵂˣ³</a:t>
            </a:r>
          </a:p>
        </p:txBody>
      </p:sp>
      <p:sp>
        <p:nvSpPr>
          <p:cNvPr id="6" name="mapping">
            <a:extLst xmlns:a="http://schemas.openxmlformats.org/drawingml/2006/main">
              <a:ext uri="{FF2B5EF4-FFF2-40B4-BE49-F238E27FC236}">
                <a16:creationId xmlns:a16="http://schemas.microsoft.com/office/drawing/2014/main" id="{59D01B9E-D027-45E0-9147-E0A955ED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4800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fθ(I) = (b, y, c)</a:t>
            </a:r>
          </a:p>
        </p:txBody>
      </p:sp>
      <p:sp>
        <p:nvSpPr>
          <p:cNvPr id="7" name="constraint">
            <a:extLst xmlns:a="http://schemas.openxmlformats.org/drawingml/2006/main">
              <a:ext uri="{FF2B5EF4-FFF2-40B4-BE49-F238E27FC236}">
                <a16:creationId xmlns:a16="http://schemas.microsoft.com/office/drawing/2014/main" id="{6D7F419D-B2C0-4E3F-8909-F402CCF7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052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CPU  •  p95 ≤ 1,5 giây</a:t>
            </a:r>
          </a:p>
        </p:txBody>
      </p:sp>
      <p:sp>
        <p:nvSpPr>
          <p:cNvPr id="8" name="symbol-0">
            <a:extLst xmlns:a="http://schemas.openxmlformats.org/drawingml/2006/main">
              <a:ext uri="{FF2B5EF4-FFF2-40B4-BE49-F238E27FC236}">
                <a16:creationId xmlns:a16="http://schemas.microsoft.com/office/drawing/2014/main" id="{E5BA5401-2F79-47AC-B2C5-417B11CC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b</a:t>
            </a:r>
          </a:p>
        </p:txBody>
      </p:sp>
      <p:sp>
        <p:nvSpPr>
          <p:cNvPr id="9" name="meaning-0">
            <a:extLst xmlns:a="http://schemas.openxmlformats.org/drawingml/2006/main">
              <a:ext uri="{FF2B5EF4-FFF2-40B4-BE49-F238E27FC236}">
                <a16:creationId xmlns:a16="http://schemas.microsoft.com/office/drawing/2014/main" id="{69E0F239-7D0C-427E-879E-2533B535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145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Hộp bao biển số trong ảnh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CFCEF-F493-47AE-BD01-8C423992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00300"/>
            <a:ext cx="528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F0"/>
            </a:solidFill>
            <a:prstDash val="solid"/>
          </a:ln>
        </p:spPr>
      </p:sp>
      <p:sp>
        <p:nvSpPr>
          <p:cNvPr id="11" name="symbol-1">
            <a:extLst xmlns:a="http://schemas.openxmlformats.org/drawingml/2006/main">
              <a:ext uri="{FF2B5EF4-FFF2-40B4-BE49-F238E27FC236}">
                <a16:creationId xmlns:a16="http://schemas.microsoft.com/office/drawing/2014/main" id="{45A5CDF6-9A16-491A-A2E4-51B2ECEA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14625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y ∈ Σⁿ</a:t>
            </a:r>
          </a:p>
        </p:txBody>
      </p:sp>
      <p:sp>
        <p:nvSpPr>
          <p:cNvPr id="12" name="meaning-1">
            <a:extLst xmlns:a="http://schemas.openxmlformats.org/drawingml/2006/main">
              <a:ext uri="{FF2B5EF4-FFF2-40B4-BE49-F238E27FC236}">
                <a16:creationId xmlns:a16="http://schemas.microsoft.com/office/drawing/2014/main" id="{F9F863BF-6506-4432-8CCE-F84EED8A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146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Chuỗi biển số, n ∈ {7, 8, 9}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1979F-4FE9-4460-A9C0-769E9094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00425"/>
            <a:ext cx="528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F0"/>
            </a:solidFill>
            <a:prstDash val="solid"/>
          </a:ln>
        </p:spPr>
      </p:sp>
      <p:sp>
        <p:nvSpPr>
          <p:cNvPr id="14" name="symbol-2">
            <a:extLst xmlns:a="http://schemas.openxmlformats.org/drawingml/2006/main">
              <a:ext uri="{FF2B5EF4-FFF2-40B4-BE49-F238E27FC236}">
                <a16:creationId xmlns:a16="http://schemas.microsoft.com/office/drawing/2014/main" id="{4E69DF96-4DCC-4037-A206-41C8634E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c</a:t>
            </a:r>
          </a:p>
        </p:txBody>
      </p:sp>
      <p:sp>
        <p:nvSpPr>
          <p:cNvPr id="15" name="meaning-2">
            <a:extLst xmlns:a="http://schemas.openxmlformats.org/drawingml/2006/main">
              <a:ext uri="{FF2B5EF4-FFF2-40B4-BE49-F238E27FC236}">
                <a16:creationId xmlns:a16="http://schemas.microsoft.com/office/drawing/2014/main" id="{C0D24E9B-8CC2-4023-BA1C-17C186BC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147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Nhãn màu nền biển</a:t>
            </a:r>
          </a:p>
        </p:txBody>
      </p:sp>
      <p:sp>
        <p:nvSpPr>
          <p:cNvPr id="16" name="metric-note">
            <a:extLst xmlns:a="http://schemas.openxmlformats.org/drawingml/2006/main">
              <a:ext uri="{FF2B5EF4-FFF2-40B4-BE49-F238E27FC236}">
                <a16:creationId xmlns:a16="http://schemas.microsoft.com/office/drawing/2014/main" id="{219F3A07-738F-44FA-A17B-EF594508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57750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Tiêu chí vận hành chính: đúng toàn bộ chuỗi, không chỉ đúng từng ký tự</a:t>
            </a:r>
          </a:p>
        </p:txBody>
      </p:sp>
    </p:spTree>
    <p:extLst>
      <p:ext uri="{BB962C8B-B14F-4D97-AF65-F5344CB8AC3E}">
        <p14:creationId xmlns:p14="http://schemas.microsoft.com/office/powerpoint/2010/main" val="19449539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">
            <a:extLst xmlns:a="http://schemas.openxmlformats.org/drawingml/2006/main">
              <a:ext uri="{FF2B5EF4-FFF2-40B4-BE49-F238E27FC236}">
                <a16:creationId xmlns:a16="http://schemas.microsoft.com/office/drawing/2014/main" id="{BC5B926F-C050-4F26-8B6A-4355E3B5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Ý nghĩa thực tiễn và thách thức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031C689-2B47-4845-9EDD-18615A43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Bài toán có giá trị triển khai rõ ràng nhưng chịu ràng buộc đặc thù tại Việt Nam</a:t>
            </a:r>
          </a:p>
        </p:txBody>
      </p:sp>
      <p:sp>
        <p:nvSpPr>
          <p:cNvPr id="3" name="practical-head">
            <a:extLst xmlns:a="http://schemas.openxmlformats.org/drawingml/2006/main">
              <a:ext uri="{FF2B5EF4-FFF2-40B4-BE49-F238E27FC236}">
                <a16:creationId xmlns:a16="http://schemas.microsoft.com/office/drawing/2014/main" id="{B703689F-E460-4C3E-985B-9DCF6D65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Ý nghĩa thực tiễn</a:t>
            </a:r>
          </a:p>
        </p:txBody>
      </p:sp>
      <p:sp>
        <p:nvSpPr>
          <p:cNvPr id="4" name="practical-body">
            <a:extLst xmlns:a="http://schemas.openxmlformats.org/drawingml/2006/main">
              <a:ext uri="{FF2B5EF4-FFF2-40B4-BE49-F238E27FC236}">
                <a16:creationId xmlns:a16="http://schemas.microsoft.com/office/drawing/2014/main" id="{1A8AA912-6366-4A48-B779-69FB8912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524375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Tự động nhập biển số từ camera hoặc ảnh tĩnh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Lõi nhận dạng cho bãi đỗ xe, thu phí và kiểm soát ra vào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Chạy trên CPU phổ thông, thuận lợi khi triển khai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71CBD-416A-4A6D-AF7E-395874C6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71625"/>
            <a:ext cx="0" cy="3524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F0"/>
            </a:solidFill>
            <a:prstDash val="solid"/>
          </a:ln>
        </p:spPr>
      </p:sp>
      <p:sp>
        <p:nvSpPr>
          <p:cNvPr id="6" name="challenge-head">
            <a:extLst xmlns:a="http://schemas.openxmlformats.org/drawingml/2006/main">
              <a:ext uri="{FF2B5EF4-FFF2-40B4-BE49-F238E27FC236}">
                <a16:creationId xmlns:a16="http://schemas.microsoft.com/office/drawing/2014/main" id="{D0D7554F-A698-4F3C-A5F4-0122504B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71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24747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D24747"/>
                </a:solidFill>
                <a:latin typeface="Segoe UI"/>
                <a:ea typeface="Segoe UI"/>
                <a:cs typeface="Segoe UI"/>
              </a:rPr>
              <a:t>Thách thức kỹ thuật</a:t>
            </a:r>
          </a:p>
        </p:txBody>
      </p:sp>
      <p:sp>
        <p:nvSpPr>
          <p:cNvPr id="7" name="challenge-body">
            <a:extLst xmlns:a="http://schemas.openxmlformats.org/drawingml/2006/main">
              <a:ext uri="{FF2B5EF4-FFF2-40B4-BE49-F238E27FC236}">
                <a16:creationId xmlns:a16="http://schemas.microsoft.com/office/drawing/2014/main" id="{A2BDFA4D-58C4-4098-AB9C-FC21341F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77 triệu xe máy, biển hai dòng là trường hợp phổ biến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Biển 190 × 140 mm là đối tượng nhỏ trong khung hình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Chói phản quang, nhòe, bụi bẩn và góc nghiêng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• CRNN/CTC ưu tiên chuỗi một dòng ngang</a:t>
            </a:r>
          </a:p>
        </p:txBody>
      </p:sp>
      <p:sp>
        <p:nvSpPr>
          <p:cNvPr id="8" name="takeaway">
            <a:extLst xmlns:a="http://schemas.openxmlformats.org/drawingml/2006/main">
              <a:ext uri="{FF2B5EF4-FFF2-40B4-BE49-F238E27FC236}">
                <a16:creationId xmlns:a16="http://schemas.microsoft.com/office/drawing/2014/main" id="{5B82E46C-4C7E-47AC-8797-B82AE772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476875"/>
            <a:ext cx="7715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B9DBF2"/>
            </a:solidFill>
            <a:prstDash val="solid"/>
          </a:ln>
        </p:spPr>
      </p:sp>
      <p:sp>
        <p:nvSpPr>
          <p:cNvPr id="9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F7DBE877-35D7-4B98-A708-1D92CDB0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514975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Biển hai dòng là điểm nghẽn cần giải quyết, không phải trường hợp ngoại lệ</a:t>
            </a:r>
          </a:p>
        </p:txBody>
      </p:sp>
    </p:spTree>
    <p:extLst>
      <p:ext uri="{BB962C8B-B14F-4D97-AF65-F5344CB8AC3E}">
        <p14:creationId xmlns:p14="http://schemas.microsoft.com/office/powerpoint/2010/main" val="24126700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690ADC4-37CF-42A4-970C-E05A90CE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Khảo sát các hướng tiếp cận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2612EED-3076-42AD-9152-5C22E433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Bốn phương án được đối chiếu theo khả năng xử lý biển Việt Nam và ràng buộc CPU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09625" y="1571625"/>
          <a:ext xmlns:a="http://schemas.openxmlformats.org/drawingml/2006/main" cx="1057275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3429000"/>
                <a:gridCol w="4286250"/>
              </a:tblGrid>
              <a:tr h="6286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Hướng tiếp cận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Cách nhận dạng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Đánh đổi chính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Morphology + SVM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Phân đoạn từng ký tự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Nhạy với nhiễu và góc nghiêng</a:t>
                      </a:r>
                    </a:p>
                  </a:txBody>
                  <a:tcPr marL="95250" marR="95250" marT="66675" marB="66675" anchor="ctr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YOLO + OCR dựng sẵn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EasyOCR hoặc Tesseract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Suy giảm mạnh trên biển hai dòng</a:t>
                      </a:r>
                    </a:p>
                  </a:txBody>
                  <a:tcPr marL="95250" marR="95250" marT="66675" marB="66675" anchor="ctr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End-to-end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LPRNet hoặc CRNN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Cần dữ liệu Việt Nam để huấn luyện lại</a:t>
                      </a:r>
                    </a:p>
                  </a:txBody>
                  <a:tcPr marL="95250" marR="95250" marT="66675" marB="66675" anchor="ctr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87B56"/>
                          </a:solidFill>
                          <a:latin typeface="Segoe UI"/>
                          <a:ea typeface="Segoe UI"/>
                          <a:cs typeface="Segoe UI"/>
                        </a:rPr>
                        <a:t>Phương pháp đề tài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87B56"/>
                          </a:solidFill>
                          <a:latin typeface="Segoe UI"/>
                          <a:ea typeface="Segoe UI"/>
                          <a:cs typeface="Segoe UI"/>
                        </a:rPr>
                        <a:t>YOLO11n + PP-OCRv5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87B56"/>
                          </a:solidFill>
                          <a:latin typeface="Segoe UI"/>
                          <a:ea typeface="Segoe UI"/>
                          <a:cs typeface="Segoe UI"/>
                        </a:rPr>
                        <a:t>Biến đổi hình học, phù hợp CPU</a:t>
                      </a:r>
                    </a:p>
                  </a:txBody>
                  <a:tcPr marL="95250" marR="95250" marT="66675" marB="66675" anchor="ctr">
                    <a:solidFill>
                      <a:srgbClr val="EAF7F2"/>
                    </a:solidFill>
                  </a:tcPr>
                </a:tc>
              </a:tr>
            </a:tbl>
          </a:graphicData>
        </a:graphic>
      </p:graphicFrame>
      <p:sp>
        <p:nvSpPr>
          <p:cNvPr id="4" name="decision">
            <a:extLst xmlns:a="http://schemas.openxmlformats.org/drawingml/2006/main">
              <a:ext uri="{FF2B5EF4-FFF2-40B4-BE49-F238E27FC236}">
                <a16:creationId xmlns:a16="http://schemas.microsoft.com/office/drawing/2014/main" id="{F2E435D2-9620-4909-B0CB-3DB4586F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43500"/>
            <a:ext cx="72390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BBD3F2"/>
            </a:solidFill>
            <a:prstDash val="solid"/>
          </a:ln>
        </p:spPr>
      </p:sp>
      <p:sp>
        <p:nvSpPr>
          <p:cNvPr id="5" name="decision-text">
            <a:extLst xmlns:a="http://schemas.openxmlformats.org/drawingml/2006/main">
              <a:ext uri="{FF2B5EF4-FFF2-40B4-BE49-F238E27FC236}">
                <a16:creationId xmlns:a16="http://schemas.microsoft.com/office/drawing/2014/main" id="{E173B62E-17CA-4D1F-8DDA-5DEC3205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91125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Lựa chọn phương án 4: không huấn luyện lại OCR, vẫn tối ưu được trên CPU</a:t>
            </a:r>
          </a:p>
        </p:txBody>
      </p:sp>
    </p:spTree>
    <p:extLst>
      <p:ext uri="{BB962C8B-B14F-4D97-AF65-F5344CB8AC3E}">
        <p14:creationId xmlns:p14="http://schemas.microsoft.com/office/powerpoint/2010/main" val="691914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1CD969-550B-41D6-BAD9-E069BB22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Pipeline xử lý tổng thể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CAC01E-4C30-4545-AECF-7A3CDD0D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Đóng góp cốt lõi nằm ở hai khối: Xử lý ảnh thích ứng và Hậu xử lý tri thức chuyên miền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C5DAB67-291E-40C3-B612-EDCF6238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D481E35-7192-40DD-B127-1E34454F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2A5F"/>
                </a:solidFill>
              </a:rPr>
              <a:t>Ảnh đầu vào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DA28219-9BE4-4888-AA52-938DABDF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Camera / ảnh thực tế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186AF58-6820-4F5A-8035-9EF6DD7A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542032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9DB3C6"/>
                </a:solidFill>
              </a:rPr>
              <a:t>→</a:t>
            </a:r>
            <a:endParaRPr sz="22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C613EEF-EB93-4A51-86EE-40422E4F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813C55B-CDA3-45D6-8A44-A60E575B1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888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2A5F"/>
                </a:solidFill>
              </a:rPr>
              <a:t>YOLO11n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3E929E1-4DA4-4599-B5D8-F9EE44C3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Phát hiện biển số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110E319-4450-4AD9-BC2F-7F638E56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504" y="2542032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9DB3C6"/>
                </a:solidFill>
              </a:rPr>
              <a:t>→</a:t>
            </a:r>
            <a:endParaRPr sz="2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44E5579-2CA1-427F-A00C-50A929F1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24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12700">
            <a:solidFill>
              <a:srgbClr val="17BCEB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627C648-035B-4B6A-9491-516575B74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5FD4"/>
                </a:solidFill>
              </a:rPr>
              <a:t>Xử lý ảnh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982EF8D-076C-4198-9325-EB26228C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Deskew · Tách–ghép dòng · CLAHE · Lọc song phương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EF4B028-B617-4F11-ACA1-07245436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456" y="2542032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9DB3C6"/>
                </a:solidFill>
              </a:rPr>
              <a:t>→</a:t>
            </a:r>
            <a:endParaRPr sz="2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1B895A5-6576-4425-9BAB-D28BDD22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63DBA0A-73F5-4B8B-B5BF-693465A6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2A5F"/>
                </a:solidFill>
              </a:rPr>
              <a:t>PaddleOCR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96FE222-A7FD-4F6E-9CA4-F8735686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PP-OCRv5 Mobile (Thuần CPU)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4F752D9-0FAB-41DC-9240-E244E8A5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2542032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9DB3C6"/>
                </a:solidFill>
              </a:rPr>
              <a:t>→</a:t>
            </a:r>
            <a:endParaRPr sz="2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D700C98-0502-439B-91DF-5664B4FC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12700">
            <a:solidFill>
              <a:srgbClr val="17BCEB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44FFF6C-8F66-4CA2-8B79-63D6E8E9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5FD4"/>
                </a:solidFill>
              </a:rPr>
              <a:t>Hậu xử lý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7CFA5F3-FC95-4690-AF87-E9F082D7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Kiểm tra 34 tỉnh · Mặt nạ vị trí · Ma trận hoán vị</a:t>
            </a:r>
            <a:endParaRPr sz="10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A6ED0EA-00F7-4EC4-8EBC-876715D9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542032"/>
            <a:ext cx="274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9DB3C6"/>
                </a:solidFill>
              </a:rPr>
              <a:t>→</a:t>
            </a:r>
            <a:endParaRPr sz="22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D89D805-160F-4886-A172-3DDAB51E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874520"/>
            <a:ext cx="1627632" cy="182880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11D3C7C-722C-4083-903B-962037F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696" y="2148840"/>
            <a:ext cx="1371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2A5F"/>
                </a:solidFill>
              </a:rPr>
              <a:t>Kết quả</a:t>
            </a:r>
            <a:endParaRPr sz="1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8B8189C-5C60-421D-A080-84E7594C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2408" y="2761488"/>
            <a:ext cx="14081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65748B"/>
                </a:solidFill>
              </a:rPr>
              <a:t>Chuỗi biển số chuẩn hóa + Màu sắc &amp; Loại xe</a:t>
            </a:r>
            <a:endParaRPr sz="10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9AFC6D99-F874-4AD5-8A0D-957F6710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800600"/>
            <a:ext cx="649224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2700">
            <a:solidFill>
              <a:srgbClr val="EEF6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58ABEF59-BF45-4C43-8959-874B2646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4873752"/>
            <a:ext cx="634593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5FD4"/>
                </a:solidFill>
                <a:latin typeface="Arial"/>
                <a:ea typeface="Arial"/>
                <a:cs typeface="Arial"/>
              </a:rPr>
              <a:t>Không sửa đổi cấu trúc OCR → Tái cấu trúc hình học ảnh để tương thích tối ưu với OCR sẵn có</a:t>
            </a:r>
            <a:endParaRPr sz="1050"/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FEE8B40B-7BFB-421C-AC12-536D79F2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502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4B91"/>
                </a:solidFill>
                <a:latin typeface="Segoe UI"/>
                <a:ea typeface="Segoe UI"/>
                <a:cs typeface="Segoe UI"/>
              </a:rPr>
              <a:t>5</a:t>
            </a:r>
            <a:endParaRPr sz="900" b="1">
              <a:solidFill>
                <a:srgbClr val="004B91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8991899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B7C1BBC-4D49-4030-9B95-0A47094C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Vì sao biển hai dòng làm OCR đọc sai?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2B18BE5-3107-47BC-B5C8-A92CE597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Hình học đầu vào vi phạm giả định thứ tự thời gian đơn điệu của hàm mất mát CTC Loss</a:t>
            </a:r>
            <a:endParaRPr sz="115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14b72904247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0" y="1389888"/>
            <a:ext cx="5532120" cy="4343400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81492A3B-BBE3-4CB7-BFDF-DC0FB5B6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0500"/>
            <a:ext cx="4526280" cy="381000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AE448BF-EEEF-405F-A57E-DD17F8A9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587500"/>
            <a:ext cx="406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DC2626"/>
                </a:solidFill>
                <a:latin typeface="Segoe UI"/>
                <a:ea typeface="Segoe UI"/>
                <a:cs typeface="Segoe UI"/>
              </a:rPr>
              <a:t>Xung đột đặc trưng 2 dòng</a:t>
            </a:r>
            <a:endParaRPr sz="1350" b="1">
              <a:solidFill>
                <a:srgbClr val="DC262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6748A0B-467A-4E61-95B5-A05533AD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968500"/>
            <a:ext cx="4064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1E293B"/>
                </a:solidFill>
                <a:latin typeface="Segoe UI"/>
                <a:ea typeface="Segoe UI"/>
                <a:cs typeface="Segoe UI"/>
              </a:rPr>
              <a:t>• Tầng CNN hạ chiều cao H → 1 để tạo chuỗi 1D
• Hai hàng ký tự bị ép chung cột đặc trưng t
• Phá vỡ giả định đơn điệu của CTC Loss
• OCR đọc nhảy dòng, nuốt chữ hoặc sinh rác</a:t>
            </a:r>
            <a:endParaRPr sz="1150">
              <a:solidFill>
                <a:srgbClr val="1E293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537DAEC-3DCC-4F96-8EAF-98313B58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127500"/>
            <a:ext cx="4064000" cy="82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004B91"/>
                </a:solidFill>
                <a:latin typeface="Segoe UI"/>
                <a:ea typeface="Segoe UI"/>
                <a:cs typeface="Segoe UI"/>
              </a:rPr>
              <a:t>Giải pháp: Biến đổi hình học đưa về 1 dòng ngang chuẩn hóa trước khi đưa vào OCR</a:t>
            </a:r>
            <a:endParaRPr sz="1150" b="1">
              <a:solidFill>
                <a:srgbClr val="004B91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0AEBC68C-B4E5-4DFE-BEF6-4683E2B4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502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4B91"/>
                </a:solidFill>
                <a:latin typeface="Segoe UI"/>
                <a:ea typeface="Segoe UI"/>
                <a:cs typeface="Segoe UI"/>
              </a:rPr>
              <a:t>7</a:t>
            </a:r>
            <a:endParaRPr sz="900" b="1">
              <a:solidFill>
                <a:srgbClr val="004B91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73288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04AB49E-68AB-4FC8-A6FC-93D54B64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Chuẩn hóa biển hai dòng bằng biến đổi hình học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1D0B399-F99B-4037-9A60-8D22213F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Chuỗi 5 phép biến đổi hình học giúp chuẩn hóa biển 2 dòng thành 1 dòng chất lượng cao</a:t>
            </a:r>
            <a:endParaRPr sz="1150"/>
          </a:p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0cfa6ea9541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80760" y="1298448"/>
            <a:ext cx="5257800" cy="4343400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19C16B6A-F1F3-4C7C-868A-A539278E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4475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CEB"/>
          </a:solidFill>
          <a:ln xmlns:a="http://schemas.openxmlformats.org/drawingml/2006/main" w="12700">
            <a:solidFill>
              <a:srgbClr val="17BC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220E5D4-C51C-4B28-950E-0C16492E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17904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1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D029855-E587-4758-AC43-079A3F74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41732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354A"/>
                </a:solidFill>
              </a:rPr>
              <a:t>Phân loại 1 / 2 dòng</a:t>
            </a:r>
            <a:endParaRPr sz="15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254BA44-4F8D-477F-BE65-DAFD2243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41732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65748B"/>
                </a:solidFill>
              </a:rPr>
              <a:t>Ngưỡng AR = 2,50 (khoảng cách rộng giữa 1,36 và 4,73)</a:t>
            </a:r>
            <a:endParaRPr sz="11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6D5FAE78-B1E8-45A9-B9B9-D79DC84A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219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CEB"/>
          </a:solidFill>
          <a:ln xmlns:a="http://schemas.openxmlformats.org/drawingml/2006/main" w="12700">
            <a:solidFill>
              <a:srgbClr val="17BC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3907D08-E51D-4C77-B5FA-7D2F96BC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95144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2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F826287-53BC-4627-9980-30517271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19456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354A"/>
                </a:solidFill>
              </a:rPr>
              <a:t>Nắn phẳng Affine</a:t>
            </a:r>
            <a:endParaRPr sz="15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5A18DB8-5C99-4318-8DB2-10602D8D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1945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65748B"/>
                </a:solidFill>
              </a:rPr>
              <a:t>Tìm góc xoay tối ưu bằng cv2.minAreaRect</a:t>
            </a:r>
            <a:endParaRPr sz="11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CF38228D-080D-491A-99A3-41C5C415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992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CEB"/>
          </a:solidFill>
          <a:ln xmlns:a="http://schemas.openxmlformats.org/drawingml/2006/main" w="12700">
            <a:solidFill>
              <a:srgbClr val="17BC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116B200-009E-4592-9377-EB53B3EE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72384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3</a:t>
            </a:r>
            <a:endParaRPr sz="10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CA61C599-07C8-4EDA-9C18-903E54C1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97180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354A"/>
                </a:solidFill>
              </a:rPr>
              <a:t>Tách hai dòng ổn định</a:t>
            </a:r>
            <a:endParaRPr sz="15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F2C87B0-39BF-4C9C-A65C-D19CE8A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9718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65748B"/>
                </a:solidFill>
              </a:rPr>
              <a:t>Cắt cố định 5/12 trên &amp; 1/3 dưới, loại ốc vít tim biển</a:t>
            </a:r>
            <a:endParaRPr sz="115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170809A-E24D-4352-A027-660E6B27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7647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CEB"/>
          </a:solidFill>
          <a:ln xmlns:a="http://schemas.openxmlformats.org/drawingml/2006/main" w="12700">
            <a:solidFill>
              <a:srgbClr val="17BC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3C4D068-EF14-4B9E-9A9D-52346E2B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49624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4</a:t>
            </a:r>
            <a:endParaRPr sz="10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70753FA-B851-4B74-B36D-6192530F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74904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354A"/>
                </a:solidFill>
              </a:rPr>
              <a:t>Ghép ngang nối tiếp</a:t>
            </a:r>
            <a:endParaRPr sz="15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8B2FD50-A519-40A4-89CE-CF4B43EE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74904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65748B"/>
                </a:solidFill>
              </a:rPr>
              <a:t>Dòng trên + dòng dưới → Chuỗi 1 dòng duy nhất</a:t>
            </a:r>
            <a:endParaRPr sz="1150"/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F0CBE5-DF2A-49E0-B1A2-4CB427B6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537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CEB"/>
          </a:solidFill>
          <a:ln xmlns:a="http://schemas.openxmlformats.org/drawingml/2006/main" w="12700">
            <a:solidFill>
              <a:srgbClr val="17BC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9B3E408-7468-4559-AFE0-797797BC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26864"/>
            <a:ext cx="3840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5</a:t>
            </a:r>
            <a:endParaRPr sz="10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88B9DDAE-D798-4060-ACC6-1D63421D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526280"/>
            <a:ext cx="2540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6354A"/>
                </a:solidFill>
              </a:rPr>
              <a:t>CLAHE &amp; Lọc song phương</a:t>
            </a:r>
            <a:endParaRPr sz="1500"/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DF66E6B-CAC9-4A19-A811-64EBD387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500" y="4526280"/>
            <a:ext cx="203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>
                <a:solidFill>
                  <a:srgbClr val="65748B"/>
                </a:solidFill>
              </a:rPr>
              <a:t>Tăng tương phản cục bộ, khử nhiễu mà bảo toàn nét chữ</a:t>
            </a:r>
            <a:endParaRPr sz="1150"/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2CF7FDDF-6B51-4408-A6DF-230AA6A2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502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4B91"/>
                </a:solidFill>
                <a:latin typeface="Segoe UI"/>
                <a:ea typeface="Segoe UI"/>
                <a:cs typeface="Segoe UI"/>
              </a:rPr>
              <a:t>8</a:t>
            </a:r>
            <a:endParaRPr sz="900" b="1">
              <a:solidFill>
                <a:srgbClr val="004B91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566744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E4401D5-FBA8-4213-B9A7-C562AAB2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Hậu xử lý theo vị trí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5E77608-7A8E-4A9E-A05C-6E270C74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Khai thác quy chuẩn Việt Nam (TT 79/2024 &amp; TT 51/2025) theo từng vị trí ký tự trong chuỗi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5262EC0-9C2B-40F1-AB05-A0542431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50749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B5667F1-76CF-4EDA-8106-279E0A59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66420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5FD4"/>
                </a:solidFill>
              </a:rPr>
              <a:t>1. Danh mục 34 Mã địa phương</a:t>
            </a:r>
            <a:endParaRPr sz="1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05E2ED8-CA12-40FB-9F8A-7445261A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9968"/>
            <a:ext cx="4526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6354A"/>
                </a:solidFill>
              </a:rPr>
              <a:t>Rà soát theo 34 tỉnh/thành hợp lệ (TT 51/2025); loại bỏ hoàn toàn các mã giả lập không tồn tại</a:t>
            </a:r>
            <a:endParaRPr sz="1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89384033-3F81-43B7-94B5-DDA6BBB6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63040"/>
            <a:ext cx="50749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6B9117E-A148-4A21-9CA2-A20568AF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66420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5FD4"/>
                </a:solidFill>
              </a:rPr>
              <a:t>2. Mặt nạ cú pháp định dạng</a:t>
            </a:r>
            <a:endParaRPr sz="16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0F7560-766B-4321-B1CD-2CAFFC65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29968"/>
            <a:ext cx="4526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6354A"/>
                </a:solidFill>
              </a:rPr>
              <a:t>Ràng buộc nghiêm ngặt vị trí số và chữ theo quy chuẩn DD-L DDD.DD hoặc DD-L? DDD.DD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28F76F4-54BA-4069-B2AB-905FFED0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63240"/>
            <a:ext cx="50749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E17F3B9-5F40-41E7-BA32-BAFD426A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26440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5FD4"/>
                </a:solidFill>
              </a:rPr>
              <a:t>3. Tập ký tự seri theo loại xe</a:t>
            </a:r>
            <a:endParaRPr sz="16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6FB49EC-E0C0-4F2B-809B-A08E4B37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30168"/>
            <a:ext cx="4526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6354A"/>
                </a:solidFill>
              </a:rPr>
              <a:t>Xe con không chứa ký tự 'R'; xe máy phân biệt rõ 'G' và 'R' ở từng vị trí seri</a:t>
            </a:r>
            <a:endParaRPr sz="13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843D5B7-3B66-476B-B086-EE9597CE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063240"/>
            <a:ext cx="507492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AFCFE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D142949-4594-432E-9302-223BDDD5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64408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E5FD4"/>
                </a:solidFill>
              </a:rPr>
              <a:t>4. Ma trận hoán vị bất đối xứng</a:t>
            </a:r>
            <a:endParaRPr sz="16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71CC751-D47D-4688-BFCC-9205CA45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30168"/>
            <a:ext cx="4526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26354A"/>
                </a:solidFill>
              </a:rPr>
              <a:t>Sửa lỗi OCR có định hướng: 'O','D' → '0' khi ở vị trí số; '0' → 'D' khi ở vị trí chữ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3255250-D57F-409C-879F-B90AFB37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892040"/>
            <a:ext cx="97840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2F8FF"/>
          </a:solidFill>
          <a:ln xmlns:a="http://schemas.openxmlformats.org/drawingml/2006/main" w="12700">
            <a:solidFill>
              <a:srgbClr val="CFE2F6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AE7D13D-2E6B-44CD-8A67-6431FBB0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184648"/>
            <a:ext cx="9144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0F2A5F"/>
                </a:solidFill>
              </a:rPr>
              <a:t>Ví dụ thực tế: Tại vị trí số, 'O' được sửa thành '0'; nhưng tại vị trí chữ, '0' được sửa thành 'D' chứ không sửa thành 'O' để bảo toàn tính hợp lệ.</a:t>
            </a:r>
            <a:endParaRPr sz="1700"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E9EBE708-4AF3-4924-9814-5ECB7005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502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4B91"/>
                </a:solidFill>
                <a:latin typeface="Segoe UI"/>
                <a:ea typeface="Segoe UI"/>
                <a:cs typeface="Segoe UI"/>
              </a:rPr>
              <a:t>9</a:t>
            </a:r>
            <a:endParaRPr sz="900" b="1">
              <a:solidFill>
                <a:srgbClr val="004B91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8304457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C92C698-7651-4E9B-8516-19EF9386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Bộ dữ liệu: Khử trùng lặp trước khi đánh giá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DF9590-144F-4122-9ECF-88B3CE2A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Triệt tiêu rò rỉ dữ liệu (Data Leakage) khi các bộ dữ liệu công khai fork chéo lẫn nhau</a:t>
            </a:r>
            <a:endParaRPr sz="1150"/>
          </a:p>
        </p:txBody>
      </p:sp>
      <p:pic>
        <p:nvPicPr>
          <p:cNvPr id="1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3c37a6f8041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9320" y="1417320"/>
            <a:ext cx="5166360" cy="4251960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F24F3465-7329-4A24-9E2D-FD811653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846320" cy="3429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F0F0E7-1170-4510-AB07-EBB002C4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74520"/>
            <a:ext cx="4206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0F2A5F"/>
                </a:solidFill>
              </a:rPr>
              <a:t>27.711 ảnh</a:t>
            </a:r>
            <a:endParaRPr sz="28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AAB1988-1EE3-4E5B-B8C7-7B66490A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5748B"/>
                </a:solidFill>
              </a:rPr>
              <a:t>Gộp từ 7 bộ dữ liệu ALPR công khai</a:t>
            </a:r>
            <a:endParaRPr sz="12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E7BAA59-B3D3-47C8-BDCA-24FD8756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71800"/>
            <a:ext cx="42062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C74343"/>
                </a:solidFill>
              </a:rPr>
              <a:t>− 44,2%</a:t>
            </a:r>
            <a:endParaRPr sz="3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63C4512-551A-45B4-8BC5-299BBC62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02152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26354A"/>
                </a:solidFill>
              </a:rPr>
              <a:t>ảnh trùng bị loại bằng pHash DCT 64-bit (Hamming ≤ 6)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F9C9D3C-8203-494F-BBEA-31020F5C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4206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49A68"/>
                </a:solidFill>
              </a:rPr>
              <a:t>15.133 ảnh độc lập (10.592 Train / 3.027 Val / 1.514 Test)</a:t>
            </a:r>
            <a:endParaRPr sz="1700"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DA893326-2C37-403D-A423-122555FC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502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4B91"/>
                </a:solidFill>
                <a:latin typeface="Segoe UI"/>
                <a:ea typeface="Segoe UI"/>
                <a:cs typeface="Segoe UI"/>
              </a:rPr>
              <a:t>6</a:t>
            </a:r>
            <a:endParaRPr sz="900" b="1">
              <a:solidFill>
                <a:srgbClr val="004B91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82651854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">
            <a:extLst xmlns:a="http://schemas.openxmlformats.org/drawingml/2006/main">
              <a:ext uri="{FF2B5EF4-FFF2-40B4-BE49-F238E27FC236}">
                <a16:creationId xmlns:a16="http://schemas.microsoft.com/office/drawing/2014/main" id="{E6F2EFF6-3A03-49D1-88D4-0A2F4F47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Phương pháp đánh giá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292C252-F355-4AF2-975B-96FDAA8D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Tách riêng chất lượng phát hiện, nhận dạng toàn chuỗi và độ trễ đầu cuối</a:t>
            </a:r>
          </a:p>
        </p:txBody>
      </p:sp>
      <p:sp>
        <p:nvSpPr>
          <p:cNvPr id="3" name="metric-type-0">
            <a:extLst xmlns:a="http://schemas.openxmlformats.org/drawingml/2006/main">
              <a:ext uri="{FF2B5EF4-FFF2-40B4-BE49-F238E27FC236}">
                <a16:creationId xmlns:a16="http://schemas.microsoft.com/office/drawing/2014/main" id="{F15A07DC-E6AC-46E4-A9A3-727CA87D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PHÁT HIỆN</a:t>
            </a:r>
          </a:p>
        </p:txBody>
      </p:sp>
      <p:sp>
        <p:nvSpPr>
          <p:cNvPr id="4" name="metric-name-0">
            <a:extLst xmlns:a="http://schemas.openxmlformats.org/drawingml/2006/main">
              <a:ext uri="{FF2B5EF4-FFF2-40B4-BE49-F238E27FC236}">
                <a16:creationId xmlns:a16="http://schemas.microsoft.com/office/drawing/2014/main" id="{230CE426-B651-4676-9724-D9078A6E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7162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mAP@0,5</a:t>
            </a:r>
          </a:p>
        </p:txBody>
      </p:sp>
      <p:sp>
        <p:nvSpPr>
          <p:cNvPr id="5" name="metric-desc-0">
            <a:extLst xmlns:a="http://schemas.openxmlformats.org/drawingml/2006/main">
              <a:ext uri="{FF2B5EF4-FFF2-40B4-BE49-F238E27FC236}">
                <a16:creationId xmlns:a16="http://schemas.microsoft.com/office/drawing/2014/main" id="{60216A91-73CC-44F9-91BE-07ECC6A4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71625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IoU ≥ 0,5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FFAAD-292C-4BDE-8E2E-0A76FE6E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14575"/>
            <a:ext cx="1023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F0"/>
            </a:solidFill>
            <a:prstDash val="solid"/>
          </a:ln>
        </p:spPr>
      </p:sp>
      <p:sp>
        <p:nvSpPr>
          <p:cNvPr id="7" name="metric-type-1">
            <a:extLst xmlns:a="http://schemas.openxmlformats.org/drawingml/2006/main">
              <a:ext uri="{FF2B5EF4-FFF2-40B4-BE49-F238E27FC236}">
                <a16:creationId xmlns:a16="http://schemas.microsoft.com/office/drawing/2014/main" id="{CDDE01C9-4088-442C-88F0-C65E6A95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NHẬN DẠNG</a:t>
            </a:r>
          </a:p>
        </p:txBody>
      </p:sp>
      <p:sp>
        <p:nvSpPr>
          <p:cNvPr id="8" name="metric-name-1">
            <a:extLst xmlns:a="http://schemas.openxmlformats.org/drawingml/2006/main">
              <a:ext uri="{FF2B5EF4-FFF2-40B4-BE49-F238E27FC236}">
                <a16:creationId xmlns:a16="http://schemas.microsoft.com/office/drawing/2014/main" id="{47D11024-EA30-4D9F-8E9A-0A529AC0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7175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S₀ và S₁</a:t>
            </a:r>
          </a:p>
        </p:txBody>
      </p:sp>
      <p:sp>
        <p:nvSpPr>
          <p:cNvPr id="9" name="metric-desc-1">
            <a:extLst xmlns:a="http://schemas.openxmlformats.org/drawingml/2006/main">
              <a:ext uri="{FF2B5EF4-FFF2-40B4-BE49-F238E27FC236}">
                <a16:creationId xmlns:a16="http://schemas.microsoft.com/office/drawing/2014/main" id="{C56A0F5D-0B13-4C71-81AF-60BCA33D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Đúng cả chuỗi trước và sau hậu xử lý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B9568-E1F7-46C0-AD7D-0C100F56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14700"/>
            <a:ext cx="1023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F0"/>
            </a:solidFill>
            <a:prstDash val="solid"/>
          </a:ln>
        </p:spPr>
      </p:sp>
      <p:sp>
        <p:nvSpPr>
          <p:cNvPr id="11" name="metric-type-2">
            <a:extLst xmlns:a="http://schemas.openxmlformats.org/drawingml/2006/main">
              <a:ext uri="{FF2B5EF4-FFF2-40B4-BE49-F238E27FC236}">
                <a16:creationId xmlns:a16="http://schemas.microsoft.com/office/drawing/2014/main" id="{C7679D99-8D1A-4C0F-9462-7ABFB79E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7187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8840D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D8840D"/>
                </a:solidFill>
                <a:latin typeface="Segoe UI"/>
                <a:ea typeface="Segoe UI"/>
                <a:cs typeface="Segoe UI"/>
              </a:rPr>
              <a:t>KÝ TỰ</a:t>
            </a:r>
          </a:p>
        </p:txBody>
      </p:sp>
      <p:sp>
        <p:nvSpPr>
          <p:cNvPr id="12" name="metric-name-2">
            <a:extLst xmlns:a="http://schemas.openxmlformats.org/drawingml/2006/main">
              <a:ext uri="{FF2B5EF4-FFF2-40B4-BE49-F238E27FC236}">
                <a16:creationId xmlns:a16="http://schemas.microsoft.com/office/drawing/2014/main" id="{9CA8D99A-5B36-4F4F-90A1-6DBC9488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71875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CER</a:t>
            </a:r>
          </a:p>
        </p:txBody>
      </p:sp>
      <p:sp>
        <p:nvSpPr>
          <p:cNvPr id="13" name="metric-desc-2">
            <a:extLst xmlns:a="http://schemas.openxmlformats.org/drawingml/2006/main">
              <a:ext uri="{FF2B5EF4-FFF2-40B4-BE49-F238E27FC236}">
                <a16:creationId xmlns:a16="http://schemas.microsoft.com/office/drawing/2014/main" id="{422B6CD5-AB0F-455C-9D1A-F1346381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71875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Tỉ lệ ký tự sai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DD80B7-E284-494E-8EFC-C639011F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14825"/>
            <a:ext cx="10239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F0"/>
            </a:solidFill>
            <a:prstDash val="solid"/>
          </a:ln>
        </p:spPr>
      </p:sp>
      <p:sp>
        <p:nvSpPr>
          <p:cNvPr id="15" name="metric-type-3">
            <a:extLst xmlns:a="http://schemas.openxmlformats.org/drawingml/2006/main">
              <a:ext uri="{FF2B5EF4-FFF2-40B4-BE49-F238E27FC236}">
                <a16:creationId xmlns:a16="http://schemas.microsoft.com/office/drawing/2014/main" id="{129AB236-E6EE-4820-A538-51EC6D4A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24747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D24747"/>
                </a:solidFill>
                <a:latin typeface="Segoe UI"/>
                <a:ea typeface="Segoe UI"/>
                <a:cs typeface="Segoe UI"/>
              </a:rPr>
              <a:t>HIỆU NĂNG</a:t>
            </a:r>
          </a:p>
        </p:txBody>
      </p:sp>
      <p:sp>
        <p:nvSpPr>
          <p:cNvPr id="16" name="metric-name-3">
            <a:extLst xmlns:a="http://schemas.openxmlformats.org/drawingml/2006/main">
              <a:ext uri="{FF2B5EF4-FFF2-40B4-BE49-F238E27FC236}">
                <a16:creationId xmlns:a16="http://schemas.microsoft.com/office/drawing/2014/main" id="{6E89E981-93BC-4062-917F-D7165999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720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p50 / p95 / p99</a:t>
            </a:r>
          </a:p>
        </p:txBody>
      </p:sp>
      <p:sp>
        <p:nvSpPr>
          <p:cNvPr id="17" name="metric-desc-3">
            <a:extLst xmlns:a="http://schemas.openxmlformats.org/drawingml/2006/main">
              <a:ext uri="{FF2B5EF4-FFF2-40B4-BE49-F238E27FC236}">
                <a16:creationId xmlns:a16="http://schemas.microsoft.com/office/drawing/2014/main" id="{CF9AA358-56FF-41E1-9442-07D9C6A9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533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Phân vị độ trễ đầu cuối trên CPU</a:t>
            </a:r>
          </a:p>
        </p:txBody>
      </p:sp>
      <p:sp>
        <p:nvSpPr>
          <p:cNvPr id="18" name="strict-note">
            <a:extLst xmlns:a="http://schemas.openxmlformats.org/drawingml/2006/main">
              <a:ext uri="{FF2B5EF4-FFF2-40B4-BE49-F238E27FC236}">
                <a16:creationId xmlns:a16="http://schemas.microsoft.com/office/drawing/2014/main" id="{3C74C695-0D1C-4BEC-94B2-D25B13F1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67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24747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D24747"/>
                </a:solidFill>
                <a:latin typeface="Segoe UI"/>
                <a:ea typeface="Segoe UI"/>
                <a:cs typeface="Segoe UI"/>
              </a:rPr>
              <a:t>Một ký tự sai được tính là sai toàn bộ biển số</a:t>
            </a:r>
          </a:p>
        </p:txBody>
      </p:sp>
    </p:spTree>
    <p:extLst>
      <p:ext uri="{BB962C8B-B14F-4D97-AF65-F5344CB8AC3E}">
        <p14:creationId xmlns:p14="http://schemas.microsoft.com/office/powerpoint/2010/main" val="20960045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C3E9DA9-E340-4E91-8C7C-D5B30DA3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Kết quả đo được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2E5C2B9-1A34-4C7A-AF7C-8C262D68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Phát hiện và độ trễ đạt xuất sắc mục tiêu; độ chính xác toàn chuỗi phản ánh trung thực bài toán</a:t>
            </a:r>
            <a:endParaRPr sz="11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404138F-183A-434C-A79B-F374BE51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08760"/>
            <a:ext cx="2560320" cy="30175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49A68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1E21F53-3813-4DD8-8402-60913AAF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1828800"/>
            <a:ext cx="234086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149A68"/>
                </a:solidFill>
              </a:rPr>
              <a:t>0,9829</a:t>
            </a:r>
            <a:endParaRPr sz="2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2D83F2D-A576-40C2-8D94-A489C542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246888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26354A"/>
                </a:solidFill>
              </a:rPr>
              <a:t>mAP@0.5 (Phát hiện)</a:t>
            </a:r>
            <a:endParaRPr sz="11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E89E115-C7D7-46ED-B8D0-57A54FFA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32504"/>
            <a:ext cx="234086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59669"/>
                </a:solidFill>
                <a:latin typeface="Segoe UI"/>
                <a:ea typeface="Segoe UI"/>
                <a:cs typeface="Segoe UI"/>
              </a:rPr>
              <a:t>ĐẠT mục tiêu 0,90</a:t>
            </a:r>
            <a:endParaRPr sz="1000" b="1">
              <a:solidFill>
                <a:srgbClr val="059669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34F4668-FFB9-4247-9A74-F8576302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1508760"/>
            <a:ext cx="2560320" cy="30175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49A68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0405685-0241-4946-A123-086A580E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828800"/>
            <a:ext cx="234086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149A68"/>
                </a:solidFill>
              </a:rPr>
              <a:t>0,984 / 0,971</a:t>
            </a:r>
            <a:endParaRPr sz="2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19C677F-82F2-4D27-BA17-C7E8AB94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46888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26354A"/>
                </a:solidFill>
              </a:rPr>
              <a:t>Precision / Recall</a:t>
            </a:r>
            <a:endParaRPr sz="11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69C88E9-8C00-40BE-A79C-D99A8FEA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032504"/>
            <a:ext cx="234086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59669"/>
                </a:solidFill>
                <a:latin typeface="Segoe UI"/>
                <a:ea typeface="Segoe UI"/>
                <a:cs typeface="Segoe UI"/>
              </a:rPr>
              <a:t>ĐẠT</a:t>
            </a:r>
            <a:endParaRPr sz="1000" b="1">
              <a:solidFill>
                <a:srgbClr val="059669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EFB9915-6DF7-4388-AAAE-F41A2259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744" y="1508760"/>
            <a:ext cx="2560320" cy="30175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8818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B0E8AE1-8F94-4128-AF97-3B1870A0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828800"/>
            <a:ext cx="234086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D88818"/>
                </a:solidFill>
              </a:rPr>
              <a:t>0,7701</a:t>
            </a:r>
            <a:endParaRPr sz="2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246D5DE-EF58-40CA-8926-C48F4479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46888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26354A"/>
                </a:solidFill>
              </a:rPr>
              <a:t>Độ chính xác toàn chuỗi</a:t>
            </a:r>
            <a:endParaRPr sz="11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3C576F9-9A28-4FDF-AF1A-34F8A8C1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032504"/>
            <a:ext cx="234086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DC2626"/>
                </a:solidFill>
                <a:latin typeface="Segoe UI"/>
                <a:ea typeface="Segoe UI"/>
                <a:cs typeface="Segoe UI"/>
              </a:rPr>
              <a:t>CHƯA ĐẠT ngưỡng 0,85</a:t>
            </a:r>
            <a:endParaRPr sz="1000" b="1">
              <a:solidFill>
                <a:srgbClr val="DC262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0A6808F-0A8D-4DCD-B669-85FC29AF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1936" y="1508760"/>
            <a:ext cx="2560320" cy="30175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49A68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A4D8C8E-191D-4A48-A334-6A115B1B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1828800"/>
            <a:ext cx="2340864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149A68"/>
                </a:solidFill>
              </a:rPr>
              <a:t>510 ms</a:t>
            </a:r>
            <a:endParaRPr sz="2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0BD8747-153D-476E-8BEA-85B959DA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468880"/>
            <a:ext cx="234086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26354A"/>
                </a:solidFill>
              </a:rPr>
              <a:t>Độ trễ p95 trên CPU</a:t>
            </a:r>
            <a:endParaRPr sz="11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C3C2C24-DFA2-44AC-97F3-75F50191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4032504"/>
            <a:ext cx="2340864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59669"/>
                </a:solidFill>
                <a:latin typeface="Segoe UI"/>
                <a:ea typeface="Segoe UI"/>
                <a:cs typeface="Segoe UI"/>
              </a:rPr>
              <a:t>ĐẠT mục tiêu ≤ 800 ms</a:t>
            </a:r>
            <a:endParaRPr sz="1000" b="1">
              <a:solidFill>
                <a:srgbClr val="059669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444841E-BB95-4655-9D1E-A7EC1158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5074920"/>
            <a:ext cx="7863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0F2A5F"/>
                </a:solidFill>
              </a:rPr>
              <a:t>Nhận định khách quan: Hệ thống tối ưu xuất sắc trên CPU; khoảng cách độ chính xác tập trung ở biển hai dòng.</a:t>
            </a:r>
            <a:endParaRPr sz="1900"/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A71776AE-BAE6-491D-B72F-1C05CCA6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502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4B91"/>
                </a:solidFill>
                <a:latin typeface="Segoe UI"/>
                <a:ea typeface="Segoe UI"/>
                <a:cs typeface="Segoe UI"/>
              </a:rPr>
              <a:t>12</a:t>
            </a:r>
            <a:endParaRPr sz="900" b="1">
              <a:solidFill>
                <a:srgbClr val="004B91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16599362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715C4DA-75DD-45F4-9884-ABEFAC35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Khoảng cách nằm ở biển hai dòng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8E15C4F-F9EC-4E5D-BE02-A615E71B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Độ chính xác mức ký tự gần bằng nhau, nhưng sai số tích lũy trên chuỗi phân hóa rất lớn</a:t>
            </a:r>
            <a:endParaRPr sz="1150"/>
          </a:p>
        </p:txBody>
      </p:sp>
      <p:pic>
        <p:nvPicPr>
          <p:cNvPr id="1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40f6c9c8e41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88001" y="1333500"/>
            <a:ext cx="5709227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62374C50-A9DB-4EC7-AB82-BB862F1A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54480"/>
            <a:ext cx="4343400" cy="356616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DCE6FEE-25B7-4769-AD50-5B3FFD5A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874520"/>
            <a:ext cx="3794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E5FD4"/>
                </a:solidFill>
              </a:rPr>
              <a:t>95,41%</a:t>
            </a:r>
            <a:endParaRPr sz="3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143FC8-684D-499B-A7E4-80D1F648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395728"/>
            <a:ext cx="3794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26354A"/>
                </a:solidFill>
              </a:rPr>
              <a:t>Biển một dòng</a:t>
            </a:r>
            <a:endParaRPr sz="15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C340665-F45C-450A-8D90-B15A8371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154680"/>
            <a:ext cx="37947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C74343"/>
                </a:solidFill>
              </a:rPr>
              <a:t>72,34%</a:t>
            </a:r>
            <a:endParaRPr sz="3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8F50C2E-5254-4686-9C7A-BABE6E53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675888"/>
            <a:ext cx="3794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26354A"/>
                </a:solidFill>
              </a:rPr>
              <a:t>Biển hai dòng</a:t>
            </a:r>
            <a:endParaRPr sz="15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1982229-7098-47C4-8083-BE33FD9E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572000"/>
            <a:ext cx="301752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F3"/>
          </a:solidFill>
          <a:ln xmlns:a="http://schemas.openxmlformats.org/drawingml/2006/main" w="12700">
            <a:solidFill>
              <a:srgbClr val="FFF3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CD526DD-CDD8-4FE6-AAD8-646E8E48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500" y="4645152"/>
            <a:ext cx="37465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C74343"/>
                </a:solidFill>
                <a:latin typeface="Segoe UI"/>
                <a:ea typeface="Segoe UI"/>
                <a:cs typeface="Segoe UI"/>
              </a:rPr>
              <a:t>Điểm nghẽn cốt lõi: Biển hai dòng</a:t>
            </a:r>
            <a:endParaRPr sz="1100" b="1">
              <a:latin typeface="Segoe UI"/>
              <a:ea typeface="Segoe UI"/>
              <a:cs typeface="Segoe UI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9039E829-BAF9-4268-9194-12AE392A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502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4B91"/>
                </a:solidFill>
                <a:latin typeface="Segoe UI"/>
                <a:ea typeface="Segoe UI"/>
                <a:cs typeface="Segoe UI"/>
              </a:rPr>
              <a:t>13</a:t>
            </a:r>
            <a:endParaRPr sz="900" b="1">
              <a:solidFill>
                <a:srgbClr val="004B91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9404663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85A0F9A-745F-4A8A-A62F-2870C065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Lỗi thực tế trông như thế nào?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EB68E15-7FE5-4B25-95FC-9F20F598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Hậu xử lý cứu được nhiều ca OCR thô; các ca còn sai tập trung ở dòng trên của biển hai dòng</a:t>
            </a:r>
            <a:endParaRPr sz="115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3b04b7e3e46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9000" y="1270000"/>
            <a:ext cx="10714182" cy="4572000"/>
          </a:xfrm>
          <a:prstGeom xmlns:a="http://schemas.openxmlformats.org/drawingml/2006/main" prst="rect">
            <a:avLst/>
          </a:prstGeom>
        </p:spPr>
      </p:pic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CADFDCF2-3E62-4BFE-8F41-2BD928C5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502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4B91"/>
                </a:solidFill>
                <a:latin typeface="Segoe UI"/>
                <a:ea typeface="Segoe UI"/>
                <a:cs typeface="Segoe UI"/>
              </a:rPr>
              <a:t>14</a:t>
            </a:r>
            <a:endParaRPr sz="900" b="1">
              <a:solidFill>
                <a:srgbClr val="004B91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567493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C0540E1-3AF9-4667-8DA1-C6D84280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Bóc tách đóng góp từng bước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92BD7A2-E4B6-49D6-B3B6-0F00BBA7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Mức cải thiện và chi phí tính toán được báo cáo cùng nhau trên đúng đường đo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857250" y="1666875"/>
          <a:ext xmlns:a="http://schemas.openxmlformats.org/drawingml/2006/main" cx="10477500" cy="2762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000500"/>
                <a:gridCol w="3333750"/>
                <a:gridCol w="3143250"/>
              </a:tblGrid>
              <a:tr h="69056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Can thiệp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Mức cải thiện (+Δ metric)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Chi phí tính toán (+ms trễ)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Tách-ghép ngang + PP-OCRv5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563D8"/>
                          </a:solidFill>
                          <a:latin typeface="Segoe UI"/>
                          <a:ea typeface="Segoe UI"/>
                          <a:cs typeface="Segoe UI"/>
                        </a:rPr>
                        <a:t>+34,92 điểm S₀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8840D"/>
                          </a:solidFill>
                          <a:latin typeface="Segoe UI"/>
                          <a:ea typeface="Segoe UI"/>
                          <a:cs typeface="Segoe UI"/>
                        </a:rPr>
                        <a:t>Chưa đo tách riêng</a:t>
                      </a:r>
                    </a:p>
                  </a:txBody>
                  <a:tcPr marL="95250" marR="95250" marT="66675" marB="66675" anchor="ctr"/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Hậu xử lý theo vị trí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563D8"/>
                          </a:solidFill>
                          <a:latin typeface="Segoe UI"/>
                          <a:ea typeface="Segoe UI"/>
                          <a:cs typeface="Segoe UI"/>
                        </a:rPr>
                        <a:t>+13,28 điểm S₁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8840D"/>
                          </a:solidFill>
                          <a:latin typeface="Segoe UI"/>
                          <a:ea typeface="Segoe UI"/>
                          <a:cs typeface="Segoe UI"/>
                        </a:rPr>
                        <a:t>+0,03 ms</a:t>
                      </a:r>
                    </a:p>
                  </a:txBody>
                  <a:tcPr marL="95250" marR="95250" marT="66675" marB="66675" anchor="ctr"/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Thử lại có nắn phẳng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563D8"/>
                          </a:solidFill>
                          <a:latin typeface="Segoe UI"/>
                          <a:ea typeface="Segoe UI"/>
                          <a:cs typeface="Segoe UI"/>
                        </a:rPr>
                        <a:t>+34 biển đúng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8840D"/>
                          </a:solidFill>
                          <a:latin typeface="Segoe UI"/>
                          <a:ea typeface="Segoe UI"/>
                          <a:cs typeface="Segoe UI"/>
                        </a:rPr>
                        <a:t>+276,80 ms p95</a:t>
                      </a:r>
                    </a:p>
                  </a:txBody>
                  <a:tcPr marL="95250" marR="95250" marT="66675" marB="66675" anchor="ctr"/>
                </a:tc>
              </a:tr>
            </a:tbl>
          </a:graphicData>
        </a:graphic>
      </p:graphicFrame>
      <p:sp>
        <p:nvSpPr>
          <p:cNvPr id="4" name="ablation-note">
            <a:extLst xmlns:a="http://schemas.openxmlformats.org/drawingml/2006/main">
              <a:ext uri="{FF2B5EF4-FFF2-40B4-BE49-F238E27FC236}">
                <a16:creationId xmlns:a16="http://schemas.microsoft.com/office/drawing/2014/main" id="{1D6C7B2F-7CF9-4C3B-A3BF-8DF89C2D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00625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Tách-ghép tạo mức tăng lớn nhất; chi phí độc lập của bước này chưa có phép đo hợp lệ</a:t>
            </a:r>
          </a:p>
        </p:txBody>
      </p:sp>
    </p:spTree>
    <p:extLst>
      <p:ext uri="{BB962C8B-B14F-4D97-AF65-F5344CB8AC3E}">
        <p14:creationId xmlns:p14="http://schemas.microsoft.com/office/powerpoint/2010/main" val="20506755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B653C69-163E-4EB0-BDB0-137E5127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3192"/>
            <a:ext cx="10195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0F2A5F"/>
                </a:solidFill>
                <a:latin typeface="Arial"/>
                <a:ea typeface="Arial"/>
                <a:cs typeface="Arial"/>
              </a:rPr>
              <a:t>Demo: hệ thống chạy thật</a:t>
            </a:r>
            <a:endParaRPr sz="25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E846D48-197C-4348-ACBF-5CE64116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914400"/>
            <a:ext cx="10058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5748B"/>
                </a:solidFill>
                <a:latin typeface="Arial"/>
                <a:ea typeface="Arial"/>
                <a:cs typeface="Arial"/>
              </a:rPr>
              <a:t>Khởi chạy một lệnh duy nhất · Giao diện Web trực quan · Đầy đủ API và lịch sử nhận dạng</a:t>
            </a:r>
            <a:endParaRPr sz="1150"/>
          </a:p>
        </p:txBody>
      </p:sp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3e1dcf31848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1397000"/>
            <a:ext cx="6017638" cy="4318000"/>
          </a:xfrm>
          <a:prstGeom xmlns:a="http://schemas.openxmlformats.org/drawingml/2006/main" prst="rect">
            <a:avLst/>
          </a:prstGeom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E3725602-2084-4636-8588-6CA7EF65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3977640" cy="3429000"/>
          </a:xfrm>
          <a:prstGeom xmlns:a="http://schemas.openxmlformats.org/drawingml/2006/main" prst="roundRect">
            <a:avLst>
              <a:gd name="adj" fmla="val 2133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12700">
            <a:solidFill>
              <a:srgbClr val="D9E3EF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A9B6C5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C35FE4F-3AFC-444F-9F46-C9427AD2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965960"/>
            <a:ext cx="33375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0F2A5F"/>
                </a:solidFill>
                <a:latin typeface="Courier New"/>
                <a:ea typeface="Courier New"/>
                <a:cs typeface="Courier New"/>
              </a:rPr>
              <a:t>docker compose up</a:t>
            </a:r>
            <a:endParaRPr sz="19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7340215-1F78-49F0-8E03-A783CB6E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88920"/>
            <a:ext cx="324612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26354A"/>
                </a:solidFill>
              </a:rPr>
              <a:t>• Nhận dạng ảnh tĩnh, luồng video và webcam trực tiếp
• Đối chiếu chuỗi OCR thô và chuỗi chuẩn hóa theo luật
• Nhận dạng màu sắc biển (HSV) và loại phương tiện
• Bảng theo dõi lịch sử và độ trễ suy luận từng bước</a:t>
            </a:r>
            <a:endParaRPr sz="15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B898CF1-D194-457C-A31C-DD5E6A8A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3154680" cy="384048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2700">
            <a:solidFill>
              <a:srgbClr val="EEF6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5C3623A7-DBEF-4D06-9A95-C12B7DC1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4645152"/>
            <a:ext cx="300837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E5FD4"/>
                </a:solidFill>
                <a:latin typeface="Arial"/>
                <a:ea typeface="Arial"/>
                <a:cs typeface="Arial"/>
              </a:rPr>
              <a:t>Kiểm thử tự động trên 39 mẫu kiểm chuẩn có nhãn expected.json</a:t>
            </a:r>
            <a:endParaRPr sz="1050"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058F392A-4534-4C34-ADF0-CCCDE300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502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4B91"/>
                </a:solidFill>
                <a:latin typeface="Segoe UI"/>
                <a:ea typeface="Segoe UI"/>
                <a:cs typeface="Segoe UI"/>
              </a:rPr>
              <a:t>17</a:t>
            </a:r>
            <a:endParaRPr sz="900" b="1">
              <a:solidFill>
                <a:srgbClr val="004B91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0832818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D7BA4E8B-24B7-43C3-A464-62ACA5C2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Kết luận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8AA8876-FFC8-4E27-95FC-C3002DFC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Hệ thống đạt mục tiêu phát hiện và độ trễ; điểm nghẽn còn lại nằm ở biển hai dòng</a:t>
            </a:r>
          </a:p>
        </p:txBody>
      </p:sp>
      <p:sp>
        <p:nvSpPr>
          <p:cNvPr id="3" name="conclusion-card-0">
            <a:extLst xmlns:a="http://schemas.openxmlformats.org/drawingml/2006/main">
              <a:ext uri="{FF2B5EF4-FFF2-40B4-BE49-F238E27FC236}">
                <a16:creationId xmlns:a16="http://schemas.microsoft.com/office/drawing/2014/main" id="{481491E3-2B7B-4DC3-A240-BCF31A79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476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D7E2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conclusion-value-0">
            <a:extLst xmlns:a="http://schemas.openxmlformats.org/drawingml/2006/main">
              <a:ext uri="{FF2B5EF4-FFF2-40B4-BE49-F238E27FC236}">
                <a16:creationId xmlns:a16="http://schemas.microsoft.com/office/drawing/2014/main" id="{39B2E183-8A7C-4405-80C4-DBECFEB0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478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0,9829</a:t>
            </a:r>
          </a:p>
        </p:txBody>
      </p:sp>
      <p:sp>
        <p:nvSpPr>
          <p:cNvPr id="5" name="conclusion-label-0">
            <a:extLst xmlns:a="http://schemas.openxmlformats.org/drawingml/2006/main">
              <a:ext uri="{FF2B5EF4-FFF2-40B4-BE49-F238E27FC236}">
                <a16:creationId xmlns:a16="http://schemas.microsoft.com/office/drawing/2014/main" id="{4A80A70C-8AB9-40F4-A456-6DD66AE9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mAP@0,5</a:t>
            </a:r>
          </a:p>
        </p:txBody>
      </p:sp>
      <p:sp>
        <p:nvSpPr>
          <p:cNvPr id="6" name="conclusion-card-1">
            <a:extLst xmlns:a="http://schemas.openxmlformats.org/drawingml/2006/main">
              <a:ext uri="{FF2B5EF4-FFF2-40B4-BE49-F238E27FC236}">
                <a16:creationId xmlns:a16="http://schemas.microsoft.com/office/drawing/2014/main" id="{733ADC50-5387-4C1B-9C88-1AA73094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476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D7E2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conclusion-value-1">
            <a:extLst xmlns:a="http://schemas.openxmlformats.org/drawingml/2006/main">
              <a:ext uri="{FF2B5EF4-FFF2-40B4-BE49-F238E27FC236}">
                <a16:creationId xmlns:a16="http://schemas.microsoft.com/office/drawing/2014/main" id="{E2938649-5A7A-42E6-B611-2F3F3DDC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478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+34,92 điểm</a:t>
            </a:r>
          </a:p>
        </p:txBody>
      </p:sp>
      <p:sp>
        <p:nvSpPr>
          <p:cNvPr id="8" name="conclusion-label-1">
            <a:extLst xmlns:a="http://schemas.openxmlformats.org/drawingml/2006/main">
              <a:ext uri="{FF2B5EF4-FFF2-40B4-BE49-F238E27FC236}">
                <a16:creationId xmlns:a16="http://schemas.microsoft.com/office/drawing/2014/main" id="{36697BBD-2DDC-4CBD-9999-DF14B432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575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Tách-ghép ngang</a:t>
            </a:r>
          </a:p>
        </p:txBody>
      </p:sp>
      <p:sp>
        <p:nvSpPr>
          <p:cNvPr id="9" name="conclusion-card-2">
            <a:extLst xmlns:a="http://schemas.openxmlformats.org/drawingml/2006/main">
              <a:ext uri="{FF2B5EF4-FFF2-40B4-BE49-F238E27FC236}">
                <a16:creationId xmlns:a16="http://schemas.microsoft.com/office/drawing/2014/main" id="{2E4B97F2-00A5-40DA-9C98-B6E7AF97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476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D7E2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conclusion-value-2">
            <a:extLst xmlns:a="http://schemas.openxmlformats.org/drawingml/2006/main">
              <a:ext uri="{FF2B5EF4-FFF2-40B4-BE49-F238E27FC236}">
                <a16:creationId xmlns:a16="http://schemas.microsoft.com/office/drawing/2014/main" id="{F3A9B23F-E0BE-491C-BEDB-6B0FB9BA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478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+13,28 điểm</a:t>
            </a:r>
          </a:p>
        </p:txBody>
      </p:sp>
      <p:sp>
        <p:nvSpPr>
          <p:cNvPr id="11" name="conclusion-label-2">
            <a:extLst xmlns:a="http://schemas.openxmlformats.org/drawingml/2006/main">
              <a:ext uri="{FF2B5EF4-FFF2-40B4-BE49-F238E27FC236}">
                <a16:creationId xmlns:a16="http://schemas.microsoft.com/office/drawing/2014/main" id="{ABE23906-74D5-430B-9B32-F679BDF5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Hậu xử lý vị trí</a:t>
            </a:r>
          </a:p>
        </p:txBody>
      </p:sp>
      <p:sp>
        <p:nvSpPr>
          <p:cNvPr id="12" name="conclusion-card-3">
            <a:extLst xmlns:a="http://schemas.openxmlformats.org/drawingml/2006/main">
              <a:ext uri="{FF2B5EF4-FFF2-40B4-BE49-F238E27FC236}">
                <a16:creationId xmlns:a16="http://schemas.microsoft.com/office/drawing/2014/main" id="{D56A7C37-CB5D-48DF-9C5B-EAFA69FE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476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9525">
            <a:solidFill>
              <a:srgbClr val="D7E2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conclusion-value-3">
            <a:extLst xmlns:a="http://schemas.openxmlformats.org/drawingml/2006/main">
              <a:ext uri="{FF2B5EF4-FFF2-40B4-BE49-F238E27FC236}">
                <a16:creationId xmlns:a16="http://schemas.microsoft.com/office/drawing/2014/main" id="{B63BB571-3BB3-418C-8C4C-95140BCF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478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9B69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19B69"/>
                </a:solidFill>
                <a:latin typeface="Segoe UI"/>
                <a:ea typeface="Segoe UI"/>
                <a:cs typeface="Segoe UI"/>
              </a:rPr>
              <a:t>509,76 ms</a:t>
            </a:r>
          </a:p>
        </p:txBody>
      </p:sp>
      <p:sp>
        <p:nvSpPr>
          <p:cNvPr id="14" name="conclusion-label-3">
            <a:extLst xmlns:a="http://schemas.openxmlformats.org/drawingml/2006/main">
              <a:ext uri="{FF2B5EF4-FFF2-40B4-BE49-F238E27FC236}">
                <a16:creationId xmlns:a16="http://schemas.microsoft.com/office/drawing/2014/main" id="{ED8F6CEC-0D62-4B9D-808D-2EFCFE01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Độ trễ p95 CPU</a:t>
            </a:r>
          </a:p>
        </p:txBody>
      </p:sp>
      <p:sp>
        <p:nvSpPr>
          <p:cNvPr id="15" name="remaining-gap">
            <a:extLst xmlns:a="http://schemas.openxmlformats.org/drawingml/2006/main">
              <a:ext uri="{FF2B5EF4-FFF2-40B4-BE49-F238E27FC236}">
                <a16:creationId xmlns:a16="http://schemas.microsoft.com/office/drawing/2014/main" id="{4C2213C5-E6A4-49D6-816B-E80E3ED3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24747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D24747"/>
                </a:solidFill>
                <a:latin typeface="Segoe UI"/>
                <a:ea typeface="Segoe UI"/>
                <a:cs typeface="Segoe UI"/>
              </a:rPr>
              <a:t>Biển một dòng S₁ = 0,9541  •  Biển hai dòng S₁ = 0,7234</a:t>
            </a:r>
          </a:p>
        </p:txBody>
      </p:sp>
      <p:sp>
        <p:nvSpPr>
          <p:cNvPr id="16" name="conclusion-takeaway">
            <a:extLst xmlns:a="http://schemas.openxmlformats.org/drawingml/2006/main">
              <a:ext uri="{FF2B5EF4-FFF2-40B4-BE49-F238E27FC236}">
                <a16:creationId xmlns:a16="http://schemas.microsoft.com/office/drawing/2014/main" id="{AAFCBDCB-9D7A-487C-A567-8CDA7C8C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38750"/>
            <a:ext cx="742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Nhóm thực hiện đã định vị rõ nguyên nhân và hướng xử lý tiếp theo</a:t>
            </a:r>
          </a:p>
        </p:txBody>
      </p:sp>
    </p:spTree>
    <p:extLst>
      <p:ext uri="{BB962C8B-B14F-4D97-AF65-F5344CB8AC3E}">
        <p14:creationId xmlns:p14="http://schemas.microsoft.com/office/powerpoint/2010/main" val="103018761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A4D9474-4503-47A7-AD51-475A4DA1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Hạn chế và hướng phát triển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76E38E-8DB6-4F6A-85A2-99ED2776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Mỗi hướng phát triển gắn trực tiếp với một hạn chế đã đo hoặc đã xác định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952500" y="1666875"/>
          <a:ext xmlns:a="http://schemas.openxmlformats.org/drawingml/2006/main" cx="10287000" cy="30003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095750"/>
                <a:gridCol w="6191250"/>
              </a:tblGrid>
              <a:tr h="75009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Hạn chế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Hướng phát triển</a:t>
                      </a:r>
                    </a:p>
                  </a:txBody>
                  <a:tcPr marL="95250" marR="95250" marT="76200" marB="76200" anchor="ctr">
                    <a:solidFill>
                      <a:srgbClr val="112F63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24747"/>
                          </a:solidFill>
                          <a:latin typeface="Segoe UI"/>
                          <a:ea typeface="Segoe UI"/>
                          <a:cs typeface="Segoe UI"/>
                        </a:rPr>
                        <a:t>Biển hai dòng S₁ = 0,7234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Huấn luyện recognizer chuyên biệt cho biển Việt Nam</a:t>
                      </a:r>
                    </a:p>
                  </a:txBody>
                  <a:tcPr marL="95250" marR="95250" marT="66675" marB="66675" anchor="ctr"/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24747"/>
                          </a:solidFill>
                          <a:latin typeface="Segoe UI"/>
                          <a:ea typeface="Segoe UI"/>
                          <a:cs typeface="Segoe UI"/>
                        </a:rPr>
                        <a:t>Bảng ánh xạ nhầm lẫn còn hạn chế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Mở rộng từ ma trận nhầm lẫn trên dữ liệu mới</a:t>
                      </a:r>
                    </a:p>
                  </a:txBody>
                  <a:tcPr marL="95250" marR="95250" marT="66675" marB="66675" anchor="ctr"/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24747"/>
                          </a:solidFill>
                          <a:latin typeface="Segoe UI"/>
                          <a:ea typeface="Segoe UI"/>
                          <a:cs typeface="Segoe UI"/>
                        </a:rPr>
                        <a:t>Tập test chưa xuyên nguồn dữ liệu</a:t>
                      </a:r>
                    </a:p>
                  </a:txBody>
                  <a:tcPr marL="95250" marR="9525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7354D"/>
                          </a:solidFill>
                          <a:latin typeface="Segoe UI"/>
                          <a:ea typeface="Segoe UI"/>
                          <a:cs typeface="Segoe UI"/>
                        </a:rPr>
                        <a:t>Bổ sung đánh giá chéo theo nguồn và chuỗi biển số</a:t>
                      </a:r>
                    </a:p>
                  </a:txBody>
                  <a:tcPr marL="95250" marR="95250" marT="66675" marB="66675" anchor="ctr"/>
                </a:tc>
              </a:tr>
            </a:tbl>
          </a:graphicData>
        </a:graphic>
      </p:graphicFrame>
      <p:sp>
        <p:nvSpPr>
          <p:cNvPr id="4" name="scope-note">
            <a:extLst xmlns:a="http://schemas.openxmlformats.org/drawingml/2006/main">
              <a:ext uri="{FF2B5EF4-FFF2-40B4-BE49-F238E27FC236}">
                <a16:creationId xmlns:a16="http://schemas.microsoft.com/office/drawing/2014/main" id="{E151D669-77D3-46EF-8DC6-357BCFB7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91125"/>
            <a:ext cx="781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Ưu tiên tiếp theo: bộ nhận dạng ký tự chuyên biệt cho bố cục hai dòng</a:t>
            </a:r>
          </a:p>
        </p:txBody>
      </p:sp>
    </p:spTree>
    <p:extLst>
      <p:ext uri="{BB962C8B-B14F-4D97-AF65-F5344CB8AC3E}">
        <p14:creationId xmlns:p14="http://schemas.microsoft.com/office/powerpoint/2010/main" val="4485762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hanks">
            <a:extLst xmlns:a="http://schemas.openxmlformats.org/drawingml/2006/main">
              <a:ext uri="{FF2B5EF4-FFF2-40B4-BE49-F238E27FC236}">
                <a16:creationId xmlns:a16="http://schemas.microsoft.com/office/drawing/2014/main" id="{42D5E5E4-9B37-4A94-96DD-65BDA41B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66687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12F63"/>
                </a:solidFill>
                <a:latin typeface="Segoe UI"/>
                <a:ea typeface="Segoe UI"/>
                <a:cs typeface="Segoe UI"/>
              </a:defRPr>
            </a:pPr>
            <a:r>
              <a:rPr sz="3150" b="1">
                <a:solidFill>
                  <a:srgbClr val="112F63"/>
                </a:solidFill>
                <a:latin typeface="Segoe UI"/>
                <a:ea typeface="Segoe UI"/>
                <a:cs typeface="Segoe UI"/>
              </a:rPr>
              <a:t>TRÂN TRỌNG CẢM ƠN</a:t>
            </a:r>
          </a:p>
        </p:txBody>
      </p:sp>
      <p:sp>
        <p:nvSpPr>
          <p:cNvPr id="2" name="qa">
            <a:extLst xmlns:a="http://schemas.openxmlformats.org/drawingml/2006/main">
              <a:ext uri="{FF2B5EF4-FFF2-40B4-BE49-F238E27FC236}">
                <a16:creationId xmlns:a16="http://schemas.microsoft.com/office/drawing/2014/main" id="{985F7C46-3634-46B1-8730-1C61E329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1937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2563D8"/>
                </a:solidFill>
                <a:latin typeface="Segoe UI"/>
                <a:ea typeface="Segoe UI"/>
                <a:cs typeface="Segoe UI"/>
              </a:defRPr>
            </a:pPr>
            <a:r>
              <a:rPr sz="4800" b="1">
                <a:solidFill>
                  <a:srgbClr val="2563D8"/>
                </a:solidFill>
                <a:latin typeface="Segoe UI"/>
                <a:ea typeface="Segoe UI"/>
                <a:cs typeface="Segoe UI"/>
              </a:rPr>
              <a:t>Q&amp;A</a:t>
            </a:r>
          </a:p>
        </p:txBody>
      </p:sp>
      <p:sp>
        <p:nvSpPr>
          <p:cNvPr id="3" name="topic">
            <a:extLst xmlns:a="http://schemas.openxmlformats.org/drawingml/2006/main">
              <a:ext uri="{FF2B5EF4-FFF2-40B4-BE49-F238E27FC236}">
                <a16:creationId xmlns:a16="http://schemas.microsoft.com/office/drawing/2014/main" id="{51632598-2A12-453A-9CBE-CDE67F83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48125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7354D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27354D"/>
                </a:solidFill>
                <a:latin typeface="Segoe UI"/>
                <a:ea typeface="Segoe UI"/>
                <a:cs typeface="Segoe UI"/>
              </a:rPr>
              <a:t>Xây dựng hệ thống nhận diện biển số xe bằng Trí tuệ nhân tạo</a:t>
            </a:r>
          </a:p>
        </p:txBody>
      </p:sp>
      <p:sp>
        <p:nvSpPr>
          <p:cNvPr id="4" name="team">
            <a:extLst xmlns:a="http://schemas.openxmlformats.org/drawingml/2006/main">
              <a:ext uri="{FF2B5EF4-FFF2-40B4-BE49-F238E27FC236}">
                <a16:creationId xmlns:a16="http://schemas.microsoft.com/office/drawing/2014/main" id="{FC41563B-C473-4F73-8F14-142EBD0C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58E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66758E"/>
                </a:solidFill>
                <a:latin typeface="Segoe UI"/>
                <a:ea typeface="Segoe UI"/>
                <a:cs typeface="Segoe UI"/>
              </a:rPr>
              <a:t>Nhóm thực hiện: Phạm Nguyễn Thế Châu  •  Nguyễn Công Hậu  •  Nguyễn Minh Hiếu  •  Phạm Công Thành</a:t>
            </a:r>
          </a:p>
        </p:txBody>
      </p:sp>
    </p:spTree>
    <p:extLst>
      <p:ext uri="{BB962C8B-B14F-4D97-AF65-F5344CB8AC3E}">
        <p14:creationId xmlns:p14="http://schemas.microsoft.com/office/powerpoint/2010/main" val="47331009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2026-09-14T12:57:17.2390000Z</dcterms:created>
  <dcterms:modified xsi:type="dcterms:W3CDTF">2026-09-14T12:57:17.2390000Z</dcterms:modified>
</coreProperties>
</file>