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x="12192000" cy="6858000"/>
  <p:notesSz cx="6858000" cy="9144000"/>
  <p:embeddedFontLst>
    <p:embeddedFont>
      <p:font typeface="Roboto"/>
      <p:regular r:id="rId16"/>
      <p:bold r:id="rId17"/>
      <p:italic r:id="rId18"/>
      <p:boldItalic r:id="rId19"/>
    </p:embeddedFont>
    <p:embeddedFont>
      <p:font typeface="Open Sans"/>
      <p:regular r:id="rId20"/>
      <p:bold r:id="rId21"/>
      <p:italic r:id="rId22"/>
      <p:boldItalic r:id="rId23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4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17" Type="http://schemas.openxmlformats.org/officeDocument/2006/relationships/font" Target="fonts/Roboto-bold.fntdata" /><Relationship Id="rId16" Type="http://schemas.openxmlformats.org/officeDocument/2006/relationships/font" Target="fonts/Roboto-regular.fntdata" /><Relationship Id="rId19" Type="http://schemas.openxmlformats.org/officeDocument/2006/relationships/font" Target="fonts/Roboto-boldItalic.fntdata" /><Relationship Id="rId18" Type="http://schemas.openxmlformats.org/officeDocument/2006/relationships/font" Target="fonts/Roboto-italic.fntdata" /><Relationship Id="rId20" Type="http://schemas.openxmlformats.org/officeDocument/2006/relationships/font" Target="fonts/OpenSans-regular.fntdata" /><Relationship Id="rId22" Type="http://schemas.openxmlformats.org/officeDocument/2006/relationships/font" Target="fonts/OpenSans-italic.fntdata" /><Relationship Id="rId21" Type="http://schemas.openxmlformats.org/officeDocument/2006/relationships/font" Target="fonts/OpenSans-bold.fntdata" /><Relationship Id="rId24" Type="http://customschemas.google.com/relationships/presentationmetadata" Target="metadata" /><Relationship Id="rId23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</a:t>
            </a:r>
            <a:r>
              <a:rPr b="1"/>
              <a:t>biển hai dòng là đa số</a:t>
            </a:r>
            <a:r>
              <a:rPr/>
              <a:t>, không phải ngoại lệ như ở Mỹ hay châu Âu</a:t>
            </a:r>
          </a:p>
          <a:p>
            <a:pPr lvl="0"/>
            <a:r>
              <a:rPr/>
              <a:t>Trên bộ </a:t>
            </a:r>
            <a:r>
              <a:rPr b="1"/>
              <a:t>RodoSol-ALPR (Brazil)</a:t>
            </a:r>
            <a:r>
              <a:rPr/>
              <a:t>, OpenALPR đọc đúng </a:t>
            </a:r>
            <a:r>
              <a:rPr b="1"/>
              <a:t>94,3%</a:t>
            </a:r>
            <a:r>
              <a:rPr/>
              <a:t> biển một dòng nhưng chỉ </a:t>
            </a:r>
            <a:r>
              <a:rPr b="1"/>
              <a:t>45,7%</a:t>
            </a:r>
            <a:r>
              <a:rPr/>
              <a:t> biển hai dòng — chênh </a:t>
            </a:r>
            <a:r>
              <a:rPr b="1"/>
              <a:t>48,6 điểm</a:t>
            </a:r>
            <a:r>
              <a:rPr/>
              <a:t>, chỉ khác bố cục biển</a:t>
            </a:r>
          </a:p>
          <a:p>
            <a:pPr lvl="0"/>
            <a:r>
              <a:rPr/>
              <a:t>Ba đặc thù </a:t>
            </a:r>
            <a:r>
              <a:rPr b="1"/>
              <a:t>không học được từ dữ liệu nước ngoài</a:t>
            </a:r>
            <a:r>
              <a:rPr/>
              <a:t>: cấu trúc chuỗi theo </a:t>
            </a:r>
            <a:r>
              <a:rPr b="1"/>
              <a:t>TT 79/2024</a:t>
            </a:r>
            <a:r>
              <a:rPr/>
              <a:t>, chỉ </a:t>
            </a:r>
            <a:r>
              <a:rPr b="1"/>
              <a:t>81/89 mã tỉnh</a:t>
            </a:r>
            <a:r>
              <a:rPr/>
              <a:t> được dùng, tập ký tự sê-ri </a:t>
            </a:r>
            <a:r>
              <a:rPr b="1"/>
              <a:t>khác nhau theo từng vị trí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phạm vi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hoàn chỉnh,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đầu-cuối: ảnh vào →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Bao phủ kiểm thử tầng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Công nghệ và kiến trúc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 + </a:t>
            </a:r>
            <a:r>
              <a:rPr b="1"/>
              <a:t>PaddleOCR PP-OCRv5 mobile</a:t>
            </a:r>
            <a:r>
              <a:rPr/>
              <a:t> · FastAPI · SQLite · React · Docker Compose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Quy trình: từ dữ liệu tới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Khử trùng lặp chéo bộ </a:t>
            </a:r>
            <a:r>
              <a:rPr b="1"/>
              <a:t>loại 44,2%</a:t>
            </a:r>
            <a:r>
              <a:rPr/>
              <a:t> — một bộ vào 1.005 ảnh, ra </a:t>
            </a:r>
            <a:r>
              <a:rPr b="1"/>
              <a:t>0 ảnh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7 bộ có nhãn hộp bao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lặp, băm tri giác ngưỡng 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YOLO11n, </a:t>
                      </a:r>
                      <a:r>
                        <a:rPr>
                          <a:latin typeface="Courier"/>
                        </a:rPr>
                        <a:t>imgsz=640</a:t>
                      </a:r>
                      <a:r>
                        <a:rPr/>
                        <a:t>, 20 epoch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10,05 giờ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Nhánh riêng: nhãn chuỗi để đánh giá OCR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2.801</a:t>
                      </a:r>
                      <a:r>
                        <a:rPr/>
                        <a:t>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Hai đóng góp kỹ thuật lõi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CTC</a:t>
            </a:r>
            <a:r>
              <a:rPr/>
              <a:t> giả định ký tự xếp trên </a:t>
            </a:r>
            <a:r>
              <a:rPr b="1"/>
              <a:t>một dòng</a:t>
            </a:r>
            <a:r>
              <a:rPr/>
              <a:t> ⇒ </a:t>
            </a:r>
            <a:r>
              <a:rPr b="1"/>
              <a:t>cắt chồng lấn rồi ghép ngang</a:t>
            </a:r>
            <a:r>
              <a:rPr/>
              <a:t>; sau đó </a:t>
            </a:r>
            <a:r>
              <a:rPr b="1"/>
              <a:t>bộ luật ràng buộc theo từng vị trí</a:t>
            </a:r>
            <a:r>
              <a:rPr/>
              <a:t>.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 — chênh </a:t>
            </a:r>
            <a:r>
              <a:rPr b="1"/>
              <a:t>23,07 điểm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</a:t>
                      </a:r>
                      <a:r>
                        <a:rPr/>
                        <a:t> · 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Đóng góp của hậu xử lý</a:t>
                      </a:r>
                      <a:r>
                        <a:rPr/>
                        <a:t> (A6 − A5)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· 372 sửa đúng / </a:t>
                      </a:r>
                      <a:r>
                        <a:rPr b="1"/>
                        <a:t>0</a:t>
                      </a:r>
                      <a:r>
                        <a:rPr/>
                        <a:t>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 · bao phủ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1.002/1.002</a:t>
                      </a:r>
                      <a:r>
                        <a:rPr/>
                        <a:t> · 87,7%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 · 70%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Giao diện hiện </a:t>
            </a:r>
            <a:r>
              <a:rPr b="1"/>
              <a:t>cả chuỗi OCR thô lẫn chuỗi đã sửa</a:t>
            </a:r>
            <a:r>
              <a:rPr/>
              <a:t> khi hai chuỗi khác nhau.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Khó khăn kỹ thuật và cách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Vấn đề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Cách xử lý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Công cụ đo không chạy đúng hệ thống đang giao</a:t>
                      </a:r>
                      <a:r>
                        <a:rPr/>
                        <a:t> — kịch bản </a:t>
                      </a:r>
                      <a:r>
                        <a:rPr i="1"/>
                        <a:t>dựng lại</a:t>
                      </a:r>
                      <a:r>
                        <a:rPr/>
                        <a:t> các bước thay vì </a:t>
                      </a:r>
                      <a:r>
                        <a:rPr i="1"/>
                        <a:t>gọi</a:t>
                      </a:r>
                      <a:r>
                        <a:rPr/>
                        <a:t> pipeline, nên mỗi bước mới thêm đều rơi ra ngoài phép đo. Xảy ra </a:t>
                      </a:r>
                      <a:r>
                        <a:rPr b="1"/>
                        <a:t>ba lần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chỉ số đứng yên vô lý: A6 tăng 1,75 điểm trong khi A7 — vốn </a:t>
                      </a:r>
                      <a:r>
                        <a:rPr b="1"/>
                        <a:t>bao hàm</a:t>
                      </a:r>
                      <a:r>
                        <a:rPr/>
                        <a:t> A6 — bất động ở đúng 0,5227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Tách thành hàm dùng chung; ghi </a:t>
                      </a:r>
                      <a:r>
                        <a:rPr b="1"/>
                        <a:t>trạng thái công tắc</a:t>
                      </a:r>
                      <a:r>
                        <a:rPr/>
                        <a:t> và </a:t>
                      </a:r>
                      <a:r>
                        <a:rPr b="1"/>
                        <a:t>số biển từng bậc cứu được</a:t>
                      </a:r>
                      <a:r>
                        <a:rPr/>
                        <a:t> vào tệp kết quả, nên bước không được gọi hiện ra là số 0 có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Một quyết định suýt sai</a:t>
                      </a:r>
                      <a:r>
                        <a:rPr/>
                        <a:t> — bỏ bước phát hiện chữ của PaddleOCR cho </a:t>
                      </a:r>
                      <a:r>
                        <a:rPr b="1"/>
                        <a:t>+12,46 điểm</a:t>
                      </a:r>
                      <a:r>
                        <a:rPr/>
                        <a:t> và rẻ hơn ~290 ms mỗi ảnh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lại bộ demo </a:t>
                      </a:r>
                      <a:r>
                        <a:rPr b="1"/>
                        <a:t>trước</a:t>
                      </a:r>
                      <a:r>
                        <a:rPr/>
                        <a:t> khi đổi mặc định: trên ảnh toàn cảnh thứ tự </a:t>
                      </a:r>
                      <a:r>
                        <a:rPr b="1"/>
                        <a:t>đảo ngược</a:t>
                      </a:r>
                      <a:r>
                        <a:rPr/>
                        <a:t>, 17/22 xuống 13/22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Giữ nguyên mặc định — ngữ liệu kia toàn </a:t>
                      </a:r>
                      <a:r>
                        <a:rPr b="1"/>
                        <a:t>ảnh cắt sẵn</a:t>
                      </a:r>
                      <a:r>
                        <a:rPr/>
                        <a:t>, và chế độ đó </a:t>
                      </a:r>
                      <a:r>
                        <a:rPr b="1"/>
                        <a:t>không trả được chuỗi rỗng</a:t>
                      </a:r>
                      <a:r>
                        <a:rPr/>
                        <a:t> nên nó </a:t>
                      </a:r>
                      <a:r>
                        <a:rPr b="1"/>
                        <a:t>bịa</a:t>
                      </a:r>
                      <a:r>
                        <a:rPr/>
                        <a:t> khi bắt nhầm biển quảng cáo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quyết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Nút thắt lớn nhất: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đỏ,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 ⇒ kết luận chỉ áp cho biển trắng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Bổ sung nhãn chuỗi cho toàn tập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Mới 2.801/15.133 ảnh có nhãn chuỗi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 0,9829 lạc quan hơn khi triển khai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Lượng tử hoá OCR, đóng gói ONNX / OpenVINO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mới chỉ đạt ngưỡng tối thiểu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Bám vết đối tượng qua khung hình cho video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Gộp nhiều lần đọc cùng một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 — và mời đặt câu hỏi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đầu-cuối trên máy </a:t>
            </a:r>
            <a:r>
              <a:rPr b="1"/>
              <a:t>không có GPU</a:t>
            </a:r>
            <a:r>
              <a:rPr/>
              <a:t>: bộ phát hiện </a:t>
            </a:r>
            <a:r>
              <a:rPr b="1"/>
              <a:t>mAP@0,5 = 0,9829</a:t>
            </a:r>
          </a:p>
          <a:p>
            <a:pPr lvl="0"/>
            <a:r>
              <a:rPr/>
              <a:t>Hậu xử lý đóng góp </a:t>
            </a:r>
            <a:r>
              <a:rPr b="1"/>
              <a:t>+13,28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trên 2.801 biển</a:t>
            </a:r>
          </a:p>
          <a:p>
            <a:pPr lvl="0"/>
            <a:r>
              <a:rPr/>
              <a:t>Benchmark ba engine OCR trên biển Việt Nam: PaddleOCR </a:t>
            </a:r>
            <a:r>
              <a:rPr b="1"/>
              <a:t>68,87%</a:t>
            </a:r>
            <a:r>
              <a:rPr/>
              <a:t> trong cấu hình đánh giá của đồ án; kết quả khác với khuynh hướng của một số tài liệu công khai</a:t>
            </a:r>
          </a:p>
          <a:p>
            <a:pPr lvl="0"/>
            <a:r>
              <a:rPr/>
              <a:t>Đọc đúng cả chuỗi </a:t>
            </a:r>
            <a:r>
              <a:rPr b="1"/>
              <a:t>0,7701</a:t>
            </a:r>
            <a:r>
              <a:rPr/>
              <a:t>, dưới ngưỡng 0,85</a:t>
            </a:r>
          </a:p>
          <a:p>
            <a:pPr lvl="0" indent="0" marL="0">
              <a:buNone/>
            </a:pPr>
            <a:r>
              <a:rPr b="1"/>
              <a:t>Xin cảm ơn thầy 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2026-08-14T06:20:26Z</dcterms:created>
  <dcterms:modified xsi:type="dcterms:W3CDTF">2026-08-14T06:20:26Z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