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fntdata" ContentType="application/x-fontdata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 autoCompressPictures="0" embedTrueTypeFonts="1" saveSubsetFonts="1" strictFirstAndLastChars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</p:sldIdLst>
  <p:sldSz cx="12192000" cy="6858000"/>
  <p:notesSz cx="6858000" cy="9144000"/>
  <p:embeddedFontLst>
    <p:embeddedFont>
      <p:font typeface="Roboto"/>
      <p:regular r:id="rId16"/>
      <p:bold r:id="rId17"/>
      <p:italic r:id="rId18"/>
      <p:boldItalic r:id="rId19"/>
    </p:embeddedFont>
    <p:embeddedFont>
      <p:font typeface="Open Sans"/>
      <p:regular r:id="rId20"/>
      <p:bold r:id="rId21"/>
      <p:italic r:id="rId22"/>
      <p:boldItalic r:id="rId23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oundtripDataSignature="AMtx7mhu5dURU4INwSlvEO7StWDXKr50jg==" r:id="rId24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mpd="sng">
              <a:solidFill>
                <a:srgbClr val="7F7F7F"/>
              </a:solidFill>
            </a:ln>
          </a:left>
          <a:right>
            <a:ln w="12700" cmpd="sng">
              <a:solidFill>
                <a:srgbClr val="7F7F7F"/>
              </a:solidFill>
            </a:ln>
          </a:right>
          <a:top>
            <a:ln w="12700" cmpd="sng">
              <a:solidFill>
                <a:srgbClr val="7F7F7F"/>
              </a:solidFill>
            </a:ln>
          </a:top>
          <a:bottom>
            <a:ln w="12700" cmpd="sng">
              <a:solidFill>
                <a:srgbClr val="7F7F7F"/>
              </a:solidFill>
            </a:ln>
          </a:bottom>
          <a:insideH>
            <a:ln w="12700" cmpd="sng">
              <a:solidFill>
                <a:srgbClr val="7F7F7F"/>
              </a:solidFill>
            </a:ln>
          </a:insideH>
          <a:insideV>
            <a:ln w="12700" cmpd="sng">
              <a:solidFill>
                <a:srgbClr val="7F7F7F"/>
              </a:solidFill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fill>
          <a:solidFill>
            <a:srgbClr val="F8D4D4"/>
          </a:solidFill>
        </a:fill>
      </a:tcStyle>
    </a:band1H>
    <a:band2H>
      <a:tcTxStyle/>
    </a:band2H>
    <a:band1V>
      <a:tcTxStyle/>
      <a:tcStyle>
        <a:fill>
          <a:solidFill>
            <a:srgbClr val="F8D4D4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3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3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9" Type="http://schemas.openxmlformats.org/officeDocument/2006/relationships/slide" Target="slides/slide5.xml" /><Relationship Id="rId10" Type="http://schemas.openxmlformats.org/officeDocument/2006/relationships/slide" Target="slides/slide6.xml" /><Relationship Id="rId11" Type="http://schemas.openxmlformats.org/officeDocument/2006/relationships/slide" Target="slides/slide7.xml" /><Relationship Id="rId12" Type="http://schemas.openxmlformats.org/officeDocument/2006/relationships/slide" Target="slides/slide8.xml" /><Relationship Id="rId13" Type="http://schemas.openxmlformats.org/officeDocument/2006/relationships/slide" Target="slides/slide9.xml" /><Relationship Id="rId14" Type="http://schemas.openxmlformats.org/officeDocument/2006/relationships/slide" Target="slides/slide10.xml" /><Relationship Id="rId15" Type="http://schemas.openxmlformats.org/officeDocument/2006/relationships/slide" Target="slides/slide11.xml" /><Relationship Id="rId1" Type="http://schemas.openxmlformats.org/officeDocument/2006/relationships/theme" Target="theme/theme1.xml" /><Relationship Id="rId2" Type="http://schemas.openxmlformats.org/officeDocument/2006/relationships/presProps" Target="presProps.xml" /><Relationship Id="rId3" Type="http://schemas.openxmlformats.org/officeDocument/2006/relationships/tableStyles" Target="tableStyles.xml" /><Relationship Id="rId4" Type="http://schemas.openxmlformats.org/officeDocument/2006/relationships/slideMaster" Target="slideMasters/slideMaster1.xml" /><Relationship Id="rId17" Type="http://schemas.openxmlformats.org/officeDocument/2006/relationships/font" Target="fonts/Roboto-bold.fntdata" /><Relationship Id="rId16" Type="http://schemas.openxmlformats.org/officeDocument/2006/relationships/font" Target="fonts/Roboto-regular.fntdata" /><Relationship Id="rId19" Type="http://schemas.openxmlformats.org/officeDocument/2006/relationships/font" Target="fonts/Roboto-boldItalic.fntdata" /><Relationship Id="rId18" Type="http://schemas.openxmlformats.org/officeDocument/2006/relationships/font" Target="fonts/Roboto-italic.fntdata" /><Relationship Id="rId20" Type="http://schemas.openxmlformats.org/officeDocument/2006/relationships/font" Target="fonts/OpenSans-regular.fntdata" /><Relationship Id="rId22" Type="http://schemas.openxmlformats.org/officeDocument/2006/relationships/font" Target="fonts/OpenSans-italic.fntdata" /><Relationship Id="rId21" Type="http://schemas.openxmlformats.org/officeDocument/2006/relationships/font" Target="fonts/OpenSans-bold.fntdata" /><Relationship Id="rId24" Type="http://customschemas.google.com/relationships/presentationmetadata" Target="metadata" /><Relationship Id="rId23" Type="http://schemas.openxmlformats.org/officeDocument/2006/relationships/font" Target="fonts/OpenSans-boldItalic.fntdata" /></Relationship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30" name="Google Shape;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b="1" sz="4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b="1" sz="28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1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1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52" name="Google Shape;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Mục lục">
  <p:cSld name="2_Mục lục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0" name="Google Shape;60;p22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/>
          <p:nvPr>
            <p:ph idx="12" type="sldNum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/>
          <p:nvPr>
            <p:ph idx="1" type="body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683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descr="A picture containing clipart, vector graphics&#10;&#10;Description automatically generated" id="132" name="Google Shape;13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" type="obj">
  <p:cSld name="Title and Conten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3"/>
          <p:cNvSpPr txBox="1"/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23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 2">
  <p:cSld name="Noi dung 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1" type="body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86" name="Google Shape;186;p24"/>
          <p:cNvSpPr txBox="1"/>
          <p:nvPr>
            <p:ph idx="2" type="body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ống" type="blank">
  <p:cSld name="Blank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/>
          <p:nvPr>
            <p:ph idx="11" type="ftr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207" name="Google Shape;20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/>
          <p:nvPr>
            <p:ph idx="12" type="sldNum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/>
          <p:nvPr>
            <p:ph idx="10" type="dt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êu đề chương">
  <p:cSld name="3_Tiêu đề chương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211" name="Google Shape;211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26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/>
          <p:nvPr>
            <p:ph idx="1" type="body"/>
          </p:nvPr>
        </p:nvSpPr>
        <p:spPr>
          <a:xfrm>
            <a:off x="1704109" y="3019167"/>
            <a:ext cx="4583866" cy="1439258"/>
          </a:xfrm>
          <a:prstGeom prst="roundRect">
            <a:avLst>
              <a:gd fmla="val 2631" name="adj"/>
            </a:avLst>
          </a:prstGeom>
          <a:solidFill>
            <a:srgbClr val="F2F2F2"/>
          </a:solidFill>
          <a:ln cap="rnd" cmpd="sng" w="19050">
            <a:solidFill>
              <a:srgbClr val="00C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b="1" i="0" sz="200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1" name="Google Shape;231;p26"/>
            <p:cNvCxnSpPr/>
            <p:nvPr/>
          </p:nvCxnSpPr>
          <p:spPr>
            <a:xfrm flipH="1" rot="10800000">
              <a:off x="6011109" y="1480500"/>
              <a:ext cx="591405" cy="506136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cap="flat" cmpd="sng" w="12700">
            <a:solidFill>
              <a:srgbClr val="00C6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/>
          <p:nvPr>
            <p:ph idx="2" type="pic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sx="102000" rotWithShape="0" algn="ctr" sy="10200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/>
          <p:nvPr>
            <p:ph idx="3" type="body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b="1" sz="36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Mục lục">
  <p:cSld name="1_Mục lục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3" name="Google Shape;243;p27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/>
          <p:nvPr>
            <p:ph idx="12" type="sldNum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/>
          <p:nvPr>
            <p:ph idx="1" type="body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15" name="Google Shape;315;p27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27"/>
          <p:cNvSpPr txBox="1"/>
          <p:nvPr>
            <p:ph idx="2" type="body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 chương">
  <p:cSld name="Section Header"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319" name="Google Shape;319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idx="3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28"/>
          <p:cNvSpPr txBox="1"/>
          <p:nvPr>
            <p:ph idx="4" type="body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b="1" sz="120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" name="Google Shape;337;p28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Background pattern&#10;&#10;Description automatically generated" id="348" name="Google Shape;348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/>
          <p:nvPr>
            <p:ph idx="5" type="sldNum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/>
          <p:nvPr>
            <p:ph idx="6" type="body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9" name="Google Shape;369;p28"/>
          <p:cNvSpPr txBox="1"/>
          <p:nvPr>
            <p:ph idx="7" type="body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28"/>
          <p:cNvSpPr txBox="1"/>
          <p:nvPr>
            <p:ph idx="8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1">
  <p:cSld name="Two Content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/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1" name="Google Shape;381;p29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97" name="Google Shape;397;p29"/>
          <p:cNvSpPr txBox="1"/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29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2">
  <p:cSld name="Comparison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/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8" name="Google Shape;408;p30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24" name="Google Shape;424;p30"/>
          <p:cNvSpPr txBox="1"/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30"/>
          <p:cNvSpPr txBox="1"/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30"/>
          <p:cNvSpPr txBox="1"/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30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ình ảnh">
  <p:cSld name="Content with Caption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7" name="Google Shape;437;p31"/>
          <p:cNvSpPr txBox="1"/>
          <p:nvPr>
            <p:ph type="body" sz="half" idx="2"/>
          </p:nvPr>
        </p:nvSpPr>
        <p:spPr>
          <a:xfrm>
            <a:off x="771525" y="1066800"/>
            <a:ext cx="10582275" cy="1181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8" name="Google Shape;438;p31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4" name="Google Shape;454;p31"/>
          <p:cNvSpPr/>
          <p:nvPr>
            <p:ph idx="1"/>
          </p:nvPr>
        </p:nvSpPr>
        <p:spPr>
          <a:xfrm>
            <a:off x="771525" y="2324100"/>
            <a:ext cx="10582275" cy="3848100"/>
          </a:xfrm>
          <a:prstGeom prst="roundRect">
            <a:avLst>
              <a:gd fmla="val 57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1">
  <p:cSld name="Trang trong 1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0" name="Google Shape;470;p32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2">
  <p:cSld name="Trang trong 2"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êu đề">
  <p:cSld name="1_Tiêu đề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489" name="Google Shape;48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/>
          <p:nvPr>
            <p:ph idx="12" type="sldNum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/>
          <p:nvPr>
            <p:ph idx="1" type="body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b="1" sz="4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4" name="Google Shape;494;p34"/>
          <p:cNvSpPr txBox="1"/>
          <p:nvPr>
            <p:ph idx="2" type="body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b="1" sz="20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5" name="Google Shape;495;p34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6" name="Google Shape;496;p34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7" name="Google Shape;497;p34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1" Target="../slideLayouts/slideLayout11.xml" Type="http://schemas.openxmlformats.org/officeDocument/2006/relationships/slideLayout" /><Relationship Id="rId10" Target="../slideLayouts/slideLayout10.xml" Type="http://schemas.openxmlformats.org/officeDocument/2006/relationships/slideLayout" /><Relationship Id="rId13" Target="../slideLayouts/slideLayout13.xml" Type="http://schemas.openxmlformats.org/officeDocument/2006/relationships/slideLayout" /><Relationship Id="rId12" Target="../slideLayouts/slideLayout12.xml" Type="http://schemas.openxmlformats.org/officeDocument/2006/relationships/slideLayout" /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5" Target="../theme/theme1.xml" Type="http://schemas.openxmlformats.org/officeDocument/2006/relationships/theme" /><Relationship Id="rId14" Target="../slideLayouts/slideLayout1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b="1" cap="none" i="0" strike="noStrike" sz="4000" u="non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406400" lvl="0" marL="457200" marR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cap="none" i="0" strike="noStrike" sz="2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81000" lvl="1" marL="914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cap="none" i="0" strike="noStrike" sz="24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55600" lvl="2" marL="1371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cap="none" i="0" strike="noStrike" sz="20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42900" lvl="3" marL="1828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42900" lvl="4" marL="22860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42900" lvl="5" marL="27432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42900" lvl="6" marL="3200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42900" lvl="7" marL="3657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42900" lvl="8" marL="4114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9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0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Xây dựng hệ thống nhận dạng biển số xe bằng Trí tuệ nhân tạo</a:t>
            </a:r>
          </a:p>
        </p:txBody>
      </p:sp>
      <p:sp>
        <p:nvSpPr>
          <p:cNvPr id="35" name="Google Shape;35;p21"/>
          <p:cNvSpPr txBox="1"/>
          <p:nvPr>
            <p:ph idx="1" type="subTitle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Đồ án tốt nghiệp đại học · Trường Đại học Công nghệ Thông tin, ĐHQG-HCM</a:t>
            </a:r>
            <a:br/>
            <a:br/>
            <a:r>
              <a:rPr/>
              <a:t>Phạm Công Thành — 25410013 · Nguyễn Minh Hiếu — 25410007</a:t>
            </a:r>
            <a:br/>
            <a:r>
              <a:rPr/>
              <a:t>GVHD: ThS. Cáp Phạm Đình Thăng</a:t>
            </a:r>
          </a:p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Tháng 9 năm 2026</a:t>
            </a: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Đặt vấn đề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77 triệu xe máy</a:t>
            </a:r>
            <a:r>
              <a:rPr/>
              <a:t>, chiếm 85–90% lưu lượng ⇒ </a:t>
            </a:r>
            <a:r>
              <a:rPr b="1"/>
              <a:t>biển hai dòng là đa số</a:t>
            </a:r>
            <a:r>
              <a:rPr/>
              <a:t>, không phải ngoại lệ như ở Mỹ hay châu Âu</a:t>
            </a:r>
          </a:p>
          <a:p>
            <a:pPr lvl="0"/>
            <a:r>
              <a:rPr/>
              <a:t>Trên bộ </a:t>
            </a:r>
            <a:r>
              <a:rPr b="1"/>
              <a:t>RodoSol-ALPR (Brazil)</a:t>
            </a:r>
            <a:r>
              <a:rPr/>
              <a:t>, OpenALPR đọc đúng </a:t>
            </a:r>
            <a:r>
              <a:rPr b="1"/>
              <a:t>94,3%</a:t>
            </a:r>
            <a:r>
              <a:rPr/>
              <a:t> biển một dòng nhưng chỉ </a:t>
            </a:r>
            <a:r>
              <a:rPr b="1"/>
              <a:t>45,7%</a:t>
            </a:r>
            <a:r>
              <a:rPr/>
              <a:t> biển hai dòng — chênh </a:t>
            </a:r>
            <a:r>
              <a:rPr b="1"/>
              <a:t>48,6 điểm</a:t>
            </a:r>
            <a:r>
              <a:rPr/>
              <a:t>, chỉ khác bố cục biển</a:t>
            </a:r>
          </a:p>
          <a:p>
            <a:pPr lvl="0"/>
            <a:r>
              <a:rPr/>
              <a:t>Ba đặc thù </a:t>
            </a:r>
            <a:r>
              <a:rPr b="1"/>
              <a:t>không học được từ dữ liệu nước ngoài</a:t>
            </a:r>
            <a:r>
              <a:rPr/>
              <a:t>: cấu trúc chuỗi theo </a:t>
            </a:r>
            <a:r>
              <a:rPr b="1"/>
              <a:t>TT 79/2024</a:t>
            </a:r>
            <a:r>
              <a:rPr/>
              <a:t>, chỉ </a:t>
            </a:r>
            <a:r>
              <a:rPr b="1"/>
              <a:t>81/89 mã tỉnh</a:t>
            </a:r>
            <a:r>
              <a:rPr/>
              <a:t> được dùng, tập ký tự sê-ri </a:t>
            </a:r>
            <a:r>
              <a:rPr b="1"/>
              <a:t>khác nhau theo từng vị trí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Mục tiêu và phạm vi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Hệ thống hoàn chỉnh, </a:t>
            </a:r>
            <a:r>
              <a:rPr b="1"/>
              <a:t>suy luận hoàn toàn trên CPU</a:t>
            </a:r>
            <a:r>
              <a:rPr/>
              <a:t>, hỗ trợ cả biển một dòng và hai dòng.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Sàn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Mục tiêu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mAP@0,5 của bộ 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chuỗi, sau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đầu-cuối: ảnh vào → chuỗi ra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 một ảnh, p95, </a:t>
                      </a:r>
                      <a:r>
                        <a:rPr b="1"/>
                        <a:t>trên CPU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≤ 1.500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≤ 800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Bao phủ kiểm thử tầng nghiệp vụ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Công nghệ và kiến trúc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YOLO11n</a:t>
            </a:r>
            <a:r>
              <a:rPr/>
              <a:t> + </a:t>
            </a:r>
            <a:r>
              <a:rPr b="1"/>
              <a:t>PaddleOCR PP-OCRv5 mobile</a:t>
            </a:r>
            <a:r>
              <a:rPr/>
              <a:t> · FastAPI · SQLite · React · Docker Compose</a:t>
            </a:r>
          </a:p>
        </p:txBody>
      </p:sp>
      <p:pic>
        <p:nvPicPr>
          <p:cNvPr descr="figures/fig-architect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67100" y="2324100"/>
            <a:ext cx="5168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Quy trình: từ dữ liệu tới mô hình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Khử trùng lặp chéo bộ </a:t>
            </a:r>
            <a:r>
              <a:rPr b="1"/>
              <a:t>loại 44,2%</a:t>
            </a:r>
            <a:r>
              <a:rPr/>
              <a:t> — một bộ vào 1.005 ảnh, ra </a:t>
            </a:r>
            <a:r>
              <a:rPr b="1"/>
              <a:t>0 ảnh</a:t>
            </a:r>
            <a:r>
              <a:rPr/>
              <a:t>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Kết quả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Hợp nhất 7 bộ có nhãn hộp bao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27.111 ảnh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Khử trùng lặp, băm tri giác ngưỡng 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còn </a:t>
                      </a:r>
                      <a:r>
                        <a:rPr b="1"/>
                        <a:t>15.133</a:t>
                      </a:r>
                      <a:r>
                        <a:rPr/>
                        <a:t> ảnh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Chia tập, giữ nhóm trùng cùng một bên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10.592 / 3.027 / </a:t>
                      </a:r>
                      <a:r>
                        <a:rPr b="1"/>
                        <a:t>1.514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Huấn luyện YOLO11n, </a:t>
                      </a:r>
                      <a:r>
                        <a:rPr>
                          <a:latin typeface="Courier"/>
                        </a:rPr>
                        <a:t>imgsz=640</a:t>
                      </a:r>
                      <a:r>
                        <a:rPr/>
                        <a:t>, 20 epoch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10,05 giờ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Nhánh riêng: nhãn chuỗi để đánh giá OCR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2.801</a:t>
                      </a:r>
                      <a:r>
                        <a:rPr/>
                        <a:t>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Hai đóng góp kỹ thuật lõi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CTC</a:t>
            </a:r>
            <a:r>
              <a:rPr/>
              <a:t> giả định ký tự xếp trên </a:t>
            </a:r>
            <a:r>
              <a:rPr b="1"/>
              <a:t>một dòng</a:t>
            </a:r>
            <a:r>
              <a:rPr/>
              <a:t> ⇒ </a:t>
            </a:r>
            <a:r>
              <a:rPr b="1"/>
              <a:t>cắt chồng lấn rồi ghép ngang</a:t>
            </a:r>
            <a:r>
              <a:rPr/>
              <a:t>; sau đó </a:t>
            </a:r>
            <a:r>
              <a:rPr b="1"/>
              <a:t>bộ luật ràng buộc theo từng vị trí</a:t>
            </a:r>
            <a:r>
              <a:rPr/>
              <a:t>.</a:t>
            </a:r>
          </a:p>
        </p:txBody>
      </p:sp>
      <p:pic>
        <p:nvPicPr>
          <p:cNvPr descr="figures/fig-two-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46500" y="2324100"/>
            <a:ext cx="46101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đo được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Phát hiện </a:t>
            </a:r>
            <a:r>
              <a:rPr b="1"/>
              <a:t>đạt cả bốn chỉ tiêu</a:t>
            </a:r>
            <a:r>
              <a:rPr/>
              <a:t>; phần thiếu nằm trọn ở </a:t>
            </a:r>
            <a:r>
              <a:rPr b="1"/>
              <a:t>biển hai dòng</a:t>
            </a:r>
            <a:r>
              <a:rPr/>
              <a:t> — chênh </a:t>
            </a:r>
            <a:r>
              <a:rPr b="1"/>
              <a:t>25,45 điểm</a:t>
            </a:r>
            <a:r>
              <a:rPr/>
              <a:t>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mAP@0,5 · mAP@0,5:0,95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0,9829</a:t>
                      </a:r>
                      <a:r>
                        <a:rPr/>
                        <a:t> · 0,7834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0,90 · 0,65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Precision · Recall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0,9837 · 0,9714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0,92 · 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 (1 − CER)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0,9454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chuỗi, sau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0,7512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 p95 · trung vị, CPU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1.143</a:t>
                      </a:r>
                      <a:r>
                        <a:rPr/>
                        <a:t> · 406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≤ 800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Đóng góp của hậu xử lý</a:t>
                      </a:r>
                      <a:r>
                        <a:rPr/>
                        <a:t> (A6 − A5)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+11,39 điểm</a:t>
                      </a:r>
                      <a:r>
                        <a:rPr/>
                        <a:t> · 319 sửa đúng / </a:t>
                      </a:r>
                      <a:r>
                        <a:rPr b="1"/>
                        <a:t>0</a:t>
                      </a:r>
                      <a:r>
                        <a:rPr/>
                        <a:t> hỏng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Kiểm thử · bao phủ nghiệp vụ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1.001/1.002</a:t>
                      </a:r>
                      <a:r>
                        <a:rPr/>
                        <a:t> · 87,7%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 · 70%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Demo: hệ thống chạy thật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Giao diện hiện </a:t>
            </a:r>
            <a:r>
              <a:rPr b="1"/>
              <a:t>cả chuỗi OCR thô lẫn chuỗi đã sửa</a:t>
            </a:r>
            <a:r>
              <a:rPr/>
              <a:t> khi hai chuỗi khác nhau.</a:t>
            </a:r>
          </a:p>
        </p:txBody>
      </p:sp>
      <p:pic>
        <p:nvPicPr>
          <p:cNvPr descr="figures/fig-demo-u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71800" y="2324100"/>
            <a:ext cx="61595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Khó khăn kỹ thuật và cách xử lý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Vấn đề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nhờ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Cách xử lý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Công cụ đo không chạy đúng hệ thống đang giao</a:t>
                      </a:r>
                      <a:r>
                        <a:rPr/>
                        <a:t> — kịch bản </a:t>
                      </a:r>
                      <a:r>
                        <a:rPr i="1"/>
                        <a:t>dựng lại</a:t>
                      </a:r>
                      <a:r>
                        <a:rPr/>
                        <a:t> các bước thay vì </a:t>
                      </a:r>
                      <a:r>
                        <a:rPr i="1"/>
                        <a:t>gọi</a:t>
                      </a:r>
                      <a:r>
                        <a:rPr/>
                        <a:t> pipeline, nên mỗi bước mới thêm đều rơi ra ngoài phép đo. Xảy ra </a:t>
                      </a:r>
                      <a:r>
                        <a:rPr b="1"/>
                        <a:t>ba lần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chỉ số đứng yên vô lý: A6 tăng 1,75 điểm trong khi A7 — vốn </a:t>
                      </a:r>
                      <a:r>
                        <a:rPr b="1"/>
                        <a:t>bao hàm</a:t>
                      </a:r>
                      <a:r>
                        <a:rPr/>
                        <a:t> A6 — bất động ở đúng 0,5227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Tách thành hàm dùng chung; ghi </a:t>
                      </a:r>
                      <a:r>
                        <a:rPr b="1"/>
                        <a:t>trạng thái công tắc</a:t>
                      </a:r>
                      <a:r>
                        <a:rPr/>
                        <a:t> và </a:t>
                      </a:r>
                      <a:r>
                        <a:rPr b="1"/>
                        <a:t>số biển từng bậc cứu được</a:t>
                      </a:r>
                      <a:r>
                        <a:rPr/>
                        <a:t> vào tệp kết quả, nên bước không được gọi hiện ra là số 0 có nhãn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Một quyết định suýt sai</a:t>
                      </a:r>
                      <a:r>
                        <a:rPr/>
                        <a:t> — bỏ bước phát hiện chữ của PaddleOCR cho </a:t>
                      </a:r>
                      <a:r>
                        <a:rPr b="1"/>
                        <a:t>+12,46 điểm</a:t>
                      </a:r>
                      <a:r>
                        <a:rPr/>
                        <a:t> và rẻ hơn ~290 ms mỗi ảnh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Chạy lại bộ demo </a:t>
                      </a:r>
                      <a:r>
                        <a:rPr b="1"/>
                        <a:t>trước</a:t>
                      </a:r>
                      <a:r>
                        <a:rPr/>
                        <a:t> khi đổi mặc định: trên ảnh toàn cảnh thứ tự </a:t>
                      </a:r>
                      <a:r>
                        <a:rPr b="1"/>
                        <a:t>đảo ngược</a:t>
                      </a:r>
                      <a:r>
                        <a:rPr/>
                        <a:t>, 17/22 xuống 13/22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Giữ nguyên mặc định — ngữ liệu kia toàn </a:t>
                      </a:r>
                      <a:r>
                        <a:rPr b="1"/>
                        <a:t>ảnh cắt sẵn</a:t>
                      </a:r>
                      <a:r>
                        <a:rPr/>
                        <a:t>, và chế độ đó </a:t>
                      </a:r>
                      <a:r>
                        <a:rPr b="1"/>
                        <a:t>không trả được chuỗi rỗng</a:t>
                      </a:r>
                      <a:r>
                        <a:rPr/>
                        <a:t> nên nó </a:t>
                      </a:r>
                      <a:r>
                        <a:rPr b="1"/>
                        <a:t>bịa</a:t>
                      </a:r>
                      <a:r>
                        <a:rPr/>
                        <a:t> khi bắt nhầm biển quảng cáo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phát triển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Hướng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quyết hạn chế nào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Huấn luyện lại bộ nhận dạng ký tự cho biển số Việt Nam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Nút thắt lớn nhất: biển hai dòng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 thập dữ liệu biển vàng, xanh, đỏ, ngoại giao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97,68% mẫu là biển trắng ⇒ kết luận chỉ áp cho biển trắng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Bổ sung nhãn chuỗi cho toàn tập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Mới 2.801/15.133 ảnh có nhãn chuỗi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Tập test </a:t>
                      </a:r>
                      <a:r>
                        <a:rPr b="1"/>
                        <a:t>xuyên bộ 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 0,9829 lạc quan hơn khi triển khai thật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Lượng tử hoá OCR, đóng gói ONNX / OpenVINO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 p95 mới chỉ đạt ngưỡng tối thiểu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Bám vết đối tượng qua khung hình cho video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Gộp nhiều lần đọc cùng một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Cảm ơn — và mời đặt câu hỏi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Chạy đầu-cuối trên máy </a:t>
            </a:r>
            <a:r>
              <a:rPr b="1"/>
              <a:t>không có GPU</a:t>
            </a:r>
            <a:r>
              <a:rPr/>
              <a:t>: bộ phát hiện </a:t>
            </a:r>
            <a:r>
              <a:rPr b="1"/>
              <a:t>mAP@0,5 = 0,9829</a:t>
            </a:r>
          </a:p>
          <a:p>
            <a:pPr lvl="0"/>
            <a:r>
              <a:rPr/>
              <a:t>Hậu xử lý đóng góp </a:t>
            </a:r>
            <a:r>
              <a:rPr b="1"/>
              <a:t>+11,39 điểm</a:t>
            </a:r>
            <a:r>
              <a:rPr/>
              <a:t>, </a:t>
            </a:r>
            <a:r>
              <a:rPr b="1"/>
              <a:t>0 ca làm hỏng</a:t>
            </a:r>
            <a:r>
              <a:rPr/>
              <a:t> trên 2.801 biển</a:t>
            </a:r>
          </a:p>
          <a:p>
            <a:pPr lvl="0"/>
            <a:r>
              <a:rPr/>
              <a:t>Benchmark ba engine OCR trên biển Việt Nam: PaddleOCR </a:t>
            </a:r>
            <a:r>
              <a:rPr b="1"/>
              <a:t>68,87%</a:t>
            </a:r>
            <a:r>
              <a:rPr/>
              <a:t> — bác bỏ tài liệu công khai vốn nghiêng về EasyOCR</a:t>
            </a:r>
          </a:p>
          <a:p>
            <a:pPr lvl="0"/>
            <a:r>
              <a:rPr/>
              <a:t>Nói thẳng phần chưa đạt: đọc đúng cả chuỗi </a:t>
            </a:r>
            <a:r>
              <a:rPr b="1"/>
              <a:t>0,7512</a:t>
            </a:r>
            <a:r>
              <a:rPr/>
              <a:t> so với ngưỡng 0,85</a:t>
            </a:r>
          </a:p>
          <a:p>
            <a:pPr lvl="0" indent="0" marL="0">
              <a:buNone/>
            </a:pPr>
            <a:r>
              <a:rPr b="1"/>
              <a:t>Xin cảm ơn thầy cô và các bạn đã lắng nghe.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nhận dạng biển số xe bằng Trí tuệ nhân tạo</dc:title>
  <dc:creator>Phạm Công Thành — 25410013 · Nguyễn Minh Hiếu — 25410007; GVHD: ThS. Cáp Phạm Đình Thăng</dc:creator>
  <cp:keywords/>
  <dcterms:created xsi:type="dcterms:W3CDTF">2026-08-04T15:21:34Z</dcterms:created>
  <dcterms:modified xsi:type="dcterms:W3CDTF">2026-08-04T15:21:34Z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Tháng 9 năm 2026</vt:lpwstr>
  </property>
  <property fmtid="{D5CDD505-2E9C-101B-9397-08002B2CF9AE}" pid="3" name="subtitle">
    <vt:lpwstr>Đồ án tốt nghiệp đại học · Trường Đại học Công nghệ Thông tin, ĐHQG-HCM</vt:lpwstr>
  </property>
</Properties>
</file>