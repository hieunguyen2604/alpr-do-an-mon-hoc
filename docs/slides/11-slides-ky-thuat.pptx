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 autoCompressPictures="0" embedTrueTypeFonts="1" saveSubsetFonts="1" strictFirstAndLastChar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oundtripDataSignature="AMtx7mhu5dURU4INwSlvEO7StWDXKr50jg==" r:id="rId24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EF19B-5B1D-4A26-B267-ECC71EF7E2D4}">
  <a:tblStyle styleId="{45BEF19B-5B1D-4A26-B267-ECC71EF7E2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mpd="sng">
              <a:solidFill>
                <a:srgbClr val="7F7F7F"/>
              </a:solidFill>
            </a:ln>
          </a:left>
          <a:right>
            <a:ln w="12700" cmpd="sng">
              <a:solidFill>
                <a:srgbClr val="7F7F7F"/>
              </a:solidFill>
            </a:ln>
          </a:right>
          <a:top>
            <a:ln w="12700" cmpd="sng">
              <a:solidFill>
                <a:srgbClr val="7F7F7F"/>
              </a:solidFill>
            </a:ln>
          </a:top>
          <a:bottom>
            <a:ln w="12700" cmpd="sng">
              <a:solidFill>
                <a:srgbClr val="7F7F7F"/>
              </a:solidFill>
            </a:ln>
          </a:bottom>
          <a:insideH>
            <a:ln w="12700" cmpd="sng">
              <a:solidFill>
                <a:srgbClr val="7F7F7F"/>
              </a:solidFill>
            </a:ln>
          </a:insideH>
          <a:insideV>
            <a:ln w="12700" cmpd="sng">
              <a:solidFill>
                <a:srgbClr val="7F7F7F"/>
              </a:solidFill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E219758-DFE7-4E60-9379-781288D8A9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BEB"/>
          </a:solidFill>
        </a:fill>
      </a:tcStyle>
    </a:wholeTbl>
    <a:band1H>
      <a:tcTxStyle/>
      <a:tcStyle>
        <a:fill>
          <a:solidFill>
            <a:srgbClr val="F8D4D4"/>
          </a:solidFill>
        </a:fill>
      </a:tcStyle>
    </a:band1H>
    <a:band2H>
      <a:tcTxStyle/>
    </a:band2H>
    <a:band1V>
      <a:tcTxStyle/>
      <a:tcStyle>
        <a:fill>
          <a:solidFill>
            <a:srgbClr val="F8D4D4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3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17" Type="http://schemas.openxmlformats.org/officeDocument/2006/relationships/font" Target="fonts/Roboto-bold.fntdata" /><Relationship Id="rId16" Type="http://schemas.openxmlformats.org/officeDocument/2006/relationships/font" Target="fonts/Roboto-regular.fntdata" /><Relationship Id="rId19" Type="http://schemas.openxmlformats.org/officeDocument/2006/relationships/font" Target="fonts/Roboto-boldItalic.fntdata" /><Relationship Id="rId18" Type="http://schemas.openxmlformats.org/officeDocument/2006/relationships/font" Target="fonts/Roboto-italic.fntdata" /><Relationship Id="rId20" Type="http://schemas.openxmlformats.org/officeDocument/2006/relationships/font" Target="fonts/OpenSans-regular.fntdata" /><Relationship Id="rId22" Type="http://schemas.openxmlformats.org/officeDocument/2006/relationships/font" Target="fonts/OpenSans-italic.fntdata" /><Relationship Id="rId21" Type="http://schemas.openxmlformats.org/officeDocument/2006/relationships/font" Target="fonts/OpenSans-bold.fntdata" /><Relationship Id="rId24" Type="http://customschemas.google.com/relationships/presentationmetadata" Target="metadata" /><Relationship Id="rId23" Type="http://schemas.openxmlformats.org/officeDocument/2006/relationships/font" Target="fonts/OpenSans-boldItalic.fntdata" 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type="subTitle" idx="1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21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1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2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22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22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22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22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22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22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22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22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22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22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22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22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22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22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22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22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2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2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22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2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22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22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22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22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22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2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Title and Conten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64" name="Google Shape;16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5" name="Google Shape;16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7" name="Google Shape;167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72" name="Google Shape;172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83" name="Google Shape;183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" name="Google Shape;184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2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92" name="Google Shape;19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5" name="Google Shape;19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7" name="Google Shape;197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0" name="Google Shape;200;p25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5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11" name="Google Shape;21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6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15" name="Google Shape;21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8" name="Google Shape;218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26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20" name="Google Shape;220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6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" name="Google Shape;223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6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6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9" name="Google Shape;229;p26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30" name="Google Shape;230;p26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26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6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6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36" name="Google Shape;236;p26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27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40" name="Google Shape;240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3" name="Google Shape;243;p27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4" name="Google Shape;244;p27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45" name="Google Shape;245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46" name="Google Shape;246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9" name="Google Shape;249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1" name="Google Shape;251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4" name="Google Shape;254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56" name="Google Shape;256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7" name="Google Shape;257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0" name="Google Shape;260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1" name="Google Shape;261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2" name="Google Shape;262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5" name="Google Shape;265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66" name="Google Shape;266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9" name="Google Shape;269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1" name="Google Shape;271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4" name="Google Shape;274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" name="Google Shape;275;p27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77" name="Google Shape;277;p27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27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7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0" name="Google Shape;280;p27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p27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82" name="Google Shape;282;p27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7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7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5" name="Google Shape;285;p27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8" name="Google Shape;288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1" name="Google Shape;291;p27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92" name="Google Shape;292;p27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3" name="Google Shape;293;p27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27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27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96" name="Google Shape;296;p27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97" name="Google Shape;297;p27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27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27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0" name="Google Shape;300;p27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1" name="Google Shape;301;p27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02" name="Google Shape;302;p27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27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27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5" name="Google Shape;305;p27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6" name="Google Shape;306;p27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2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27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312" name="Google Shape;312;p2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2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" name="Google Shape;314;p27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5" name="Google Shape;315;p27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7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2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Section Head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319" name="Google Shape;31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" name="Google Shape;322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23" name="Google Shape;32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26" name="Google Shape;326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28" name="Google Shape;32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1" name="Google Shape;331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28"/>
          <p:cNvSpPr txBox="1"/>
          <p:nvPr>
            <p:ph type="body" idx="1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36" name="Google Shape;336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8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39" name="Google Shape;339;p28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40" name="Google Shape;340;p28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8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8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ackground pattern&#10;&#10;Description automatically generated" id="348" name="Google Shape;34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58" name="Google Shape;358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61" name="Google Shape;361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63" name="Google Shape;363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66" name="Google Shape;366;p28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28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28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1" name="Google Shape;371;p28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Two Conten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9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9"/>
          <p:cNvSpPr txBox="1"/>
          <p:nvPr>
            <p:ph sz="half" idx="1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9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9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9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9"/>
          <p:cNvSpPr txBox="1"/>
          <p:nvPr>
            <p:ph sz="half" idx="2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Comparison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30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3" name="Google Shape;403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6" name="Google Shape;406;p3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0"/>
          <p:cNvSpPr txBox="1"/>
          <p:nvPr>
            <p:ph sz="half" idx="2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8" name="Google Shape;408;p30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09" name="Google Shape;409;p30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0" name="Google Shape;410;p30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30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3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0" name="Google Shape;420;p30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1" name="Google Shape;421;p3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3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30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4" name="Google Shape;424;p30"/>
          <p:cNvSpPr txBox="1"/>
          <p:nvPr>
            <p:ph sz="quarter" idx="4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type="body" idx="1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body" sz="quarter" idx="3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30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Content with Ca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3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31"/>
          <p:cNvSpPr txBox="1"/>
          <p:nvPr>
            <p:ph type="body" sz="half" idx="2"/>
          </p:nvPr>
        </p:nvSpPr>
        <p:spPr>
          <a:xfrm>
            <a:off x="771525" y="1066800"/>
            <a:ext cx="1058227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31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3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3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31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3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0" name="Google Shape;450;p31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3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3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3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31"/>
          <p:cNvSpPr/>
          <p:nvPr>
            <p:ph idx="1"/>
          </p:nvPr>
        </p:nvSpPr>
        <p:spPr>
          <a:xfrm>
            <a:off x="771525" y="2324100"/>
            <a:ext cx="10582275" cy="3848100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32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32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2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32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3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3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32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3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3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4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34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3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3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3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3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34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34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34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34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34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3" Target="../slideLayouts/slideLayout13.xml" Type="http://schemas.openxmlformats.org/officeDocument/2006/relationships/slideLayout" /><Relationship Id="rId12" Target="../slideLayouts/slideLayout12.xml" Type="http://schemas.openxmlformats.org/officeDocument/2006/relationships/slideLayout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5" Target="../theme/theme1.xml" Type="http://schemas.openxmlformats.org/officeDocument/2006/relationships/theme" /><Relationship Id="rId14" Target="../slideLayouts/slideLayout1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ahyp="http://schemas.microsoft.com/office/drawing/2018/hyperlinkcolor" xmlns:c="http://schemas.openxmlformats.org/drawingml/2006/chart" xmlns:com="http://schemas.openxmlformats.org/drawingml/2006/compatibility" xmlns:dgm="http://schemas.openxmlformats.org/drawingml/2006/diagram" xmlns:mc="http://schemas.openxmlformats.org/markup-compatibility/2006" xmlns:mv="urn:schemas-microsoft-com:mac:vml" xmlns:o="urn:schemas-microsoft-com:office:office" xmlns:p="http://schemas.openxmlformats.org/presentationml/2006/main" xmlns:p14="http://schemas.microsoft.com/office/powerpoint/2010/main" xmlns:p15="http://schemas.microsoft.com/office/powerpoint/2012/main" xmlns:pvml="urn:schemas-microsoft-com:office:powerpoint" xmlns:r="http://schemas.openxmlformats.org/officeDocument/2006/relationships" xmlns:v="urn:schemas-microsoft-com:vml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cap="none" i="0" strike="noStrike" sz="4000" u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i="0" strike="noStrike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i="0" strike="noStrike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i="0" strike="noStrike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200" u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9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0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image" Target="../media/image1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ctrTitle"/>
          </p:nvPr>
        </p:nvSpPr>
        <p:spPr>
          <a:xfrm>
            <a:off x="952500" y="13335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Xây dựng hệ thống nhận dạng biển số xe bằng Trí tuệ nhân tạo</a:t>
            </a:r>
          </a:p>
        </p:txBody>
      </p:sp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952500" y="352425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Đồ án tốt nghiệp đại học · Trường Đại học Công nghệ Thông tin, ĐHQG-HCM</a:t>
            </a:r>
            <a:br/>
            <a:br/>
            <a:r>
              <a:rPr/>
              <a:t>Phạm Công Thành — 25410013 · Nguyễn Minh Hiếu — 25410007</a:t>
            </a:r>
            <a:br/>
            <a:r>
              <a:rPr/>
              <a:t>GVHD: ThS. Cáp Phạm Đình Thăng</a:t>
            </a:r>
          </a:p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Tháng 9 năm 2026</a:t>
            </a:r>
          </a:p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 marR="0">
              <a:spcBef>
                <a:spcPts val="0"/>
              </a:spcBef>
              <a:buNone/>
              <a:defRPr b="0" cap="none" i="0" strike="noStrike" sz="7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Đặt vấn đề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77 triệu xe máy</a:t>
            </a:r>
            <a:r>
              <a:rPr/>
              <a:t>, chiếm 85–90% lưu lượng ⇒ </a:t>
            </a:r>
            <a:r>
              <a:rPr b="1"/>
              <a:t>biển hai dòng là đa số</a:t>
            </a:r>
            <a:r>
              <a:rPr/>
              <a:t>, không phải ngoại lệ như ở Mỹ hay châu Âu</a:t>
            </a:r>
          </a:p>
          <a:p>
            <a:pPr lvl="0"/>
            <a:r>
              <a:rPr/>
              <a:t>Trên bộ </a:t>
            </a:r>
            <a:r>
              <a:rPr b="1"/>
              <a:t>RodoSol-ALPR (Brazil)</a:t>
            </a:r>
            <a:r>
              <a:rPr/>
              <a:t>, OpenALPR đọc đúng </a:t>
            </a:r>
            <a:r>
              <a:rPr b="1"/>
              <a:t>94,3%</a:t>
            </a:r>
            <a:r>
              <a:rPr/>
              <a:t> biển một dòng nhưng chỉ </a:t>
            </a:r>
            <a:r>
              <a:rPr b="1"/>
              <a:t>45,7%</a:t>
            </a:r>
            <a:r>
              <a:rPr/>
              <a:t> biển hai dòng — chênh </a:t>
            </a:r>
            <a:r>
              <a:rPr b="1"/>
              <a:t>48,6 điểm</a:t>
            </a:r>
            <a:r>
              <a:rPr/>
              <a:t>, chỉ khác bố cục biển</a:t>
            </a:r>
          </a:p>
          <a:p>
            <a:pPr lvl="0"/>
            <a:r>
              <a:rPr/>
              <a:t>Ba đặc thù </a:t>
            </a:r>
            <a:r>
              <a:rPr b="1"/>
              <a:t>không học được từ dữ liệu nước ngoài</a:t>
            </a:r>
            <a:r>
              <a:rPr/>
              <a:t>: cấu trúc chuỗi theo </a:t>
            </a:r>
            <a:r>
              <a:rPr b="1"/>
              <a:t>TT 79/2024</a:t>
            </a:r>
            <a:r>
              <a:rPr/>
              <a:t>, chỉ </a:t>
            </a:r>
            <a:r>
              <a:rPr b="1"/>
              <a:t>81/89 mã tỉnh</a:t>
            </a:r>
            <a:r>
              <a:rPr/>
              <a:t> được dùng, tập ký tự sê-ri </a:t>
            </a:r>
            <a:r>
              <a:rPr b="1"/>
              <a:t>khác nhau theo từng vị trí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Mục tiêu và phạm vi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Hệ thống hoàn chỉnh, </a:t>
            </a:r>
            <a:r>
              <a:rPr b="1"/>
              <a:t>suy luận hoàn toàn trên CPU</a:t>
            </a:r>
            <a:r>
              <a:rPr/>
              <a:t>, hỗ trợ cả biển một dòng và hai dòng.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cái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Sàn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Mục tiêu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mAP@0,5 của bộ phát hiện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sau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đầu-cuối: ảnh vào → chuỗi 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một ảnh, p95, </a:t>
                      </a:r>
                      <a:r>
                        <a:rPr b="1"/>
                        <a:t>trên CPU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1.500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800 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Bao phủ kiểm thử tầng nghiệp vụ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Công nghệ và kiến trúc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YOLO11n</a:t>
            </a:r>
            <a:r>
              <a:rPr/>
              <a:t> + </a:t>
            </a:r>
            <a:r>
              <a:rPr b="1"/>
              <a:t>PaddleOCR PP-OCRv5 mobile</a:t>
            </a:r>
            <a:r>
              <a:rPr/>
              <a:t> · FastAPI · SQLite · React · Docker Compose</a:t>
            </a:r>
          </a:p>
        </p:txBody>
      </p:sp>
      <p:pic>
        <p:nvPicPr>
          <p:cNvPr descr="figures/fig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2324100"/>
            <a:ext cx="51689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Quy trình: từ dữ liệu tới mô hình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Khử trùng lặp chéo bộ </a:t>
            </a:r>
            <a:r>
              <a:rPr b="1"/>
              <a:t>loại 44,2%</a:t>
            </a:r>
            <a:r>
              <a:rPr/>
              <a:t> — một bộ vào 1.005 ảnh, ra </a:t>
            </a:r>
            <a:r>
              <a:rPr b="1"/>
              <a:t>0 ảnh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5283200"/>
                <a:gridCol w="528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Bước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Kết quả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Hợp nhất 7 bộ có nhãn hộp bao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27.111 ảnh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Khử trùng lặp, băm tri giác ngưỡng 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còn </a:t>
                      </a:r>
                      <a:r>
                        <a:rPr b="1"/>
                        <a:t>15.133</a:t>
                      </a:r>
                      <a:r>
                        <a:rPr/>
                        <a:t> ảnh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Chia tập, giữ nhóm trùng cùng một bên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10.592 / 3.027 / </a:t>
                      </a:r>
                      <a:r>
                        <a:rPr b="1"/>
                        <a:t>1.514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Huấn luyện YOLO11n, </a:t>
                      </a:r>
                      <a:r>
                        <a:rPr>
                          <a:latin typeface="Courier"/>
                        </a:rPr>
                        <a:t>imgsz=640</a:t>
                      </a:r>
                      <a:r>
                        <a:rPr/>
                        <a:t>, 20 epoch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10,05 giờ CPU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Nhánh riêng: nhãn chuỗi để đánh giá OCR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2.801</a:t>
                      </a:r>
                      <a:r>
                        <a:rPr/>
                        <a:t> biển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Hai đóng góp kỹ thuật lõi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CTC</a:t>
            </a:r>
            <a:r>
              <a:rPr/>
              <a:t> giả định ký tự xếp trên </a:t>
            </a:r>
            <a:r>
              <a:rPr b="1"/>
              <a:t>một dòng</a:t>
            </a:r>
            <a:r>
              <a:rPr/>
              <a:t> ⇒ </a:t>
            </a:r>
            <a:r>
              <a:rPr b="1"/>
              <a:t>cắt chồng lấn rồi ghép ngang</a:t>
            </a:r>
            <a:r>
              <a:rPr/>
              <a:t>; sau đó </a:t>
            </a:r>
            <a:r>
              <a:rPr b="1"/>
              <a:t>bộ luật ràng buộc theo từng vị trí</a:t>
            </a:r>
            <a:r>
              <a:rPr/>
              <a:t>.</a:t>
            </a:r>
          </a:p>
        </p:txBody>
      </p:sp>
      <p:pic>
        <p:nvPicPr>
          <p:cNvPr descr="figures/fig-two-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46500" y="2324100"/>
            <a:ext cx="46101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Kết quả đo được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Phát hiện </a:t>
            </a:r>
            <a:r>
              <a:rPr b="1"/>
              <a:t>đạt cả bốn chỉ tiêu</a:t>
            </a:r>
            <a:r>
              <a:rPr/>
              <a:t>; phần thiếu nằm trọn ở </a:t>
            </a:r>
            <a:r>
              <a:rPr b="1"/>
              <a:t>biển hai dòng</a:t>
            </a:r>
            <a:r>
              <a:rPr/>
              <a:t> — chênh </a:t>
            </a:r>
            <a:r>
              <a:rPr b="1"/>
              <a:t>25,45 điểm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2324100"/>
          <a:ext cx="10579100" cy="38481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2641600"/>
                <a:gridCol w="2641600"/>
                <a:gridCol w="2641600"/>
                <a:gridCol w="264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Đo cái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Đo được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Ngưỡng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mAP@0,5 · mAP@0,5:0,95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0,9829</a:t>
                      </a:r>
                      <a:r>
                        <a:rPr/>
                        <a:t> · 0,7834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 · 0,65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· Recall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0,9837 · 0,9714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0,92 · 0,90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từng ký tự (1 − CER)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0,9454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Đúng cả chuỗi, sau hậu xử lý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0,7512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0,90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p95 · trung vị, CPU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1.143</a:t>
                      </a:r>
                      <a:r>
                        <a:rPr/>
                        <a:t> · 406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≤ 800 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Đóng góp của hậu xử lý</a:t>
                      </a:r>
                      <a:r>
                        <a:rPr/>
                        <a:t> (A6 − A5)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+11,39 điểm</a:t>
                      </a:r>
                      <a:r>
                        <a:rPr/>
                        <a:t> · 319 sửa đúng / </a:t>
                      </a:r>
                      <a:r>
                        <a:rPr b="1"/>
                        <a:t>0</a:t>
                      </a:r>
                      <a:r>
                        <a:rPr/>
                        <a:t> hỏng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Kiểm thử · bao phủ nghiệp vụ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1.001/1.002</a:t>
                      </a:r>
                      <a:r>
                        <a:rPr/>
                        <a:t> · 87,7%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— · 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 txBox="1"/>
          <p:nvPr>
            <p:ph type="title"/>
          </p:nvPr>
        </p:nvSpPr>
        <p:spPr>
          <a:xfrm>
            <a:off x="771525" y="200025"/>
            <a:ext cx="10582275" cy="7905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Demo: hệ thống chạy thật</a:t>
            </a:r>
          </a:p>
        </p:txBody>
      </p:sp>
      <p:sp>
        <p:nvSpPr>
          <p:cNvPr id="437" name="Google Shape;437;p31"/>
          <p:cNvSpPr txBox="1"/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Giao diện hiện </a:t>
            </a:r>
            <a:r>
              <a:rPr b="1"/>
              <a:t>cả chuỗi OCR thô lẫn chuỗi đã sửa</a:t>
            </a:r>
            <a:r>
              <a:rPr/>
              <a:t> khi hai chuỗi khác nhau.</a:t>
            </a:r>
          </a:p>
        </p:txBody>
      </p:sp>
      <p:pic>
        <p:nvPicPr>
          <p:cNvPr descr="figures/fig-demo-u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71800" y="2324100"/>
            <a:ext cx="6159500" cy="384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49" name="Google Shape;449;p31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Khó khăn kỹ thuật và cách xử lý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Vấn đề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Phát hiện nhờ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Cách xử lý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Công cụ đo không chạy đúng hệ thống đang giao</a:t>
                      </a:r>
                      <a:r>
                        <a:rPr/>
                        <a:t> — kịch bản </a:t>
                      </a:r>
                      <a:r>
                        <a:rPr i="1"/>
                        <a:t>dựng lại</a:t>
                      </a:r>
                      <a:r>
                        <a:rPr/>
                        <a:t> các bước thay vì </a:t>
                      </a:r>
                      <a:r>
                        <a:rPr i="1"/>
                        <a:t>gọi</a:t>
                      </a:r>
                      <a:r>
                        <a:rPr/>
                        <a:t> pipeline, nên mỗi bước mới thêm đều rơi ra ngoài phép đo. Xảy ra </a:t>
                      </a:r>
                      <a:r>
                        <a:rPr b="1"/>
                        <a:t>ba lần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Một chỉ số đứng yên vô lý: A6 tăng 1,75 điểm trong khi A7 — vốn </a:t>
                      </a:r>
                      <a:r>
                        <a:rPr b="1"/>
                        <a:t>bao hàm</a:t>
                      </a:r>
                      <a:r>
                        <a:rPr/>
                        <a:t> A6 — bất động ở đúng 0,5227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Tách thành hàm dùng chung; ghi </a:t>
                      </a:r>
                      <a:r>
                        <a:rPr b="1"/>
                        <a:t>trạng thái công tắc</a:t>
                      </a:r>
                      <a:r>
                        <a:rPr/>
                        <a:t> và </a:t>
                      </a:r>
                      <a:r>
                        <a:rPr b="1"/>
                        <a:t>số biển từng bậc cứu được</a:t>
                      </a:r>
                      <a:r>
                        <a:rPr/>
                        <a:t> vào tệp kết quả, nên bước không được gọi hiện ra là số 0 có nhãn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Một quyết định suýt sai</a:t>
                      </a:r>
                      <a:r>
                        <a:rPr/>
                        <a:t> — bỏ bước phát hiện chữ của PaddleOCR cho </a:t>
                      </a:r>
                      <a:r>
                        <a:rPr b="1"/>
                        <a:t>+12,46 điểm</a:t>
                      </a:r>
                      <a:r>
                        <a:rPr/>
                        <a:t> và rẻ hơn ~290 ms mỗi ảnh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Chạy lại bộ demo </a:t>
                      </a:r>
                      <a:r>
                        <a:rPr b="1"/>
                        <a:t>trước</a:t>
                      </a:r>
                      <a:r>
                        <a:rPr/>
                        <a:t> khi đổi mặc định: trên ảnh toàn cảnh thứ tự </a:t>
                      </a:r>
                      <a:r>
                        <a:rPr b="1"/>
                        <a:t>đảo ngược</a:t>
                      </a:r>
                      <a:r>
                        <a:rPr/>
                        <a:t>, 17/22 xuống 13/22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Giữ nguyên mặc định — ngữ liệu kia toàn </a:t>
                      </a:r>
                      <a:r>
                        <a:rPr b="1"/>
                        <a:t>ảnh cắt sẵn</a:t>
                      </a:r>
                      <a:r>
                        <a:rPr/>
                        <a:t>, và chế độ đó </a:t>
                      </a:r>
                      <a:r>
                        <a:rPr b="1"/>
                        <a:t>không trả được chuỗi rỗng</a:t>
                      </a:r>
                      <a:r>
                        <a:rPr/>
                        <a:t> nên nó </a:t>
                      </a:r>
                      <a:r>
                        <a:rPr b="1"/>
                        <a:t>bịa</a:t>
                      </a:r>
                      <a:r>
                        <a:rPr/>
                        <a:t> khi bắt nhầm biển quảng cáo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Hướng phát triển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62000" y="1231900"/>
          <a:ext cx="10579100" cy="4940300"/>
        </p:xfrm>
        <a:graphic>
          <a:graphicData uri="http://schemas.openxmlformats.org/drawingml/2006/table">
            <a:tbl>
              <a:tblPr firstRow="1" bandRow="1">
                <a:tableStyleId>{45BEF19B-5B1D-4A26-B267-ECC71EF7E2D4}</a:tableStyleId>
              </a:tblPr>
              <a:tblGrid>
                <a:gridCol w="3517900"/>
                <a:gridCol w="3517900"/>
                <a:gridCol w="35179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Hướng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Giải quyết hạn chế nào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Huấn luyện lại bộ nhận dạng ký tự cho biển số Việt Nam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Nút thắt lớn nhất: biển hai dòng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 thập dữ liệu biển vàng, xanh, đỏ, ngoại giao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97,68% mẫu là biển trắng ⇒ kết luận chỉ áp cho biển trắng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Bổ sung nhãn chuỗi cho toàn tập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Mới 2.801/15.133 ảnh có nhãn chuỗi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Tập test </a:t>
                      </a:r>
                      <a:r>
                        <a:rPr b="1"/>
                        <a:t>xuyên bộ dữ liệu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 0,9829 lạc quan hơn khi triển khai thật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Lượng tử hoá OCR, đóng gói ONNX / OpenVINO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Độ trễ p95 mới chỉ đạt ngưỡng tối thiểu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Bám vết đối tượng qua khung hình cho video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Gộp nhiều lần đọc cùng một biển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Cảm ơn — và mời đặt câu hỏi</a:t>
            </a:r>
          </a:p>
        </p:txBody>
      </p:sp>
      <p:sp>
        <p:nvSpPr>
          <p:cNvPr id="143" name="Google Shape;143;p23"/>
          <p:cNvSpPr txBox="1"/>
          <p:nvPr>
            <p:ph idx="1"/>
          </p:nvPr>
        </p:nvSpPr>
        <p:spPr/>
        <p:txBody>
          <a:bodyPr/>
          <a:lstStyle/>
          <a:p>
            <a:pPr lvl="0"/>
            <a:r>
              <a:rPr/>
              <a:t>Chạy đầu-cuối trên máy </a:t>
            </a:r>
            <a:r>
              <a:rPr b="1"/>
              <a:t>không có GPU</a:t>
            </a:r>
            <a:r>
              <a:rPr/>
              <a:t>: bộ phát hiện </a:t>
            </a:r>
            <a:r>
              <a:rPr b="1"/>
              <a:t>mAP@0,5 = 0,9829</a:t>
            </a:r>
          </a:p>
          <a:p>
            <a:pPr lvl="0"/>
            <a:r>
              <a:rPr/>
              <a:t>Hậu xử lý đóng góp </a:t>
            </a:r>
            <a:r>
              <a:rPr b="1"/>
              <a:t>+11,39 điểm</a:t>
            </a:r>
            <a:r>
              <a:rPr/>
              <a:t>, </a:t>
            </a:r>
            <a:r>
              <a:rPr b="1"/>
              <a:t>0 ca làm hỏng</a:t>
            </a:r>
            <a:r>
              <a:rPr/>
              <a:t> trên 2.801 biển</a:t>
            </a:r>
          </a:p>
          <a:p>
            <a:pPr lvl="0"/>
            <a:r>
              <a:rPr/>
              <a:t>Benchmark ba engine OCR trên biển Việt Nam: PaddleOCR </a:t>
            </a:r>
            <a:r>
              <a:rPr b="1"/>
              <a:t>68,87%</a:t>
            </a:r>
            <a:r>
              <a:rPr/>
              <a:t> trong cấu hình đánh giá của đồ án; kết quả khác với khuynh hướng của một số tài liệu công khai</a:t>
            </a:r>
          </a:p>
          <a:p>
            <a:pPr lvl="0"/>
            <a:r>
              <a:rPr/>
              <a:t>Đọc đúng cả chuỗi </a:t>
            </a:r>
            <a:r>
              <a:rPr b="1"/>
              <a:t>0,7512</a:t>
            </a:r>
            <a:r>
              <a:rPr/>
              <a:t>, dưới ngưỡng 0,85</a:t>
            </a:r>
          </a:p>
          <a:p>
            <a:pPr lvl="0" indent="0" marL="0">
              <a:buNone/>
            </a:pPr>
            <a:r>
              <a:rPr b="1"/>
              <a:t>Xin cảm ơn thầy cô và các bạn đã lắng nghe.</a:t>
            </a:r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indent="0" lvl="1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indent="0" lvl="2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indent="0" lvl="3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indent="0" lvl="4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indent="0" lvl="5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indent="0" lvl="6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indent="0" lvl="7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indent="0" lvl="8" marL="0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dạng biển số xe bằng Trí tuệ nhân tạo</dc:title>
  <dc:creator>Phạm Công Thành — 25410013 · Nguyễn Minh Hiếu — 25410007; GVHD: ThS. Cáp Phạm Đình Thăng</dc:creator>
  <cp:keywords/>
  <dcterms:created xsi:type="dcterms:W3CDTF">2026-08-13T03:20:40Z</dcterms:created>
  <dcterms:modified xsi:type="dcterms:W3CDTF">2026-08-13T03:20:40Z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Tháng 9 năm 2026</vt:lpwstr>
  </property>
  <property fmtid="{D5CDD505-2E9C-101B-9397-08002B2CF9AE}" pid="3" name="subtitle">
    <vt:lpwstr>Đồ án tốt nghiệp đại học · Trường Đại học Công nghệ Thông tin, ĐHQG-HCM</vt:lpwstr>
  </property>
</Properties>
</file>