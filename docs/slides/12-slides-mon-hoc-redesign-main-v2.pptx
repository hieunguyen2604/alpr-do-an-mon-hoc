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480c3f9487a4f46" /><Relationship Type="http://schemas.openxmlformats.org/officeDocument/2006/relationships/extended-properties" Target="/docProps/app.xml" Id="R2a31a78868a742ee" /><Relationship Type="http://schemas.openxmlformats.org/officeDocument/2006/relationships/officeDocument" Target="/ppt/presentation.xml" Id="R7730bf5d5dec42b5" /></Relationships>
</file>

<file path=ppt/presentation.xml><?xml version="1.0" encoding="utf-8"?>
<p:presentation xmlns:p="http://schemas.openxmlformats.org/presentationml/2006/main">
  <p:sldMasterIdLst>
    <p:sldMasterId xmlns:r="http://schemas.openxmlformats.org/officeDocument/2006/relationships" id="2147483648" r:id="R8d32e8bf327d4a3e"/>
  </p:sldMasterIdLst>
  <p:notesMasterIdLst>
    <p:notesMasterId xmlns:r="http://schemas.openxmlformats.org/officeDocument/2006/relationships" r:id="R6371625aae0d4703"/>
  </p:notesMasterIdLst>
  <p:sldIdLst>
    <p:sldId xmlns:r="http://schemas.openxmlformats.org/officeDocument/2006/relationships" id="256" r:id="R0b1a83b8a136486f"/>
    <p:sldId xmlns:r="http://schemas.openxmlformats.org/officeDocument/2006/relationships" id="257" r:id="R8b972849584c4538"/>
    <p:sldId xmlns:r="http://schemas.openxmlformats.org/officeDocument/2006/relationships" id="258" r:id="R7eb1af58bf344446"/>
    <p:sldId xmlns:r="http://schemas.openxmlformats.org/officeDocument/2006/relationships" id="259" r:id="R3d9173484bd64e66"/>
    <p:sldId xmlns:r="http://schemas.openxmlformats.org/officeDocument/2006/relationships" id="260" r:id="Racc155b9c6e04df7"/>
    <p:sldId xmlns:r="http://schemas.openxmlformats.org/officeDocument/2006/relationships" id="261" r:id="Rda91495f5ec6435c"/>
    <p:sldId xmlns:r="http://schemas.openxmlformats.org/officeDocument/2006/relationships" id="262" r:id="R26d648700c984f91"/>
    <p:sldId xmlns:r="http://schemas.openxmlformats.org/officeDocument/2006/relationships" id="263" r:id="R6f8f1db57c9b453f"/>
    <p:sldId xmlns:r="http://schemas.openxmlformats.org/officeDocument/2006/relationships" id="264" r:id="R7900aa20259d4760"/>
    <p:sldId xmlns:r="http://schemas.openxmlformats.org/officeDocument/2006/relationships" id="265" r:id="Re75648be034c4230"/>
    <p:sldId xmlns:r="http://schemas.openxmlformats.org/officeDocument/2006/relationships" id="266" r:id="Rb2f9c316f9f54de8"/>
    <p:sldId xmlns:r="http://schemas.openxmlformats.org/officeDocument/2006/relationships" id="267" r:id="R6d96930c98274b3a"/>
    <p:sldId xmlns:r="http://schemas.openxmlformats.org/officeDocument/2006/relationships" id="268" r:id="R687772b788f245d5"/>
    <p:sldId xmlns:r="http://schemas.openxmlformats.org/officeDocument/2006/relationships" id="269" r:id="R1f364d9bb2074f55"/>
    <p:sldId xmlns:r="http://schemas.openxmlformats.org/officeDocument/2006/relationships" id="270" r:id="Rc3b32b56b83140a0"/>
    <p:sldId xmlns:r="http://schemas.openxmlformats.org/officeDocument/2006/relationships" id="271" r:id="R46d0d29229bc42ba"/>
    <p:sldId xmlns:r="http://schemas.openxmlformats.org/officeDocument/2006/relationships" id="272" r:id="R854deb75f7a7433b"/>
    <p:sldId xmlns:r="http://schemas.openxmlformats.org/officeDocument/2006/relationships" id="273" r:id="Re2f4ab2c7d4b4b0c"/>
    <p:sldId xmlns:r="http://schemas.openxmlformats.org/officeDocument/2006/relationships" id="274" r:id="R78e789c25a23408f"/>
    <p:sldId xmlns:r="http://schemas.openxmlformats.org/officeDocument/2006/relationships" id="275" r:id="Rcce443e7d01b40d6"/>
    <p:sldId xmlns:r="http://schemas.openxmlformats.org/officeDocument/2006/relationships" id="276" r:id="R58efcbd201ae46d8"/>
    <p:sldId xmlns:r="http://schemas.openxmlformats.org/officeDocument/2006/relationships" id="277" r:id="R5b16b870e65a4ab7"/>
    <p:sldId xmlns:r="http://schemas.openxmlformats.org/officeDocument/2006/relationships" id="278" r:id="R28d30424e70e4a93"/>
    <p:sldId xmlns:r="http://schemas.openxmlformats.org/officeDocument/2006/relationships" id="279" r:id="Rdd48c0705ed040d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d9f453f17b244cb" /><Relationship Type="http://schemas.openxmlformats.org/officeDocument/2006/relationships/slideMaster" Target="/ppt/slideMasters/slideMaster1.xml" Id="R8d32e8bf327d4a3e" /><Relationship Type="http://schemas.openxmlformats.org/officeDocument/2006/relationships/notesMaster" Target="/ppt/notesMasters/notesMaster1.xml" Id="R6371625aae0d4703" /><Relationship Type="http://schemas.openxmlformats.org/officeDocument/2006/relationships/presProps" Target="/ppt/presProps.xml" Id="R2a75f7e91db0426c" /><Relationship Type="http://schemas.openxmlformats.org/officeDocument/2006/relationships/viewProps" Target="/ppt/viewProps.xml" Id="R7dd2cf47a9a54c07" /><Relationship Type="http://schemas.openxmlformats.org/officeDocument/2006/relationships/tableStyles" Target="/ppt/tableStyles.xml" Id="Rf5b43ed6d81c4758" /><Relationship Type="http://schemas.openxmlformats.org/officeDocument/2006/relationships/slide" Target="/ppt/slides/slide1.xml" Id="R0b1a83b8a136486f" /><Relationship Type="http://schemas.openxmlformats.org/officeDocument/2006/relationships/slide" Target="/ppt/slides/slide2.xml" Id="R8b972849584c4538" /><Relationship Type="http://schemas.openxmlformats.org/officeDocument/2006/relationships/slide" Target="/ppt/slides/slide3.xml" Id="R7eb1af58bf344446" /><Relationship Type="http://schemas.openxmlformats.org/officeDocument/2006/relationships/slide" Target="/ppt/slides/slide4.xml" Id="R3d9173484bd64e66" /><Relationship Type="http://schemas.openxmlformats.org/officeDocument/2006/relationships/slide" Target="/ppt/slides/slide5.xml" Id="Racc155b9c6e04df7" /><Relationship Type="http://schemas.openxmlformats.org/officeDocument/2006/relationships/slide" Target="/ppt/slides/slide6.xml" Id="Rda91495f5ec6435c" /><Relationship Type="http://schemas.openxmlformats.org/officeDocument/2006/relationships/slide" Target="/ppt/slides/slide7.xml" Id="R26d648700c984f91" /><Relationship Type="http://schemas.openxmlformats.org/officeDocument/2006/relationships/slide" Target="/ppt/slides/slide8.xml" Id="R6f8f1db57c9b453f" /><Relationship Type="http://schemas.openxmlformats.org/officeDocument/2006/relationships/slide" Target="/ppt/slides/slide9.xml" Id="R7900aa20259d4760" /><Relationship Type="http://schemas.openxmlformats.org/officeDocument/2006/relationships/slide" Target="/ppt/slides/slide10.xml" Id="Re75648be034c4230" /><Relationship Type="http://schemas.openxmlformats.org/officeDocument/2006/relationships/slide" Target="/ppt/slides/slide11.xml" Id="Rb2f9c316f9f54de8" /><Relationship Type="http://schemas.openxmlformats.org/officeDocument/2006/relationships/slide" Target="/ppt/slides/slide12.xml" Id="R6d96930c98274b3a" /><Relationship Type="http://schemas.openxmlformats.org/officeDocument/2006/relationships/slide" Target="/ppt/slides/slide13.xml" Id="R687772b788f245d5" /><Relationship Type="http://schemas.openxmlformats.org/officeDocument/2006/relationships/slide" Target="/ppt/slides/slide14.xml" Id="R1f364d9bb2074f55" /><Relationship Type="http://schemas.openxmlformats.org/officeDocument/2006/relationships/slide" Target="/ppt/slides/slide15.xml" Id="Rc3b32b56b83140a0" /><Relationship Type="http://schemas.openxmlformats.org/officeDocument/2006/relationships/slide" Target="/ppt/slides/slide16.xml" Id="R46d0d29229bc42ba" /><Relationship Type="http://schemas.openxmlformats.org/officeDocument/2006/relationships/slide" Target="/ppt/slides/slide17.xml" Id="R854deb75f7a7433b" /><Relationship Type="http://schemas.openxmlformats.org/officeDocument/2006/relationships/slide" Target="/ppt/slides/slide18.xml" Id="Re2f4ab2c7d4b4b0c" /><Relationship Type="http://schemas.openxmlformats.org/officeDocument/2006/relationships/slide" Target="/ppt/slides/slide19.xml" Id="R78e789c25a23408f" /><Relationship Type="http://schemas.openxmlformats.org/officeDocument/2006/relationships/slide" Target="/ppt/slides/slide20.xml" Id="Rcce443e7d01b40d6" /><Relationship Type="http://schemas.openxmlformats.org/officeDocument/2006/relationships/slide" Target="/ppt/slides/slide21.xml" Id="R58efcbd201ae46d8" /><Relationship Type="http://schemas.openxmlformats.org/officeDocument/2006/relationships/slide" Target="/ppt/slides/slide22.xml" Id="R5b16b870e65a4ab7" /><Relationship Type="http://schemas.openxmlformats.org/officeDocument/2006/relationships/slide" Target="/ppt/slides/slide23.xml" Id="R28d30424e70e4a93" /><Relationship Type="http://schemas.openxmlformats.org/officeDocument/2006/relationships/slide" Target="/ppt/slides/slide24.xml" Id="Rdd48c0705ed040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8b16dcee86408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95bae94598f42c3" /><Relationship Type="http://schemas.openxmlformats.org/officeDocument/2006/relationships/notesMaster" Target="/ppt/notesMasters/notesMaster1.xml" Id="Rac8364055e2640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9a2e345b864d4a" /><Relationship Type="http://schemas.openxmlformats.org/officeDocument/2006/relationships/notesMaster" Target="/ppt/notesMasters/notesMaster1.xml" Id="R11c1e89197804fd5"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47ee2c90814a60" /><Relationship Type="http://schemas.openxmlformats.org/officeDocument/2006/relationships/notesMaster" Target="/ppt/notesMasters/notesMaster1.xml" Id="R79f474b6978241d1" /></Relationships>
</file>

<file path=ppt/notesSlides/_rels/notesSlide4.xml.rels>&#65279;<?xml version="1.0" encoding="utf-8"?><Relationships xmlns="http://schemas.openxmlformats.org/package/2006/relationships"><Relationship Type="http://schemas.openxmlformats.org/officeDocument/2006/relationships/slide" Target="/ppt/slides/slide4.xml" Id="R8917cad7adcc47ed" /><Relationship Type="http://schemas.openxmlformats.org/officeDocument/2006/relationships/notesMaster" Target="/ppt/notesMasters/notesMaster1.xml" Id="R5527c28634b24c3c" /></Relationships>
</file>

<file path=ppt/notesSlides/_rels/notesSlide5.xml.rels>&#65279;<?xml version="1.0" encoding="utf-8"?><Relationships xmlns="http://schemas.openxmlformats.org/package/2006/relationships"><Relationship Type="http://schemas.openxmlformats.org/officeDocument/2006/relationships/slide" Target="/ppt/slides/slide5.xml" Id="Rb2f495fc116842d1" /><Relationship Type="http://schemas.openxmlformats.org/officeDocument/2006/relationships/notesMaster" Target="/ppt/notesMasters/notesMaster1.xml" Id="Rd9a57d42a44e44f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d8c99dd36684aa1" /><Relationship Type="http://schemas.openxmlformats.org/officeDocument/2006/relationships/notesMaster" Target="/ppt/notesMasters/notesMaster1.xml" Id="R07e8ecec112449e9" /></Relationships>
</file>

<file path=ppt/notesSlides/_rels/notesSlide7.xml.rels>&#65279;<?xml version="1.0" encoding="utf-8"?><Relationships xmlns="http://schemas.openxmlformats.org/package/2006/relationships"><Relationship Type="http://schemas.openxmlformats.org/officeDocument/2006/relationships/slide" Target="/ppt/slides/slide7.xml" Id="R195d1f520b3d46b6" /><Relationship Type="http://schemas.openxmlformats.org/officeDocument/2006/relationships/notesMaster" Target="/ppt/notesMasters/notesMaster1.xml" Id="R3baed9dfce9c4443" /></Relationships>
</file>

<file path=ppt/notesSlides/_rels/notesSlide8.xml.rels>&#65279;<?xml version="1.0" encoding="utf-8"?><Relationships xmlns="http://schemas.openxmlformats.org/package/2006/relationships"><Relationship Type="http://schemas.openxmlformats.org/officeDocument/2006/relationships/slide" Target="/ppt/slides/slide8.xml" Id="R44dfa4595db94e33" /><Relationship Type="http://schemas.openxmlformats.org/officeDocument/2006/relationships/notesMaster" Target="/ppt/notesMasters/notesMaster1.xml" Id="Rdc6f0b0bd5bb4849" /></Relationships>
</file>

<file path=ppt/notesSlides/_rels/notesSlide9.xml.rels>&#65279;<?xml version="1.0" encoding="utf-8"?><Relationships xmlns="http://schemas.openxmlformats.org/package/2006/relationships"><Relationship Type="http://schemas.openxmlformats.org/officeDocument/2006/relationships/slide" Target="/ppt/slides/slide9.xml" Id="Rdfb9cbb235c847bf" /><Relationship Type="http://schemas.openxmlformats.org/officeDocument/2006/relationships/notesMaster" Target="/ppt/notesMasters/notesMaster1.xml" Id="R0872a676b5f440b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0fdf3c3619f4af3" /><Relationship Type="http://schemas.openxmlformats.org/officeDocument/2006/relationships/notesMaster" Target="/ppt/notesMasters/notesMaster1.xml" Id="R14e46e73b620492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c558d39db27456d" /><Relationship Type="http://schemas.openxmlformats.org/officeDocument/2006/relationships/notesMaster" Target="/ppt/notesMasters/notesMaster1.xml" Id="R688d46e9f3cd4ae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484d4a8991c4165" /><Relationship Type="http://schemas.openxmlformats.org/officeDocument/2006/relationships/notesMaster" Target="/ppt/notesMasters/notesMaster1.xml" Id="Rf2e93027d4954c7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6b0c78fb9ac4db5" /><Relationship Type="http://schemas.openxmlformats.org/officeDocument/2006/relationships/notesMaster" Target="/ppt/notesMasters/notesMaster1.xml" Id="R6921a91873324dc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dbb030a37814de4" /><Relationship Type="http://schemas.openxmlformats.org/officeDocument/2006/relationships/notesMaster" Target="/ppt/notesMasters/notesMaster1.xml" Id="R738a9a1553d145f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eb61f93be8e4af9" /><Relationship Type="http://schemas.openxmlformats.org/officeDocument/2006/relationships/notesMaster" Target="/ppt/notesMasters/notesMaster1.xml" Id="Radc57ea7ddab48b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ea40e51521141d5" /><Relationship Type="http://schemas.openxmlformats.org/officeDocument/2006/relationships/notesMaster" Target="/ppt/notesMasters/notesMaster1.xml" Id="R2cc1fb19bd3e456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24315f9c8f44db1" /><Relationship Type="http://schemas.openxmlformats.org/officeDocument/2006/relationships/notesMaster" Target="/ppt/notesMasters/notesMaster1.xml" Id="Rdce42cc1eaa14b0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86e345d89444843" /><Relationship Type="http://schemas.openxmlformats.org/officeDocument/2006/relationships/notesMaster" Target="/ppt/notesMasters/notesMaster1.xml" Id="R520b03105a4f42a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0addf4eae1b4c18" /><Relationship Type="http://schemas.openxmlformats.org/officeDocument/2006/relationships/notesMaster" Target="/ppt/notesMasters/notesMaster1.xml" Id="Rd76de9afcb7a43b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a81684ed31a4f36" /><Relationship Type="http://schemas.openxmlformats.org/officeDocument/2006/relationships/notesMaster" Target="/ppt/notesMasters/notesMaster1.xml" Id="Rbbf0716e7abb454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ab95c7927be4b18" /><Relationship Type="http://schemas.openxmlformats.org/officeDocument/2006/relationships/notesMaster" Target="/ppt/notesMasters/notesMaster1.xml" Id="R008f469d1b084d3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f59648abe4447ce" /><Relationship Type="http://schemas.openxmlformats.org/officeDocument/2006/relationships/notesMaster" Target="/ppt/notesMasters/notesMaster1.xml" Id="Re2906d800c804c3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c9795d82beb4cfd" /><Relationship Type="http://schemas.openxmlformats.org/officeDocument/2006/relationships/notesMaster" Target="/ppt/notesMasters/notesMaster1.xml" Id="Re561aee2a0574ba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cb433af4dd64095" /><Relationship Type="http://schemas.openxmlformats.org/officeDocument/2006/relationships/notesMaster" Target="/ppt/notesMasters/notesMaster1.xml" Id="R9a03410a5e2244f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bằng ví dụ: một ảnh đầu vào phải trả về đồng thời vị trí biển, chuỗi ký tự hoàn chỉnh và màu nền. Tiêu chí chính là đúng toàn bộ chuỗi và đáp ứng độ trễ trên CPU.</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docs/papers/mon-hoc/ch1-gioi-thieu.md. Phạm vi chỉ là nhận dạng biển số, không bao gồm tracking hoặc barie.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[2] Laroca et al., VISAPP 2022; [7] Jocher &amp; Qiu, Ultralytics YOLO11, 2024; [8] Cui, PP-OCRv5, 2026. Danh mục đầy đủ: docs/papers/mon-hoc/ch8-tai-lieu-tham-khao.md.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docs/papers/mon-hoc/ch2-co-so-ly-thuyet.md và ch4-thuc-nghiem.md.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docs/papers/mon-hoc/ch4-thuc-nghiem.md và .agents/rules/measurement-validity.md.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docs/papers/mon-hoc/ch4-thuc-nghiem.md. Số liệu cấu hình triển khai: mAP@0,5 = 0,9829; độ chính xác toàn chuỗi = 0,7701; p95 = 509,76 ms.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docs/papers/mon-hoc/ch4-thuc-nghiem.md, mục 4.5.2. Không ghép với lượt đo trước tối ưu ở Bảng 4.9.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ảnh và nhãn: docs/slides/figures/fig-ch4-loi.png; phân tích chi tiết tại docs/papers/mon-hoc/ch4-thuc-nghiem.md.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ảnh và nhãn: docs/slides/figures/fig-ch4-loi.png. Ground Truth và Predicted được giữ nguyên theo báo cáo thực nghiệm.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docs/papers/mon-hoc/ch4-thuc-nghiem.md, Bảng 4.8 đến 4.10. Không cộng chéo số tuyệt đối từ các lượt đo khác nhau.</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Kịch bản demo: docs/slides/10-demo-script.md. Khi demo trực tiếp gặp lỗi camera hoặc mạng, dùng bộ ảnh cục bộ và video dự phòng.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docs/papers/mon-hoc/ch4-thuc-nghiem.md và ch5-ket-luan.md.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docs/papers/mon-hoc/ch5-ket-luan.md. Các hạng mục này chưa hoàn thành nên chỉ xuất hiện ở phần hạn chế và hướng phát triển.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docs/papers/mon-hoc/ch9-phu-luc.md, mục A.1 và A.2.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Phạm vi theo AGENTS.md và mục tiêu của báo cáo môn học. Không mở rộng sang tracking, barie, multi-GPU hoặc microservices.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f5061d513214e7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29371526e954065" /><Relationship Type="http://schemas.openxmlformats.org/officeDocument/2006/relationships/image" Target="/ppt/media/image.png" Id="R447e307f56074772"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MASTER">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Image 0"/>
          <p:cNvPicPr>
            <a:picLocks xmlns:a="http://schemas.openxmlformats.org/drawingml/2006/main" noChangeAspect="1"/>
          </p:cNvPicPr>
          <p:nvPr/>
        </p:nvPicPr>
        <p:blipFill>
          <a:blip xmlns:r="http://schemas.openxmlformats.org/officeDocument/2006/relationships" xmlns:a="http://schemas.openxmlformats.org/drawingml/2006/main" r:embed="R447e307f56074772"/>
          <a:stretch xmlns:a="http://schemas.openxmlformats.org/drawingml/2006/main">
            <a:fillRect l="0" t="0" r="0" b="0"/>
          </a:stretch>
        </p:blipFill>
        <p:spPr>
          <a:xfrm xmlns:a="http://schemas.openxmlformats.org/drawingml/2006/main">
            <a:off x="0" y="0"/>
            <a:ext cx="12191695" cy="6858000"/>
          </a:xfrm>
          <a:prstGeom xmlns:a="http://schemas.openxmlformats.org/drawingml/2006/main" prst="rect">
            <a:avLst/>
          </a:prstGeom>
        </p:spPr>
      </p:pic>
      <p:sp>
        <p:nvSpPr>
          <p:cNvPr id="25" name="Slide Number Placeholder 0">
            <a:extLst xmlns:a="http://schemas.openxmlformats.org/drawingml/2006/main">
              <a:ext uri="{FF2B5EF4-FFF2-40B4-BE49-F238E27FC236}">
                <a16:creationId xmlns:a16="http://schemas.microsoft.com/office/drawing/2014/main" id="{17FC641D-20BA-456B-83B6-DC4E569A2A9D}"/>
              </a:ext>
            </a:extLst>
          </p:cNvPr>
          <p:cNvSpPr>
            <a:spLocks xmlns:a="http://schemas.openxmlformats.org/drawingml/2006/main" noGrp="1"/>
          </p:cNvSpPr>
          <p:nvPr>
            <p:ph type="sldNum" idx="4294967295"/>
          </p:nvPr>
        </p:nvSpPr>
        <p:spPr>
          <a:xfrm xmlns:a="http://schemas.openxmlformats.org/drawingml/2006/main">
            <a:off x="146304" y="6473952"/>
            <a:ext cx="201168" cy="146304"/>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5B6A7D"/>
                </a:solidFill>
                <a:latin typeface="Arial"/>
                <a:ea typeface="Arial"/>
                <a:cs typeface="Arial"/>
              </a:defRPr>
            </a:lvl1pPr>
          </a:lstStyle>
          <a:p xmlns:a="http://schemas.openxmlformats.org/drawingml/2006/main">
            <a:pPr algn="ctr">
              <a:buNone/>
            </a:pPr>
            <a:fld id="{F7021451-1387-4CA6-816F-3879F97B5CBC}" type="slidenum">
              <a:rPr b="0"/>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991e74447094277" /><Relationship Type="http://schemas.openxmlformats.org/officeDocument/2006/relationships/slideLayout" Target="/ppt/slideLayouts/slideLayout1.xml" Id="R0bfe916a45bb4e7e" /><Relationship Type="http://schemas.openxmlformats.org/officeDocument/2006/relationships/slideLayout" Target="/ppt/slideLayouts/slideLayout2.xml" Id="R77025576d5a14fd3"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DED98A9B-F0AB-4612-ADB8-C3A156149E83}"/>
              </a:ext>
            </a:extLst>
          </p:cNvPr>
          <p:cNvSpPr>
            <a:spLocks xmlns:a="http://schemas.openxmlformats.org/drawingml/2006/main" noGrp="1"/>
          </p:cNvSpPr>
          <p:nvPr>
            <p:ph type="sldNum" idx="4294967295"/>
          </p:nvPr>
        </p:nvSpPr>
        <p:spPr>
          <a:xfrm xmlns:a="http://schemas.openxmlformats.org/drawingml/2006/main">
            <a:off x="146304" y="6473952"/>
            <a:ext cx="201168" cy="146304"/>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5B6A7D"/>
                </a:solidFill>
                <a:latin typeface="Arial"/>
                <a:ea typeface="Arial"/>
                <a:cs typeface="Arial"/>
              </a:defRPr>
            </a:lvl1pPr>
          </a:lstStyle>
          <a:p xmlns:a="http://schemas.openxmlformats.org/drawingml/2006/main">
            <a:pPr algn="ctr">
              <a:buNone/>
            </a:pPr>
            <a:fld id="{F7021451-1387-4CA6-816F-3879F97B5CBC}" type="slidenum">
              <a:rPr b="0"/>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fe916a45bb4e7e"/>
    <p:sldLayoutId xmlns:r="http://schemas.openxmlformats.org/officeDocument/2006/relationships" id="2147483650" r:id="R77025576d5a14fd3"/>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032fac4ab6b04802" /><Relationship Type="http://schemas.openxmlformats.org/officeDocument/2006/relationships/image" Target="/ppt/media/image2.png" Id="R6d7a21994ce549c8" /><Relationship Type="http://schemas.openxmlformats.org/officeDocument/2006/relationships/notesSlide" Target="/ppt/notesSlides/notesSlide1.xml" Id="R278881cae1dd433d"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f1a98989dd774707" /><Relationship Type="http://schemas.openxmlformats.org/officeDocument/2006/relationships/notesSlide" Target="/ppt/notesSlides/notesSlide2.xml" Id="R4c68f4fc4cdb4bdb"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37517c19c0f64dd4" /><Relationship Type="http://schemas.openxmlformats.org/officeDocument/2006/relationships/image" Target="/ppt/media/image3.png" Id="R5448dac4603f44ca" /><Relationship Type="http://schemas.openxmlformats.org/officeDocument/2006/relationships/notesSlide" Target="/ppt/notesSlides/notesSlide3.xml" Id="R995f5f793a9f4321"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414fe031fd2d4be4" /><Relationship Type="http://schemas.openxmlformats.org/officeDocument/2006/relationships/notesSlide" Target="/ppt/notesSlides/notesSlide4.xml" Id="R9b26c01b93ab4574"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7c406b0017d44f23" /><Relationship Type="http://schemas.openxmlformats.org/officeDocument/2006/relationships/notesSlide" Target="/ppt/notesSlides/notesSlide5.xml" Id="Rd058bd0076914ca0"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4771f4094cc04cf9" /><Relationship Type="http://schemas.openxmlformats.org/officeDocument/2006/relationships/notesSlide" Target="/ppt/notesSlides/notesSlide6.xml" Id="R9a138ed8f3f643d6"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d317b6d3317e4a00" /><Relationship Type="http://schemas.openxmlformats.org/officeDocument/2006/relationships/image" Target="/ppt/media/image4.png" Id="R3ecf94915f2e49a1" /><Relationship Type="http://schemas.openxmlformats.org/officeDocument/2006/relationships/notesSlide" Target="/ppt/notesSlides/notesSlide7.xml" Id="R43a942facc234a5a"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b35a8ca9de7940a7" /><Relationship Type="http://schemas.openxmlformats.org/officeDocument/2006/relationships/image" Target="/ppt/media/image5.png" Id="Red0a3765e3154446" /><Relationship Type="http://schemas.openxmlformats.org/officeDocument/2006/relationships/notesSlide" Target="/ppt/notesSlides/notesSlide8.xml" Id="R53ccc3db8bba4560"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31705c4831004f56" /><Relationship Type="http://schemas.openxmlformats.org/officeDocument/2006/relationships/notesSlide" Target="/ppt/notesSlides/notesSlide9.xml" Id="R4fdbb40e2cb14a0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d7de5b00fb194409" /><Relationship Type="http://schemas.openxmlformats.org/officeDocument/2006/relationships/image" Target="/ppt/media/image6.png" Id="Rcb6efce574c847d9" /><Relationship Type="http://schemas.openxmlformats.org/officeDocument/2006/relationships/notesSlide" Target="/ppt/notesSlides/notesSlide10.xml" Id="Ra72d92aaa7824f1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d8627f775c504487" /><Relationship Type="http://schemas.openxmlformats.org/officeDocument/2006/relationships/notesSlide" Target="/ppt/notesSlides/notesSlide11.xml" Id="R06891414e6cc4bd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42044a99ad98477b" /><Relationship Type="http://schemas.openxmlformats.org/officeDocument/2006/relationships/notesSlide" Target="/ppt/notesSlides/notesSlide12.xml" Id="Rfb731d6e7c4643a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854af082d32b4dee" /><Relationship Type="http://schemas.openxmlformats.org/officeDocument/2006/relationships/notesSlide" Target="/ppt/notesSlides/notesSlide13.xml" Id="Rce64c9c63b2c481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74dd7ad6cccf4624" /><Relationship Type="http://schemas.openxmlformats.org/officeDocument/2006/relationships/chart" Target="/ppt/slides/charts/chart1.xml" Id="R02ad6f3a9c574077" /><Relationship Type="http://schemas.openxmlformats.org/officeDocument/2006/relationships/notesSlide" Target="/ppt/notesSlides/notesSlide14.xml" Id="R102e1ca4d2854cc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b66ca90382ea4a55" /><Relationship Type="http://schemas.openxmlformats.org/officeDocument/2006/relationships/image" Target="/ppt/media/image7.png" Id="R3ad43da7fa96417b" /><Relationship Type="http://schemas.openxmlformats.org/officeDocument/2006/relationships/notesSlide" Target="/ppt/notesSlides/notesSlide15.xml" Id="Rf03d4ee0dc794ba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9830ffaeeeb548d9" /><Relationship Type="http://schemas.openxmlformats.org/officeDocument/2006/relationships/image" Target="/ppt/media/image8.png" Id="R763edbe804cb4dd2" /><Relationship Type="http://schemas.openxmlformats.org/officeDocument/2006/relationships/notesSlide" Target="/ppt/notesSlides/notesSlide16.xml" Id="R088ea8bb132c4cd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e722d718b5c2444f" /><Relationship Type="http://schemas.openxmlformats.org/officeDocument/2006/relationships/image" Target="/ppt/media/image9.png" Id="R2550311b5cb340a4" /><Relationship Type="http://schemas.openxmlformats.org/officeDocument/2006/relationships/notesSlide" Target="/ppt/notesSlides/notesSlide17.xml" Id="Ra386368dfe2247b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a9cf4add3c2a4aa1" /><Relationship Type="http://schemas.openxmlformats.org/officeDocument/2006/relationships/notesSlide" Target="/ppt/notesSlides/notesSlide18.xml" Id="R7ad228c24461469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ad1e06bcb7794d25" /><Relationship Type="http://schemas.openxmlformats.org/officeDocument/2006/relationships/image" Target="/ppt/media/image10.png" Id="R25a25b2e2c994fbb" /><Relationship Type="http://schemas.openxmlformats.org/officeDocument/2006/relationships/notesSlide" Target="/ppt/notesSlides/notesSlide19.xml" Id="Re9451398446f4c7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589a702a69d94e52" /><Relationship Type="http://schemas.openxmlformats.org/officeDocument/2006/relationships/notesSlide" Target="/ppt/notesSlides/notesSlide20.xml" Id="R7c099601bf2b4b1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0d39891309044c59" /><Relationship Type="http://schemas.openxmlformats.org/officeDocument/2006/relationships/notesSlide" Target="/ppt/notesSlides/notesSlide21.xml" Id="Ra9ba3406512c42b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c0178227bad8441f" /><Relationship Type="http://schemas.openxmlformats.org/officeDocument/2006/relationships/notesSlide" Target="/ppt/notesSlides/notesSlide22.xml" Id="Rf879bf509c2943e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aec3b884da734218" /><Relationship Type="http://schemas.openxmlformats.org/officeDocument/2006/relationships/notesSlide" Target="/ppt/notesSlides/notesSlide23.xml" Id="R989f456c32484ba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039b06dde5744730" /><Relationship Type="http://schemas.openxmlformats.org/officeDocument/2006/relationships/notesSlide" Target="/ppt/notesSlides/notesSlide24.xml" Id="R28fc4d538e744c1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Độ trễ (ms)</c:v>
          </c:tx>
          <c:spPr>
            <a:solidFill xmlns:a="http://schemas.openxmlformats.org/drawingml/2006/main">
              <a:srgbClr val="2563D8"/>
            </a:solidFill>
          </c:spPr>
          <c:cat>
            <c:strRef>
              <c:f>'Chart Data'!$A$2:$A$4</c:f>
              <c:strCache>
                <c:ptCount val="3"/>
                <c:pt idx="0">
                  <c:v>p50</c:v>
                </c:pt>
                <c:pt idx="1">
                  <c:v>p95</c:v>
                </c:pt>
                <c:pt idx="2">
                  <c:v>p99</c:v>
                </c:pt>
              </c:strCache>
            </c:strRef>
          </c:cat>
          <c:val>
            <c:numRef>
              <c:f>'Chart Data'!$B$2:$B$4</c:f>
              <c:numCache>
                <c:formatCode>General</c:formatCode>
                <c:ptCount val="3"/>
                <c:pt idx="0">
                  <c:v>150.07</c:v>
                </c:pt>
                <c:pt idx="1">
                  <c:v>509.76</c:v>
                </c:pt>
                <c:pt idx="2">
                  <c:v>1124.13</c:v>
                </c:pt>
              </c:numCache>
            </c:numRef>
          </c:val>
        </c:ser>
        <c:dLbls>
          <c:txPr>
            <a:bodyPr xmlns:a="http://schemas.openxmlformats.org/drawingml/2006/main" anchorCtr="1"/>
            <a:lstStyle xmlns:a="http://schemas.openxmlformats.org/drawingml/2006/main"/>
            <a:p xmlns:a="http://schemas.openxmlformats.org/drawingml/2006/main">
              <a:pPr>
                <a:defRPr>
                  <a:latin typeface="Segoe UI"/>
                  <a:ea typeface="Segoe UI"/>
                  <a:cs typeface="Segoe UI"/>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Segoe UI"/>
                <a:ea typeface="Segoe UI"/>
                <a:cs typeface="Segoe UI"/>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Segoe UI"/>
                <a:ea typeface="Segoe UI"/>
                <a:cs typeface="Segoe UI"/>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 name="Text 1">
            <a:extLst xmlns:a="http://schemas.openxmlformats.org/drawingml/2006/main">
              <a:ext uri="{FF2B5EF4-FFF2-40B4-BE49-F238E27FC236}">
                <a16:creationId xmlns:a16="http://schemas.microsoft.com/office/drawing/2014/main" id="{24B7DA1B-61D4-4A9A-855E-356E519DBF20}"/>
              </a:ext>
            </a:extLst>
          </p:cNvPr>
          <p:cNvSpPr>
            <a:spLocks xmlns:a="http://schemas.openxmlformats.org/drawingml/2006/main" noGrp="1"/>
          </p:cNvSpPr>
          <p:nvPr/>
        </p:nvSpPr>
        <p:spPr>
          <a:xfrm xmlns:a="http://schemas.openxmlformats.org/drawingml/2006/main">
            <a:off x="713232" y="1508760"/>
            <a:ext cx="10698480" cy="13716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lstStyle xmlns:a="http://schemas.openxmlformats.org/drawingml/2006/main"/>
          <a:p xmlns:a="http://schemas.openxmlformats.org/drawingml/2006/main">
            <a:pPr marL="0" indent="0" algn="ctr">
              <a:buNone/>
            </a:pPr>
            <a:r>
              <a:rPr sz="3000" b="1">
                <a:solidFill>
                  <a:srgbClr val="0F2A5F"/>
                </a:solidFill>
              </a:rPr>
              <a:t>Xây dựng hệ thống nhận diện</a:t>
            </a:r>
            <a:endParaRPr sz="3000"/>
          </a:p>
          <a:p xmlns:a="http://schemas.openxmlformats.org/drawingml/2006/main">
            <a:pPr marL="0" indent="0" algn="ctr">
              <a:buNone/>
            </a:pPr>
            <a:r>
              <a:rPr sz="3000" b="1">
                <a:solidFill>
                  <a:srgbClr val="0F2A5F"/>
                </a:solidFill>
              </a:rPr>
              <a:t>biển số xe bằng Trí tuệ nhân tạo</a:t>
            </a:r>
            <a:endParaRPr sz="3000"/>
          </a:p>
        </p:txBody>
      </p:sp>
      <p:sp>
        <p:nvSpPr>
          <p:cNvPr id="4" name="Text 2">
            <a:extLst xmlns:a="http://schemas.openxmlformats.org/drawingml/2006/main">
              <a:ext uri="{FF2B5EF4-FFF2-40B4-BE49-F238E27FC236}">
                <a16:creationId xmlns:a16="http://schemas.microsoft.com/office/drawing/2014/main" id="{BAAE71AC-8E87-48CC-9926-38430BD56E03}"/>
              </a:ext>
            </a:extLst>
          </p:cNvPr>
          <p:cNvSpPr>
            <a:spLocks xmlns:a="http://schemas.openxmlformats.org/drawingml/2006/main" noGrp="1"/>
          </p:cNvSpPr>
          <p:nvPr/>
        </p:nvSpPr>
        <p:spPr>
          <a:xfrm xmlns:a="http://schemas.openxmlformats.org/drawingml/2006/main">
            <a:off x="1645920" y="3063240"/>
            <a:ext cx="89154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26354A"/>
                </a:solidFill>
              </a:rPr>
              <a:t>Đồ án môn học · Xử lý ảnh và ứng dụng</a:t>
            </a:r>
            <a:endParaRPr sz="1600"/>
          </a:p>
        </p:txBody>
      </p:sp>
      <p:sp>
        <p:nvSpPr>
          <p:cNvPr id="5" name="Text 3">
            <a:extLst xmlns:a="http://schemas.openxmlformats.org/drawingml/2006/main">
              <a:ext uri="{FF2B5EF4-FFF2-40B4-BE49-F238E27FC236}">
                <a16:creationId xmlns:a16="http://schemas.microsoft.com/office/drawing/2014/main" id="{AC3E55D4-9E65-49C0-96F6-2266707B6F21}"/>
              </a:ext>
            </a:extLst>
          </p:cNvPr>
          <p:cNvSpPr>
            <a:spLocks xmlns:a="http://schemas.openxmlformats.org/drawingml/2006/main" noGrp="1"/>
          </p:cNvSpPr>
          <p:nvPr/>
        </p:nvSpPr>
        <p:spPr>
          <a:xfrm xmlns:a="http://schemas.openxmlformats.org/drawingml/2006/main">
            <a:off x="2413000" y="3873500"/>
            <a:ext cx="3619500" cy="584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1E293B"/>
                </a:solidFill>
                <a:latin typeface="Segoe UI"/>
                <a:ea typeface="Segoe UI"/>
                <a:cs typeface="Segoe UI"/>
              </a:rPr>
              <a:t>Phạm Nguyễn Thế Châu – 25410004
Nguyễn Minh Hiếu – 25410007</a:t>
            </a:r>
            <a:endParaRPr sz="1300">
              <a:solidFill>
                <a:srgbClr val="1E293B"/>
              </a:solidFill>
              <a:latin typeface="Segoe UI"/>
              <a:ea typeface="Segoe UI"/>
              <a:cs typeface="Segoe UI"/>
            </a:endParaRPr>
          </a:p>
        </p:txBody>
      </p:sp>
      <p:sp>
        <p:nvSpPr>
          <p:cNvPr id="6" name="Text 4">
            <a:extLst xmlns:a="http://schemas.openxmlformats.org/drawingml/2006/main">
              <a:ext uri="{FF2B5EF4-FFF2-40B4-BE49-F238E27FC236}">
                <a16:creationId xmlns:a16="http://schemas.microsoft.com/office/drawing/2014/main" id="{BE5ECA4C-8D79-4E0D-AFB8-44BA637DF744}"/>
              </a:ext>
            </a:extLst>
          </p:cNvPr>
          <p:cNvSpPr>
            <a:spLocks xmlns:a="http://schemas.openxmlformats.org/drawingml/2006/main" noGrp="1"/>
          </p:cNvSpPr>
          <p:nvPr/>
        </p:nvSpPr>
        <p:spPr>
          <a:xfrm xmlns:a="http://schemas.openxmlformats.org/drawingml/2006/main">
            <a:off x="2540000" y="4635500"/>
            <a:ext cx="7112000" cy="317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a:solidFill>
                  <a:srgbClr val="475569"/>
                </a:solidFill>
                <a:latin typeface="Segoe UI"/>
                <a:ea typeface="Segoe UI"/>
                <a:cs typeface="Segoe UI"/>
              </a:rPr>
              <a:t>GVHD: ThS. Cáp Phạm Đình Thăng</a:t>
            </a:r>
          </a:p>
        </p:txBody>
      </p:sp>
      <p:sp>
        <p:nvSpPr>
          <p:cNvPr id="9" name="Text 7">
            <a:extLst xmlns:a="http://schemas.openxmlformats.org/drawingml/2006/main">
              <a:ext uri="{FF2B5EF4-FFF2-40B4-BE49-F238E27FC236}">
                <a16:creationId xmlns:a16="http://schemas.microsoft.com/office/drawing/2014/main" id="{900A6E75-F465-450D-BA54-5BFE42E47D8F}"/>
              </a:ext>
            </a:extLst>
          </p:cNvPr>
          <p:cNvSpPr>
            <a:spLocks xmlns:a="http://schemas.openxmlformats.org/drawingml/2006/main" noGrp="1"/>
          </p:cNvSpPr>
          <p:nvPr/>
        </p:nvSpPr>
        <p:spPr>
          <a:xfrm xmlns:a="http://schemas.openxmlformats.org/drawingml/2006/main">
            <a:off x="4754880" y="5651500"/>
            <a:ext cx="26517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8D98A9"/>
                </a:solidFill>
              </a:rPr>
              <a:t>Tháng 9 · 2026</a:t>
            </a:r>
            <a:endParaRPr sz="1000"/>
          </a:p>
        </p:txBody>
      </p:sp>
      <p:sp>
        <p:nvSpPr>
          <p:cNvPr id="11" name="Rectangle 10">
            <a:extLst xmlns:a="http://schemas.openxmlformats.org/drawingml/2006/main">
              <a:ext uri="{FF2B5EF4-FFF2-40B4-BE49-F238E27FC236}">
                <a16:creationId xmlns:a16="http://schemas.microsoft.com/office/drawing/2014/main" id="{FEE15865-D16E-41F6-95CE-137F940FF9F0}"/>
              </a:ext>
            </a:extLst>
          </p:cNvPr>
          <p:cNvSpPr>
            <a:spLocks xmlns:a="http://schemas.openxmlformats.org/drawingml/2006/main" noGrp="1"/>
          </p:cNvSpPr>
          <p:nvPr/>
        </p:nvSpPr>
        <p:spPr>
          <a:xfrm xmlns:a="http://schemas.openxmlformats.org/drawingml/2006/main">
            <a:off x="64008" y="36576"/>
            <a:ext cx="3794760" cy="50292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9" name="Picture 11"/>
          <p:cNvPicPr>
            <a:picLocks xmlns:a="http://schemas.openxmlformats.org/drawingml/2006/main" noChangeAspect="1"/>
          </p:cNvPicPr>
          <p:nvPr/>
        </p:nvPicPr>
        <p:blipFill>
          <a:blip xmlns:r="http://schemas.openxmlformats.org/officeDocument/2006/relationships" xmlns:a="http://schemas.openxmlformats.org/drawingml/2006/main" r:embed="R6d7a21994ce549c8"/>
          <a:stretch xmlns:a="http://schemas.openxmlformats.org/drawingml/2006/main">
            <a:fillRect l="0" t="0" r="0" b="0"/>
          </a:stretch>
        </p:blipFill>
        <p:spPr>
          <a:xfrm xmlns:a="http://schemas.openxmlformats.org/drawingml/2006/main">
            <a:off x="91440" y="68580"/>
            <a:ext cx="3246120" cy="333963"/>
          </a:xfrm>
          <a:prstGeom xmlns:a="http://schemas.openxmlformats.org/drawingml/2006/main" prst="rect">
            <a:avLst/>
          </a:prstGeom>
        </p:spPr>
      </p:pic>
      <p:sp>
        <p:nvSpPr>
          <p:cNvPr id="2" name="Text 3_Right">
            <a:extLst xmlns:a="http://schemas.openxmlformats.org/drawingml/2006/main">
              <a:ext uri="{FF2B5EF4-FFF2-40B4-BE49-F238E27FC236}">
                <a16:creationId xmlns:a16="http://schemas.microsoft.com/office/drawing/2014/main" id="{D7F6B2D8-A06E-A086-DB56-471DF42CE21B}"/>
              </a:ext>
            </a:extLst>
          </p:cNvPr>
          <p:cNvSpPr>
            <a:spLocks xmlns:a="http://schemas.openxmlformats.org/drawingml/2006/main" noGrp="1"/>
          </p:cNvSpPr>
          <p:nvPr/>
        </p:nvSpPr>
        <p:spPr>
          <a:xfrm xmlns:a="http://schemas.openxmlformats.org/drawingml/2006/main">
            <a:off x="6286500" y="3873500"/>
            <a:ext cx="3619500" cy="492443"/>
          </a:xfrm>
          <a:prstGeom xmlns:a="http://schemas.openxmlformats.org/drawingml/2006/main" prst="rect">
            <a:avLst/>
          </a:prstGeom>
          <a:noFill xmlns:a="http://schemas.openxmlformats.org/drawingml/2006/main"/>
        </p:spPr>
        <p:txBody>
          <a:bodyPr xmlns:a="http://schemas.openxmlformats.org/drawingml/2006/main" vert="horz">
            <a:spAutoFit/>
          </a:bodyPr>
          <a:lstStyle xmlns:a="http://schemas.openxmlformats.org/drawingml/2006/main"/>
          <a:p xmlns:a="http://schemas.openxmlformats.org/drawingml/2006/main">
            <a:r>
              <a:rPr sz="1300">
                <a:solidFill>
                  <a:srgbClr val="1E293B"/>
                </a:solidFill>
                <a:latin typeface="Segoe UI"/>
                <a:ea typeface="Segoe UI"/>
                <a:cs typeface="Segoe UI"/>
              </a:rPr>
              <a:t>Nguyễn Công Hậu – 25410006
Phạm Công Thành – 25410013</a:t>
            </a:r>
          </a:p>
        </p:txBody>
      </p:sp>
    </p:spTree>
    <p:extLst>
      <p:ext uri="{BB962C8B-B14F-4D97-AF65-F5344CB8AC3E}">
        <p14:creationId xmlns:p14="http://schemas.microsoft.com/office/powerpoint/2010/main" val="101006324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4D9A88E-3BE5-42F2-ACB3-2240F83B2BCB}"/>
              </a:ext>
            </a:extLst>
          </p:cNvPr>
          <p:cNvSpPr>
            <a:spLocks xmlns:a="http://schemas.openxmlformats.org/drawingml/2006/main" noGrp="1"/>
          </p:cNvSpPr>
          <p:nvPr/>
        </p:nvSpPr>
        <p:spPr>
          <a:xfrm xmlns:a="http://schemas.openxmlformats.org/drawingml/2006/main">
            <a:off x="749808" y="393192"/>
            <a:ext cx="10195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0F2A5F"/>
                </a:solidFill>
                <a:latin typeface="Arial"/>
                <a:ea typeface="Arial"/>
                <a:cs typeface="Arial"/>
              </a:rPr>
              <a:t>Nội dung trình bày</a:t>
            </a:r>
            <a:endParaRPr sz="2500"/>
          </a:p>
        </p:txBody>
      </p:sp>
      <p:sp>
        <p:nvSpPr>
          <p:cNvPr id="3" name="Text 1">
            <a:extLst xmlns:a="http://schemas.openxmlformats.org/drawingml/2006/main">
              <a:ext uri="{FF2B5EF4-FFF2-40B4-BE49-F238E27FC236}">
                <a16:creationId xmlns:a16="http://schemas.microsoft.com/office/drawing/2014/main" id="{C1530B7D-B3B2-491A-BB9F-E1E5B420D710}"/>
              </a:ext>
            </a:extLst>
          </p:cNvPr>
          <p:cNvSpPr>
            <a:spLocks xmlns:a="http://schemas.openxmlformats.org/drawingml/2006/main" noGrp="1"/>
          </p:cNvSpPr>
          <p:nvPr/>
        </p:nvSpPr>
        <p:spPr>
          <a:xfrm xmlns:a="http://schemas.openxmlformats.org/drawingml/2006/main">
            <a:off x="768096" y="914400"/>
            <a:ext cx="10058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65748B"/>
                </a:solidFill>
                <a:latin typeface="Arial"/>
                <a:ea typeface="Arial"/>
                <a:cs typeface="Arial"/>
              </a:rPr>
              <a:t>4 phần theo rubric báo cáo của giảng viên</a:t>
            </a:r>
            <a:endParaRPr sz="1150"/>
          </a:p>
        </p:txBody>
      </p:sp>
      <p:sp>
        <p:nvSpPr>
          <p:cNvPr id="4" name="Shape 2">
            <a:extLst xmlns:a="http://schemas.openxmlformats.org/drawingml/2006/main">
              <a:ext uri="{FF2B5EF4-FFF2-40B4-BE49-F238E27FC236}">
                <a16:creationId xmlns:a16="http://schemas.microsoft.com/office/drawing/2014/main" id="{C328799F-6E4C-4CE0-8328-3C52B4AB4FFB}"/>
              </a:ext>
            </a:extLst>
          </p:cNvPr>
          <p:cNvSpPr>
            <a:spLocks xmlns:a="http://schemas.openxmlformats.org/drawingml/2006/main" noGrp="1"/>
          </p:cNvSpPr>
          <p:nvPr/>
        </p:nvSpPr>
        <p:spPr>
          <a:xfrm xmlns:a="http://schemas.openxmlformats.org/drawingml/2006/main">
            <a:off x="1143000" y="1600200"/>
            <a:ext cx="9875520" cy="68580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355DED99-1872-41C7-BDF6-EB9F5B15C4DD}"/>
              </a:ext>
            </a:extLst>
          </p:cNvPr>
          <p:cNvSpPr>
            <a:spLocks xmlns:a="http://schemas.openxmlformats.org/drawingml/2006/main" noGrp="1"/>
          </p:cNvSpPr>
          <p:nvPr/>
        </p:nvSpPr>
        <p:spPr>
          <a:xfrm xmlns:a="http://schemas.openxmlformats.org/drawingml/2006/main">
            <a:off x="1417320" y="1746504"/>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BCEB"/>
                </a:solidFill>
              </a:rPr>
              <a:t>01</a:t>
            </a:r>
            <a:endParaRPr sz="1800"/>
          </a:p>
        </p:txBody>
      </p:sp>
      <p:sp>
        <p:nvSpPr>
          <p:cNvPr id="6" name="Text 4">
            <a:extLst xmlns:a="http://schemas.openxmlformats.org/drawingml/2006/main">
              <a:ext uri="{FF2B5EF4-FFF2-40B4-BE49-F238E27FC236}">
                <a16:creationId xmlns:a16="http://schemas.microsoft.com/office/drawing/2014/main" id="{5AD4DCEA-975B-4F34-99AA-2DF4D6A5CC15}"/>
              </a:ext>
            </a:extLst>
          </p:cNvPr>
          <p:cNvSpPr>
            <a:spLocks xmlns:a="http://schemas.openxmlformats.org/drawingml/2006/main" noGrp="1"/>
          </p:cNvSpPr>
          <p:nvPr/>
        </p:nvSpPr>
        <p:spPr>
          <a:xfrm xmlns:a="http://schemas.openxmlformats.org/drawingml/2006/main">
            <a:off x="2286000" y="1746504"/>
            <a:ext cx="8138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26354A"/>
                </a:solidFill>
              </a:rPr>
              <a:t>Bài toán</a:t>
            </a:r>
            <a:endParaRPr sz="1800"/>
          </a:p>
        </p:txBody>
      </p:sp>
      <p:sp>
        <p:nvSpPr>
          <p:cNvPr id="7" name="Shape 5">
            <a:extLst xmlns:a="http://schemas.openxmlformats.org/drawingml/2006/main">
              <a:ext uri="{FF2B5EF4-FFF2-40B4-BE49-F238E27FC236}">
                <a16:creationId xmlns:a16="http://schemas.microsoft.com/office/drawing/2014/main" id="{70FCDA42-9C22-494F-A248-E6D6ED6FD29A}"/>
              </a:ext>
            </a:extLst>
          </p:cNvPr>
          <p:cNvSpPr>
            <a:spLocks xmlns:a="http://schemas.openxmlformats.org/drawingml/2006/main" noGrp="1"/>
          </p:cNvSpPr>
          <p:nvPr/>
        </p:nvSpPr>
        <p:spPr>
          <a:xfrm xmlns:a="http://schemas.openxmlformats.org/drawingml/2006/main">
            <a:off x="1143000" y="2606040"/>
            <a:ext cx="9875520" cy="685800"/>
          </a:xfrm>
          <a:prstGeom xmlns:a="http://schemas.openxmlformats.org/drawingml/2006/main" prst="roundRect">
            <a:avLst>
              <a:gd name="adj" fmla="val 10667"/>
            </a:avLst>
          </a:prstGeom>
          <a:solidFill xmlns:a="http://schemas.openxmlformats.org/drawingml/2006/main">
            <a:srgbClr val="F2F8FF"/>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F1C7830C-DA2B-4766-BC39-35972576C8EE}"/>
              </a:ext>
            </a:extLst>
          </p:cNvPr>
          <p:cNvSpPr>
            <a:spLocks xmlns:a="http://schemas.openxmlformats.org/drawingml/2006/main" noGrp="1"/>
          </p:cNvSpPr>
          <p:nvPr/>
        </p:nvSpPr>
        <p:spPr>
          <a:xfrm xmlns:a="http://schemas.openxmlformats.org/drawingml/2006/main">
            <a:off x="1417320" y="2752344"/>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BCEB"/>
                </a:solidFill>
              </a:rPr>
              <a:t>02</a:t>
            </a:r>
            <a:endParaRPr sz="1800"/>
          </a:p>
        </p:txBody>
      </p:sp>
      <p:sp>
        <p:nvSpPr>
          <p:cNvPr id="9" name="Text 7">
            <a:extLst xmlns:a="http://schemas.openxmlformats.org/drawingml/2006/main">
              <a:ext uri="{FF2B5EF4-FFF2-40B4-BE49-F238E27FC236}">
                <a16:creationId xmlns:a16="http://schemas.microsoft.com/office/drawing/2014/main" id="{93F73D08-D65E-4353-9B3B-B96934195586}"/>
              </a:ext>
            </a:extLst>
          </p:cNvPr>
          <p:cNvSpPr>
            <a:spLocks xmlns:a="http://schemas.openxmlformats.org/drawingml/2006/main" noGrp="1"/>
          </p:cNvSpPr>
          <p:nvPr/>
        </p:nvSpPr>
        <p:spPr>
          <a:xfrm xmlns:a="http://schemas.openxmlformats.org/drawingml/2006/main">
            <a:off x="2286000" y="2752344"/>
            <a:ext cx="8138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26354A"/>
                </a:solidFill>
              </a:rPr>
              <a:t>Phương pháp đề xuất</a:t>
            </a:r>
            <a:endParaRPr sz="1800"/>
          </a:p>
        </p:txBody>
      </p:sp>
      <p:sp>
        <p:nvSpPr>
          <p:cNvPr id="10" name="Shape 8">
            <a:extLst xmlns:a="http://schemas.openxmlformats.org/drawingml/2006/main">
              <a:ext uri="{FF2B5EF4-FFF2-40B4-BE49-F238E27FC236}">
                <a16:creationId xmlns:a16="http://schemas.microsoft.com/office/drawing/2014/main" id="{46C2282F-8D0F-4886-BE39-0B79DCD93DE9}"/>
              </a:ext>
            </a:extLst>
          </p:cNvPr>
          <p:cNvSpPr>
            <a:spLocks xmlns:a="http://schemas.openxmlformats.org/drawingml/2006/main" noGrp="1"/>
          </p:cNvSpPr>
          <p:nvPr/>
        </p:nvSpPr>
        <p:spPr>
          <a:xfrm xmlns:a="http://schemas.openxmlformats.org/drawingml/2006/main">
            <a:off x="1143000" y="3611880"/>
            <a:ext cx="9875520" cy="68580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3AC2C32E-F288-440A-BC55-E4B7E85EC8CE}"/>
              </a:ext>
            </a:extLst>
          </p:cNvPr>
          <p:cNvSpPr>
            <a:spLocks xmlns:a="http://schemas.openxmlformats.org/drawingml/2006/main" noGrp="1"/>
          </p:cNvSpPr>
          <p:nvPr/>
        </p:nvSpPr>
        <p:spPr>
          <a:xfrm xmlns:a="http://schemas.openxmlformats.org/drawingml/2006/main">
            <a:off x="1417320" y="3758184"/>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BCEB"/>
                </a:solidFill>
              </a:rPr>
              <a:t>03</a:t>
            </a:r>
            <a:endParaRPr sz="1800"/>
          </a:p>
        </p:txBody>
      </p:sp>
      <p:sp>
        <p:nvSpPr>
          <p:cNvPr id="12" name="Text 10">
            <a:extLst xmlns:a="http://schemas.openxmlformats.org/drawingml/2006/main">
              <a:ext uri="{FF2B5EF4-FFF2-40B4-BE49-F238E27FC236}">
                <a16:creationId xmlns:a16="http://schemas.microsoft.com/office/drawing/2014/main" id="{E81DB34A-BE09-4CB9-BC5F-F8AA2E0F553C}"/>
              </a:ext>
            </a:extLst>
          </p:cNvPr>
          <p:cNvSpPr>
            <a:spLocks xmlns:a="http://schemas.openxmlformats.org/drawingml/2006/main" noGrp="1"/>
          </p:cNvSpPr>
          <p:nvPr/>
        </p:nvSpPr>
        <p:spPr>
          <a:xfrm xmlns:a="http://schemas.openxmlformats.org/drawingml/2006/main">
            <a:off x="2286000" y="3758184"/>
            <a:ext cx="8138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26354A"/>
                </a:solidFill>
              </a:rPr>
              <a:t>Thực nghiệm</a:t>
            </a:r>
            <a:endParaRPr sz="1800"/>
          </a:p>
        </p:txBody>
      </p:sp>
      <p:sp>
        <p:nvSpPr>
          <p:cNvPr id="13" name="Shape 11">
            <a:extLst xmlns:a="http://schemas.openxmlformats.org/drawingml/2006/main">
              <a:ext uri="{FF2B5EF4-FFF2-40B4-BE49-F238E27FC236}">
                <a16:creationId xmlns:a16="http://schemas.microsoft.com/office/drawing/2014/main" id="{58A5A1F3-D894-4CEF-A215-DFD176238EE3}"/>
              </a:ext>
            </a:extLst>
          </p:cNvPr>
          <p:cNvSpPr>
            <a:spLocks xmlns:a="http://schemas.openxmlformats.org/drawingml/2006/main" noGrp="1"/>
          </p:cNvSpPr>
          <p:nvPr/>
        </p:nvSpPr>
        <p:spPr>
          <a:xfrm xmlns:a="http://schemas.openxmlformats.org/drawingml/2006/main">
            <a:off x="1143000" y="4617720"/>
            <a:ext cx="9875520" cy="68580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2C6CA70D-6B3B-47BC-98EB-1074326F5F07}"/>
              </a:ext>
            </a:extLst>
          </p:cNvPr>
          <p:cNvSpPr>
            <a:spLocks xmlns:a="http://schemas.openxmlformats.org/drawingml/2006/main" noGrp="1"/>
          </p:cNvSpPr>
          <p:nvPr/>
        </p:nvSpPr>
        <p:spPr>
          <a:xfrm xmlns:a="http://schemas.openxmlformats.org/drawingml/2006/main">
            <a:off x="1417320" y="4764024"/>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BCEB"/>
                </a:solidFill>
              </a:rPr>
              <a:t>04</a:t>
            </a:r>
            <a:endParaRPr sz="1800"/>
          </a:p>
        </p:txBody>
      </p:sp>
      <p:sp>
        <p:nvSpPr>
          <p:cNvPr id="15" name="Text 13">
            <a:extLst xmlns:a="http://schemas.openxmlformats.org/drawingml/2006/main">
              <a:ext uri="{FF2B5EF4-FFF2-40B4-BE49-F238E27FC236}">
                <a16:creationId xmlns:a16="http://schemas.microsoft.com/office/drawing/2014/main" id="{4CCEB7DE-4D01-4D35-AFB8-BF890EA65210}"/>
              </a:ext>
            </a:extLst>
          </p:cNvPr>
          <p:cNvSpPr>
            <a:spLocks xmlns:a="http://schemas.openxmlformats.org/drawingml/2006/main" noGrp="1"/>
          </p:cNvSpPr>
          <p:nvPr/>
        </p:nvSpPr>
        <p:spPr>
          <a:xfrm xmlns:a="http://schemas.openxmlformats.org/drawingml/2006/main">
            <a:off x="2286000" y="4764024"/>
            <a:ext cx="8138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26354A"/>
                </a:solidFill>
              </a:rPr>
              <a:t>Kết luận và hướng phát triển</a:t>
            </a:r>
            <a:endParaRPr sz="1800"/>
          </a:p>
        </p:txBody>
      </p:sp>
    </p:spTree>
    <p:extLst>
      <p:ext uri="{BB962C8B-B14F-4D97-AF65-F5344CB8AC3E}">
        <p14:creationId xmlns:p14="http://schemas.microsoft.com/office/powerpoint/2010/main" val="165030727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3" name="title">
            <a:extLst xmlns:a="http://schemas.openxmlformats.org/drawingml/2006/main">
              <a:ext uri="{FF2B5EF4-FFF2-40B4-BE49-F238E27FC236}">
                <a16:creationId xmlns:a16="http://schemas.microsoft.com/office/drawing/2014/main" id="{B7FD2325-F70D-4C56-9BC7-0EA002E8578D}"/>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2F63"/>
                </a:solidFill>
                <a:latin typeface="Segoe UI"/>
                <a:ea typeface="Segoe UI"/>
                <a:cs typeface="Segoe UI"/>
              </a:defRPr>
            </a:pPr>
            <a:r>
              <a:rPr sz="2400" b="1">
                <a:solidFill>
                  <a:srgbClr val="112F63"/>
                </a:solidFill>
                <a:latin typeface="Segoe UI"/>
                <a:ea typeface="Segoe UI"/>
                <a:cs typeface="Segoe UI"/>
              </a:rPr>
              <a:t>Bài toán cần giải quyết</a:t>
            </a:r>
          </a:p>
        </p:txBody>
      </p:sp>
      <p:sp>
        <p:nvSpPr>
          <p:cNvPr id="2" name="subtitle">
            <a:extLst xmlns:a="http://schemas.openxmlformats.org/drawingml/2006/main">
              <a:ext uri="{FF2B5EF4-FFF2-40B4-BE49-F238E27FC236}">
                <a16:creationId xmlns:a16="http://schemas.microsoft.com/office/drawing/2014/main" id="{4B62948F-3520-4429-BA7E-A60F2BA2B121}"/>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58E"/>
                </a:solidFill>
                <a:latin typeface="Segoe UI"/>
                <a:ea typeface="Segoe UI"/>
                <a:cs typeface="Segoe UI"/>
              </a:defRPr>
            </a:pPr>
            <a:r>
              <a:rPr sz="1275" b="0">
                <a:solidFill>
                  <a:srgbClr val="66758E"/>
                </a:solidFill>
                <a:latin typeface="Segoe UI"/>
                <a:ea typeface="Segoe UI"/>
                <a:cs typeface="Segoe UI"/>
              </a:rPr>
              <a:t>Từ một ảnh phương tiện, hệ thống trả về ba thông tin có thể sử dụng trực tiếp</a:t>
            </a:r>
          </a:p>
        </p:txBody>
      </p:sp>
      <p:sp>
        <p:nvSpPr>
          <p:cNvPr id="3" name="input-card">
            <a:extLst xmlns:a="http://schemas.openxmlformats.org/drawingml/2006/main">
              <a:ext uri="{FF2B5EF4-FFF2-40B4-BE49-F238E27FC236}">
                <a16:creationId xmlns:a16="http://schemas.microsoft.com/office/drawing/2014/main" id="{5BD34765-AFF2-40B3-A7F3-C8E84696A5F1}"/>
              </a:ext>
            </a:extLst>
          </p:cNvPr>
          <p:cNvSpPr>
            <a:spLocks xmlns:a="http://schemas.openxmlformats.org/drawingml/2006/main" noGrp="1"/>
          </p:cNvSpPr>
          <p:nvPr/>
        </p:nvSpPr>
        <p:spPr>
          <a:xfrm xmlns:a="http://schemas.openxmlformats.org/drawingml/2006/main">
            <a:off x="714375" y="1571625"/>
            <a:ext cx="4762500" cy="3429000"/>
          </a:xfrm>
          <a:prstGeom xmlns:a="http://schemas.openxmlformats.org/drawingml/2006/main" prst="roundRect">
            <a:avLst>
              <a:gd name="adj" fmla="val 3889"/>
            </a:avLst>
          </a:prstGeom>
          <a:solidFill xmlns:a="http://schemas.openxmlformats.org/drawingml/2006/main">
            <a:srgbClr val="F5F9FE"/>
          </a:solidFill>
          <a:ln xmlns:a="http://schemas.openxmlformats.org/drawingml/2006/main" w="9525">
            <a:solidFill>
              <a:srgbClr val="BED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input-label">
            <a:extLst xmlns:a="http://schemas.openxmlformats.org/drawingml/2006/main">
              <a:ext uri="{FF2B5EF4-FFF2-40B4-BE49-F238E27FC236}">
                <a16:creationId xmlns:a16="http://schemas.microsoft.com/office/drawing/2014/main" id="{944A8AB3-96ED-4D7A-A5FA-0B0DD47574F7}"/>
              </a:ext>
            </a:extLst>
          </p:cNvPr>
          <p:cNvSpPr>
            <a:spLocks xmlns:a="http://schemas.openxmlformats.org/drawingml/2006/main" noGrp="1"/>
          </p:cNvSpPr>
          <p:nvPr/>
        </p:nvSpPr>
        <p:spPr>
          <a:xfrm xmlns:a="http://schemas.openxmlformats.org/drawingml/2006/main">
            <a:off x="1047750" y="17907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16B5E2"/>
                </a:solidFill>
                <a:latin typeface="Segoe UI"/>
                <a:ea typeface="Segoe UI"/>
                <a:cs typeface="Segoe UI"/>
              </a:defRPr>
            </a:pPr>
            <a:r>
              <a:rPr sz="1050" b="1">
                <a:solidFill>
                  <a:srgbClr val="16B5E2"/>
                </a:solidFill>
                <a:latin typeface="Segoe UI"/>
                <a:ea typeface="Segoe UI"/>
                <a:cs typeface="Segoe UI"/>
              </a:rPr>
              <a:t>ẢNH ĐẦU VÀO</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5448dac4603f44ca"/>
          <a:stretch xmlns:a="http://schemas.openxmlformats.org/drawingml/2006/main"/>
        </p:blipFill>
        <p:spPr>
          <a:xfrm xmlns:a="http://schemas.openxmlformats.org/drawingml/2006/main">
            <a:off x="1444625" y="2143125"/>
            <a:ext cx="3302000" cy="2476500"/>
          </a:xfrm>
          <a:prstGeom xmlns:a="http://schemas.openxmlformats.org/drawingml/2006/main" prst="rect">
            <a:avLst/>
          </a:prstGeom>
        </p:spPr>
      </p:pic>
      <p:sp>
        <p:nvSpPr>
          <p:cNvPr id="6" name="output-card-0">
            <a:extLst xmlns:a="http://schemas.openxmlformats.org/drawingml/2006/main">
              <a:ext uri="{FF2B5EF4-FFF2-40B4-BE49-F238E27FC236}">
                <a16:creationId xmlns:a16="http://schemas.microsoft.com/office/drawing/2014/main" id="{6F40831D-44BD-4B91-824C-E8A778394800}"/>
              </a:ext>
            </a:extLst>
          </p:cNvPr>
          <p:cNvSpPr>
            <a:spLocks xmlns:a="http://schemas.openxmlformats.org/drawingml/2006/main" noGrp="1"/>
          </p:cNvSpPr>
          <p:nvPr/>
        </p:nvSpPr>
        <p:spPr>
          <a:xfrm xmlns:a="http://schemas.openxmlformats.org/drawingml/2006/main">
            <a:off x="6048375" y="1571625"/>
            <a:ext cx="5429250" cy="895350"/>
          </a:xfrm>
          <a:prstGeom xmlns:a="http://schemas.openxmlformats.org/drawingml/2006/main" prst="roundRect">
            <a:avLst>
              <a:gd name="adj" fmla="val 14894"/>
            </a:avLst>
          </a:prstGeom>
          <a:solidFill xmlns:a="http://schemas.openxmlformats.org/drawingml/2006/main">
            <a:srgbClr val="FFFFFF"/>
          </a:solidFill>
          <a:ln xmlns:a="http://schemas.openxmlformats.org/drawingml/2006/main" w="9525">
            <a:solidFill>
              <a:srgbClr val="D7E2F0"/>
            </a:solidFill>
            <a:prstDash val="solid"/>
          </a:ln>
        </p:spPr>
      </p:sp>
      <p:sp>
        <p:nvSpPr>
          <p:cNvPr id="7" name="output-number-bg-0">
            <a:extLst xmlns:a="http://schemas.openxmlformats.org/drawingml/2006/main">
              <a:ext uri="{FF2B5EF4-FFF2-40B4-BE49-F238E27FC236}">
                <a16:creationId xmlns:a16="http://schemas.microsoft.com/office/drawing/2014/main" id="{483B587D-B6ED-44B7-8F99-1B8E7050DE75}"/>
              </a:ext>
            </a:extLst>
          </p:cNvPr>
          <p:cNvSpPr>
            <a:spLocks xmlns:a="http://schemas.openxmlformats.org/drawingml/2006/main" noGrp="1"/>
          </p:cNvSpPr>
          <p:nvPr/>
        </p:nvSpPr>
        <p:spPr>
          <a:xfrm xmlns:a="http://schemas.openxmlformats.org/drawingml/2006/main">
            <a:off x="6238875" y="1781175"/>
            <a:ext cx="476250" cy="476250"/>
          </a:xfrm>
          <a:prstGeom xmlns:a="http://schemas.openxmlformats.org/drawingml/2006/main" prst="roundRect">
            <a:avLst>
              <a:gd name="adj" fmla="val 50000"/>
            </a:avLst>
          </a:prstGeom>
          <a:solidFill xmlns:a="http://schemas.openxmlformats.org/drawingml/2006/main">
            <a:srgbClr val="2563D8"/>
          </a:solidFill>
          <a:ln xmlns:a="http://schemas.openxmlformats.org/drawingml/2006/main" w="9525">
            <a:solidFill>
              <a:srgbClr val="2563D8"/>
            </a:solidFill>
            <a:prstDash val="solid"/>
          </a:ln>
        </p:spPr>
      </p:sp>
      <p:sp>
        <p:nvSpPr>
          <p:cNvPr id="8" name="output-number-0">
            <a:extLst xmlns:a="http://schemas.openxmlformats.org/drawingml/2006/main">
              <a:ext uri="{FF2B5EF4-FFF2-40B4-BE49-F238E27FC236}">
                <a16:creationId xmlns:a16="http://schemas.microsoft.com/office/drawing/2014/main" id="{02CFF245-45CC-418D-A9D4-566AA7FBA42B}"/>
              </a:ext>
            </a:extLst>
          </p:cNvPr>
          <p:cNvSpPr>
            <a:spLocks xmlns:a="http://schemas.openxmlformats.org/drawingml/2006/main" noGrp="1"/>
          </p:cNvSpPr>
          <p:nvPr/>
        </p:nvSpPr>
        <p:spPr>
          <a:xfrm xmlns:a="http://schemas.openxmlformats.org/drawingml/2006/main">
            <a:off x="6238875" y="17811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Segoe UI"/>
                <a:ea typeface="Segoe UI"/>
                <a:cs typeface="Segoe UI"/>
              </a:defRPr>
            </a:pPr>
            <a:r>
              <a:rPr sz="1725" b="1">
                <a:solidFill>
                  <a:srgbClr val="FFFFFF"/>
                </a:solidFill>
                <a:latin typeface="Segoe UI"/>
                <a:ea typeface="Segoe UI"/>
                <a:cs typeface="Segoe UI"/>
              </a:rPr>
              <a:t>1</a:t>
            </a:r>
          </a:p>
        </p:txBody>
      </p:sp>
      <p:sp>
        <p:nvSpPr>
          <p:cNvPr id="9" name="output-title-0">
            <a:extLst xmlns:a="http://schemas.openxmlformats.org/drawingml/2006/main">
              <a:ext uri="{FF2B5EF4-FFF2-40B4-BE49-F238E27FC236}">
                <a16:creationId xmlns:a16="http://schemas.microsoft.com/office/drawing/2014/main" id="{FF75F843-F170-4389-A0B9-0C469C0D93B2}"/>
              </a:ext>
            </a:extLst>
          </p:cNvPr>
          <p:cNvSpPr>
            <a:spLocks xmlns:a="http://schemas.openxmlformats.org/drawingml/2006/main" noGrp="1"/>
          </p:cNvSpPr>
          <p:nvPr/>
        </p:nvSpPr>
        <p:spPr>
          <a:xfrm xmlns:a="http://schemas.openxmlformats.org/drawingml/2006/main">
            <a:off x="6953250" y="1685925"/>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12F63"/>
                </a:solidFill>
                <a:latin typeface="Segoe UI"/>
                <a:ea typeface="Segoe UI"/>
                <a:cs typeface="Segoe UI"/>
              </a:defRPr>
            </a:pPr>
            <a:r>
              <a:rPr sz="1425" b="1">
                <a:solidFill>
                  <a:srgbClr val="112F63"/>
                </a:solidFill>
                <a:latin typeface="Segoe UI"/>
                <a:ea typeface="Segoe UI"/>
                <a:cs typeface="Segoe UI"/>
              </a:rPr>
              <a:t>Vị trí biển số</a:t>
            </a:r>
          </a:p>
        </p:txBody>
      </p:sp>
      <p:sp>
        <p:nvSpPr>
          <p:cNvPr id="10" name="output-value-0">
            <a:extLst xmlns:a="http://schemas.openxmlformats.org/drawingml/2006/main">
              <a:ext uri="{FF2B5EF4-FFF2-40B4-BE49-F238E27FC236}">
                <a16:creationId xmlns:a16="http://schemas.microsoft.com/office/drawing/2014/main" id="{8DAF8357-A387-46A8-BA0A-20B1B08EE522}"/>
              </a:ext>
            </a:extLst>
          </p:cNvPr>
          <p:cNvSpPr>
            <a:spLocks xmlns:a="http://schemas.openxmlformats.org/drawingml/2006/main" noGrp="1"/>
          </p:cNvSpPr>
          <p:nvPr/>
        </p:nvSpPr>
        <p:spPr>
          <a:xfrm xmlns:a="http://schemas.openxmlformats.org/drawingml/2006/main">
            <a:off x="6953250" y="202882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27354D"/>
                </a:solidFill>
                <a:latin typeface="Segoe UI"/>
                <a:ea typeface="Segoe UI"/>
                <a:cs typeface="Segoe UI"/>
              </a:defRPr>
            </a:pPr>
            <a:r>
              <a:rPr sz="1200" b="0">
                <a:solidFill>
                  <a:srgbClr val="27354D"/>
                </a:solidFill>
                <a:latin typeface="Segoe UI"/>
                <a:ea typeface="Segoe UI"/>
                <a:cs typeface="Segoe UI"/>
              </a:rPr>
              <a:t>Hộp bao quanh biển trong ảnh</a:t>
            </a:r>
          </a:p>
        </p:txBody>
      </p:sp>
      <p:sp>
        <p:nvSpPr>
          <p:cNvPr id="11" name="output-card-1">
            <a:extLst xmlns:a="http://schemas.openxmlformats.org/drawingml/2006/main">
              <a:ext uri="{FF2B5EF4-FFF2-40B4-BE49-F238E27FC236}">
                <a16:creationId xmlns:a16="http://schemas.microsoft.com/office/drawing/2014/main" id="{C016D5D2-0D06-4C0A-BBCD-115EA52FB326}"/>
              </a:ext>
            </a:extLst>
          </p:cNvPr>
          <p:cNvSpPr>
            <a:spLocks xmlns:a="http://schemas.openxmlformats.org/drawingml/2006/main" noGrp="1"/>
          </p:cNvSpPr>
          <p:nvPr/>
        </p:nvSpPr>
        <p:spPr>
          <a:xfrm xmlns:a="http://schemas.openxmlformats.org/drawingml/2006/main">
            <a:off x="6048375" y="2714625"/>
            <a:ext cx="5429250" cy="895350"/>
          </a:xfrm>
          <a:prstGeom xmlns:a="http://schemas.openxmlformats.org/drawingml/2006/main" prst="roundRect">
            <a:avLst>
              <a:gd name="adj" fmla="val 14894"/>
            </a:avLst>
          </a:prstGeom>
          <a:solidFill xmlns:a="http://schemas.openxmlformats.org/drawingml/2006/main">
            <a:srgbClr val="FFFFFF"/>
          </a:solidFill>
          <a:ln xmlns:a="http://schemas.openxmlformats.org/drawingml/2006/main" w="9525">
            <a:solidFill>
              <a:srgbClr val="D7E2F0"/>
            </a:solidFill>
            <a:prstDash val="solid"/>
          </a:ln>
        </p:spPr>
      </p:sp>
      <p:sp>
        <p:nvSpPr>
          <p:cNvPr id="12" name="output-number-bg-1">
            <a:extLst xmlns:a="http://schemas.openxmlformats.org/drawingml/2006/main">
              <a:ext uri="{FF2B5EF4-FFF2-40B4-BE49-F238E27FC236}">
                <a16:creationId xmlns:a16="http://schemas.microsoft.com/office/drawing/2014/main" id="{8CE729DF-7FC2-481D-9DD8-7C148ED13A6B}"/>
              </a:ext>
            </a:extLst>
          </p:cNvPr>
          <p:cNvSpPr>
            <a:spLocks xmlns:a="http://schemas.openxmlformats.org/drawingml/2006/main" noGrp="1"/>
          </p:cNvSpPr>
          <p:nvPr/>
        </p:nvSpPr>
        <p:spPr>
          <a:xfrm xmlns:a="http://schemas.openxmlformats.org/drawingml/2006/main">
            <a:off x="6238875" y="2924175"/>
            <a:ext cx="476250" cy="476250"/>
          </a:xfrm>
          <a:prstGeom xmlns:a="http://schemas.openxmlformats.org/drawingml/2006/main" prst="roundRect">
            <a:avLst>
              <a:gd name="adj" fmla="val 50000"/>
            </a:avLst>
          </a:prstGeom>
          <a:solidFill xmlns:a="http://schemas.openxmlformats.org/drawingml/2006/main">
            <a:srgbClr val="2563D8"/>
          </a:solidFill>
          <a:ln xmlns:a="http://schemas.openxmlformats.org/drawingml/2006/main" w="9525">
            <a:solidFill>
              <a:srgbClr val="2563D8"/>
            </a:solidFill>
            <a:prstDash val="solid"/>
          </a:ln>
        </p:spPr>
      </p:sp>
      <p:sp>
        <p:nvSpPr>
          <p:cNvPr id="13" name="output-number-1">
            <a:extLst xmlns:a="http://schemas.openxmlformats.org/drawingml/2006/main">
              <a:ext uri="{FF2B5EF4-FFF2-40B4-BE49-F238E27FC236}">
                <a16:creationId xmlns:a16="http://schemas.microsoft.com/office/drawing/2014/main" id="{28C8E4B3-D8DA-4176-818E-C9A3BAE9DBBB}"/>
              </a:ext>
            </a:extLst>
          </p:cNvPr>
          <p:cNvSpPr>
            <a:spLocks xmlns:a="http://schemas.openxmlformats.org/drawingml/2006/main" noGrp="1"/>
          </p:cNvSpPr>
          <p:nvPr/>
        </p:nvSpPr>
        <p:spPr>
          <a:xfrm xmlns:a="http://schemas.openxmlformats.org/drawingml/2006/main">
            <a:off x="6238875" y="29241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Segoe UI"/>
                <a:ea typeface="Segoe UI"/>
                <a:cs typeface="Segoe UI"/>
              </a:defRPr>
            </a:pPr>
            <a:r>
              <a:rPr sz="1725" b="1">
                <a:solidFill>
                  <a:srgbClr val="FFFFFF"/>
                </a:solidFill>
                <a:latin typeface="Segoe UI"/>
                <a:ea typeface="Segoe UI"/>
                <a:cs typeface="Segoe UI"/>
              </a:rPr>
              <a:t>2</a:t>
            </a:r>
          </a:p>
        </p:txBody>
      </p:sp>
      <p:sp>
        <p:nvSpPr>
          <p:cNvPr id="14" name="output-title-1">
            <a:extLst xmlns:a="http://schemas.openxmlformats.org/drawingml/2006/main">
              <a:ext uri="{FF2B5EF4-FFF2-40B4-BE49-F238E27FC236}">
                <a16:creationId xmlns:a16="http://schemas.microsoft.com/office/drawing/2014/main" id="{F5D70A8B-634E-4E08-A8F2-66EA76E26DC9}"/>
              </a:ext>
            </a:extLst>
          </p:cNvPr>
          <p:cNvSpPr>
            <a:spLocks xmlns:a="http://schemas.openxmlformats.org/drawingml/2006/main" noGrp="1"/>
          </p:cNvSpPr>
          <p:nvPr/>
        </p:nvSpPr>
        <p:spPr>
          <a:xfrm xmlns:a="http://schemas.openxmlformats.org/drawingml/2006/main">
            <a:off x="6953250" y="2828925"/>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12F63"/>
                </a:solidFill>
                <a:latin typeface="Segoe UI"/>
                <a:ea typeface="Segoe UI"/>
                <a:cs typeface="Segoe UI"/>
              </a:defRPr>
            </a:pPr>
            <a:r>
              <a:rPr sz="1425" b="1">
                <a:solidFill>
                  <a:srgbClr val="112F63"/>
                </a:solidFill>
                <a:latin typeface="Segoe UI"/>
                <a:ea typeface="Segoe UI"/>
                <a:cs typeface="Segoe UI"/>
              </a:rPr>
              <a:t>Chuỗi ký tự</a:t>
            </a:r>
          </a:p>
        </p:txBody>
      </p:sp>
      <p:sp>
        <p:nvSpPr>
          <p:cNvPr id="15" name="output-value-1">
            <a:extLst xmlns:a="http://schemas.openxmlformats.org/drawingml/2006/main">
              <a:ext uri="{FF2B5EF4-FFF2-40B4-BE49-F238E27FC236}">
                <a16:creationId xmlns:a16="http://schemas.microsoft.com/office/drawing/2014/main" id="{11061385-D566-42D7-89DC-1EF1660B63C1}"/>
              </a:ext>
            </a:extLst>
          </p:cNvPr>
          <p:cNvSpPr>
            <a:spLocks xmlns:a="http://schemas.openxmlformats.org/drawingml/2006/main" noGrp="1"/>
          </p:cNvSpPr>
          <p:nvPr/>
        </p:nvSpPr>
        <p:spPr>
          <a:xfrm xmlns:a="http://schemas.openxmlformats.org/drawingml/2006/main">
            <a:off x="6953250" y="317182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27354D"/>
                </a:solidFill>
                <a:latin typeface="Segoe UI"/>
                <a:ea typeface="Segoe UI"/>
                <a:cs typeface="Segoe UI"/>
              </a:defRPr>
            </a:pPr>
            <a:r>
              <a:rPr sz="1200" b="0">
                <a:solidFill>
                  <a:srgbClr val="27354D"/>
                </a:solidFill>
                <a:latin typeface="Segoe UI"/>
                <a:ea typeface="Segoe UI"/>
                <a:cs typeface="Segoe UI"/>
              </a:rPr>
              <a:t>59K1-201.73</a:t>
            </a:r>
          </a:p>
        </p:txBody>
      </p:sp>
      <p:sp>
        <p:nvSpPr>
          <p:cNvPr id="16" name="output-card-2">
            <a:extLst xmlns:a="http://schemas.openxmlformats.org/drawingml/2006/main">
              <a:ext uri="{FF2B5EF4-FFF2-40B4-BE49-F238E27FC236}">
                <a16:creationId xmlns:a16="http://schemas.microsoft.com/office/drawing/2014/main" id="{4A1FABF1-A149-41DD-A33E-0C15F52EA585}"/>
              </a:ext>
            </a:extLst>
          </p:cNvPr>
          <p:cNvSpPr>
            <a:spLocks xmlns:a="http://schemas.openxmlformats.org/drawingml/2006/main" noGrp="1"/>
          </p:cNvSpPr>
          <p:nvPr/>
        </p:nvSpPr>
        <p:spPr>
          <a:xfrm xmlns:a="http://schemas.openxmlformats.org/drawingml/2006/main">
            <a:off x="6048375" y="3857625"/>
            <a:ext cx="5429250" cy="895350"/>
          </a:xfrm>
          <a:prstGeom xmlns:a="http://schemas.openxmlformats.org/drawingml/2006/main" prst="roundRect">
            <a:avLst>
              <a:gd name="adj" fmla="val 14894"/>
            </a:avLst>
          </a:prstGeom>
          <a:solidFill xmlns:a="http://schemas.openxmlformats.org/drawingml/2006/main">
            <a:srgbClr val="FFFFFF"/>
          </a:solidFill>
          <a:ln xmlns:a="http://schemas.openxmlformats.org/drawingml/2006/main" w="9525">
            <a:solidFill>
              <a:srgbClr val="D7E2F0"/>
            </a:solidFill>
            <a:prstDash val="solid"/>
          </a:ln>
        </p:spPr>
      </p:sp>
      <p:sp>
        <p:nvSpPr>
          <p:cNvPr id="17" name="output-number-bg-2">
            <a:extLst xmlns:a="http://schemas.openxmlformats.org/drawingml/2006/main">
              <a:ext uri="{FF2B5EF4-FFF2-40B4-BE49-F238E27FC236}">
                <a16:creationId xmlns:a16="http://schemas.microsoft.com/office/drawing/2014/main" id="{8379E6C6-AD0A-4CB5-AFAF-2C2898A8708A}"/>
              </a:ext>
            </a:extLst>
          </p:cNvPr>
          <p:cNvSpPr>
            <a:spLocks xmlns:a="http://schemas.openxmlformats.org/drawingml/2006/main" noGrp="1"/>
          </p:cNvSpPr>
          <p:nvPr/>
        </p:nvSpPr>
        <p:spPr>
          <a:xfrm xmlns:a="http://schemas.openxmlformats.org/drawingml/2006/main">
            <a:off x="6238875" y="4067175"/>
            <a:ext cx="476250" cy="476250"/>
          </a:xfrm>
          <a:prstGeom xmlns:a="http://schemas.openxmlformats.org/drawingml/2006/main" prst="roundRect">
            <a:avLst>
              <a:gd name="adj" fmla="val 50000"/>
            </a:avLst>
          </a:prstGeom>
          <a:solidFill xmlns:a="http://schemas.openxmlformats.org/drawingml/2006/main">
            <a:srgbClr val="2563D8"/>
          </a:solidFill>
          <a:ln xmlns:a="http://schemas.openxmlformats.org/drawingml/2006/main" w="9525">
            <a:solidFill>
              <a:srgbClr val="2563D8"/>
            </a:solidFill>
            <a:prstDash val="solid"/>
          </a:ln>
        </p:spPr>
      </p:sp>
      <p:sp>
        <p:nvSpPr>
          <p:cNvPr id="18" name="output-number-2">
            <a:extLst xmlns:a="http://schemas.openxmlformats.org/drawingml/2006/main">
              <a:ext uri="{FF2B5EF4-FFF2-40B4-BE49-F238E27FC236}">
                <a16:creationId xmlns:a16="http://schemas.microsoft.com/office/drawing/2014/main" id="{96354CB9-E6CA-4144-B1EF-6891A906281F}"/>
              </a:ext>
            </a:extLst>
          </p:cNvPr>
          <p:cNvSpPr>
            <a:spLocks xmlns:a="http://schemas.openxmlformats.org/drawingml/2006/main" noGrp="1"/>
          </p:cNvSpPr>
          <p:nvPr/>
        </p:nvSpPr>
        <p:spPr>
          <a:xfrm xmlns:a="http://schemas.openxmlformats.org/drawingml/2006/main">
            <a:off x="6238875" y="40671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Segoe UI"/>
                <a:ea typeface="Segoe UI"/>
                <a:cs typeface="Segoe UI"/>
              </a:defRPr>
            </a:pPr>
            <a:r>
              <a:rPr sz="1725" b="1">
                <a:solidFill>
                  <a:srgbClr val="FFFFFF"/>
                </a:solidFill>
                <a:latin typeface="Segoe UI"/>
                <a:ea typeface="Segoe UI"/>
                <a:cs typeface="Segoe UI"/>
              </a:rPr>
              <a:t>3</a:t>
            </a:r>
          </a:p>
        </p:txBody>
      </p:sp>
      <p:sp>
        <p:nvSpPr>
          <p:cNvPr id="19" name="output-title-2">
            <a:extLst xmlns:a="http://schemas.openxmlformats.org/drawingml/2006/main">
              <a:ext uri="{FF2B5EF4-FFF2-40B4-BE49-F238E27FC236}">
                <a16:creationId xmlns:a16="http://schemas.microsoft.com/office/drawing/2014/main" id="{4588C2ED-928D-4759-A609-324D0F714DF8}"/>
              </a:ext>
            </a:extLst>
          </p:cNvPr>
          <p:cNvSpPr>
            <a:spLocks xmlns:a="http://schemas.openxmlformats.org/drawingml/2006/main" noGrp="1"/>
          </p:cNvSpPr>
          <p:nvPr/>
        </p:nvSpPr>
        <p:spPr>
          <a:xfrm xmlns:a="http://schemas.openxmlformats.org/drawingml/2006/main">
            <a:off x="6953250" y="3971925"/>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12F63"/>
                </a:solidFill>
                <a:latin typeface="Segoe UI"/>
                <a:ea typeface="Segoe UI"/>
                <a:cs typeface="Segoe UI"/>
              </a:defRPr>
            </a:pPr>
            <a:r>
              <a:rPr sz="1425" b="1">
                <a:solidFill>
                  <a:srgbClr val="112F63"/>
                </a:solidFill>
                <a:latin typeface="Segoe UI"/>
                <a:ea typeface="Segoe UI"/>
                <a:cs typeface="Segoe UI"/>
              </a:rPr>
              <a:t>Màu nền</a:t>
            </a:r>
          </a:p>
        </p:txBody>
      </p:sp>
      <p:sp>
        <p:nvSpPr>
          <p:cNvPr id="20" name="output-value-2">
            <a:extLst xmlns:a="http://schemas.openxmlformats.org/drawingml/2006/main">
              <a:ext uri="{FF2B5EF4-FFF2-40B4-BE49-F238E27FC236}">
                <a16:creationId xmlns:a16="http://schemas.microsoft.com/office/drawing/2014/main" id="{94695012-93B2-44E4-ACC5-63DB726E0AF2}"/>
              </a:ext>
            </a:extLst>
          </p:cNvPr>
          <p:cNvSpPr>
            <a:spLocks xmlns:a="http://schemas.openxmlformats.org/drawingml/2006/main" noGrp="1"/>
          </p:cNvSpPr>
          <p:nvPr/>
        </p:nvSpPr>
        <p:spPr>
          <a:xfrm xmlns:a="http://schemas.openxmlformats.org/drawingml/2006/main">
            <a:off x="6953250" y="431482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27354D"/>
                </a:solidFill>
                <a:latin typeface="Segoe UI"/>
                <a:ea typeface="Segoe UI"/>
                <a:cs typeface="Segoe UI"/>
              </a:defRPr>
            </a:pPr>
            <a:r>
              <a:rPr sz="1200" b="0">
                <a:solidFill>
                  <a:srgbClr val="27354D"/>
                </a:solidFill>
                <a:latin typeface="Segoe UI"/>
                <a:ea typeface="Segoe UI"/>
                <a:cs typeface="Segoe UI"/>
              </a:rPr>
              <a:t>Nền trắng</a:t>
            </a:r>
          </a:p>
        </p:txBody>
      </p:sp>
      <p:sp>
        <p:nvSpPr>
          <p:cNvPr id="21" name="arrow">
            <a:extLst xmlns:a="http://schemas.openxmlformats.org/drawingml/2006/main">
              <a:ext uri="{FF2B5EF4-FFF2-40B4-BE49-F238E27FC236}">
                <a16:creationId xmlns:a16="http://schemas.microsoft.com/office/drawing/2014/main" id="{146F4F31-D1B2-459C-8B1F-96C207545B08}"/>
              </a:ext>
            </a:extLst>
          </p:cNvPr>
          <p:cNvSpPr>
            <a:spLocks xmlns:a="http://schemas.openxmlformats.org/drawingml/2006/main" noGrp="1"/>
          </p:cNvSpPr>
          <p:nvPr/>
        </p:nvSpPr>
        <p:spPr>
          <a:xfrm xmlns:a="http://schemas.openxmlformats.org/drawingml/2006/main">
            <a:off x="5476875" y="2714625"/>
            <a:ext cx="523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642"/>
          </a:bodyPr>
          <a:lstStyle xmlns:a="http://schemas.openxmlformats.org/drawingml/2006/main"/>
          <a:p xmlns:a="http://schemas.openxmlformats.org/drawingml/2006/main">
            <a:pPr algn="ctr">
              <a:defRPr sz="3150" b="1">
                <a:solidFill>
                  <a:srgbClr val="16B5E2"/>
                </a:solidFill>
                <a:latin typeface="Segoe UI"/>
                <a:ea typeface="Segoe UI"/>
                <a:cs typeface="Segoe UI"/>
              </a:defRPr>
            </a:pPr>
            <a:r>
              <a:rPr sz="3150" b="1">
                <a:solidFill>
                  <a:srgbClr val="16B5E2"/>
                </a:solidFill>
                <a:latin typeface="Segoe UI"/>
                <a:ea typeface="Segoe UI"/>
                <a:cs typeface="Segoe UI"/>
              </a:rPr>
              <a:t>→</a:t>
            </a:r>
          </a:p>
        </p:txBody>
      </p:sp>
      <p:sp>
        <p:nvSpPr>
          <p:cNvPr id="22" name="operating-requirement">
            <a:extLst xmlns:a="http://schemas.openxmlformats.org/drawingml/2006/main">
              <a:ext uri="{FF2B5EF4-FFF2-40B4-BE49-F238E27FC236}">
                <a16:creationId xmlns:a16="http://schemas.microsoft.com/office/drawing/2014/main" id="{2E1F8A4F-B369-452A-97A9-C605DD5182BE}"/>
              </a:ext>
            </a:extLst>
          </p:cNvPr>
          <p:cNvSpPr>
            <a:spLocks xmlns:a="http://schemas.openxmlformats.org/drawingml/2006/main" noGrp="1"/>
          </p:cNvSpPr>
          <p:nvPr/>
        </p:nvSpPr>
        <p:spPr>
          <a:xfrm xmlns:a="http://schemas.openxmlformats.org/drawingml/2006/main">
            <a:off x="1714500" y="5476875"/>
            <a:ext cx="876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19B69"/>
                </a:solidFill>
                <a:latin typeface="Segoe UI"/>
                <a:ea typeface="Segoe UI"/>
                <a:cs typeface="Segoe UI"/>
              </a:defRPr>
            </a:pPr>
            <a:r>
              <a:rPr sz="1350" b="1">
                <a:solidFill>
                  <a:srgbClr val="119B69"/>
                </a:solidFill>
                <a:latin typeface="Segoe UI"/>
                <a:ea typeface="Segoe UI"/>
                <a:cs typeface="Segoe UI"/>
              </a:rPr>
              <a:t>Yêu cầu vận hành: đúng toàn bộ chuỗi, p95 ≤ 1,5 giây trên CPU</a:t>
            </a:r>
          </a:p>
        </p:txBody>
      </p:sp>
    </p:spTree>
    <p:extLst>
      <p:ext uri="{BB962C8B-B14F-4D97-AF65-F5344CB8AC3E}">
        <p14:creationId xmlns:p14="http://schemas.microsoft.com/office/powerpoint/2010/main" val="194495394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BC5B926F-C050-4F26-8B6A-4355E3B5CDF3}"/>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400" b="1">
                <a:solidFill>
                  <a:srgbClr val="112F63"/>
                </a:solidFill>
                <a:latin typeface="Segoe UI"/>
                <a:ea typeface="Segoe UI"/>
                <a:cs typeface="Segoe UI"/>
              </a:defRPr>
            </a:pPr>
            <a:r>
              <a:rPr sz="2400" b="1">
                <a:solidFill>
                  <a:srgbClr val="112F63"/>
                </a:solidFill>
                <a:latin typeface="Segoe UI"/>
                <a:ea typeface="Segoe UI"/>
                <a:cs typeface="Segoe UI"/>
              </a:rPr>
              <a:t>Ý nghĩa thực tiễn và thách thức</a:t>
            </a:r>
          </a:p>
        </p:txBody>
      </p:sp>
      <p:sp>
        <p:nvSpPr>
          <p:cNvPr id="2" name="subtitle">
            <a:extLst xmlns:a="http://schemas.openxmlformats.org/drawingml/2006/main">
              <a:ext uri="{FF2B5EF4-FFF2-40B4-BE49-F238E27FC236}">
                <a16:creationId xmlns:a16="http://schemas.microsoft.com/office/drawing/2014/main" id="{8031C689-2B47-4845-9EDD-18615A433788}"/>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0">
                <a:solidFill>
                  <a:srgbClr val="66758E"/>
                </a:solidFill>
                <a:latin typeface="Segoe UI"/>
                <a:ea typeface="Segoe UI"/>
                <a:cs typeface="Segoe UI"/>
              </a:defRPr>
            </a:pPr>
            <a:r>
              <a:rPr sz="1275" b="0">
                <a:solidFill>
                  <a:srgbClr val="66758E"/>
                </a:solidFill>
                <a:latin typeface="Segoe UI"/>
                <a:ea typeface="Segoe UI"/>
                <a:cs typeface="Segoe UI"/>
              </a:rPr>
              <a:t>Bài toán có giá trị triển khai rõ ràng nhưng chịu ràng buộc đặc thù tại Việt Nam</a:t>
            </a:r>
          </a:p>
        </p:txBody>
      </p:sp>
      <p:sp>
        <p:nvSpPr>
          <p:cNvPr id="3" name="practical-head">
            <a:extLst xmlns:a="http://schemas.openxmlformats.org/drawingml/2006/main">
              <a:ext uri="{FF2B5EF4-FFF2-40B4-BE49-F238E27FC236}">
                <a16:creationId xmlns:a16="http://schemas.microsoft.com/office/drawing/2014/main" id="{B703689F-E460-4C3E-985B-9DCF6D65634E}"/>
              </a:ext>
            </a:extLst>
          </p:cNvPr>
          <p:cNvSpPr>
            <a:spLocks xmlns:a="http://schemas.openxmlformats.org/drawingml/2006/main" noGrp="1"/>
          </p:cNvSpPr>
          <p:nvPr/>
        </p:nvSpPr>
        <p:spPr>
          <a:xfrm xmlns:a="http://schemas.openxmlformats.org/drawingml/2006/main">
            <a:off x="857250" y="1571625"/>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800" b="1">
                <a:solidFill>
                  <a:srgbClr val="119B69"/>
                </a:solidFill>
                <a:latin typeface="Segoe UI"/>
                <a:ea typeface="Segoe UI"/>
                <a:cs typeface="Segoe UI"/>
              </a:defRPr>
            </a:pPr>
            <a:r>
              <a:rPr sz="1800" b="1">
                <a:solidFill>
                  <a:srgbClr val="119B69"/>
                </a:solidFill>
                <a:latin typeface="Segoe UI"/>
                <a:ea typeface="Segoe UI"/>
                <a:cs typeface="Segoe UI"/>
              </a:rPr>
              <a:t>Ý nghĩa thực tiễn</a:t>
            </a:r>
          </a:p>
        </p:txBody>
      </p:sp>
      <p:sp>
        <p:nvSpPr>
          <p:cNvPr id="4" name="practical-body">
            <a:extLst xmlns:a="http://schemas.openxmlformats.org/drawingml/2006/main">
              <a:ext uri="{FF2B5EF4-FFF2-40B4-BE49-F238E27FC236}">
                <a16:creationId xmlns:a16="http://schemas.microsoft.com/office/drawing/2014/main" id="{1A8AA912-6366-4A48-B779-69FB8912E0DB}"/>
              </a:ext>
            </a:extLst>
          </p:cNvPr>
          <p:cNvSpPr>
            <a:spLocks xmlns:a="http://schemas.openxmlformats.org/drawingml/2006/main" noGrp="1"/>
          </p:cNvSpPr>
          <p:nvPr/>
        </p:nvSpPr>
        <p:spPr>
          <a:xfrm xmlns:a="http://schemas.openxmlformats.org/drawingml/2006/main">
            <a:off x="857250" y="2095500"/>
            <a:ext cx="4524375" cy="2809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 Tự động nhập biển số từ camera hoặc ảnh tĩnh</a:t>
            </a:r>
          </a:p>
          <a:p xmlns:a="http://schemas.openxmlformats.org/drawingml/2006/main">
            <a:r>
              <a:t/>
            </a:r>
          </a:p>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 Lõi nhận dạng cho bãi đỗ xe, thu phí và kiểm soát ra vào</a:t>
            </a:r>
          </a:p>
          <a:p xmlns:a="http://schemas.openxmlformats.org/drawingml/2006/main">
            <a:r>
              <a:t/>
            </a:r>
          </a:p>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 Chạy trên CPU phổ thông, thuận lợi khi triển khai</a:t>
            </a:r>
          </a:p>
        </p:txBody>
      </p:sp>
      <p:sp>
        <p:nvSpPr>
          <p:cNvPr id="5" name="">
            <a:extLst xmlns:a="http://schemas.openxmlformats.org/drawingml/2006/main">
              <a:ext uri="{FF2B5EF4-FFF2-40B4-BE49-F238E27FC236}">
                <a16:creationId xmlns:a16="http://schemas.microsoft.com/office/drawing/2014/main" id="{CF871CBD-416A-4A6D-AF7E-395874C6EA51}"/>
              </a:ext>
            </a:extLst>
          </p:cNvPr>
          <p:cNvSpPr>
            <a:spLocks xmlns:a="http://schemas.openxmlformats.org/drawingml/2006/main" noGrp="1"/>
          </p:cNvSpPr>
          <p:nvPr/>
        </p:nvSpPr>
        <p:spPr>
          <a:xfrm xmlns:a="http://schemas.openxmlformats.org/drawingml/2006/main">
            <a:off x="5905500" y="1571625"/>
            <a:ext cx="0" cy="3524250"/>
          </a:xfrm>
          <a:prstGeom xmlns:a="http://schemas.openxmlformats.org/drawingml/2006/main" prst="line">
            <a:avLst/>
          </a:prstGeom>
          <a:noFill xmlns:a="http://schemas.openxmlformats.org/drawingml/2006/main"/>
          <a:ln xmlns:a="http://schemas.openxmlformats.org/drawingml/2006/main" w="19050">
            <a:solidFill>
              <a:srgbClr val="D7E2F0"/>
            </a:solidFill>
            <a:prstDash val="solid"/>
          </a:ln>
        </p:spPr>
      </p:sp>
      <p:sp>
        <p:nvSpPr>
          <p:cNvPr id="6" name="challenge-head">
            <a:extLst xmlns:a="http://schemas.openxmlformats.org/drawingml/2006/main">
              <a:ext uri="{FF2B5EF4-FFF2-40B4-BE49-F238E27FC236}">
                <a16:creationId xmlns:a16="http://schemas.microsoft.com/office/drawing/2014/main" id="{D0D7554F-A698-4F3C-A5F4-0122504BD7D5}"/>
              </a:ext>
            </a:extLst>
          </p:cNvPr>
          <p:cNvSpPr>
            <a:spLocks xmlns:a="http://schemas.openxmlformats.org/drawingml/2006/main" noGrp="1"/>
          </p:cNvSpPr>
          <p:nvPr/>
        </p:nvSpPr>
        <p:spPr>
          <a:xfrm xmlns:a="http://schemas.openxmlformats.org/drawingml/2006/main">
            <a:off x="6429375" y="157162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800" b="1">
                <a:solidFill>
                  <a:srgbClr val="D24747"/>
                </a:solidFill>
                <a:latin typeface="Segoe UI"/>
                <a:ea typeface="Segoe UI"/>
                <a:cs typeface="Segoe UI"/>
              </a:defRPr>
            </a:pPr>
            <a:r>
              <a:rPr sz="1800" b="1">
                <a:solidFill>
                  <a:srgbClr val="D24747"/>
                </a:solidFill>
                <a:latin typeface="Segoe UI"/>
                <a:ea typeface="Segoe UI"/>
                <a:cs typeface="Segoe UI"/>
              </a:rPr>
              <a:t>Thách thức kỹ thuật</a:t>
            </a:r>
          </a:p>
        </p:txBody>
      </p:sp>
      <p:sp>
        <p:nvSpPr>
          <p:cNvPr id="7" name="challenge-body">
            <a:extLst xmlns:a="http://schemas.openxmlformats.org/drawingml/2006/main">
              <a:ext uri="{FF2B5EF4-FFF2-40B4-BE49-F238E27FC236}">
                <a16:creationId xmlns:a16="http://schemas.microsoft.com/office/drawing/2014/main" id="{A2BDFA4D-58C4-4098-AB9C-FC21341F88E4}"/>
              </a:ext>
            </a:extLst>
          </p:cNvPr>
          <p:cNvSpPr>
            <a:spLocks xmlns:a="http://schemas.openxmlformats.org/drawingml/2006/main" noGrp="1"/>
          </p:cNvSpPr>
          <p:nvPr/>
        </p:nvSpPr>
        <p:spPr>
          <a:xfrm xmlns:a="http://schemas.openxmlformats.org/drawingml/2006/main">
            <a:off x="6429375" y="2095500"/>
            <a:ext cx="4857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 77 triệu xe máy, biển hai dòng là trường hợp phổ biến</a:t>
            </a:r>
          </a:p>
          <a:p xmlns:a="http://schemas.openxmlformats.org/drawingml/2006/main">
            <a:r>
              <a:t/>
            </a:r>
          </a:p>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 Biển 190 × 140 mm là đối tượng nhỏ trong khung hình</a:t>
            </a:r>
          </a:p>
          <a:p xmlns:a="http://schemas.openxmlformats.org/drawingml/2006/main">
            <a:r>
              <a:t/>
            </a:r>
          </a:p>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 Chói phản quang, nhòe, bụi bẩn và góc nghiêng</a:t>
            </a:r>
          </a:p>
          <a:p xmlns:a="http://schemas.openxmlformats.org/drawingml/2006/main">
            <a:r>
              <a:t/>
            </a:r>
          </a:p>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 CRNN/CTC ưu tiên chuỗi một dòng ngang</a:t>
            </a:r>
          </a:p>
        </p:txBody>
      </p:sp>
      <p:sp>
        <p:nvSpPr>
          <p:cNvPr id="8" name="takeaway">
            <a:extLst xmlns:a="http://schemas.openxmlformats.org/drawingml/2006/main">
              <a:ext uri="{FF2B5EF4-FFF2-40B4-BE49-F238E27FC236}">
                <a16:creationId xmlns:a16="http://schemas.microsoft.com/office/drawing/2014/main" id="{5B82E46C-4C7E-47AC-8797-B82AE7729C05}"/>
              </a:ext>
            </a:extLst>
          </p:cNvPr>
          <p:cNvSpPr>
            <a:spLocks xmlns:a="http://schemas.openxmlformats.org/drawingml/2006/main" noGrp="1"/>
          </p:cNvSpPr>
          <p:nvPr/>
        </p:nvSpPr>
        <p:spPr>
          <a:xfrm xmlns:a="http://schemas.openxmlformats.org/drawingml/2006/main">
            <a:off x="2238375" y="5476875"/>
            <a:ext cx="7715250" cy="457200"/>
          </a:xfrm>
          <a:prstGeom xmlns:a="http://schemas.openxmlformats.org/drawingml/2006/main" prst="roundRect">
            <a:avLst>
              <a:gd name="adj" fmla="val 25000"/>
            </a:avLst>
          </a:prstGeom>
          <a:solidFill xmlns:a="http://schemas.openxmlformats.org/drawingml/2006/main">
            <a:srgbClr val="EEF7FF"/>
          </a:solidFill>
          <a:ln xmlns:a="http://schemas.openxmlformats.org/drawingml/2006/main" w="9525">
            <a:solidFill>
              <a:srgbClr val="B9DBF2"/>
            </a:solidFill>
            <a:prstDash val="solid"/>
          </a:ln>
        </p:spPr>
      </p:sp>
      <p:sp>
        <p:nvSpPr>
          <p:cNvPr id="9" name="takeaway-text">
            <a:extLst xmlns:a="http://schemas.openxmlformats.org/drawingml/2006/main">
              <a:ext uri="{FF2B5EF4-FFF2-40B4-BE49-F238E27FC236}">
                <a16:creationId xmlns:a16="http://schemas.microsoft.com/office/drawing/2014/main" id="{F7DBE877-35D7-4B98-A708-1D92CDB065A0}"/>
              </a:ext>
            </a:extLst>
          </p:cNvPr>
          <p:cNvSpPr>
            <a:spLocks xmlns:a="http://schemas.openxmlformats.org/drawingml/2006/main" noGrp="1"/>
          </p:cNvSpPr>
          <p:nvPr/>
        </p:nvSpPr>
        <p:spPr>
          <a:xfrm xmlns:a="http://schemas.openxmlformats.org/drawingml/2006/main">
            <a:off x="2428875" y="5514975"/>
            <a:ext cx="733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350" b="1">
                <a:solidFill>
                  <a:srgbClr val="112F63"/>
                </a:solidFill>
                <a:latin typeface="Segoe UI"/>
                <a:ea typeface="Segoe UI"/>
                <a:cs typeface="Segoe UI"/>
              </a:defRPr>
            </a:pPr>
            <a:r>
              <a:rPr sz="1350" b="1">
                <a:solidFill>
                  <a:srgbClr val="112F63"/>
                </a:solidFill>
                <a:latin typeface="Segoe UI"/>
                <a:ea typeface="Segoe UI"/>
                <a:cs typeface="Segoe UI"/>
              </a:rPr>
              <a:t>Biển hai dòng là điểm nghẽn cần giải quyết, không phải trường hợp ngoại lệ</a:t>
            </a:r>
          </a:p>
        </p:txBody>
      </p:sp>
    </p:spTree>
    <p:extLst>
      <p:ext uri="{BB962C8B-B14F-4D97-AF65-F5344CB8AC3E}">
        <p14:creationId xmlns:p14="http://schemas.microsoft.com/office/powerpoint/2010/main" val="24126700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690ADC4-37CF-42A4-970C-E05A90CE75B6}"/>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400" b="1">
                <a:solidFill>
                  <a:srgbClr val="112F63"/>
                </a:solidFill>
                <a:latin typeface="Segoe UI"/>
                <a:ea typeface="Segoe UI"/>
                <a:cs typeface="Segoe UI"/>
              </a:defRPr>
            </a:pPr>
            <a:r>
              <a:rPr sz="2400" b="1">
                <a:solidFill>
                  <a:srgbClr val="112F63"/>
                </a:solidFill>
                <a:latin typeface="Segoe UI"/>
                <a:ea typeface="Segoe UI"/>
                <a:cs typeface="Segoe UI"/>
              </a:rPr>
              <a:t>Khảo sát các hướng tiếp cận</a:t>
            </a:r>
          </a:p>
        </p:txBody>
      </p:sp>
      <p:sp>
        <p:nvSpPr>
          <p:cNvPr id="2" name="subtitle">
            <a:extLst xmlns:a="http://schemas.openxmlformats.org/drawingml/2006/main">
              <a:ext uri="{FF2B5EF4-FFF2-40B4-BE49-F238E27FC236}">
                <a16:creationId xmlns:a16="http://schemas.microsoft.com/office/drawing/2014/main" id="{A2612EED-3076-42AD-9152-5C22E4339DD4}"/>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0">
                <a:solidFill>
                  <a:srgbClr val="66758E"/>
                </a:solidFill>
                <a:latin typeface="Segoe UI"/>
                <a:ea typeface="Segoe UI"/>
                <a:cs typeface="Segoe UI"/>
              </a:defRPr>
            </a:pPr>
            <a:r>
              <a:rPr sz="1275" b="0">
                <a:solidFill>
                  <a:srgbClr val="66758E"/>
                </a:solidFill>
                <a:latin typeface="Segoe UI"/>
                <a:ea typeface="Segoe UI"/>
                <a:cs typeface="Segoe UI"/>
              </a:rPr>
              <a:t>Bốn phương án được đối chiếu theo khả năng xử lý biển Việt Nam và ràng buộc CPU</a:t>
            </a:r>
          </a:p>
        </p:txBody>
      </p:sp>
      <p:graphicFrame>
        <p:nvGraphicFramePr>
          <p:cNvPr id="11" name=""/>
          <p:cNvGraphicFramePr/>
          <p:nvPr/>
        </p:nvGraphicFramePr>
        <p:xfrm>
          <a:off xmlns:a="http://schemas.openxmlformats.org/drawingml/2006/main" x="809625" y="1571625"/>
          <a:ext xmlns:a="http://schemas.openxmlformats.org/drawingml/2006/main" cx="10572750" cy="3143250"/>
        </p:xfrm>
        <a:graphic xmlns:a="http://schemas.openxmlformats.org/drawingml/2006/main">
          <a:graphicData uri="http://schemas.openxmlformats.org/drawingml/2006/table">
            <a:tbl>
              <a:tblPr firstRow="1" bandRow="1"/>
              <a:tblGrid>
                <a:gridCol w="2857500"/>
                <a:gridCol w="3429000"/>
                <a:gridCol w="4286250"/>
              </a:tblGrid>
              <a:tr h="628650">
                <a:tc>
                  <a:txBody>
                    <a:bodyPr/>
                    <a:lstStyle/>
                    <a:p>
                      <a:r>
                        <a:rPr sz="1125" b="1">
                          <a:solidFill>
                            <a:srgbClr val="FFFFFF"/>
                          </a:solidFill>
                          <a:latin typeface="Segoe UI"/>
                          <a:ea typeface="Segoe UI"/>
                          <a:cs typeface="Segoe UI"/>
                        </a:rPr>
                        <a:t>Hướng tiếp cận</a:t>
                      </a:r>
                    </a:p>
                  </a:txBody>
                  <a:tcPr marL="95250" marR="95250" marT="76200" marB="76200" anchor="ctr">
                    <a:solidFill>
                      <a:srgbClr val="112F63"/>
                    </a:solidFill>
                  </a:tcPr>
                </a:tc>
                <a:tc>
                  <a:txBody>
                    <a:bodyPr/>
                    <a:lstStyle/>
                    <a:p>
                      <a:r>
                        <a:rPr sz="1125" b="1">
                          <a:solidFill>
                            <a:srgbClr val="FFFFFF"/>
                          </a:solidFill>
                          <a:latin typeface="Segoe UI"/>
                          <a:ea typeface="Segoe UI"/>
                          <a:cs typeface="Segoe UI"/>
                        </a:rPr>
                        <a:t>Cách nhận dạng</a:t>
                      </a:r>
                    </a:p>
                  </a:txBody>
                  <a:tcPr marL="95250" marR="95250" marT="76200" marB="76200" anchor="ctr">
                    <a:solidFill>
                      <a:srgbClr val="112F63"/>
                    </a:solidFill>
                  </a:tcPr>
                </a:tc>
                <a:tc>
                  <a:txBody>
                    <a:bodyPr/>
                    <a:lstStyle/>
                    <a:p>
                      <a:r>
                        <a:rPr sz="1125" b="1">
                          <a:solidFill>
                            <a:srgbClr val="FFFFFF"/>
                          </a:solidFill>
                          <a:latin typeface="Segoe UI"/>
                          <a:ea typeface="Segoe UI"/>
                          <a:cs typeface="Segoe UI"/>
                        </a:rPr>
                        <a:t>Đánh đổi chính</a:t>
                      </a:r>
                    </a:p>
                  </a:txBody>
                  <a:tcPr marL="95250" marR="95250" marT="76200" marB="76200" anchor="ctr">
                    <a:solidFill>
                      <a:srgbClr val="112F63"/>
                    </a:solidFill>
                  </a:tcPr>
                </a:tc>
              </a:tr>
              <a:tr h="628650">
                <a:tc>
                  <a:txBody>
                    <a:bodyPr/>
                    <a:lstStyle/>
                    <a:p>
                      <a:r>
                        <a:rPr sz="1050">
                          <a:solidFill>
                            <a:srgbClr val="27354D"/>
                          </a:solidFill>
                          <a:latin typeface="Segoe UI"/>
                          <a:ea typeface="Segoe UI"/>
                          <a:cs typeface="Segoe UI"/>
                        </a:rPr>
                        <a:t>Morphology + SVM</a:t>
                      </a:r>
                    </a:p>
                  </a:txBody>
                  <a:tcPr marL="95250" marR="95250" marT="66675" marB="66675" anchor="ctr"/>
                </a:tc>
                <a:tc>
                  <a:txBody>
                    <a:bodyPr/>
                    <a:lstStyle/>
                    <a:p>
                      <a:r>
                        <a:rPr sz="1050">
                          <a:solidFill>
                            <a:srgbClr val="27354D"/>
                          </a:solidFill>
                          <a:latin typeface="Segoe UI"/>
                          <a:ea typeface="Segoe UI"/>
                          <a:cs typeface="Segoe UI"/>
                        </a:rPr>
                        <a:t>Phân đoạn từng ký tự</a:t>
                      </a:r>
                    </a:p>
                  </a:txBody>
                  <a:tcPr marL="95250" marR="95250" marT="66675" marB="66675" anchor="ctr"/>
                </a:tc>
                <a:tc>
                  <a:txBody>
                    <a:bodyPr/>
                    <a:lstStyle/>
                    <a:p>
                      <a:r>
                        <a:rPr sz="1050">
                          <a:solidFill>
                            <a:srgbClr val="27354D"/>
                          </a:solidFill>
                          <a:latin typeface="Segoe UI"/>
                          <a:ea typeface="Segoe UI"/>
                          <a:cs typeface="Segoe UI"/>
                        </a:rPr>
                        <a:t>Nhạy với nhiễu và góc nghiêng</a:t>
                      </a:r>
                    </a:p>
                  </a:txBody>
                  <a:tcPr marL="95250" marR="95250" marT="66675" marB="66675" anchor="ctr"/>
                </a:tc>
              </a:tr>
              <a:tr h="628650">
                <a:tc>
                  <a:txBody>
                    <a:bodyPr/>
                    <a:lstStyle/>
                    <a:p>
                      <a:r>
                        <a:rPr sz="1050">
                          <a:solidFill>
                            <a:srgbClr val="27354D"/>
                          </a:solidFill>
                          <a:latin typeface="Segoe UI"/>
                          <a:ea typeface="Segoe UI"/>
                          <a:cs typeface="Segoe UI"/>
                        </a:rPr>
                        <a:t>YOLO + OCR dựng sẵn</a:t>
                      </a:r>
                    </a:p>
                  </a:txBody>
                  <a:tcPr marL="95250" marR="95250" marT="66675" marB="66675" anchor="ctr"/>
                </a:tc>
                <a:tc>
                  <a:txBody>
                    <a:bodyPr/>
                    <a:lstStyle/>
                    <a:p>
                      <a:r>
                        <a:rPr sz="1050">
                          <a:solidFill>
                            <a:srgbClr val="27354D"/>
                          </a:solidFill>
                          <a:latin typeface="Segoe UI"/>
                          <a:ea typeface="Segoe UI"/>
                          <a:cs typeface="Segoe UI"/>
                        </a:rPr>
                        <a:t>EasyOCR hoặc Tesseract</a:t>
                      </a:r>
                    </a:p>
                  </a:txBody>
                  <a:tcPr marL="95250" marR="95250" marT="66675" marB="66675" anchor="ctr"/>
                </a:tc>
                <a:tc>
                  <a:txBody>
                    <a:bodyPr/>
                    <a:lstStyle/>
                    <a:p>
                      <a:r>
                        <a:rPr sz="1050">
                          <a:solidFill>
                            <a:srgbClr val="27354D"/>
                          </a:solidFill>
                          <a:latin typeface="Segoe UI"/>
                          <a:ea typeface="Segoe UI"/>
                          <a:cs typeface="Segoe UI"/>
                        </a:rPr>
                        <a:t>Suy giảm mạnh trên biển hai dòng</a:t>
                      </a:r>
                    </a:p>
                  </a:txBody>
                  <a:tcPr marL="95250" marR="95250" marT="66675" marB="66675" anchor="ctr"/>
                </a:tc>
              </a:tr>
              <a:tr h="628650">
                <a:tc>
                  <a:txBody>
                    <a:bodyPr/>
                    <a:lstStyle/>
                    <a:p>
                      <a:r>
                        <a:rPr sz="1050">
                          <a:solidFill>
                            <a:srgbClr val="27354D"/>
                          </a:solidFill>
                          <a:latin typeface="Segoe UI"/>
                          <a:ea typeface="Segoe UI"/>
                          <a:cs typeface="Segoe UI"/>
                        </a:rPr>
                        <a:t>End-to-end</a:t>
                      </a:r>
                    </a:p>
                  </a:txBody>
                  <a:tcPr marL="95250" marR="95250" marT="66675" marB="66675" anchor="ctr"/>
                </a:tc>
                <a:tc>
                  <a:txBody>
                    <a:bodyPr/>
                    <a:lstStyle/>
                    <a:p>
                      <a:r>
                        <a:rPr sz="1050">
                          <a:solidFill>
                            <a:srgbClr val="27354D"/>
                          </a:solidFill>
                          <a:latin typeface="Segoe UI"/>
                          <a:ea typeface="Segoe UI"/>
                          <a:cs typeface="Segoe UI"/>
                        </a:rPr>
                        <a:t>LPRNet hoặc CRNN</a:t>
                      </a:r>
                    </a:p>
                  </a:txBody>
                  <a:tcPr marL="95250" marR="95250" marT="66675" marB="66675" anchor="ctr"/>
                </a:tc>
                <a:tc>
                  <a:txBody>
                    <a:bodyPr/>
                    <a:lstStyle/>
                    <a:p>
                      <a:r>
                        <a:rPr sz="1050">
                          <a:solidFill>
                            <a:srgbClr val="27354D"/>
                          </a:solidFill>
                          <a:latin typeface="Segoe UI"/>
                          <a:ea typeface="Segoe UI"/>
                          <a:cs typeface="Segoe UI"/>
                        </a:rPr>
                        <a:t>Cần dữ liệu Việt Nam để huấn luyện lại</a:t>
                      </a:r>
                    </a:p>
                  </a:txBody>
                  <a:tcPr marL="95250" marR="95250" marT="66675" marB="66675" anchor="ctr"/>
                </a:tc>
              </a:tr>
              <a:tr h="628650">
                <a:tc>
                  <a:txBody>
                    <a:bodyPr/>
                    <a:lstStyle/>
                    <a:p>
                      <a:r>
                        <a:rPr sz="1050" b="1">
                          <a:solidFill>
                            <a:srgbClr val="087B56"/>
                          </a:solidFill>
                          <a:latin typeface="Segoe UI"/>
                          <a:ea typeface="Segoe UI"/>
                          <a:cs typeface="Segoe UI"/>
                        </a:rPr>
                        <a:t>Phương pháp đề tài</a:t>
                      </a:r>
                    </a:p>
                  </a:txBody>
                  <a:tcPr marL="95250" marR="95250" marT="66675" marB="66675" anchor="ctr">
                    <a:solidFill>
                      <a:srgbClr val="EAF7F2"/>
                    </a:solidFill>
                  </a:tcPr>
                </a:tc>
                <a:tc>
                  <a:txBody>
                    <a:bodyPr/>
                    <a:lstStyle/>
                    <a:p>
                      <a:r>
                        <a:rPr sz="1050" b="1">
                          <a:solidFill>
                            <a:srgbClr val="087B56"/>
                          </a:solidFill>
                          <a:latin typeface="Segoe UI"/>
                          <a:ea typeface="Segoe UI"/>
                          <a:cs typeface="Segoe UI"/>
                        </a:rPr>
                        <a:t>YOLO11n + PP-OCRv5</a:t>
                      </a:r>
                    </a:p>
                  </a:txBody>
                  <a:tcPr marL="95250" marR="95250" marT="66675" marB="66675" anchor="ctr">
                    <a:solidFill>
                      <a:srgbClr val="EAF7F2"/>
                    </a:solidFill>
                  </a:tcPr>
                </a:tc>
                <a:tc>
                  <a:txBody>
                    <a:bodyPr/>
                    <a:lstStyle/>
                    <a:p>
                      <a:r>
                        <a:rPr sz="1050" b="1">
                          <a:solidFill>
                            <a:srgbClr val="087B56"/>
                          </a:solidFill>
                          <a:latin typeface="Segoe UI"/>
                          <a:ea typeface="Segoe UI"/>
                          <a:cs typeface="Segoe UI"/>
                        </a:rPr>
                        <a:t>Biến đổi hình học, phù hợp CPU</a:t>
                      </a:r>
                    </a:p>
                  </a:txBody>
                  <a:tcPr marL="95250" marR="95250" marT="66675" marB="66675" anchor="ctr">
                    <a:solidFill>
                      <a:srgbClr val="EAF7F2"/>
                    </a:solidFill>
                  </a:tcPr>
                </a:tc>
              </a:tr>
            </a:tbl>
          </a:graphicData>
        </a:graphic>
      </p:graphicFrame>
      <p:sp>
        <p:nvSpPr>
          <p:cNvPr id="4" name="decision">
            <a:extLst xmlns:a="http://schemas.openxmlformats.org/drawingml/2006/main">
              <a:ext uri="{FF2B5EF4-FFF2-40B4-BE49-F238E27FC236}">
                <a16:creationId xmlns:a16="http://schemas.microsoft.com/office/drawing/2014/main" id="{F2E435D2-9620-4909-B0CB-3DB4586F1B3F}"/>
              </a:ext>
            </a:extLst>
          </p:cNvPr>
          <p:cNvSpPr>
            <a:spLocks xmlns:a="http://schemas.openxmlformats.org/drawingml/2006/main" noGrp="1"/>
          </p:cNvSpPr>
          <p:nvPr/>
        </p:nvSpPr>
        <p:spPr>
          <a:xfrm xmlns:a="http://schemas.openxmlformats.org/drawingml/2006/main">
            <a:off x="2476500" y="5143500"/>
            <a:ext cx="7239000" cy="523875"/>
          </a:xfrm>
          <a:prstGeom xmlns:a="http://schemas.openxmlformats.org/drawingml/2006/main" prst="roundRect">
            <a:avLst>
              <a:gd name="adj" fmla="val 21818"/>
            </a:avLst>
          </a:prstGeom>
          <a:solidFill xmlns:a="http://schemas.openxmlformats.org/drawingml/2006/main">
            <a:srgbClr val="EEF5FF"/>
          </a:solidFill>
          <a:ln xmlns:a="http://schemas.openxmlformats.org/drawingml/2006/main" w="9525">
            <a:solidFill>
              <a:srgbClr val="BBD3F2"/>
            </a:solidFill>
            <a:prstDash val="solid"/>
          </a:ln>
        </p:spPr>
      </p:sp>
      <p:sp>
        <p:nvSpPr>
          <p:cNvPr id="5" name="decision-text">
            <a:extLst xmlns:a="http://schemas.openxmlformats.org/drawingml/2006/main">
              <a:ext uri="{FF2B5EF4-FFF2-40B4-BE49-F238E27FC236}">
                <a16:creationId xmlns:a16="http://schemas.microsoft.com/office/drawing/2014/main" id="{E173B62E-17CA-4D1F-8DDA-5DEC3205A9AA}"/>
              </a:ext>
            </a:extLst>
          </p:cNvPr>
          <p:cNvSpPr>
            <a:spLocks xmlns:a="http://schemas.openxmlformats.org/drawingml/2006/main" noGrp="1"/>
          </p:cNvSpPr>
          <p:nvPr/>
        </p:nvSpPr>
        <p:spPr>
          <a:xfrm xmlns:a="http://schemas.openxmlformats.org/drawingml/2006/main">
            <a:off x="2667000" y="5191125"/>
            <a:ext cx="685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350" b="1">
                <a:solidFill>
                  <a:srgbClr val="112F63"/>
                </a:solidFill>
                <a:latin typeface="Segoe UI"/>
                <a:ea typeface="Segoe UI"/>
                <a:cs typeface="Segoe UI"/>
              </a:defRPr>
            </a:pPr>
            <a:r>
              <a:rPr sz="1350" b="1">
                <a:solidFill>
                  <a:srgbClr val="112F63"/>
                </a:solidFill>
                <a:latin typeface="Segoe UI"/>
                <a:ea typeface="Segoe UI"/>
                <a:cs typeface="Segoe UI"/>
              </a:rPr>
              <a:t>Lựa chọn phương án 4: không huấn luyện lại OCR, vẫn tối ưu được trên CPU</a:t>
            </a:r>
          </a:p>
        </p:txBody>
      </p:sp>
      <p:sp>
        <p:nvSpPr>
          <p:cNvPr id="8" name="visible-sources">
            <a:extLst xmlns:a="http://schemas.openxmlformats.org/drawingml/2006/main">
              <a:ext uri="{FF2B5EF4-FFF2-40B4-BE49-F238E27FC236}">
                <a16:creationId xmlns:a16="http://schemas.microsoft.com/office/drawing/2014/main" id="{DE9017BA-82E2-4611-8A7D-58DF5BB7C4BE}"/>
              </a:ext>
            </a:extLst>
          </p:cNvPr>
          <p:cNvSpPr>
            <a:spLocks xmlns:a="http://schemas.openxmlformats.org/drawingml/2006/main" noGrp="1"/>
          </p:cNvSpPr>
          <p:nvPr/>
        </p:nvSpPr>
        <p:spPr>
          <a:xfrm xmlns:a="http://schemas.openxmlformats.org/drawingml/2006/main">
            <a:off x="1238250" y="5905500"/>
            <a:ext cx="971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900" b="0">
                <a:solidFill>
                  <a:srgbClr val="66758E"/>
                </a:solidFill>
                <a:latin typeface="Segoe UI"/>
                <a:ea typeface="Segoe UI"/>
                <a:cs typeface="Segoe UI"/>
              </a:defRPr>
            </a:pPr>
            <a:r>
              <a:rPr sz="900" b="0">
                <a:solidFill>
                  <a:srgbClr val="66758E"/>
                </a:solidFill>
                <a:latin typeface="Segoe UI"/>
                <a:ea typeface="Segoe UI"/>
                <a:cs typeface="Segoe UI"/>
              </a:rPr>
              <a:t>Nguồn: Laroca và cộng sự (VISAPP 2022) · Ultralytics YOLO11 (2024) · PP-OCRv5 (2026)</a:t>
            </a:r>
          </a:p>
        </p:txBody>
      </p:sp>
    </p:spTree>
    <p:extLst>
      <p:ext uri="{BB962C8B-B14F-4D97-AF65-F5344CB8AC3E}">
        <p14:creationId xmlns:p14="http://schemas.microsoft.com/office/powerpoint/2010/main" val="6919141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21CD969-550B-41D6-BAD9-E069BB22B8EC}"/>
              </a:ext>
            </a:extLst>
          </p:cNvPr>
          <p:cNvSpPr>
            <a:spLocks xmlns:a="http://schemas.openxmlformats.org/drawingml/2006/main" noGrp="1"/>
          </p:cNvSpPr>
          <p:nvPr/>
        </p:nvSpPr>
        <p:spPr>
          <a:xfrm xmlns:a="http://schemas.openxmlformats.org/drawingml/2006/main">
            <a:off x="749808" y="393192"/>
            <a:ext cx="10195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0F2A5F"/>
                </a:solidFill>
                <a:latin typeface="Arial"/>
                <a:ea typeface="Arial"/>
                <a:cs typeface="Arial"/>
              </a:rPr>
              <a:t>Pipeline xử lý tổng thể</a:t>
            </a:r>
            <a:endParaRPr sz="2500"/>
          </a:p>
        </p:txBody>
      </p:sp>
      <p:sp>
        <p:nvSpPr>
          <p:cNvPr id="3" name="Text 1">
            <a:extLst xmlns:a="http://schemas.openxmlformats.org/drawingml/2006/main">
              <a:ext uri="{FF2B5EF4-FFF2-40B4-BE49-F238E27FC236}">
                <a16:creationId xmlns:a16="http://schemas.microsoft.com/office/drawing/2014/main" id="{EACAC01E-4C30-4545-AECF-7A3CDD0D420E}"/>
              </a:ext>
            </a:extLst>
          </p:cNvPr>
          <p:cNvSpPr>
            <a:spLocks xmlns:a="http://schemas.openxmlformats.org/drawingml/2006/main" noGrp="1"/>
          </p:cNvSpPr>
          <p:nvPr/>
        </p:nvSpPr>
        <p:spPr>
          <a:xfrm xmlns:a="http://schemas.openxmlformats.org/drawingml/2006/main">
            <a:off x="768096" y="914400"/>
            <a:ext cx="10058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65748B"/>
                </a:solidFill>
                <a:latin typeface="Arial"/>
                <a:ea typeface="Arial"/>
                <a:cs typeface="Arial"/>
              </a:rPr>
              <a:t>Đóng góp cốt lõi nằm ở hai khối: Xử lý ảnh thích ứng và Hậu xử lý tri thức chuyên miền</a:t>
            </a:r>
            <a:endParaRPr sz="1150"/>
          </a:p>
        </p:txBody>
      </p:sp>
      <p:sp>
        <p:nvSpPr>
          <p:cNvPr id="4" name="Shape 2">
            <a:extLst xmlns:a="http://schemas.openxmlformats.org/drawingml/2006/main">
              <a:ext uri="{FF2B5EF4-FFF2-40B4-BE49-F238E27FC236}">
                <a16:creationId xmlns:a16="http://schemas.microsoft.com/office/drawing/2014/main" id="{0C5DAB67-291E-40C3-B612-EDCF62389CD0}"/>
              </a:ext>
            </a:extLst>
          </p:cNvPr>
          <p:cNvSpPr>
            <a:spLocks xmlns:a="http://schemas.openxmlformats.org/drawingml/2006/main" noGrp="1"/>
          </p:cNvSpPr>
          <p:nvPr/>
        </p:nvSpPr>
        <p:spPr>
          <a:xfrm xmlns:a="http://schemas.openxmlformats.org/drawingml/2006/main">
            <a:off x="502920" y="1874520"/>
            <a:ext cx="1627632" cy="1828800"/>
          </a:xfrm>
          <a:prstGeom xmlns:a="http://schemas.openxmlformats.org/drawingml/2006/main" prst="roundRect">
            <a:avLst>
              <a:gd name="adj" fmla="val 4494"/>
            </a:avLst>
          </a:prstGeom>
          <a:solidFill xmlns:a="http://schemas.openxmlformats.org/drawingml/2006/main">
            <a:srgbClr val="FFFFFF"/>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9D481E35-7192-40DD-B127-1E34454F31BA}"/>
              </a:ext>
            </a:extLst>
          </p:cNvPr>
          <p:cNvSpPr>
            <a:spLocks xmlns:a="http://schemas.openxmlformats.org/drawingml/2006/main" noGrp="1"/>
          </p:cNvSpPr>
          <p:nvPr/>
        </p:nvSpPr>
        <p:spPr>
          <a:xfrm xmlns:a="http://schemas.openxmlformats.org/drawingml/2006/main">
            <a:off x="630936" y="2148840"/>
            <a:ext cx="1371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0F2A5F"/>
                </a:solidFill>
              </a:rPr>
              <a:t>Ảnh đầu vào</a:t>
            </a:r>
            <a:endParaRPr sz="1400"/>
          </a:p>
        </p:txBody>
      </p:sp>
      <p:sp>
        <p:nvSpPr>
          <p:cNvPr id="6" name="Text 4">
            <a:extLst xmlns:a="http://schemas.openxmlformats.org/drawingml/2006/main">
              <a:ext uri="{FF2B5EF4-FFF2-40B4-BE49-F238E27FC236}">
                <a16:creationId xmlns:a16="http://schemas.microsoft.com/office/drawing/2014/main" id="{EDA28219-9BE4-4888-AA52-938DABDFC535}"/>
              </a:ext>
            </a:extLst>
          </p:cNvPr>
          <p:cNvSpPr>
            <a:spLocks xmlns:a="http://schemas.openxmlformats.org/drawingml/2006/main" noGrp="1"/>
          </p:cNvSpPr>
          <p:nvPr/>
        </p:nvSpPr>
        <p:spPr>
          <a:xfrm xmlns:a="http://schemas.openxmlformats.org/drawingml/2006/main">
            <a:off x="612648" y="2761488"/>
            <a:ext cx="1408176"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65748B"/>
                </a:solidFill>
              </a:rPr>
              <a:t>Camera / ảnh thực tế</a:t>
            </a:r>
            <a:endParaRPr sz="1050"/>
          </a:p>
        </p:txBody>
      </p:sp>
      <p:sp>
        <p:nvSpPr>
          <p:cNvPr id="7" name="Text 5">
            <a:extLst xmlns:a="http://schemas.openxmlformats.org/drawingml/2006/main">
              <a:ext uri="{FF2B5EF4-FFF2-40B4-BE49-F238E27FC236}">
                <a16:creationId xmlns:a16="http://schemas.microsoft.com/office/drawing/2014/main" id="{2186AF58-6820-4F5A-8035-9EF6DD7A9578}"/>
              </a:ext>
            </a:extLst>
          </p:cNvPr>
          <p:cNvSpPr>
            <a:spLocks xmlns:a="http://schemas.openxmlformats.org/drawingml/2006/main" noGrp="1"/>
          </p:cNvSpPr>
          <p:nvPr/>
        </p:nvSpPr>
        <p:spPr>
          <a:xfrm xmlns:a="http://schemas.openxmlformats.org/drawingml/2006/main">
            <a:off x="2130552" y="2542032"/>
            <a:ext cx="2743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9DB3C6"/>
                </a:solidFill>
              </a:rPr>
              <a:t>→</a:t>
            </a:r>
            <a:endParaRPr sz="2200"/>
          </a:p>
        </p:txBody>
      </p:sp>
      <p:sp>
        <p:nvSpPr>
          <p:cNvPr id="8" name="Shape 6">
            <a:extLst xmlns:a="http://schemas.openxmlformats.org/drawingml/2006/main">
              <a:ext uri="{FF2B5EF4-FFF2-40B4-BE49-F238E27FC236}">
                <a16:creationId xmlns:a16="http://schemas.microsoft.com/office/drawing/2014/main" id="{9C613EEF-EB93-4A51-86EE-40422E4FB7EB}"/>
              </a:ext>
            </a:extLst>
          </p:cNvPr>
          <p:cNvSpPr>
            <a:spLocks xmlns:a="http://schemas.openxmlformats.org/drawingml/2006/main" noGrp="1"/>
          </p:cNvSpPr>
          <p:nvPr/>
        </p:nvSpPr>
        <p:spPr>
          <a:xfrm xmlns:a="http://schemas.openxmlformats.org/drawingml/2006/main">
            <a:off x="2404872" y="1874520"/>
            <a:ext cx="1627632" cy="1828800"/>
          </a:xfrm>
          <a:prstGeom xmlns:a="http://schemas.openxmlformats.org/drawingml/2006/main" prst="roundRect">
            <a:avLst>
              <a:gd name="adj" fmla="val 4494"/>
            </a:avLst>
          </a:prstGeom>
          <a:solidFill xmlns:a="http://schemas.openxmlformats.org/drawingml/2006/main">
            <a:srgbClr val="FFFFFF"/>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9" name="Text 7">
            <a:extLst xmlns:a="http://schemas.openxmlformats.org/drawingml/2006/main">
              <a:ext uri="{FF2B5EF4-FFF2-40B4-BE49-F238E27FC236}">
                <a16:creationId xmlns:a16="http://schemas.microsoft.com/office/drawing/2014/main" id="{B813C55B-CDA3-45D6-8A44-A60E575B1742}"/>
              </a:ext>
            </a:extLst>
          </p:cNvPr>
          <p:cNvSpPr>
            <a:spLocks xmlns:a="http://schemas.openxmlformats.org/drawingml/2006/main" noGrp="1"/>
          </p:cNvSpPr>
          <p:nvPr/>
        </p:nvSpPr>
        <p:spPr>
          <a:xfrm xmlns:a="http://schemas.openxmlformats.org/drawingml/2006/main">
            <a:off x="2532888" y="2148840"/>
            <a:ext cx="1371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0F2A5F"/>
                </a:solidFill>
              </a:rPr>
              <a:t>YOLO11n</a:t>
            </a:r>
            <a:endParaRPr sz="1400"/>
          </a:p>
        </p:txBody>
      </p:sp>
      <p:sp>
        <p:nvSpPr>
          <p:cNvPr id="10" name="Text 8">
            <a:extLst xmlns:a="http://schemas.openxmlformats.org/drawingml/2006/main">
              <a:ext uri="{FF2B5EF4-FFF2-40B4-BE49-F238E27FC236}">
                <a16:creationId xmlns:a16="http://schemas.microsoft.com/office/drawing/2014/main" id="{A3E929E1-4DA4-4599-B5D8-F9EE44C36D35}"/>
              </a:ext>
            </a:extLst>
          </p:cNvPr>
          <p:cNvSpPr>
            <a:spLocks xmlns:a="http://schemas.openxmlformats.org/drawingml/2006/main" noGrp="1"/>
          </p:cNvSpPr>
          <p:nvPr/>
        </p:nvSpPr>
        <p:spPr>
          <a:xfrm xmlns:a="http://schemas.openxmlformats.org/drawingml/2006/main">
            <a:off x="2514600" y="2761488"/>
            <a:ext cx="1408176"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65748B"/>
                </a:solidFill>
              </a:rPr>
              <a:t>Phát hiện biển số</a:t>
            </a:r>
            <a:endParaRPr sz="1050"/>
          </a:p>
        </p:txBody>
      </p:sp>
      <p:sp>
        <p:nvSpPr>
          <p:cNvPr id="11" name="Text 9">
            <a:extLst xmlns:a="http://schemas.openxmlformats.org/drawingml/2006/main">
              <a:ext uri="{FF2B5EF4-FFF2-40B4-BE49-F238E27FC236}">
                <a16:creationId xmlns:a16="http://schemas.microsoft.com/office/drawing/2014/main" id="{E110E319-4450-4AD9-BC2F-7F638E5679E0}"/>
              </a:ext>
            </a:extLst>
          </p:cNvPr>
          <p:cNvSpPr>
            <a:spLocks xmlns:a="http://schemas.openxmlformats.org/drawingml/2006/main" noGrp="1"/>
          </p:cNvSpPr>
          <p:nvPr/>
        </p:nvSpPr>
        <p:spPr>
          <a:xfrm xmlns:a="http://schemas.openxmlformats.org/drawingml/2006/main">
            <a:off x="4032504" y="2542032"/>
            <a:ext cx="2743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9DB3C6"/>
                </a:solidFill>
              </a:rPr>
              <a:t>→</a:t>
            </a:r>
            <a:endParaRPr sz="2200"/>
          </a:p>
        </p:txBody>
      </p:sp>
      <p:sp>
        <p:nvSpPr>
          <p:cNvPr id="12" name="Shape 10">
            <a:extLst xmlns:a="http://schemas.openxmlformats.org/drawingml/2006/main">
              <a:ext uri="{FF2B5EF4-FFF2-40B4-BE49-F238E27FC236}">
                <a16:creationId xmlns:a16="http://schemas.microsoft.com/office/drawing/2014/main" id="{544E5579-2CA1-427F-A00C-50A929F15DEE}"/>
              </a:ext>
            </a:extLst>
          </p:cNvPr>
          <p:cNvSpPr>
            <a:spLocks xmlns:a="http://schemas.openxmlformats.org/drawingml/2006/main" noGrp="1"/>
          </p:cNvSpPr>
          <p:nvPr/>
        </p:nvSpPr>
        <p:spPr>
          <a:xfrm xmlns:a="http://schemas.openxmlformats.org/drawingml/2006/main">
            <a:off x="4306824" y="1874520"/>
            <a:ext cx="1627632" cy="1828800"/>
          </a:xfrm>
          <a:prstGeom xmlns:a="http://schemas.openxmlformats.org/drawingml/2006/main" prst="roundRect">
            <a:avLst>
              <a:gd name="adj" fmla="val 4494"/>
            </a:avLst>
          </a:prstGeom>
          <a:solidFill xmlns:a="http://schemas.openxmlformats.org/drawingml/2006/main">
            <a:srgbClr val="EFF8FF"/>
          </a:solidFill>
          <a:ln xmlns:a="http://schemas.openxmlformats.org/drawingml/2006/main" w="12700">
            <a:solidFill>
              <a:srgbClr val="17BCEB"/>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2627C648-035B-4B6A-9491-516575B7445B}"/>
              </a:ext>
            </a:extLst>
          </p:cNvPr>
          <p:cNvSpPr>
            <a:spLocks xmlns:a="http://schemas.openxmlformats.org/drawingml/2006/main" noGrp="1"/>
          </p:cNvSpPr>
          <p:nvPr/>
        </p:nvSpPr>
        <p:spPr>
          <a:xfrm xmlns:a="http://schemas.openxmlformats.org/drawingml/2006/main">
            <a:off x="4434840" y="2148840"/>
            <a:ext cx="1371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E5FD4"/>
                </a:solidFill>
              </a:rPr>
              <a:t>Xử lý ảnh</a:t>
            </a:r>
            <a:endParaRPr sz="1400"/>
          </a:p>
        </p:txBody>
      </p:sp>
      <p:sp>
        <p:nvSpPr>
          <p:cNvPr id="14" name="Text 12">
            <a:extLst xmlns:a="http://schemas.openxmlformats.org/drawingml/2006/main">
              <a:ext uri="{FF2B5EF4-FFF2-40B4-BE49-F238E27FC236}">
                <a16:creationId xmlns:a16="http://schemas.microsoft.com/office/drawing/2014/main" id="{2982EF8D-076C-4198-9325-EB26228CADD3}"/>
              </a:ext>
            </a:extLst>
          </p:cNvPr>
          <p:cNvSpPr>
            <a:spLocks xmlns:a="http://schemas.openxmlformats.org/drawingml/2006/main" noGrp="1"/>
          </p:cNvSpPr>
          <p:nvPr/>
        </p:nvSpPr>
        <p:spPr>
          <a:xfrm xmlns:a="http://schemas.openxmlformats.org/drawingml/2006/main">
            <a:off x="4416552" y="2761488"/>
            <a:ext cx="1408176"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65748B"/>
                </a:solidFill>
              </a:rPr>
              <a:t>Deskew · Tách–ghép dòng · CLAHE · Lọc song phương</a:t>
            </a:r>
            <a:endParaRPr sz="1050"/>
          </a:p>
        </p:txBody>
      </p:sp>
      <p:sp>
        <p:nvSpPr>
          <p:cNvPr id="15" name="Text 13">
            <a:extLst xmlns:a="http://schemas.openxmlformats.org/drawingml/2006/main">
              <a:ext uri="{FF2B5EF4-FFF2-40B4-BE49-F238E27FC236}">
                <a16:creationId xmlns:a16="http://schemas.microsoft.com/office/drawing/2014/main" id="{DEF4B028-B617-4F11-ACA1-07245436F67A}"/>
              </a:ext>
            </a:extLst>
          </p:cNvPr>
          <p:cNvSpPr>
            <a:spLocks xmlns:a="http://schemas.openxmlformats.org/drawingml/2006/main" noGrp="1"/>
          </p:cNvSpPr>
          <p:nvPr/>
        </p:nvSpPr>
        <p:spPr>
          <a:xfrm xmlns:a="http://schemas.openxmlformats.org/drawingml/2006/main">
            <a:off x="5934456" y="2542032"/>
            <a:ext cx="2743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9DB3C6"/>
                </a:solidFill>
              </a:rPr>
              <a:t>→</a:t>
            </a:r>
            <a:endParaRPr sz="2200"/>
          </a:p>
        </p:txBody>
      </p:sp>
      <p:sp>
        <p:nvSpPr>
          <p:cNvPr id="16" name="Shape 14">
            <a:extLst xmlns:a="http://schemas.openxmlformats.org/drawingml/2006/main">
              <a:ext uri="{FF2B5EF4-FFF2-40B4-BE49-F238E27FC236}">
                <a16:creationId xmlns:a16="http://schemas.microsoft.com/office/drawing/2014/main" id="{51B895A5-6576-4425-9BAB-D28BDD22CA19}"/>
              </a:ext>
            </a:extLst>
          </p:cNvPr>
          <p:cNvSpPr>
            <a:spLocks xmlns:a="http://schemas.openxmlformats.org/drawingml/2006/main" noGrp="1"/>
          </p:cNvSpPr>
          <p:nvPr/>
        </p:nvSpPr>
        <p:spPr>
          <a:xfrm xmlns:a="http://schemas.openxmlformats.org/drawingml/2006/main">
            <a:off x="6208776" y="1874520"/>
            <a:ext cx="1627632" cy="1828800"/>
          </a:xfrm>
          <a:prstGeom xmlns:a="http://schemas.openxmlformats.org/drawingml/2006/main" prst="roundRect">
            <a:avLst>
              <a:gd name="adj" fmla="val 4494"/>
            </a:avLst>
          </a:prstGeom>
          <a:solidFill xmlns:a="http://schemas.openxmlformats.org/drawingml/2006/main">
            <a:srgbClr val="FFFFFF"/>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663DBA0A-73F5-4B8B-B5BF-693465A63419}"/>
              </a:ext>
            </a:extLst>
          </p:cNvPr>
          <p:cNvSpPr>
            <a:spLocks xmlns:a="http://schemas.openxmlformats.org/drawingml/2006/main" noGrp="1"/>
          </p:cNvSpPr>
          <p:nvPr/>
        </p:nvSpPr>
        <p:spPr>
          <a:xfrm xmlns:a="http://schemas.openxmlformats.org/drawingml/2006/main">
            <a:off x="6336792" y="2148840"/>
            <a:ext cx="1371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0F2A5F"/>
                </a:solidFill>
              </a:rPr>
              <a:t>PaddleOCR</a:t>
            </a:r>
            <a:endParaRPr sz="1400"/>
          </a:p>
        </p:txBody>
      </p:sp>
      <p:sp>
        <p:nvSpPr>
          <p:cNvPr id="18" name="Text 16">
            <a:extLst xmlns:a="http://schemas.openxmlformats.org/drawingml/2006/main">
              <a:ext uri="{FF2B5EF4-FFF2-40B4-BE49-F238E27FC236}">
                <a16:creationId xmlns:a16="http://schemas.microsoft.com/office/drawing/2014/main" id="{F96FE222-A7FD-4F6E-9CA4-F87356868E23}"/>
              </a:ext>
            </a:extLst>
          </p:cNvPr>
          <p:cNvSpPr>
            <a:spLocks xmlns:a="http://schemas.openxmlformats.org/drawingml/2006/main" noGrp="1"/>
          </p:cNvSpPr>
          <p:nvPr/>
        </p:nvSpPr>
        <p:spPr>
          <a:xfrm xmlns:a="http://schemas.openxmlformats.org/drawingml/2006/main">
            <a:off x="6318504" y="2761488"/>
            <a:ext cx="1408176"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65748B"/>
                </a:solidFill>
              </a:rPr>
              <a:t>PP-OCRv5 Mobile (Thuần CPU)</a:t>
            </a:r>
            <a:endParaRPr sz="1050"/>
          </a:p>
        </p:txBody>
      </p:sp>
      <p:sp>
        <p:nvSpPr>
          <p:cNvPr id="19" name="Text 17">
            <a:extLst xmlns:a="http://schemas.openxmlformats.org/drawingml/2006/main">
              <a:ext uri="{FF2B5EF4-FFF2-40B4-BE49-F238E27FC236}">
                <a16:creationId xmlns:a16="http://schemas.microsoft.com/office/drawing/2014/main" id="{F4F752D9-0FAB-41DC-9240-E244E8A57B3A}"/>
              </a:ext>
            </a:extLst>
          </p:cNvPr>
          <p:cNvSpPr>
            <a:spLocks xmlns:a="http://schemas.openxmlformats.org/drawingml/2006/main" noGrp="1"/>
          </p:cNvSpPr>
          <p:nvPr/>
        </p:nvSpPr>
        <p:spPr>
          <a:xfrm xmlns:a="http://schemas.openxmlformats.org/drawingml/2006/main">
            <a:off x="7836408" y="2542032"/>
            <a:ext cx="2743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9DB3C6"/>
                </a:solidFill>
              </a:rPr>
              <a:t>→</a:t>
            </a:r>
            <a:endParaRPr sz="2200"/>
          </a:p>
        </p:txBody>
      </p:sp>
      <p:sp>
        <p:nvSpPr>
          <p:cNvPr id="20" name="Shape 18">
            <a:extLst xmlns:a="http://schemas.openxmlformats.org/drawingml/2006/main">
              <a:ext uri="{FF2B5EF4-FFF2-40B4-BE49-F238E27FC236}">
                <a16:creationId xmlns:a16="http://schemas.microsoft.com/office/drawing/2014/main" id="{6D700C98-0502-439B-91DF-5664B4FCC464}"/>
              </a:ext>
            </a:extLst>
          </p:cNvPr>
          <p:cNvSpPr>
            <a:spLocks xmlns:a="http://schemas.openxmlformats.org/drawingml/2006/main" noGrp="1"/>
          </p:cNvSpPr>
          <p:nvPr/>
        </p:nvSpPr>
        <p:spPr>
          <a:xfrm xmlns:a="http://schemas.openxmlformats.org/drawingml/2006/main">
            <a:off x="8110728" y="1874520"/>
            <a:ext cx="1627632" cy="1828800"/>
          </a:xfrm>
          <a:prstGeom xmlns:a="http://schemas.openxmlformats.org/drawingml/2006/main" prst="roundRect">
            <a:avLst>
              <a:gd name="adj" fmla="val 4494"/>
            </a:avLst>
          </a:prstGeom>
          <a:solidFill xmlns:a="http://schemas.openxmlformats.org/drawingml/2006/main">
            <a:srgbClr val="EFF8FF"/>
          </a:solidFill>
          <a:ln xmlns:a="http://schemas.openxmlformats.org/drawingml/2006/main" w="12700">
            <a:solidFill>
              <a:srgbClr val="17BCEB"/>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944FFF6C-8F66-4CA2-8B79-63D6E8E950D4}"/>
              </a:ext>
            </a:extLst>
          </p:cNvPr>
          <p:cNvSpPr>
            <a:spLocks xmlns:a="http://schemas.openxmlformats.org/drawingml/2006/main" noGrp="1"/>
          </p:cNvSpPr>
          <p:nvPr/>
        </p:nvSpPr>
        <p:spPr>
          <a:xfrm xmlns:a="http://schemas.openxmlformats.org/drawingml/2006/main">
            <a:off x="8238744" y="2148840"/>
            <a:ext cx="1371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E5FD4"/>
                </a:solidFill>
              </a:rPr>
              <a:t>Hậu xử lý</a:t>
            </a:r>
            <a:endParaRPr sz="1400"/>
          </a:p>
        </p:txBody>
      </p:sp>
      <p:sp>
        <p:nvSpPr>
          <p:cNvPr id="22" name="Text 20">
            <a:extLst xmlns:a="http://schemas.openxmlformats.org/drawingml/2006/main">
              <a:ext uri="{FF2B5EF4-FFF2-40B4-BE49-F238E27FC236}">
                <a16:creationId xmlns:a16="http://schemas.microsoft.com/office/drawing/2014/main" id="{27CFA5F3-FC95-4690-AF87-E9F082D754CD}"/>
              </a:ext>
            </a:extLst>
          </p:cNvPr>
          <p:cNvSpPr>
            <a:spLocks xmlns:a="http://schemas.openxmlformats.org/drawingml/2006/main" noGrp="1"/>
          </p:cNvSpPr>
          <p:nvPr/>
        </p:nvSpPr>
        <p:spPr>
          <a:xfrm xmlns:a="http://schemas.openxmlformats.org/drawingml/2006/main">
            <a:off x="8220456" y="2761488"/>
            <a:ext cx="1408176"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65748B"/>
                </a:solidFill>
              </a:rPr>
              <a:t>Kiểm tra 34 tỉnh · Mặt nạ vị trí · Ma trận hoán vị</a:t>
            </a:r>
            <a:endParaRPr sz="1050"/>
          </a:p>
        </p:txBody>
      </p:sp>
      <p:sp>
        <p:nvSpPr>
          <p:cNvPr id="23" name="Text 21">
            <a:extLst xmlns:a="http://schemas.openxmlformats.org/drawingml/2006/main">
              <a:ext uri="{FF2B5EF4-FFF2-40B4-BE49-F238E27FC236}">
                <a16:creationId xmlns:a16="http://schemas.microsoft.com/office/drawing/2014/main" id="{1A6ED0EA-00F7-4EC4-8EBC-876715D9FA61}"/>
              </a:ext>
            </a:extLst>
          </p:cNvPr>
          <p:cNvSpPr>
            <a:spLocks xmlns:a="http://schemas.openxmlformats.org/drawingml/2006/main" noGrp="1"/>
          </p:cNvSpPr>
          <p:nvPr/>
        </p:nvSpPr>
        <p:spPr>
          <a:xfrm xmlns:a="http://schemas.openxmlformats.org/drawingml/2006/main">
            <a:off x="9738360" y="2542032"/>
            <a:ext cx="2743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9DB3C6"/>
                </a:solidFill>
              </a:rPr>
              <a:t>→</a:t>
            </a:r>
            <a:endParaRPr sz="2200"/>
          </a:p>
        </p:txBody>
      </p:sp>
      <p:sp>
        <p:nvSpPr>
          <p:cNvPr id="24" name="Shape 22">
            <a:extLst xmlns:a="http://schemas.openxmlformats.org/drawingml/2006/main">
              <a:ext uri="{FF2B5EF4-FFF2-40B4-BE49-F238E27FC236}">
                <a16:creationId xmlns:a16="http://schemas.microsoft.com/office/drawing/2014/main" id="{6D89D805-160F-4886-A172-3DDAB51EE588}"/>
              </a:ext>
            </a:extLst>
          </p:cNvPr>
          <p:cNvSpPr>
            <a:spLocks xmlns:a="http://schemas.openxmlformats.org/drawingml/2006/main" noGrp="1"/>
          </p:cNvSpPr>
          <p:nvPr/>
        </p:nvSpPr>
        <p:spPr>
          <a:xfrm xmlns:a="http://schemas.openxmlformats.org/drawingml/2006/main">
            <a:off x="10012680" y="1874520"/>
            <a:ext cx="1627632" cy="1828800"/>
          </a:xfrm>
          <a:prstGeom xmlns:a="http://schemas.openxmlformats.org/drawingml/2006/main" prst="roundRect">
            <a:avLst>
              <a:gd name="adj" fmla="val 4494"/>
            </a:avLst>
          </a:prstGeom>
          <a:solidFill xmlns:a="http://schemas.openxmlformats.org/drawingml/2006/main">
            <a:srgbClr val="FFFFFF"/>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Text 23">
            <a:extLst xmlns:a="http://schemas.openxmlformats.org/drawingml/2006/main">
              <a:ext uri="{FF2B5EF4-FFF2-40B4-BE49-F238E27FC236}">
                <a16:creationId xmlns:a16="http://schemas.microsoft.com/office/drawing/2014/main" id="{311D3C7C-722C-4083-903B-962037FE8AE0}"/>
              </a:ext>
            </a:extLst>
          </p:cNvPr>
          <p:cNvSpPr>
            <a:spLocks xmlns:a="http://schemas.openxmlformats.org/drawingml/2006/main" noGrp="1"/>
          </p:cNvSpPr>
          <p:nvPr/>
        </p:nvSpPr>
        <p:spPr>
          <a:xfrm xmlns:a="http://schemas.openxmlformats.org/drawingml/2006/main">
            <a:off x="10140696" y="2148840"/>
            <a:ext cx="1371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0F2A5F"/>
                </a:solidFill>
              </a:rPr>
              <a:t>Kết quả</a:t>
            </a:r>
            <a:endParaRPr sz="1400"/>
          </a:p>
        </p:txBody>
      </p:sp>
      <p:sp>
        <p:nvSpPr>
          <p:cNvPr id="26" name="Text 24">
            <a:extLst xmlns:a="http://schemas.openxmlformats.org/drawingml/2006/main">
              <a:ext uri="{FF2B5EF4-FFF2-40B4-BE49-F238E27FC236}">
                <a16:creationId xmlns:a16="http://schemas.microsoft.com/office/drawing/2014/main" id="{48B8189C-5C60-421D-A080-84E7594C6136}"/>
              </a:ext>
            </a:extLst>
          </p:cNvPr>
          <p:cNvSpPr>
            <a:spLocks xmlns:a="http://schemas.openxmlformats.org/drawingml/2006/main" noGrp="1"/>
          </p:cNvSpPr>
          <p:nvPr/>
        </p:nvSpPr>
        <p:spPr>
          <a:xfrm xmlns:a="http://schemas.openxmlformats.org/drawingml/2006/main">
            <a:off x="10122408" y="2761488"/>
            <a:ext cx="1408176"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65748B"/>
                </a:solidFill>
              </a:rPr>
              <a:t>Chuỗi biển số chuẩn hóa + Màu sắc &amp; Loại xe</a:t>
            </a:r>
            <a:endParaRPr sz="1050"/>
          </a:p>
        </p:txBody>
      </p:sp>
      <p:sp>
        <p:nvSpPr>
          <p:cNvPr id="27" name="Shape 25">
            <a:extLst xmlns:a="http://schemas.openxmlformats.org/drawingml/2006/main">
              <a:ext uri="{FF2B5EF4-FFF2-40B4-BE49-F238E27FC236}">
                <a16:creationId xmlns:a16="http://schemas.microsoft.com/office/drawing/2014/main" id="{9AFC6D99-F874-4AD5-8A0D-957F67105FAE}"/>
              </a:ext>
            </a:extLst>
          </p:cNvPr>
          <p:cNvSpPr>
            <a:spLocks xmlns:a="http://schemas.openxmlformats.org/drawingml/2006/main" noGrp="1"/>
          </p:cNvSpPr>
          <p:nvPr/>
        </p:nvSpPr>
        <p:spPr>
          <a:xfrm xmlns:a="http://schemas.openxmlformats.org/drawingml/2006/main">
            <a:off x="2880360" y="4800600"/>
            <a:ext cx="6492240" cy="384048"/>
          </a:xfrm>
          <a:prstGeom xmlns:a="http://schemas.openxmlformats.org/drawingml/2006/main" prst="roundRect">
            <a:avLst>
              <a:gd name="adj" fmla="val 19048"/>
            </a:avLst>
          </a:prstGeom>
          <a:solidFill xmlns:a="http://schemas.openxmlformats.org/drawingml/2006/main">
            <a:srgbClr val="EEF6FF"/>
          </a:solidFill>
          <a:ln xmlns:a="http://schemas.openxmlformats.org/drawingml/2006/main" w="12700">
            <a:solidFill>
              <a:srgbClr val="EEF6FF"/>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58ABEF59-BF45-4C43-8959-874B2646C8B4}"/>
              </a:ext>
            </a:extLst>
          </p:cNvPr>
          <p:cNvSpPr>
            <a:spLocks xmlns:a="http://schemas.openxmlformats.org/drawingml/2006/main" noGrp="1"/>
          </p:cNvSpPr>
          <p:nvPr/>
        </p:nvSpPr>
        <p:spPr>
          <a:xfrm xmlns:a="http://schemas.openxmlformats.org/drawingml/2006/main">
            <a:off x="2953512" y="4873752"/>
            <a:ext cx="634593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1E5FD4"/>
                </a:solidFill>
                <a:latin typeface="Arial"/>
                <a:ea typeface="Arial"/>
                <a:cs typeface="Arial"/>
              </a:rPr>
              <a:t>Không sửa đổi cấu trúc OCR → Tái cấu trúc hình học ảnh để tương thích tối ưu với OCR sẵn có</a:t>
            </a:r>
            <a:endParaRPr sz="1050"/>
          </a:p>
        </p:txBody>
      </p:sp>
    </p:spTree>
    <p:extLst>
      <p:ext uri="{BB962C8B-B14F-4D97-AF65-F5344CB8AC3E}">
        <p14:creationId xmlns:p14="http://schemas.microsoft.com/office/powerpoint/2010/main" val="89918990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B7C1BBC-4D49-4030-9B95-0A47094C71B6}"/>
              </a:ext>
            </a:extLst>
          </p:cNvPr>
          <p:cNvSpPr>
            <a:spLocks xmlns:a="http://schemas.openxmlformats.org/drawingml/2006/main" noGrp="1"/>
          </p:cNvSpPr>
          <p:nvPr/>
        </p:nvSpPr>
        <p:spPr>
          <a:xfrm xmlns:a="http://schemas.openxmlformats.org/drawingml/2006/main">
            <a:off x="749808" y="393192"/>
            <a:ext cx="10195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0F2A5F"/>
                </a:solidFill>
                <a:latin typeface="Arial"/>
                <a:ea typeface="Arial"/>
                <a:cs typeface="Arial"/>
              </a:rPr>
              <a:t>Vì sao biển hai dòng làm OCR đọc sai?</a:t>
            </a:r>
            <a:endParaRPr sz="2500"/>
          </a:p>
        </p:txBody>
      </p:sp>
      <p:sp>
        <p:nvSpPr>
          <p:cNvPr id="3" name="Text 1">
            <a:extLst xmlns:a="http://schemas.openxmlformats.org/drawingml/2006/main">
              <a:ext uri="{FF2B5EF4-FFF2-40B4-BE49-F238E27FC236}">
                <a16:creationId xmlns:a16="http://schemas.microsoft.com/office/drawing/2014/main" id="{A2B18BE5-3107-47BC-B5C8-A92CE5973AE9}"/>
              </a:ext>
            </a:extLst>
          </p:cNvPr>
          <p:cNvSpPr>
            <a:spLocks xmlns:a="http://schemas.openxmlformats.org/drawingml/2006/main" noGrp="1"/>
          </p:cNvSpPr>
          <p:nvPr/>
        </p:nvSpPr>
        <p:spPr>
          <a:xfrm xmlns:a="http://schemas.openxmlformats.org/drawingml/2006/main">
            <a:off x="768096" y="914400"/>
            <a:ext cx="10058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65748B"/>
                </a:solidFill>
                <a:latin typeface="Arial"/>
                <a:ea typeface="Arial"/>
                <a:cs typeface="Arial"/>
              </a:rPr>
              <a:t>Hình học đầu vào vi phạm giả định thứ tự thời gian đơn điệu của hàm mất mát CTC Loss</a:t>
            </a:r>
            <a:endParaRPr sz="1150"/>
          </a:p>
        </p:txBody>
      </p:sp>
      <p:pic>
        <p:nvPicPr>
          <p:cNvPr id="13" name="Image 0"/>
          <p:cNvPicPr>
            <a:picLocks xmlns:a="http://schemas.openxmlformats.org/drawingml/2006/main" noChangeAspect="1"/>
          </p:cNvPicPr>
          <p:nvPr/>
        </p:nvPicPr>
        <p:blipFill>
          <a:blip xmlns:r="http://schemas.openxmlformats.org/officeDocument/2006/relationships" xmlns:a="http://schemas.openxmlformats.org/drawingml/2006/main" r:embed="R3ecf94915f2e49a1"/>
          <a:stretch xmlns:a="http://schemas.openxmlformats.org/drawingml/2006/main">
            <a:fillRect l="0" t="0" r="0" b="0"/>
          </a:stretch>
        </p:blipFill>
        <p:spPr>
          <a:xfrm xmlns:a="http://schemas.openxmlformats.org/drawingml/2006/main">
            <a:off x="4429125" y="1381125"/>
            <a:ext cx="7096125" cy="4429125"/>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81492A3B-BBE3-4CB7-BFDF-DC0FB5B6DC74}"/>
              </a:ext>
            </a:extLst>
          </p:cNvPr>
          <p:cNvSpPr>
            <a:spLocks xmlns:a="http://schemas.openxmlformats.org/drawingml/2006/main" noGrp="1"/>
          </p:cNvSpPr>
          <p:nvPr/>
        </p:nvSpPr>
        <p:spPr>
          <a:xfrm xmlns:a="http://schemas.openxmlformats.org/drawingml/2006/main">
            <a:off x="619125" y="1524000"/>
            <a:ext cx="3571875" cy="3905250"/>
          </a:xfrm>
          <a:prstGeom xmlns:a="http://schemas.openxmlformats.org/drawingml/2006/main" prst="roundRect">
            <a:avLst>
              <a:gd name="adj" fmla="val 2025"/>
            </a:avLst>
          </a:prstGeom>
          <a:solidFill xmlns:a="http://schemas.openxmlformats.org/drawingml/2006/main">
            <a:srgbClr val="F9FBFD"/>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sp>
      <p:sp>
        <p:nvSpPr>
          <p:cNvPr id="6" name="Text 3">
            <a:extLst xmlns:a="http://schemas.openxmlformats.org/drawingml/2006/main">
              <a:ext uri="{FF2B5EF4-FFF2-40B4-BE49-F238E27FC236}">
                <a16:creationId xmlns:a16="http://schemas.microsoft.com/office/drawing/2014/main" id="{4AE448BF-EEEF-405F-A57E-DD17F8A904BE}"/>
              </a:ext>
            </a:extLst>
          </p:cNvPr>
          <p:cNvSpPr>
            <a:spLocks xmlns:a="http://schemas.openxmlformats.org/drawingml/2006/main" noGrp="1"/>
          </p:cNvSpPr>
          <p:nvPr/>
        </p:nvSpPr>
        <p:spPr>
          <a:xfrm xmlns:a="http://schemas.openxmlformats.org/drawingml/2006/main">
            <a:off x="857250" y="1666875"/>
            <a:ext cx="3095625"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50" b="1">
                <a:solidFill>
                  <a:srgbClr val="DC2626"/>
                </a:solidFill>
                <a:latin typeface="Segoe UI"/>
                <a:ea typeface="Segoe UI"/>
                <a:cs typeface="Segoe UI"/>
              </a:rPr>
              <a:t>Xung đột đặc trưng 2 dòng</a:t>
            </a:r>
            <a:endParaRPr sz="1350" b="1">
              <a:solidFill>
                <a:srgbClr val="DC2626"/>
              </a:solidFill>
              <a:latin typeface="Segoe UI"/>
              <a:ea typeface="Segoe UI"/>
              <a:cs typeface="Segoe UI"/>
            </a:endParaRPr>
          </a:p>
        </p:txBody>
      </p:sp>
      <p:sp>
        <p:nvSpPr>
          <p:cNvPr id="7" name="Text 4">
            <a:extLst xmlns:a="http://schemas.openxmlformats.org/drawingml/2006/main">
              <a:ext uri="{FF2B5EF4-FFF2-40B4-BE49-F238E27FC236}">
                <a16:creationId xmlns:a16="http://schemas.microsoft.com/office/drawing/2014/main" id="{66748A0B-467A-4E61-95B5-A05533AD3AF7}"/>
              </a:ext>
            </a:extLst>
          </p:cNvPr>
          <p:cNvSpPr>
            <a:spLocks xmlns:a="http://schemas.openxmlformats.org/drawingml/2006/main" noGrp="1"/>
          </p:cNvSpPr>
          <p:nvPr/>
        </p:nvSpPr>
        <p:spPr>
          <a:xfrm xmlns:a="http://schemas.openxmlformats.org/drawingml/2006/main">
            <a:off x="857250" y="2143125"/>
            <a:ext cx="3095625" cy="2047875"/>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lstStyle xmlns:a="http://schemas.openxmlformats.org/drawingml/2006/main"/>
          <a:p xmlns:a="http://schemas.openxmlformats.org/drawingml/2006/main">
            <a:pPr marL="0" indent="0" algn="ctr">
              <a:buNone/>
            </a:pPr>
            <a:r>
              <a:rPr sz="1150">
                <a:solidFill>
                  <a:srgbClr val="1E293B"/>
                </a:solidFill>
                <a:latin typeface="Segoe UI"/>
                <a:ea typeface="Segoe UI"/>
                <a:cs typeface="Segoe UI"/>
              </a:rPr>
              <a:t>• CNN ép chiều cao ảnh về một hàng đặc trưng</a:t>
            </a:r>
            <a:endParaRPr sz="1150">
              <a:solidFill>
                <a:srgbClr val="1E293B"/>
              </a:solidFill>
              <a:latin typeface="Segoe UI"/>
              <a:ea typeface="Segoe UI"/>
              <a:cs typeface="Segoe UI"/>
            </a:endParaRPr>
          </a:p>
          <a:p xmlns:a="http://schemas.openxmlformats.org/drawingml/2006/main">
            <a:pPr marL="0" indent="0" algn="ctr">
              <a:buNone/>
            </a:pPr>
            <a:r>
              <a:rPr sz="1150">
                <a:solidFill>
                  <a:srgbClr val="1E293B"/>
                </a:solidFill>
                <a:latin typeface="Segoe UI"/>
                <a:ea typeface="Segoe UI"/>
                <a:cs typeface="Segoe UI"/>
              </a:rPr>
              <a:t/>
            </a:r>
            <a:endParaRPr sz="1150">
              <a:solidFill>
                <a:srgbClr val="1E293B"/>
              </a:solidFill>
              <a:latin typeface="Segoe UI"/>
              <a:ea typeface="Segoe UI"/>
              <a:cs typeface="Segoe UI"/>
            </a:endParaRPr>
          </a:p>
          <a:p xmlns:a="http://schemas.openxmlformats.org/drawingml/2006/main">
            <a:pPr marL="0" indent="0" algn="ctr">
              <a:buNone/>
            </a:pPr>
            <a:r>
              <a:rPr sz="1150">
                <a:solidFill>
                  <a:srgbClr val="1E293B"/>
                </a:solidFill>
                <a:latin typeface="Segoe UI"/>
                <a:ea typeface="Segoe UI"/>
                <a:cs typeface="Segoe UI"/>
              </a:rPr>
              <a:t>• Hai dòng ký tự bị trộn theo cùng trục thời gian</a:t>
            </a:r>
            <a:endParaRPr sz="1150">
              <a:solidFill>
                <a:srgbClr val="1E293B"/>
              </a:solidFill>
              <a:latin typeface="Segoe UI"/>
              <a:ea typeface="Segoe UI"/>
              <a:cs typeface="Segoe UI"/>
            </a:endParaRPr>
          </a:p>
          <a:p xmlns:a="http://schemas.openxmlformats.org/drawingml/2006/main">
            <a:pPr marL="0" indent="0" algn="ctr">
              <a:buNone/>
            </a:pPr>
            <a:r>
              <a:rPr sz="1150">
                <a:solidFill>
                  <a:srgbClr val="1E293B"/>
                </a:solidFill>
                <a:latin typeface="Segoe UI"/>
                <a:ea typeface="Segoe UI"/>
                <a:cs typeface="Segoe UI"/>
              </a:rPr>
              <a:t/>
            </a:r>
            <a:endParaRPr sz="1150">
              <a:solidFill>
                <a:srgbClr val="1E293B"/>
              </a:solidFill>
              <a:latin typeface="Segoe UI"/>
              <a:ea typeface="Segoe UI"/>
              <a:cs typeface="Segoe UI"/>
            </a:endParaRPr>
          </a:p>
          <a:p xmlns:a="http://schemas.openxmlformats.org/drawingml/2006/main">
            <a:pPr marL="0" indent="0" algn="ctr">
              <a:buNone/>
            </a:pPr>
            <a:r>
              <a:rPr sz="1150">
                <a:solidFill>
                  <a:srgbClr val="1E293B"/>
                </a:solidFill>
                <a:latin typeface="Segoe UI"/>
                <a:ea typeface="Segoe UI"/>
                <a:cs typeface="Segoe UI"/>
              </a:rPr>
              <a:t>• CTC mất căn chỉnh đơn điệu và bỏ sót ký tự</a:t>
            </a:r>
            <a:endParaRPr sz="1150">
              <a:solidFill>
                <a:srgbClr val="1E293B"/>
              </a:solidFill>
              <a:latin typeface="Segoe UI"/>
              <a:ea typeface="Segoe UI"/>
              <a:cs typeface="Segoe UI"/>
            </a:endParaRPr>
          </a:p>
        </p:txBody>
      </p:sp>
      <p:sp>
        <p:nvSpPr>
          <p:cNvPr id="8" name="Text 5">
            <a:extLst xmlns:a="http://schemas.openxmlformats.org/drawingml/2006/main">
              <a:ext uri="{FF2B5EF4-FFF2-40B4-BE49-F238E27FC236}">
                <a16:creationId xmlns:a16="http://schemas.microsoft.com/office/drawing/2014/main" id="{6537DAEC-3DCC-4F96-8EAF-98313B58962E}"/>
              </a:ext>
            </a:extLst>
          </p:cNvPr>
          <p:cNvSpPr>
            <a:spLocks xmlns:a="http://schemas.openxmlformats.org/drawingml/2006/main" noGrp="1"/>
          </p:cNvSpPr>
          <p:nvPr/>
        </p:nvSpPr>
        <p:spPr>
          <a:xfrm xmlns:a="http://schemas.openxmlformats.org/drawingml/2006/main">
            <a:off x="857250" y="4381500"/>
            <a:ext cx="3095625" cy="76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b="1">
                <a:solidFill>
                  <a:srgbClr val="004B91"/>
                </a:solidFill>
                <a:latin typeface="Segoe UI"/>
                <a:ea typeface="Segoe UI"/>
                <a:cs typeface="Segoe UI"/>
              </a:rPr>
              <a:t>Giải pháp: chuẩn hóa biển hai dòng thành một dải ngang trước OCR</a:t>
            </a:r>
            <a:endParaRPr sz="1150" b="1">
              <a:solidFill>
                <a:srgbClr val="004B91"/>
              </a:solidFill>
              <a:latin typeface="Segoe UI"/>
              <a:ea typeface="Segoe UI"/>
              <a:cs typeface="Segoe UI"/>
            </a:endParaRPr>
          </a:p>
        </p:txBody>
      </p:sp>
    </p:spTree>
    <p:extLst>
      <p:ext uri="{BB962C8B-B14F-4D97-AF65-F5344CB8AC3E}">
        <p14:creationId xmlns:p14="http://schemas.microsoft.com/office/powerpoint/2010/main" val="42732882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04AB49E-68AB-4FC8-A6FC-93D54B64098F}"/>
              </a:ext>
            </a:extLst>
          </p:cNvPr>
          <p:cNvSpPr>
            <a:spLocks xmlns:a="http://schemas.openxmlformats.org/drawingml/2006/main" noGrp="1"/>
          </p:cNvSpPr>
          <p:nvPr/>
        </p:nvSpPr>
        <p:spPr>
          <a:xfrm xmlns:a="http://schemas.openxmlformats.org/drawingml/2006/main">
            <a:off x="749808" y="393192"/>
            <a:ext cx="10195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0F2A5F"/>
                </a:solidFill>
                <a:latin typeface="Arial"/>
                <a:ea typeface="Arial"/>
                <a:cs typeface="Arial"/>
              </a:rPr>
              <a:t>Chuẩn hóa biển hai dòng bằng biến đổi hình học</a:t>
            </a:r>
            <a:endParaRPr sz="2500"/>
          </a:p>
        </p:txBody>
      </p:sp>
      <p:sp>
        <p:nvSpPr>
          <p:cNvPr id="3" name="Text 1">
            <a:extLst xmlns:a="http://schemas.openxmlformats.org/drawingml/2006/main">
              <a:ext uri="{FF2B5EF4-FFF2-40B4-BE49-F238E27FC236}">
                <a16:creationId xmlns:a16="http://schemas.microsoft.com/office/drawing/2014/main" id="{91D0B399-F99B-4037-9A60-8D22213F2525}"/>
              </a:ext>
            </a:extLst>
          </p:cNvPr>
          <p:cNvSpPr>
            <a:spLocks xmlns:a="http://schemas.openxmlformats.org/drawingml/2006/main" noGrp="1"/>
          </p:cNvSpPr>
          <p:nvPr/>
        </p:nvSpPr>
        <p:spPr>
          <a:xfrm xmlns:a="http://schemas.openxmlformats.org/drawingml/2006/main">
            <a:off x="768096" y="914400"/>
            <a:ext cx="10058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65748B"/>
                </a:solidFill>
                <a:latin typeface="Arial"/>
                <a:ea typeface="Arial"/>
                <a:cs typeface="Arial"/>
              </a:rPr>
              <a:t>Chuỗi 5 phép biến đổi hình học giúp chuẩn hóa biển 2 dòng thành 1 dòng chất lượng cao</a:t>
            </a:r>
            <a:endParaRPr sz="1150"/>
          </a:p>
        </p:txBody>
      </p:sp>
      <p:pic>
        <p:nvPicPr>
          <p:cNvPr id="29" name="Image 0"/>
          <p:cNvPicPr>
            <a:picLocks xmlns:a="http://schemas.openxmlformats.org/drawingml/2006/main" noChangeAspect="1"/>
          </p:cNvPicPr>
          <p:nvPr/>
        </p:nvPicPr>
        <p:blipFill>
          <a:blip xmlns:r="http://schemas.openxmlformats.org/officeDocument/2006/relationships" xmlns:a="http://schemas.openxmlformats.org/drawingml/2006/main" r:embed="Red0a3765e3154446"/>
          <a:stretch xmlns:a="http://schemas.openxmlformats.org/drawingml/2006/main">
            <a:fillRect l="0" t="0" r="0" b="0"/>
          </a:stretch>
        </p:blipFill>
        <p:spPr>
          <a:xfrm xmlns:a="http://schemas.openxmlformats.org/drawingml/2006/main">
            <a:off x="5286375" y="1285875"/>
            <a:ext cx="6286500" cy="4524375"/>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19C16B6A-F1F3-4C7C-868A-A539278E713A}"/>
              </a:ext>
            </a:extLst>
          </p:cNvPr>
          <p:cNvSpPr>
            <a:spLocks xmlns:a="http://schemas.openxmlformats.org/drawingml/2006/main" noGrp="1"/>
          </p:cNvSpPr>
          <p:nvPr/>
        </p:nvSpPr>
        <p:spPr>
          <a:xfrm xmlns:a="http://schemas.openxmlformats.org/drawingml/2006/main">
            <a:off x="777240" y="1444752"/>
            <a:ext cx="384048" cy="384048"/>
          </a:xfrm>
          <a:prstGeom xmlns:a="http://schemas.openxmlformats.org/drawingml/2006/main" prst="ellipse">
            <a:avLst/>
          </a:prstGeom>
          <a:solidFill xmlns:a="http://schemas.openxmlformats.org/drawingml/2006/main">
            <a:srgbClr val="17BCEB"/>
          </a:solidFill>
          <a:ln xmlns:a="http://schemas.openxmlformats.org/drawingml/2006/main" w="12700">
            <a:solidFill>
              <a:srgbClr val="17BCEB"/>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3">
            <a:extLst xmlns:a="http://schemas.openxmlformats.org/drawingml/2006/main">
              <a:ext uri="{FF2B5EF4-FFF2-40B4-BE49-F238E27FC236}">
                <a16:creationId xmlns:a16="http://schemas.microsoft.com/office/drawing/2014/main" id="{3220E5D4-C51C-4B28-950E-0C16492EB444}"/>
              </a:ext>
            </a:extLst>
          </p:cNvPr>
          <p:cNvSpPr>
            <a:spLocks xmlns:a="http://schemas.openxmlformats.org/drawingml/2006/main" noGrp="1"/>
          </p:cNvSpPr>
          <p:nvPr/>
        </p:nvSpPr>
        <p:spPr>
          <a:xfrm xmlns:a="http://schemas.openxmlformats.org/drawingml/2006/main">
            <a:off x="777240" y="1517904"/>
            <a:ext cx="38404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rPr>
              <a:t>1</a:t>
            </a:r>
            <a:endParaRPr sz="1000"/>
          </a:p>
        </p:txBody>
      </p:sp>
      <p:sp>
        <p:nvSpPr>
          <p:cNvPr id="7" name="Text 4">
            <a:extLst xmlns:a="http://schemas.openxmlformats.org/drawingml/2006/main">
              <a:ext uri="{FF2B5EF4-FFF2-40B4-BE49-F238E27FC236}">
                <a16:creationId xmlns:a16="http://schemas.microsoft.com/office/drawing/2014/main" id="{BD029855-E587-4758-AC43-079A3F7475CE}"/>
              </a:ext>
            </a:extLst>
          </p:cNvPr>
          <p:cNvSpPr>
            <a:spLocks xmlns:a="http://schemas.openxmlformats.org/drawingml/2006/main" noGrp="1"/>
          </p:cNvSpPr>
          <p:nvPr/>
        </p:nvSpPr>
        <p:spPr>
          <a:xfrm xmlns:a="http://schemas.openxmlformats.org/drawingml/2006/main">
            <a:off x="1325880" y="1417320"/>
            <a:ext cx="204787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354A"/>
                </a:solidFill>
              </a:rPr>
              <a:t>Phân loại 1 / 2 dòng</a:t>
            </a:r>
            <a:endParaRPr sz="1500"/>
          </a:p>
        </p:txBody>
      </p:sp>
      <p:sp>
        <p:nvSpPr>
          <p:cNvPr id="8" name="Text 5">
            <a:extLst xmlns:a="http://schemas.openxmlformats.org/drawingml/2006/main">
              <a:ext uri="{FF2B5EF4-FFF2-40B4-BE49-F238E27FC236}">
                <a16:creationId xmlns:a16="http://schemas.microsoft.com/office/drawing/2014/main" id="{A254BA44-4F8D-477F-BE65-DAFD2243C22C}"/>
              </a:ext>
            </a:extLst>
          </p:cNvPr>
          <p:cNvSpPr>
            <a:spLocks xmlns:a="http://schemas.openxmlformats.org/drawingml/2006/main" noGrp="1"/>
          </p:cNvSpPr>
          <p:nvPr/>
        </p:nvSpPr>
        <p:spPr>
          <a:xfrm xmlns:a="http://schemas.openxmlformats.org/drawingml/2006/main">
            <a:off x="3190875" y="1417320"/>
            <a:ext cx="195262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50">
                <a:solidFill>
                  <a:srgbClr val="65748B"/>
                </a:solidFill>
              </a:rPr>
              <a:t>AR = 2,50</a:t>
            </a:r>
            <a:endParaRPr sz="1150"/>
          </a:p>
        </p:txBody>
      </p:sp>
      <p:sp>
        <p:nvSpPr>
          <p:cNvPr id="9" name="Shape 6">
            <a:extLst xmlns:a="http://schemas.openxmlformats.org/drawingml/2006/main">
              <a:ext uri="{FF2B5EF4-FFF2-40B4-BE49-F238E27FC236}">
                <a16:creationId xmlns:a16="http://schemas.microsoft.com/office/drawing/2014/main" id="{6D5FAE78-B1E8-45A9-B9B9-D79DC84A40B6}"/>
              </a:ext>
            </a:extLst>
          </p:cNvPr>
          <p:cNvSpPr>
            <a:spLocks xmlns:a="http://schemas.openxmlformats.org/drawingml/2006/main" noGrp="1"/>
          </p:cNvSpPr>
          <p:nvPr/>
        </p:nvSpPr>
        <p:spPr>
          <a:xfrm xmlns:a="http://schemas.openxmlformats.org/drawingml/2006/main">
            <a:off x="777240" y="2221992"/>
            <a:ext cx="384048" cy="384048"/>
          </a:xfrm>
          <a:prstGeom xmlns:a="http://schemas.openxmlformats.org/drawingml/2006/main" prst="ellipse">
            <a:avLst/>
          </a:prstGeom>
          <a:solidFill xmlns:a="http://schemas.openxmlformats.org/drawingml/2006/main">
            <a:srgbClr val="17BCEB"/>
          </a:solidFill>
          <a:ln xmlns:a="http://schemas.openxmlformats.org/drawingml/2006/main" w="12700">
            <a:solidFill>
              <a:srgbClr val="17BCEB"/>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7">
            <a:extLst xmlns:a="http://schemas.openxmlformats.org/drawingml/2006/main">
              <a:ext uri="{FF2B5EF4-FFF2-40B4-BE49-F238E27FC236}">
                <a16:creationId xmlns:a16="http://schemas.microsoft.com/office/drawing/2014/main" id="{03907D08-E51D-4C77-B5FA-7D2F96BC6E78}"/>
              </a:ext>
            </a:extLst>
          </p:cNvPr>
          <p:cNvSpPr>
            <a:spLocks xmlns:a="http://schemas.openxmlformats.org/drawingml/2006/main" noGrp="1"/>
          </p:cNvSpPr>
          <p:nvPr/>
        </p:nvSpPr>
        <p:spPr>
          <a:xfrm xmlns:a="http://schemas.openxmlformats.org/drawingml/2006/main">
            <a:off x="777240" y="2295144"/>
            <a:ext cx="38404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rPr>
              <a:t>2</a:t>
            </a:r>
            <a:endParaRPr sz="1000"/>
          </a:p>
        </p:txBody>
      </p:sp>
      <p:sp>
        <p:nvSpPr>
          <p:cNvPr id="11" name="Text 8">
            <a:extLst xmlns:a="http://schemas.openxmlformats.org/drawingml/2006/main">
              <a:ext uri="{FF2B5EF4-FFF2-40B4-BE49-F238E27FC236}">
                <a16:creationId xmlns:a16="http://schemas.microsoft.com/office/drawing/2014/main" id="{2F826287-53BC-4627-9980-30517271CF30}"/>
              </a:ext>
            </a:extLst>
          </p:cNvPr>
          <p:cNvSpPr>
            <a:spLocks xmlns:a="http://schemas.openxmlformats.org/drawingml/2006/main" noGrp="1"/>
          </p:cNvSpPr>
          <p:nvPr/>
        </p:nvSpPr>
        <p:spPr>
          <a:xfrm xmlns:a="http://schemas.openxmlformats.org/drawingml/2006/main">
            <a:off x="1325880" y="2194560"/>
            <a:ext cx="204787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354A"/>
                </a:solidFill>
              </a:rPr>
              <a:t>Nắn phẳng Affine</a:t>
            </a:r>
            <a:endParaRPr sz="1500"/>
          </a:p>
        </p:txBody>
      </p:sp>
      <p:sp>
        <p:nvSpPr>
          <p:cNvPr id="12" name="Text 9">
            <a:extLst xmlns:a="http://schemas.openxmlformats.org/drawingml/2006/main">
              <a:ext uri="{FF2B5EF4-FFF2-40B4-BE49-F238E27FC236}">
                <a16:creationId xmlns:a16="http://schemas.microsoft.com/office/drawing/2014/main" id="{A5A18DB8-5C99-4318-8DB2-10602D8D3278}"/>
              </a:ext>
            </a:extLst>
          </p:cNvPr>
          <p:cNvSpPr>
            <a:spLocks xmlns:a="http://schemas.openxmlformats.org/drawingml/2006/main" noGrp="1"/>
          </p:cNvSpPr>
          <p:nvPr/>
        </p:nvSpPr>
        <p:spPr>
          <a:xfrm xmlns:a="http://schemas.openxmlformats.org/drawingml/2006/main">
            <a:off x="3190875" y="2194560"/>
            <a:ext cx="195262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50">
                <a:solidFill>
                  <a:srgbClr val="65748B"/>
                </a:solidFill>
              </a:rPr>
              <a:t>Xoay bằng minAreaRect</a:t>
            </a:r>
            <a:endParaRPr sz="1150"/>
          </a:p>
        </p:txBody>
      </p:sp>
      <p:sp>
        <p:nvSpPr>
          <p:cNvPr id="13" name="Shape 10">
            <a:extLst xmlns:a="http://schemas.openxmlformats.org/drawingml/2006/main">
              <a:ext uri="{FF2B5EF4-FFF2-40B4-BE49-F238E27FC236}">
                <a16:creationId xmlns:a16="http://schemas.microsoft.com/office/drawing/2014/main" id="{CF38228D-080D-491A-99A3-41C5C415CF9A}"/>
              </a:ext>
            </a:extLst>
          </p:cNvPr>
          <p:cNvSpPr>
            <a:spLocks xmlns:a="http://schemas.openxmlformats.org/drawingml/2006/main" noGrp="1"/>
          </p:cNvSpPr>
          <p:nvPr/>
        </p:nvSpPr>
        <p:spPr>
          <a:xfrm xmlns:a="http://schemas.openxmlformats.org/drawingml/2006/main">
            <a:off x="777240" y="2999232"/>
            <a:ext cx="384048" cy="384048"/>
          </a:xfrm>
          <a:prstGeom xmlns:a="http://schemas.openxmlformats.org/drawingml/2006/main" prst="ellipse">
            <a:avLst/>
          </a:prstGeom>
          <a:solidFill xmlns:a="http://schemas.openxmlformats.org/drawingml/2006/main">
            <a:srgbClr val="17BCEB"/>
          </a:solidFill>
          <a:ln xmlns:a="http://schemas.openxmlformats.org/drawingml/2006/main" w="12700">
            <a:solidFill>
              <a:srgbClr val="17BCEB"/>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1">
            <a:extLst xmlns:a="http://schemas.openxmlformats.org/drawingml/2006/main">
              <a:ext uri="{FF2B5EF4-FFF2-40B4-BE49-F238E27FC236}">
                <a16:creationId xmlns:a16="http://schemas.microsoft.com/office/drawing/2014/main" id="{F116B200-009E-4592-9377-EB53B3EE1043}"/>
              </a:ext>
            </a:extLst>
          </p:cNvPr>
          <p:cNvSpPr>
            <a:spLocks xmlns:a="http://schemas.openxmlformats.org/drawingml/2006/main" noGrp="1"/>
          </p:cNvSpPr>
          <p:nvPr/>
        </p:nvSpPr>
        <p:spPr>
          <a:xfrm xmlns:a="http://schemas.openxmlformats.org/drawingml/2006/main">
            <a:off x="777240" y="3072384"/>
            <a:ext cx="38404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rPr>
              <a:t>3</a:t>
            </a:r>
            <a:endParaRPr sz="1000"/>
          </a:p>
        </p:txBody>
      </p:sp>
      <p:sp>
        <p:nvSpPr>
          <p:cNvPr id="15" name="Text 12">
            <a:extLst xmlns:a="http://schemas.openxmlformats.org/drawingml/2006/main">
              <a:ext uri="{FF2B5EF4-FFF2-40B4-BE49-F238E27FC236}">
                <a16:creationId xmlns:a16="http://schemas.microsoft.com/office/drawing/2014/main" id="{CA61C599-07C8-4EDA-9C18-903E54C11C8D}"/>
              </a:ext>
            </a:extLst>
          </p:cNvPr>
          <p:cNvSpPr>
            <a:spLocks xmlns:a="http://schemas.openxmlformats.org/drawingml/2006/main" noGrp="1"/>
          </p:cNvSpPr>
          <p:nvPr/>
        </p:nvSpPr>
        <p:spPr>
          <a:xfrm xmlns:a="http://schemas.openxmlformats.org/drawingml/2006/main">
            <a:off x="1325880" y="2971800"/>
            <a:ext cx="204787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354A"/>
                </a:solidFill>
              </a:rPr>
              <a:t>Tách hai dòng ổn định</a:t>
            </a:r>
            <a:endParaRPr sz="1500"/>
          </a:p>
        </p:txBody>
      </p:sp>
      <p:sp>
        <p:nvSpPr>
          <p:cNvPr id="16" name="Text 13">
            <a:extLst xmlns:a="http://schemas.openxmlformats.org/drawingml/2006/main">
              <a:ext uri="{FF2B5EF4-FFF2-40B4-BE49-F238E27FC236}">
                <a16:creationId xmlns:a16="http://schemas.microsoft.com/office/drawing/2014/main" id="{3F2C87B0-39BF-4C9C-A65C-D19CE8AFBBFB}"/>
              </a:ext>
            </a:extLst>
          </p:cNvPr>
          <p:cNvSpPr>
            <a:spLocks xmlns:a="http://schemas.openxmlformats.org/drawingml/2006/main" noGrp="1"/>
          </p:cNvSpPr>
          <p:nvPr/>
        </p:nvSpPr>
        <p:spPr>
          <a:xfrm xmlns:a="http://schemas.openxmlformats.org/drawingml/2006/main">
            <a:off x="3190875" y="2971800"/>
            <a:ext cx="195262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50">
                <a:solidFill>
                  <a:srgbClr val="65748B"/>
                </a:solidFill>
              </a:rPr>
              <a:t>Cắt 5/12 trên và 1/3 dưới</a:t>
            </a:r>
            <a:endParaRPr sz="1150"/>
          </a:p>
        </p:txBody>
      </p:sp>
      <p:sp>
        <p:nvSpPr>
          <p:cNvPr id="17" name="Shape 14">
            <a:extLst xmlns:a="http://schemas.openxmlformats.org/drawingml/2006/main">
              <a:ext uri="{FF2B5EF4-FFF2-40B4-BE49-F238E27FC236}">
                <a16:creationId xmlns:a16="http://schemas.microsoft.com/office/drawing/2014/main" id="{D170809A-E24D-4352-A027-660E6B27E49C}"/>
              </a:ext>
            </a:extLst>
          </p:cNvPr>
          <p:cNvSpPr>
            <a:spLocks xmlns:a="http://schemas.openxmlformats.org/drawingml/2006/main" noGrp="1"/>
          </p:cNvSpPr>
          <p:nvPr/>
        </p:nvSpPr>
        <p:spPr>
          <a:xfrm xmlns:a="http://schemas.openxmlformats.org/drawingml/2006/main">
            <a:off x="777240" y="3776472"/>
            <a:ext cx="384048" cy="384048"/>
          </a:xfrm>
          <a:prstGeom xmlns:a="http://schemas.openxmlformats.org/drawingml/2006/main" prst="ellipse">
            <a:avLst/>
          </a:prstGeom>
          <a:solidFill xmlns:a="http://schemas.openxmlformats.org/drawingml/2006/main">
            <a:srgbClr val="17BCEB"/>
          </a:solidFill>
          <a:ln xmlns:a="http://schemas.openxmlformats.org/drawingml/2006/main" w="12700">
            <a:solidFill>
              <a:srgbClr val="17BCEB"/>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5">
            <a:extLst xmlns:a="http://schemas.openxmlformats.org/drawingml/2006/main">
              <a:ext uri="{FF2B5EF4-FFF2-40B4-BE49-F238E27FC236}">
                <a16:creationId xmlns:a16="http://schemas.microsoft.com/office/drawing/2014/main" id="{E3C4D068-EF14-4B9E-9A9D-52346E2BC313}"/>
              </a:ext>
            </a:extLst>
          </p:cNvPr>
          <p:cNvSpPr>
            <a:spLocks xmlns:a="http://schemas.openxmlformats.org/drawingml/2006/main" noGrp="1"/>
          </p:cNvSpPr>
          <p:nvPr/>
        </p:nvSpPr>
        <p:spPr>
          <a:xfrm xmlns:a="http://schemas.openxmlformats.org/drawingml/2006/main">
            <a:off x="777240" y="3849624"/>
            <a:ext cx="38404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rPr>
              <a:t>4</a:t>
            </a:r>
            <a:endParaRPr sz="1000"/>
          </a:p>
        </p:txBody>
      </p:sp>
      <p:sp>
        <p:nvSpPr>
          <p:cNvPr id="19" name="Text 16">
            <a:extLst xmlns:a="http://schemas.openxmlformats.org/drawingml/2006/main">
              <a:ext uri="{FF2B5EF4-FFF2-40B4-BE49-F238E27FC236}">
                <a16:creationId xmlns:a16="http://schemas.microsoft.com/office/drawing/2014/main" id="{E70753FA-B851-4B74-B36D-6192530F95E1}"/>
              </a:ext>
            </a:extLst>
          </p:cNvPr>
          <p:cNvSpPr>
            <a:spLocks xmlns:a="http://schemas.openxmlformats.org/drawingml/2006/main" noGrp="1"/>
          </p:cNvSpPr>
          <p:nvPr/>
        </p:nvSpPr>
        <p:spPr>
          <a:xfrm xmlns:a="http://schemas.openxmlformats.org/drawingml/2006/main">
            <a:off x="1325880" y="3749040"/>
            <a:ext cx="204787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354A"/>
                </a:solidFill>
              </a:rPr>
              <a:t>Ghép ngang nối tiếp</a:t>
            </a:r>
            <a:endParaRPr sz="1500"/>
          </a:p>
        </p:txBody>
      </p:sp>
      <p:sp>
        <p:nvSpPr>
          <p:cNvPr id="20" name="Text 17">
            <a:extLst xmlns:a="http://schemas.openxmlformats.org/drawingml/2006/main">
              <a:ext uri="{FF2B5EF4-FFF2-40B4-BE49-F238E27FC236}">
                <a16:creationId xmlns:a16="http://schemas.microsoft.com/office/drawing/2014/main" id="{A8B2FD50-A519-40A4-89CE-CF4B43EE115D}"/>
              </a:ext>
            </a:extLst>
          </p:cNvPr>
          <p:cNvSpPr>
            <a:spLocks xmlns:a="http://schemas.openxmlformats.org/drawingml/2006/main" noGrp="1"/>
          </p:cNvSpPr>
          <p:nvPr/>
        </p:nvSpPr>
        <p:spPr>
          <a:xfrm xmlns:a="http://schemas.openxmlformats.org/drawingml/2006/main">
            <a:off x="3190875" y="3749040"/>
            <a:ext cx="195262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50">
                <a:solidFill>
                  <a:srgbClr val="65748B"/>
                </a:solidFill>
              </a:rPr>
              <a:t>Nối thành một dải ngang</a:t>
            </a:r>
            <a:endParaRPr sz="1150"/>
          </a:p>
        </p:txBody>
      </p:sp>
      <p:sp>
        <p:nvSpPr>
          <p:cNvPr id="21" name="Shape 18">
            <a:extLst xmlns:a="http://schemas.openxmlformats.org/drawingml/2006/main">
              <a:ext uri="{FF2B5EF4-FFF2-40B4-BE49-F238E27FC236}">
                <a16:creationId xmlns:a16="http://schemas.microsoft.com/office/drawing/2014/main" id="{71F0CBE5-DF2A-49E0-B1A2-4CB427B61D1E}"/>
              </a:ext>
            </a:extLst>
          </p:cNvPr>
          <p:cNvSpPr>
            <a:spLocks xmlns:a="http://schemas.openxmlformats.org/drawingml/2006/main" noGrp="1"/>
          </p:cNvSpPr>
          <p:nvPr/>
        </p:nvSpPr>
        <p:spPr>
          <a:xfrm xmlns:a="http://schemas.openxmlformats.org/drawingml/2006/main">
            <a:off x="777240" y="4553712"/>
            <a:ext cx="384048" cy="384048"/>
          </a:xfrm>
          <a:prstGeom xmlns:a="http://schemas.openxmlformats.org/drawingml/2006/main" prst="ellipse">
            <a:avLst/>
          </a:prstGeom>
          <a:solidFill xmlns:a="http://schemas.openxmlformats.org/drawingml/2006/main">
            <a:srgbClr val="17BCEB"/>
          </a:solidFill>
          <a:ln xmlns:a="http://schemas.openxmlformats.org/drawingml/2006/main" w="12700">
            <a:solidFill>
              <a:srgbClr val="17BCEB"/>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19">
            <a:extLst xmlns:a="http://schemas.openxmlformats.org/drawingml/2006/main">
              <a:ext uri="{FF2B5EF4-FFF2-40B4-BE49-F238E27FC236}">
                <a16:creationId xmlns:a16="http://schemas.microsoft.com/office/drawing/2014/main" id="{49B3E408-7468-4559-AFE0-797797BCC1C0}"/>
              </a:ext>
            </a:extLst>
          </p:cNvPr>
          <p:cNvSpPr>
            <a:spLocks xmlns:a="http://schemas.openxmlformats.org/drawingml/2006/main" noGrp="1"/>
          </p:cNvSpPr>
          <p:nvPr/>
        </p:nvSpPr>
        <p:spPr>
          <a:xfrm xmlns:a="http://schemas.openxmlformats.org/drawingml/2006/main">
            <a:off x="777240" y="4626864"/>
            <a:ext cx="38404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rPr>
              <a:t>5</a:t>
            </a:r>
            <a:endParaRPr sz="1000"/>
          </a:p>
        </p:txBody>
      </p:sp>
      <p:sp>
        <p:nvSpPr>
          <p:cNvPr id="23" name="Text 20">
            <a:extLst xmlns:a="http://schemas.openxmlformats.org/drawingml/2006/main">
              <a:ext uri="{FF2B5EF4-FFF2-40B4-BE49-F238E27FC236}">
                <a16:creationId xmlns:a16="http://schemas.microsoft.com/office/drawing/2014/main" id="{88B9DDAE-D798-4060-ACC6-1D63421DFC99}"/>
              </a:ext>
            </a:extLst>
          </p:cNvPr>
          <p:cNvSpPr>
            <a:spLocks xmlns:a="http://schemas.openxmlformats.org/drawingml/2006/main" noGrp="1"/>
          </p:cNvSpPr>
          <p:nvPr/>
        </p:nvSpPr>
        <p:spPr>
          <a:xfrm xmlns:a="http://schemas.openxmlformats.org/drawingml/2006/main">
            <a:off x="1325880" y="4526280"/>
            <a:ext cx="204787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354A"/>
                </a:solidFill>
              </a:rPr>
              <a:t>CLAHE &amp; Lọc song phương</a:t>
            </a:r>
            <a:endParaRPr sz="1500"/>
          </a:p>
        </p:txBody>
      </p:sp>
      <p:sp>
        <p:nvSpPr>
          <p:cNvPr id="24" name="Text 21">
            <a:extLst xmlns:a="http://schemas.openxmlformats.org/drawingml/2006/main">
              <a:ext uri="{FF2B5EF4-FFF2-40B4-BE49-F238E27FC236}">
                <a16:creationId xmlns:a16="http://schemas.microsoft.com/office/drawing/2014/main" id="{5DF66E6B-CAC9-4A19-A811-64EBD3877050}"/>
              </a:ext>
            </a:extLst>
          </p:cNvPr>
          <p:cNvSpPr>
            <a:spLocks xmlns:a="http://schemas.openxmlformats.org/drawingml/2006/main" noGrp="1"/>
          </p:cNvSpPr>
          <p:nvPr/>
        </p:nvSpPr>
        <p:spPr>
          <a:xfrm xmlns:a="http://schemas.openxmlformats.org/drawingml/2006/main">
            <a:off x="3190875" y="4526280"/>
            <a:ext cx="195262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50">
                <a:solidFill>
                  <a:srgbClr val="65748B"/>
                </a:solidFill>
              </a:rPr>
              <a:t>Tăng tương phản, giữ nét chữ</a:t>
            </a:r>
            <a:endParaRPr sz="1150"/>
          </a:p>
        </p:txBody>
      </p:sp>
    </p:spTree>
    <p:extLst>
      <p:ext uri="{BB962C8B-B14F-4D97-AF65-F5344CB8AC3E}">
        <p14:creationId xmlns:p14="http://schemas.microsoft.com/office/powerpoint/2010/main" val="35667442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E4401D5-FBA8-4213-B9A7-C562AAB2A466}"/>
              </a:ext>
            </a:extLst>
          </p:cNvPr>
          <p:cNvSpPr>
            <a:spLocks xmlns:a="http://schemas.openxmlformats.org/drawingml/2006/main" noGrp="1"/>
          </p:cNvSpPr>
          <p:nvPr/>
        </p:nvSpPr>
        <p:spPr>
          <a:xfrm xmlns:a="http://schemas.openxmlformats.org/drawingml/2006/main">
            <a:off x="749808" y="393192"/>
            <a:ext cx="10195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0F2A5F"/>
                </a:solidFill>
                <a:latin typeface="Arial"/>
                <a:ea typeface="Arial"/>
                <a:cs typeface="Arial"/>
              </a:rPr>
              <a:t>Hậu xử lý theo vị trí</a:t>
            </a:r>
            <a:endParaRPr sz="2500"/>
          </a:p>
        </p:txBody>
      </p:sp>
      <p:sp>
        <p:nvSpPr>
          <p:cNvPr id="3" name="Text 1">
            <a:extLst xmlns:a="http://schemas.openxmlformats.org/drawingml/2006/main">
              <a:ext uri="{FF2B5EF4-FFF2-40B4-BE49-F238E27FC236}">
                <a16:creationId xmlns:a16="http://schemas.microsoft.com/office/drawing/2014/main" id="{B5E77608-7A8E-4A9E-A05C-6E270C74A9B5}"/>
              </a:ext>
            </a:extLst>
          </p:cNvPr>
          <p:cNvSpPr>
            <a:spLocks xmlns:a="http://schemas.openxmlformats.org/drawingml/2006/main" noGrp="1"/>
          </p:cNvSpPr>
          <p:nvPr/>
        </p:nvSpPr>
        <p:spPr>
          <a:xfrm xmlns:a="http://schemas.openxmlformats.org/drawingml/2006/main">
            <a:off x="768096" y="914400"/>
            <a:ext cx="10058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65748B"/>
                </a:solidFill>
                <a:latin typeface="Arial"/>
                <a:ea typeface="Arial"/>
                <a:cs typeface="Arial"/>
              </a:rPr>
              <a:t>Khai thác quy chuẩn Việt Nam (TT 79/2024 &amp; TT 51/2025) theo từng vị trí ký tự trong chuỗi</a:t>
            </a:r>
            <a:endParaRPr sz="1150"/>
          </a:p>
        </p:txBody>
      </p:sp>
      <p:sp>
        <p:nvSpPr>
          <p:cNvPr id="4" name="Shape 2">
            <a:extLst xmlns:a="http://schemas.openxmlformats.org/drawingml/2006/main">
              <a:ext uri="{FF2B5EF4-FFF2-40B4-BE49-F238E27FC236}">
                <a16:creationId xmlns:a16="http://schemas.microsoft.com/office/drawing/2014/main" id="{F5262EC0-9C2B-40F1-AB05-A0542431F77A}"/>
              </a:ext>
            </a:extLst>
          </p:cNvPr>
          <p:cNvSpPr>
            <a:spLocks xmlns:a="http://schemas.openxmlformats.org/drawingml/2006/main" noGrp="1"/>
          </p:cNvSpPr>
          <p:nvPr/>
        </p:nvSpPr>
        <p:spPr>
          <a:xfrm xmlns:a="http://schemas.openxmlformats.org/drawingml/2006/main">
            <a:off x="731520" y="1463040"/>
            <a:ext cx="5074920" cy="1234440"/>
          </a:xfrm>
          <a:prstGeom xmlns:a="http://schemas.openxmlformats.org/drawingml/2006/main" prst="roundRect">
            <a:avLst>
              <a:gd name="adj" fmla="val 5926"/>
            </a:avLst>
          </a:prstGeom>
          <a:solidFill xmlns:a="http://schemas.openxmlformats.org/drawingml/2006/main">
            <a:srgbClr val="FAFCFE"/>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7B5667F1-76CF-4EDA-8106-279E0A5929C7}"/>
              </a:ext>
            </a:extLst>
          </p:cNvPr>
          <p:cNvSpPr>
            <a:spLocks xmlns:a="http://schemas.openxmlformats.org/drawingml/2006/main" noGrp="1"/>
          </p:cNvSpPr>
          <p:nvPr/>
        </p:nvSpPr>
        <p:spPr>
          <a:xfrm xmlns:a="http://schemas.openxmlformats.org/drawingml/2006/main">
            <a:off x="960120" y="1664208"/>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E5FD4"/>
                </a:solidFill>
              </a:rPr>
              <a:t>1. Danh mục 34 Mã địa phương</a:t>
            </a:r>
            <a:endParaRPr sz="1600"/>
          </a:p>
        </p:txBody>
      </p:sp>
      <p:sp>
        <p:nvSpPr>
          <p:cNvPr id="6" name="Text 4">
            <a:extLst xmlns:a="http://schemas.openxmlformats.org/drawingml/2006/main">
              <a:ext uri="{FF2B5EF4-FFF2-40B4-BE49-F238E27FC236}">
                <a16:creationId xmlns:a16="http://schemas.microsoft.com/office/drawing/2014/main" id="{A05E2ED8-CA12-40FB-9F8A-7445261ABC89}"/>
              </a:ext>
            </a:extLst>
          </p:cNvPr>
          <p:cNvSpPr>
            <a:spLocks xmlns:a="http://schemas.openxmlformats.org/drawingml/2006/main" noGrp="1"/>
          </p:cNvSpPr>
          <p:nvPr/>
        </p:nvSpPr>
        <p:spPr>
          <a:xfrm xmlns:a="http://schemas.openxmlformats.org/drawingml/2006/main">
            <a:off x="960120" y="2029968"/>
            <a:ext cx="4526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26354A"/>
                </a:solidFill>
              </a:rPr>
              <a:t>Rà soát theo 34 tỉnh/thành hợp lệ (TT 51/2025); loại bỏ hoàn toàn các mã giả lập không tồn tại</a:t>
            </a:r>
            <a:endParaRPr sz="1300"/>
          </a:p>
        </p:txBody>
      </p:sp>
      <p:sp>
        <p:nvSpPr>
          <p:cNvPr id="7" name="Shape 5">
            <a:extLst xmlns:a="http://schemas.openxmlformats.org/drawingml/2006/main">
              <a:ext uri="{FF2B5EF4-FFF2-40B4-BE49-F238E27FC236}">
                <a16:creationId xmlns:a16="http://schemas.microsoft.com/office/drawing/2014/main" id="{89384033-3F81-43B7-94B5-DDA6BBB6651D}"/>
              </a:ext>
            </a:extLst>
          </p:cNvPr>
          <p:cNvSpPr>
            <a:spLocks xmlns:a="http://schemas.openxmlformats.org/drawingml/2006/main" noGrp="1"/>
          </p:cNvSpPr>
          <p:nvPr/>
        </p:nvSpPr>
        <p:spPr>
          <a:xfrm xmlns:a="http://schemas.openxmlformats.org/drawingml/2006/main">
            <a:off x="6309360" y="1463040"/>
            <a:ext cx="5074920" cy="1234440"/>
          </a:xfrm>
          <a:prstGeom xmlns:a="http://schemas.openxmlformats.org/drawingml/2006/main" prst="roundRect">
            <a:avLst>
              <a:gd name="adj" fmla="val 5926"/>
            </a:avLst>
          </a:prstGeom>
          <a:solidFill xmlns:a="http://schemas.openxmlformats.org/drawingml/2006/main">
            <a:srgbClr val="FAFCFE"/>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46B9117E-A148-4A21-9CA2-A20568AFF3A4}"/>
              </a:ext>
            </a:extLst>
          </p:cNvPr>
          <p:cNvSpPr>
            <a:spLocks xmlns:a="http://schemas.openxmlformats.org/drawingml/2006/main" noGrp="1"/>
          </p:cNvSpPr>
          <p:nvPr/>
        </p:nvSpPr>
        <p:spPr>
          <a:xfrm xmlns:a="http://schemas.openxmlformats.org/drawingml/2006/main">
            <a:off x="6537960" y="1664208"/>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E5FD4"/>
                </a:solidFill>
              </a:rPr>
              <a:t>2. Mặt nạ cú pháp định dạng</a:t>
            </a:r>
            <a:endParaRPr sz="1600"/>
          </a:p>
        </p:txBody>
      </p:sp>
      <p:sp>
        <p:nvSpPr>
          <p:cNvPr id="9" name="Text 7">
            <a:extLst xmlns:a="http://schemas.openxmlformats.org/drawingml/2006/main">
              <a:ext uri="{FF2B5EF4-FFF2-40B4-BE49-F238E27FC236}">
                <a16:creationId xmlns:a16="http://schemas.microsoft.com/office/drawing/2014/main" id="{200F7560-766B-4321-B1CD-2CAFFC659C77}"/>
              </a:ext>
            </a:extLst>
          </p:cNvPr>
          <p:cNvSpPr>
            <a:spLocks xmlns:a="http://schemas.openxmlformats.org/drawingml/2006/main" noGrp="1"/>
          </p:cNvSpPr>
          <p:nvPr/>
        </p:nvSpPr>
        <p:spPr>
          <a:xfrm xmlns:a="http://schemas.openxmlformats.org/drawingml/2006/main">
            <a:off x="6537960" y="2029968"/>
            <a:ext cx="4526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26354A"/>
                </a:solidFill>
              </a:rPr>
              <a:t>Ràng buộc nghiêm ngặt vị trí số và chữ theo quy chuẩn DD-L DDD.DD hoặc DD-L? DDD.DD</a:t>
            </a:r>
            <a:endParaRPr sz="1300"/>
          </a:p>
        </p:txBody>
      </p:sp>
      <p:sp>
        <p:nvSpPr>
          <p:cNvPr id="10" name="Shape 8">
            <a:extLst xmlns:a="http://schemas.openxmlformats.org/drawingml/2006/main">
              <a:ext uri="{FF2B5EF4-FFF2-40B4-BE49-F238E27FC236}">
                <a16:creationId xmlns:a16="http://schemas.microsoft.com/office/drawing/2014/main" id="{B28F76F4-54BA-4069-B2AB-905FFED08B5F}"/>
              </a:ext>
            </a:extLst>
          </p:cNvPr>
          <p:cNvSpPr>
            <a:spLocks xmlns:a="http://schemas.openxmlformats.org/drawingml/2006/main" noGrp="1"/>
          </p:cNvSpPr>
          <p:nvPr/>
        </p:nvSpPr>
        <p:spPr>
          <a:xfrm xmlns:a="http://schemas.openxmlformats.org/drawingml/2006/main">
            <a:off x="731520" y="3063240"/>
            <a:ext cx="5074920" cy="1234440"/>
          </a:xfrm>
          <a:prstGeom xmlns:a="http://schemas.openxmlformats.org/drawingml/2006/main" prst="roundRect">
            <a:avLst>
              <a:gd name="adj" fmla="val 5926"/>
            </a:avLst>
          </a:prstGeom>
          <a:solidFill xmlns:a="http://schemas.openxmlformats.org/drawingml/2006/main">
            <a:srgbClr val="FAFCFE"/>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0E17F3B9-5F40-41E7-BA32-BAFD426A8B1E}"/>
              </a:ext>
            </a:extLst>
          </p:cNvPr>
          <p:cNvSpPr>
            <a:spLocks xmlns:a="http://schemas.openxmlformats.org/drawingml/2006/main" noGrp="1"/>
          </p:cNvSpPr>
          <p:nvPr/>
        </p:nvSpPr>
        <p:spPr>
          <a:xfrm xmlns:a="http://schemas.openxmlformats.org/drawingml/2006/main">
            <a:off x="960120" y="3264408"/>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E5FD4"/>
                </a:solidFill>
              </a:rPr>
              <a:t>3. Tập ký tự seri theo loại xe</a:t>
            </a:r>
            <a:endParaRPr sz="1600"/>
          </a:p>
        </p:txBody>
      </p:sp>
      <p:sp>
        <p:nvSpPr>
          <p:cNvPr id="12" name="Text 10">
            <a:extLst xmlns:a="http://schemas.openxmlformats.org/drawingml/2006/main">
              <a:ext uri="{FF2B5EF4-FFF2-40B4-BE49-F238E27FC236}">
                <a16:creationId xmlns:a16="http://schemas.microsoft.com/office/drawing/2014/main" id="{36FB49EC-E0C0-4F2B-809B-A08E4B3795D7}"/>
              </a:ext>
            </a:extLst>
          </p:cNvPr>
          <p:cNvSpPr>
            <a:spLocks xmlns:a="http://schemas.openxmlformats.org/drawingml/2006/main" noGrp="1"/>
          </p:cNvSpPr>
          <p:nvPr/>
        </p:nvSpPr>
        <p:spPr>
          <a:xfrm xmlns:a="http://schemas.openxmlformats.org/drawingml/2006/main">
            <a:off x="960120" y="3630168"/>
            <a:ext cx="4526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26354A"/>
                </a:solidFill>
              </a:rPr>
              <a:t>Xe con không chứa ký tự 'R'; xe máy phân biệt rõ 'G' và 'R' ở từng vị trí seri</a:t>
            </a:r>
            <a:endParaRPr sz="1300"/>
          </a:p>
        </p:txBody>
      </p:sp>
      <p:sp>
        <p:nvSpPr>
          <p:cNvPr id="13" name="Shape 11">
            <a:extLst xmlns:a="http://schemas.openxmlformats.org/drawingml/2006/main">
              <a:ext uri="{FF2B5EF4-FFF2-40B4-BE49-F238E27FC236}">
                <a16:creationId xmlns:a16="http://schemas.microsoft.com/office/drawing/2014/main" id="{B843D5B7-3B66-476B-B086-EE9597CE72B1}"/>
              </a:ext>
            </a:extLst>
          </p:cNvPr>
          <p:cNvSpPr>
            <a:spLocks xmlns:a="http://schemas.openxmlformats.org/drawingml/2006/main" noGrp="1"/>
          </p:cNvSpPr>
          <p:nvPr/>
        </p:nvSpPr>
        <p:spPr>
          <a:xfrm xmlns:a="http://schemas.openxmlformats.org/drawingml/2006/main">
            <a:off x="6309360" y="3063240"/>
            <a:ext cx="5074920" cy="1234440"/>
          </a:xfrm>
          <a:prstGeom xmlns:a="http://schemas.openxmlformats.org/drawingml/2006/main" prst="roundRect">
            <a:avLst>
              <a:gd name="adj" fmla="val 5926"/>
            </a:avLst>
          </a:prstGeom>
          <a:solidFill xmlns:a="http://schemas.openxmlformats.org/drawingml/2006/main">
            <a:srgbClr val="FAFCFE"/>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ED142949-4594-432E-9302-223BDDD5667A}"/>
              </a:ext>
            </a:extLst>
          </p:cNvPr>
          <p:cNvSpPr>
            <a:spLocks xmlns:a="http://schemas.openxmlformats.org/drawingml/2006/main" noGrp="1"/>
          </p:cNvSpPr>
          <p:nvPr/>
        </p:nvSpPr>
        <p:spPr>
          <a:xfrm xmlns:a="http://schemas.openxmlformats.org/drawingml/2006/main">
            <a:off x="6537960" y="3264408"/>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E5FD4"/>
                </a:solidFill>
              </a:rPr>
              <a:t>4. Ma trận hoán vị bất đối xứng</a:t>
            </a:r>
            <a:endParaRPr sz="1600"/>
          </a:p>
        </p:txBody>
      </p:sp>
      <p:sp>
        <p:nvSpPr>
          <p:cNvPr id="15" name="Text 13">
            <a:extLst xmlns:a="http://schemas.openxmlformats.org/drawingml/2006/main">
              <a:ext uri="{FF2B5EF4-FFF2-40B4-BE49-F238E27FC236}">
                <a16:creationId xmlns:a16="http://schemas.microsoft.com/office/drawing/2014/main" id="{771CC751-D47D-4688-BFCC-9205CA451901}"/>
              </a:ext>
            </a:extLst>
          </p:cNvPr>
          <p:cNvSpPr>
            <a:spLocks xmlns:a="http://schemas.openxmlformats.org/drawingml/2006/main" noGrp="1"/>
          </p:cNvSpPr>
          <p:nvPr/>
        </p:nvSpPr>
        <p:spPr>
          <a:xfrm xmlns:a="http://schemas.openxmlformats.org/drawingml/2006/main">
            <a:off x="6537960" y="3630168"/>
            <a:ext cx="4526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26354A"/>
                </a:solidFill>
              </a:rPr>
              <a:t>Sửa lỗi OCR có định hướng: 'O','D' → '0' khi ở vị trí số; '0' → 'D' khi ở vị trí chữ</a:t>
            </a:r>
            <a:endParaRPr sz="1300"/>
          </a:p>
        </p:txBody>
      </p:sp>
      <p:sp>
        <p:nvSpPr>
          <p:cNvPr id="16" name="Shape 14">
            <a:extLst xmlns:a="http://schemas.openxmlformats.org/drawingml/2006/main">
              <a:ext uri="{FF2B5EF4-FFF2-40B4-BE49-F238E27FC236}">
                <a16:creationId xmlns:a16="http://schemas.microsoft.com/office/drawing/2014/main" id="{03255250-D57F-409C-879F-B90AFB372FD4}"/>
              </a:ext>
            </a:extLst>
          </p:cNvPr>
          <p:cNvSpPr>
            <a:spLocks xmlns:a="http://schemas.openxmlformats.org/drawingml/2006/main" noGrp="1"/>
          </p:cNvSpPr>
          <p:nvPr/>
        </p:nvSpPr>
        <p:spPr>
          <a:xfrm xmlns:a="http://schemas.openxmlformats.org/drawingml/2006/main">
            <a:off x="1188720" y="4892040"/>
            <a:ext cx="9784080" cy="868680"/>
          </a:xfrm>
          <a:prstGeom xmlns:a="http://schemas.openxmlformats.org/drawingml/2006/main" prst="roundRect">
            <a:avLst>
              <a:gd name="adj" fmla="val 8421"/>
            </a:avLst>
          </a:prstGeom>
          <a:solidFill xmlns:a="http://schemas.openxmlformats.org/drawingml/2006/main">
            <a:srgbClr val="F2F8FF"/>
          </a:solidFill>
          <a:ln xmlns:a="http://schemas.openxmlformats.org/drawingml/2006/main" w="12700">
            <a:solidFill>
              <a:srgbClr val="CFE2F6"/>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DAE7D13D-2E6B-44CD-8A67-6431FBB00669}"/>
              </a:ext>
            </a:extLst>
          </p:cNvPr>
          <p:cNvSpPr>
            <a:spLocks xmlns:a="http://schemas.openxmlformats.org/drawingml/2006/main" noGrp="1"/>
          </p:cNvSpPr>
          <p:nvPr/>
        </p:nvSpPr>
        <p:spPr>
          <a:xfrm xmlns:a="http://schemas.openxmlformats.org/drawingml/2006/main">
            <a:off x="1508760" y="5184648"/>
            <a:ext cx="91440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0F2A5F"/>
                </a:solidFill>
              </a:rPr>
              <a:t>Ví dụ thực tế: Tại vị trí số, 'O' được sửa thành '0'; nhưng tại vị trí chữ, '0' được sửa thành 'D' chứ không sửa thành 'O' để bảo toàn tính hợp lệ.</a:t>
            </a:r>
            <a:endParaRPr sz="1700"/>
          </a:p>
        </p:txBody>
      </p:sp>
    </p:spTree>
    <p:extLst>
      <p:ext uri="{BB962C8B-B14F-4D97-AF65-F5344CB8AC3E}">
        <p14:creationId xmlns:p14="http://schemas.microsoft.com/office/powerpoint/2010/main" val="183044576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C92C698-7651-4E9B-8516-19EF93864785}"/>
              </a:ext>
            </a:extLst>
          </p:cNvPr>
          <p:cNvSpPr>
            <a:spLocks xmlns:a="http://schemas.openxmlformats.org/drawingml/2006/main" noGrp="1"/>
          </p:cNvSpPr>
          <p:nvPr/>
        </p:nvSpPr>
        <p:spPr>
          <a:xfrm xmlns:a="http://schemas.openxmlformats.org/drawingml/2006/main">
            <a:off x="749808" y="393192"/>
            <a:ext cx="10195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0F2A5F"/>
                </a:solidFill>
                <a:latin typeface="Arial"/>
                <a:ea typeface="Arial"/>
                <a:cs typeface="Arial"/>
              </a:rPr>
              <a:t>Bộ dữ liệu: Khử trùng lặp trước khi đánh giá</a:t>
            </a:r>
            <a:endParaRPr sz="2500"/>
          </a:p>
        </p:txBody>
      </p:sp>
      <p:sp>
        <p:nvSpPr>
          <p:cNvPr id="3" name="Text 1">
            <a:extLst xmlns:a="http://schemas.openxmlformats.org/drawingml/2006/main">
              <a:ext uri="{FF2B5EF4-FFF2-40B4-BE49-F238E27FC236}">
                <a16:creationId xmlns:a16="http://schemas.microsoft.com/office/drawing/2014/main" id="{B0DF9590-144F-4122-9ECF-88B3CE2A0E30}"/>
              </a:ext>
            </a:extLst>
          </p:cNvPr>
          <p:cNvSpPr>
            <a:spLocks xmlns:a="http://schemas.openxmlformats.org/drawingml/2006/main" noGrp="1"/>
          </p:cNvSpPr>
          <p:nvPr/>
        </p:nvSpPr>
        <p:spPr>
          <a:xfrm xmlns:a="http://schemas.openxmlformats.org/drawingml/2006/main">
            <a:off x="768096" y="914400"/>
            <a:ext cx="10058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65748B"/>
                </a:solidFill>
                <a:latin typeface="Arial"/>
                <a:ea typeface="Arial"/>
                <a:cs typeface="Arial"/>
              </a:rPr>
              <a:t>Triệt tiêu rò rỉ dữ liệu (Data Leakage) khi các bộ dữ liệu công khai fork chéo lẫn nhau</a:t>
            </a:r>
            <a:endParaRPr sz="1150"/>
          </a:p>
        </p:txBody>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cb6efce574c847d9"/>
          <a:stretch xmlns:a="http://schemas.openxmlformats.org/drawingml/2006/main">
            <a:fillRect l="0" t="0" r="0" b="0"/>
          </a:stretch>
        </p:blipFill>
        <p:spPr>
          <a:xfrm xmlns:a="http://schemas.openxmlformats.org/drawingml/2006/main">
            <a:off x="5989320" y="1417320"/>
            <a:ext cx="5166360" cy="4251960"/>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F24F3465-7329-4A24-9E2D-FD8116537FC1}"/>
              </a:ext>
            </a:extLst>
          </p:cNvPr>
          <p:cNvSpPr>
            <a:spLocks xmlns:a="http://schemas.openxmlformats.org/drawingml/2006/main" noGrp="1"/>
          </p:cNvSpPr>
          <p:nvPr/>
        </p:nvSpPr>
        <p:spPr>
          <a:xfrm xmlns:a="http://schemas.openxmlformats.org/drawingml/2006/main">
            <a:off x="685800" y="1600200"/>
            <a:ext cx="4846320" cy="3429000"/>
          </a:xfrm>
          <a:prstGeom xmlns:a="http://schemas.openxmlformats.org/drawingml/2006/main" prst="roundRect">
            <a:avLst>
              <a:gd name="adj" fmla="val 2133"/>
            </a:avLst>
          </a:prstGeom>
          <a:solidFill xmlns:a="http://schemas.openxmlformats.org/drawingml/2006/main">
            <a:srgbClr val="F9FBFD"/>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6" name="Text 3">
            <a:extLst xmlns:a="http://schemas.openxmlformats.org/drawingml/2006/main">
              <a:ext uri="{FF2B5EF4-FFF2-40B4-BE49-F238E27FC236}">
                <a16:creationId xmlns:a16="http://schemas.microsoft.com/office/drawing/2014/main" id="{41F0F0E7-1170-4510-AB07-EBB002C42295}"/>
              </a:ext>
            </a:extLst>
          </p:cNvPr>
          <p:cNvSpPr>
            <a:spLocks xmlns:a="http://schemas.openxmlformats.org/drawingml/2006/main" noGrp="1"/>
          </p:cNvSpPr>
          <p:nvPr/>
        </p:nvSpPr>
        <p:spPr>
          <a:xfrm xmlns:a="http://schemas.openxmlformats.org/drawingml/2006/main">
            <a:off x="1005840" y="1874520"/>
            <a:ext cx="42062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solidFill>
                  <a:srgbClr val="0F2A5F"/>
                </a:solidFill>
              </a:rPr>
              <a:t>27.711 ảnh</a:t>
            </a:r>
            <a:endParaRPr sz="2800"/>
          </a:p>
        </p:txBody>
      </p:sp>
      <p:sp>
        <p:nvSpPr>
          <p:cNvPr id="7" name="Text 4">
            <a:extLst xmlns:a="http://schemas.openxmlformats.org/drawingml/2006/main">
              <a:ext uri="{FF2B5EF4-FFF2-40B4-BE49-F238E27FC236}">
                <a16:creationId xmlns:a16="http://schemas.microsoft.com/office/drawing/2014/main" id="{AAAB1988-1EE3-4E5B-B8C7-7B66490AD52C}"/>
              </a:ext>
            </a:extLst>
          </p:cNvPr>
          <p:cNvSpPr>
            <a:spLocks xmlns:a="http://schemas.openxmlformats.org/drawingml/2006/main" noGrp="1"/>
          </p:cNvSpPr>
          <p:nvPr/>
        </p:nvSpPr>
        <p:spPr>
          <a:xfrm xmlns:a="http://schemas.openxmlformats.org/drawingml/2006/main">
            <a:off x="1005840" y="2395728"/>
            <a:ext cx="4206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65748B"/>
                </a:solidFill>
              </a:rPr>
              <a:t>Gộp từ 7 bộ dữ liệu ALPR công khai</a:t>
            </a:r>
            <a:endParaRPr sz="1200"/>
          </a:p>
        </p:txBody>
      </p:sp>
      <p:sp>
        <p:nvSpPr>
          <p:cNvPr id="8" name="Text 5">
            <a:extLst xmlns:a="http://schemas.openxmlformats.org/drawingml/2006/main">
              <a:ext uri="{FF2B5EF4-FFF2-40B4-BE49-F238E27FC236}">
                <a16:creationId xmlns:a16="http://schemas.microsoft.com/office/drawing/2014/main" id="{DE7BAA59-B3D3-47C8-BDCA-24FD8756E5B1}"/>
              </a:ext>
            </a:extLst>
          </p:cNvPr>
          <p:cNvSpPr>
            <a:spLocks xmlns:a="http://schemas.openxmlformats.org/drawingml/2006/main" noGrp="1"/>
          </p:cNvSpPr>
          <p:nvPr/>
        </p:nvSpPr>
        <p:spPr>
          <a:xfrm xmlns:a="http://schemas.openxmlformats.org/drawingml/2006/main">
            <a:off x="1005840" y="2971800"/>
            <a:ext cx="42062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C74343"/>
                </a:solidFill>
              </a:rPr>
              <a:t>− 44,2%</a:t>
            </a:r>
            <a:endParaRPr sz="3000"/>
          </a:p>
        </p:txBody>
      </p:sp>
      <p:sp>
        <p:nvSpPr>
          <p:cNvPr id="9" name="Text 6">
            <a:extLst xmlns:a="http://schemas.openxmlformats.org/drawingml/2006/main">
              <a:ext uri="{FF2B5EF4-FFF2-40B4-BE49-F238E27FC236}">
                <a16:creationId xmlns:a16="http://schemas.microsoft.com/office/drawing/2014/main" id="{E63C4512-551A-45B4-8BC5-299BBC62108B}"/>
              </a:ext>
            </a:extLst>
          </p:cNvPr>
          <p:cNvSpPr>
            <a:spLocks xmlns:a="http://schemas.openxmlformats.org/drawingml/2006/main" noGrp="1"/>
          </p:cNvSpPr>
          <p:nvPr/>
        </p:nvSpPr>
        <p:spPr>
          <a:xfrm xmlns:a="http://schemas.openxmlformats.org/drawingml/2006/main">
            <a:off x="1005840" y="3502152"/>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a:solidFill>
                  <a:srgbClr val="26354A"/>
                </a:solidFill>
              </a:rPr>
              <a:t>ảnh trùng bị loại bằng pHash DCT 64-bit (Hamming ≤ 6)</a:t>
            </a:r>
            <a:endParaRPr sz="1250"/>
          </a:p>
        </p:txBody>
      </p:sp>
      <p:sp>
        <p:nvSpPr>
          <p:cNvPr id="10" name="Text 7">
            <a:extLst xmlns:a="http://schemas.openxmlformats.org/drawingml/2006/main">
              <a:ext uri="{FF2B5EF4-FFF2-40B4-BE49-F238E27FC236}">
                <a16:creationId xmlns:a16="http://schemas.microsoft.com/office/drawing/2014/main" id="{FF9C9D3C-8203-494F-BBEA-31020F5C644A}"/>
              </a:ext>
            </a:extLst>
          </p:cNvPr>
          <p:cNvSpPr>
            <a:spLocks xmlns:a="http://schemas.openxmlformats.org/drawingml/2006/main" noGrp="1"/>
          </p:cNvSpPr>
          <p:nvPr/>
        </p:nvSpPr>
        <p:spPr>
          <a:xfrm xmlns:a="http://schemas.openxmlformats.org/drawingml/2006/main">
            <a:off x="1005840" y="4251960"/>
            <a:ext cx="42062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149A68"/>
                </a:solidFill>
              </a:rPr>
              <a:t>15.133 ảnh độc lập (10.592 Train / 3.027 Val / 1.514 Test)</a:t>
            </a:r>
            <a:endParaRPr sz="1700"/>
          </a:p>
        </p:txBody>
      </p:sp>
    </p:spTree>
    <p:extLst>
      <p:ext uri="{BB962C8B-B14F-4D97-AF65-F5344CB8AC3E}">
        <p14:creationId xmlns:p14="http://schemas.microsoft.com/office/powerpoint/2010/main" val="82651854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9" name="title">
            <a:extLst xmlns:a="http://schemas.openxmlformats.org/drawingml/2006/main">
              <a:ext uri="{FF2B5EF4-FFF2-40B4-BE49-F238E27FC236}">
                <a16:creationId xmlns:a16="http://schemas.microsoft.com/office/drawing/2014/main" id="{E6F2EFF6-3A03-49D1-88D4-0A2F4F47E88A}"/>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400" b="1">
                <a:solidFill>
                  <a:srgbClr val="112F63"/>
                </a:solidFill>
                <a:latin typeface="Segoe UI"/>
                <a:ea typeface="Segoe UI"/>
                <a:cs typeface="Segoe UI"/>
              </a:defRPr>
            </a:pPr>
            <a:r>
              <a:rPr sz="2400" b="1">
                <a:solidFill>
                  <a:srgbClr val="112F63"/>
                </a:solidFill>
                <a:latin typeface="Segoe UI"/>
                <a:ea typeface="Segoe UI"/>
                <a:cs typeface="Segoe UI"/>
              </a:rPr>
              <a:t>Phương pháp đánh giá</a:t>
            </a:r>
          </a:p>
        </p:txBody>
      </p:sp>
      <p:sp>
        <p:nvSpPr>
          <p:cNvPr id="2" name="subtitle">
            <a:extLst xmlns:a="http://schemas.openxmlformats.org/drawingml/2006/main">
              <a:ext uri="{FF2B5EF4-FFF2-40B4-BE49-F238E27FC236}">
                <a16:creationId xmlns:a16="http://schemas.microsoft.com/office/drawing/2014/main" id="{2292C252-F355-4AF2-975B-96FDAA8DA50D}"/>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0">
                <a:solidFill>
                  <a:srgbClr val="66758E"/>
                </a:solidFill>
                <a:latin typeface="Segoe UI"/>
                <a:ea typeface="Segoe UI"/>
                <a:cs typeface="Segoe UI"/>
              </a:defRPr>
            </a:pPr>
            <a:r>
              <a:rPr sz="1275" b="0">
                <a:solidFill>
                  <a:srgbClr val="66758E"/>
                </a:solidFill>
                <a:latin typeface="Segoe UI"/>
                <a:ea typeface="Segoe UI"/>
                <a:cs typeface="Segoe UI"/>
              </a:rPr>
              <a:t>Tách riêng chất lượng phát hiện, nhận dạng toàn chuỗi và độ trễ đầu cuối</a:t>
            </a:r>
          </a:p>
        </p:txBody>
      </p:sp>
      <p:sp>
        <p:nvSpPr>
          <p:cNvPr id="3" name="metric-type-0">
            <a:extLst xmlns:a="http://schemas.openxmlformats.org/drawingml/2006/main">
              <a:ext uri="{FF2B5EF4-FFF2-40B4-BE49-F238E27FC236}">
                <a16:creationId xmlns:a16="http://schemas.microsoft.com/office/drawing/2014/main" id="{F15A07DC-E6AC-46E4-A9A3-727CA87DFB5C}"/>
              </a:ext>
            </a:extLst>
          </p:cNvPr>
          <p:cNvSpPr>
            <a:spLocks xmlns:a="http://schemas.openxmlformats.org/drawingml/2006/main" noGrp="1"/>
          </p:cNvSpPr>
          <p:nvPr/>
        </p:nvSpPr>
        <p:spPr>
          <a:xfrm xmlns:a="http://schemas.openxmlformats.org/drawingml/2006/main">
            <a:off x="904875" y="1571625"/>
            <a:ext cx="180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2563D8"/>
                </a:solidFill>
                <a:latin typeface="Segoe UI"/>
                <a:ea typeface="Segoe UI"/>
                <a:cs typeface="Segoe UI"/>
              </a:defRPr>
            </a:pPr>
            <a:r>
              <a:rPr sz="1125" b="1">
                <a:solidFill>
                  <a:srgbClr val="2563D8"/>
                </a:solidFill>
                <a:latin typeface="Segoe UI"/>
                <a:ea typeface="Segoe UI"/>
                <a:cs typeface="Segoe UI"/>
              </a:rPr>
              <a:t>PHÁT HIỆN</a:t>
            </a:r>
          </a:p>
        </p:txBody>
      </p:sp>
      <p:sp>
        <p:nvSpPr>
          <p:cNvPr id="4" name="metric-name-0">
            <a:extLst xmlns:a="http://schemas.openxmlformats.org/drawingml/2006/main">
              <a:ext uri="{FF2B5EF4-FFF2-40B4-BE49-F238E27FC236}">
                <a16:creationId xmlns:a16="http://schemas.microsoft.com/office/drawing/2014/main" id="{230CE426-B651-4676-9724-D9078A6E15E3}"/>
              </a:ext>
            </a:extLst>
          </p:cNvPr>
          <p:cNvSpPr>
            <a:spLocks xmlns:a="http://schemas.openxmlformats.org/drawingml/2006/main" noGrp="1"/>
          </p:cNvSpPr>
          <p:nvPr/>
        </p:nvSpPr>
        <p:spPr>
          <a:xfrm xmlns:a="http://schemas.openxmlformats.org/drawingml/2006/main">
            <a:off x="3000375" y="1571625"/>
            <a:ext cx="257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a:solidFill>
                  <a:srgbClr val="112F63"/>
                </a:solidFill>
                <a:latin typeface="Segoe UI"/>
                <a:ea typeface="Segoe UI"/>
                <a:cs typeface="Segoe UI"/>
              </a:defRPr>
            </a:pPr>
            <a:r>
              <a:rPr sz="1875" b="1">
                <a:solidFill>
                  <a:srgbClr val="112F63"/>
                </a:solidFill>
                <a:latin typeface="Segoe UI"/>
                <a:ea typeface="Segoe UI"/>
                <a:cs typeface="Segoe UI"/>
              </a:rPr>
              <a:t>mAP@0,5</a:t>
            </a:r>
          </a:p>
        </p:txBody>
      </p:sp>
      <p:sp>
        <p:nvSpPr>
          <p:cNvPr id="5" name="metric-desc-0">
            <a:extLst xmlns:a="http://schemas.openxmlformats.org/drawingml/2006/main">
              <a:ext uri="{FF2B5EF4-FFF2-40B4-BE49-F238E27FC236}">
                <a16:creationId xmlns:a16="http://schemas.microsoft.com/office/drawing/2014/main" id="{60216A91-73CC-44F9-91BE-07ECC6A4E83A}"/>
              </a:ext>
            </a:extLst>
          </p:cNvPr>
          <p:cNvSpPr>
            <a:spLocks xmlns:a="http://schemas.openxmlformats.org/drawingml/2006/main" noGrp="1"/>
          </p:cNvSpPr>
          <p:nvPr/>
        </p:nvSpPr>
        <p:spPr>
          <a:xfrm xmlns:a="http://schemas.openxmlformats.org/drawingml/2006/main">
            <a:off x="5810250" y="1571625"/>
            <a:ext cx="5334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IoU ≥ 0,5</a:t>
            </a:r>
          </a:p>
        </p:txBody>
      </p:sp>
      <p:sp>
        <p:nvSpPr>
          <p:cNvPr id="6" name="">
            <a:extLst xmlns:a="http://schemas.openxmlformats.org/drawingml/2006/main">
              <a:ext uri="{FF2B5EF4-FFF2-40B4-BE49-F238E27FC236}">
                <a16:creationId xmlns:a16="http://schemas.microsoft.com/office/drawing/2014/main" id="{F49FFAAD-292C-4BDE-8E2E-0A76FE6E8806}"/>
              </a:ext>
            </a:extLst>
          </p:cNvPr>
          <p:cNvSpPr>
            <a:spLocks xmlns:a="http://schemas.openxmlformats.org/drawingml/2006/main" noGrp="1"/>
          </p:cNvSpPr>
          <p:nvPr/>
        </p:nvSpPr>
        <p:spPr>
          <a:xfrm xmlns:a="http://schemas.openxmlformats.org/drawingml/2006/main">
            <a:off x="904875" y="2314575"/>
            <a:ext cx="10239375" cy="0"/>
          </a:xfrm>
          <a:prstGeom xmlns:a="http://schemas.openxmlformats.org/drawingml/2006/main" prst="line">
            <a:avLst/>
          </a:prstGeom>
          <a:noFill xmlns:a="http://schemas.openxmlformats.org/drawingml/2006/main"/>
          <a:ln xmlns:a="http://schemas.openxmlformats.org/drawingml/2006/main" w="9525">
            <a:solidFill>
              <a:srgbClr val="D7E2F0"/>
            </a:solidFill>
            <a:prstDash val="solid"/>
          </a:ln>
        </p:spPr>
      </p:sp>
      <p:sp>
        <p:nvSpPr>
          <p:cNvPr id="7" name="metric-type-1">
            <a:extLst xmlns:a="http://schemas.openxmlformats.org/drawingml/2006/main">
              <a:ext uri="{FF2B5EF4-FFF2-40B4-BE49-F238E27FC236}">
                <a16:creationId xmlns:a16="http://schemas.microsoft.com/office/drawing/2014/main" id="{CDDE01C9-4088-442C-88F0-C65E6A953712}"/>
              </a:ext>
            </a:extLst>
          </p:cNvPr>
          <p:cNvSpPr>
            <a:spLocks xmlns:a="http://schemas.openxmlformats.org/drawingml/2006/main" noGrp="1"/>
          </p:cNvSpPr>
          <p:nvPr/>
        </p:nvSpPr>
        <p:spPr>
          <a:xfrm xmlns:a="http://schemas.openxmlformats.org/drawingml/2006/main">
            <a:off x="904875" y="2571750"/>
            <a:ext cx="180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119B69"/>
                </a:solidFill>
                <a:latin typeface="Segoe UI"/>
                <a:ea typeface="Segoe UI"/>
                <a:cs typeface="Segoe UI"/>
              </a:defRPr>
            </a:pPr>
            <a:r>
              <a:rPr sz="1125" b="1">
                <a:solidFill>
                  <a:srgbClr val="119B69"/>
                </a:solidFill>
                <a:latin typeface="Segoe UI"/>
                <a:ea typeface="Segoe UI"/>
                <a:cs typeface="Segoe UI"/>
              </a:rPr>
              <a:t>NHẬN DẠNG</a:t>
            </a:r>
          </a:p>
        </p:txBody>
      </p:sp>
      <p:sp>
        <p:nvSpPr>
          <p:cNvPr id="8" name="metric-name-1">
            <a:extLst xmlns:a="http://schemas.openxmlformats.org/drawingml/2006/main">
              <a:ext uri="{FF2B5EF4-FFF2-40B4-BE49-F238E27FC236}">
                <a16:creationId xmlns:a16="http://schemas.microsoft.com/office/drawing/2014/main" id="{47D11024-EA30-4D9F-8E9A-0A529AC048FD}"/>
              </a:ext>
            </a:extLst>
          </p:cNvPr>
          <p:cNvSpPr>
            <a:spLocks xmlns:a="http://schemas.openxmlformats.org/drawingml/2006/main" noGrp="1"/>
          </p:cNvSpPr>
          <p:nvPr/>
        </p:nvSpPr>
        <p:spPr>
          <a:xfrm xmlns:a="http://schemas.openxmlformats.org/drawingml/2006/main">
            <a:off x="3000375" y="2571750"/>
            <a:ext cx="257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a:solidFill>
                  <a:srgbClr val="112F63"/>
                </a:solidFill>
                <a:latin typeface="Segoe UI"/>
                <a:ea typeface="Segoe UI"/>
                <a:cs typeface="Segoe UI"/>
              </a:defRPr>
            </a:pPr>
            <a:r>
              <a:rPr sz="1875" b="1">
                <a:solidFill>
                  <a:srgbClr val="112F63"/>
                </a:solidFill>
                <a:latin typeface="Segoe UI"/>
                <a:ea typeface="Segoe UI"/>
                <a:cs typeface="Segoe UI"/>
              </a:rPr>
              <a:t>S₀ và S₁</a:t>
            </a:r>
          </a:p>
        </p:txBody>
      </p:sp>
      <p:sp>
        <p:nvSpPr>
          <p:cNvPr id="9" name="metric-desc-1">
            <a:extLst xmlns:a="http://schemas.openxmlformats.org/drawingml/2006/main">
              <a:ext uri="{FF2B5EF4-FFF2-40B4-BE49-F238E27FC236}">
                <a16:creationId xmlns:a16="http://schemas.microsoft.com/office/drawing/2014/main" id="{C56A0F5D-0B13-4C71-81AF-60BCA33DB6E6}"/>
              </a:ext>
            </a:extLst>
          </p:cNvPr>
          <p:cNvSpPr>
            <a:spLocks xmlns:a="http://schemas.openxmlformats.org/drawingml/2006/main" noGrp="1"/>
          </p:cNvSpPr>
          <p:nvPr/>
        </p:nvSpPr>
        <p:spPr>
          <a:xfrm xmlns:a="http://schemas.openxmlformats.org/drawingml/2006/main">
            <a:off x="5810250" y="2571750"/>
            <a:ext cx="5334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Đúng cả chuỗi trước và sau hậu xử lý</a:t>
            </a:r>
          </a:p>
        </p:txBody>
      </p:sp>
      <p:sp>
        <p:nvSpPr>
          <p:cNvPr id="10" name="">
            <a:extLst xmlns:a="http://schemas.openxmlformats.org/drawingml/2006/main">
              <a:ext uri="{FF2B5EF4-FFF2-40B4-BE49-F238E27FC236}">
                <a16:creationId xmlns:a16="http://schemas.microsoft.com/office/drawing/2014/main" id="{A6CB9568-E1F7-46C0-AD7D-0C100F562FBD}"/>
              </a:ext>
            </a:extLst>
          </p:cNvPr>
          <p:cNvSpPr>
            <a:spLocks xmlns:a="http://schemas.openxmlformats.org/drawingml/2006/main" noGrp="1"/>
          </p:cNvSpPr>
          <p:nvPr/>
        </p:nvSpPr>
        <p:spPr>
          <a:xfrm xmlns:a="http://schemas.openxmlformats.org/drawingml/2006/main">
            <a:off x="904875" y="3314700"/>
            <a:ext cx="10239375" cy="0"/>
          </a:xfrm>
          <a:prstGeom xmlns:a="http://schemas.openxmlformats.org/drawingml/2006/main" prst="line">
            <a:avLst/>
          </a:prstGeom>
          <a:noFill xmlns:a="http://schemas.openxmlformats.org/drawingml/2006/main"/>
          <a:ln xmlns:a="http://schemas.openxmlformats.org/drawingml/2006/main" w="9525">
            <a:solidFill>
              <a:srgbClr val="D7E2F0"/>
            </a:solidFill>
            <a:prstDash val="solid"/>
          </a:ln>
        </p:spPr>
      </p:sp>
      <p:sp>
        <p:nvSpPr>
          <p:cNvPr id="11" name="metric-type-2">
            <a:extLst xmlns:a="http://schemas.openxmlformats.org/drawingml/2006/main">
              <a:ext uri="{FF2B5EF4-FFF2-40B4-BE49-F238E27FC236}">
                <a16:creationId xmlns:a16="http://schemas.microsoft.com/office/drawing/2014/main" id="{C7679D99-8D1A-4C0F-9462-7ABFB79E64CF}"/>
              </a:ext>
            </a:extLst>
          </p:cNvPr>
          <p:cNvSpPr>
            <a:spLocks xmlns:a="http://schemas.openxmlformats.org/drawingml/2006/main" noGrp="1"/>
          </p:cNvSpPr>
          <p:nvPr/>
        </p:nvSpPr>
        <p:spPr>
          <a:xfrm xmlns:a="http://schemas.openxmlformats.org/drawingml/2006/main">
            <a:off x="904875" y="3571875"/>
            <a:ext cx="180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D8840D"/>
                </a:solidFill>
                <a:latin typeface="Segoe UI"/>
                <a:ea typeface="Segoe UI"/>
                <a:cs typeface="Segoe UI"/>
              </a:defRPr>
            </a:pPr>
            <a:r>
              <a:rPr sz="1125" b="1">
                <a:solidFill>
                  <a:srgbClr val="D8840D"/>
                </a:solidFill>
                <a:latin typeface="Segoe UI"/>
                <a:ea typeface="Segoe UI"/>
                <a:cs typeface="Segoe UI"/>
              </a:rPr>
              <a:t>KÝ TỰ</a:t>
            </a:r>
          </a:p>
        </p:txBody>
      </p:sp>
      <p:sp>
        <p:nvSpPr>
          <p:cNvPr id="12" name="metric-name-2">
            <a:extLst xmlns:a="http://schemas.openxmlformats.org/drawingml/2006/main">
              <a:ext uri="{FF2B5EF4-FFF2-40B4-BE49-F238E27FC236}">
                <a16:creationId xmlns:a16="http://schemas.microsoft.com/office/drawing/2014/main" id="{9CA8D99A-5B36-4F4F-90A1-6DBC948820B8}"/>
              </a:ext>
            </a:extLst>
          </p:cNvPr>
          <p:cNvSpPr>
            <a:spLocks xmlns:a="http://schemas.openxmlformats.org/drawingml/2006/main" noGrp="1"/>
          </p:cNvSpPr>
          <p:nvPr/>
        </p:nvSpPr>
        <p:spPr>
          <a:xfrm xmlns:a="http://schemas.openxmlformats.org/drawingml/2006/main">
            <a:off x="3000375" y="3571875"/>
            <a:ext cx="257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a:solidFill>
                  <a:srgbClr val="112F63"/>
                </a:solidFill>
                <a:latin typeface="Segoe UI"/>
                <a:ea typeface="Segoe UI"/>
                <a:cs typeface="Segoe UI"/>
              </a:defRPr>
            </a:pPr>
            <a:r>
              <a:rPr sz="1875" b="1">
                <a:solidFill>
                  <a:srgbClr val="112F63"/>
                </a:solidFill>
                <a:latin typeface="Segoe UI"/>
                <a:ea typeface="Segoe UI"/>
                <a:cs typeface="Segoe UI"/>
              </a:rPr>
              <a:t>CER</a:t>
            </a:r>
          </a:p>
        </p:txBody>
      </p:sp>
      <p:sp>
        <p:nvSpPr>
          <p:cNvPr id="13" name="metric-desc-2">
            <a:extLst xmlns:a="http://schemas.openxmlformats.org/drawingml/2006/main">
              <a:ext uri="{FF2B5EF4-FFF2-40B4-BE49-F238E27FC236}">
                <a16:creationId xmlns:a16="http://schemas.microsoft.com/office/drawing/2014/main" id="{422B6CD5-AB0F-455C-9D1A-F1346381E91A}"/>
              </a:ext>
            </a:extLst>
          </p:cNvPr>
          <p:cNvSpPr>
            <a:spLocks xmlns:a="http://schemas.openxmlformats.org/drawingml/2006/main" noGrp="1"/>
          </p:cNvSpPr>
          <p:nvPr/>
        </p:nvSpPr>
        <p:spPr>
          <a:xfrm xmlns:a="http://schemas.openxmlformats.org/drawingml/2006/main">
            <a:off x="5810250" y="3571875"/>
            <a:ext cx="5334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Tỉ lệ ký tự sai</a:t>
            </a:r>
          </a:p>
        </p:txBody>
      </p:sp>
      <p:sp>
        <p:nvSpPr>
          <p:cNvPr id="14" name="">
            <a:extLst xmlns:a="http://schemas.openxmlformats.org/drawingml/2006/main">
              <a:ext uri="{FF2B5EF4-FFF2-40B4-BE49-F238E27FC236}">
                <a16:creationId xmlns:a16="http://schemas.microsoft.com/office/drawing/2014/main" id="{6ADD80B7-E284-494E-8EFC-C639011F426F}"/>
              </a:ext>
            </a:extLst>
          </p:cNvPr>
          <p:cNvSpPr>
            <a:spLocks xmlns:a="http://schemas.openxmlformats.org/drawingml/2006/main" noGrp="1"/>
          </p:cNvSpPr>
          <p:nvPr/>
        </p:nvSpPr>
        <p:spPr>
          <a:xfrm xmlns:a="http://schemas.openxmlformats.org/drawingml/2006/main">
            <a:off x="904875" y="4314825"/>
            <a:ext cx="10239375" cy="0"/>
          </a:xfrm>
          <a:prstGeom xmlns:a="http://schemas.openxmlformats.org/drawingml/2006/main" prst="line">
            <a:avLst/>
          </a:prstGeom>
          <a:noFill xmlns:a="http://schemas.openxmlformats.org/drawingml/2006/main"/>
          <a:ln xmlns:a="http://schemas.openxmlformats.org/drawingml/2006/main" w="9525">
            <a:solidFill>
              <a:srgbClr val="D7E2F0"/>
            </a:solidFill>
            <a:prstDash val="solid"/>
          </a:ln>
        </p:spPr>
      </p:sp>
      <p:sp>
        <p:nvSpPr>
          <p:cNvPr id="15" name="metric-type-3">
            <a:extLst xmlns:a="http://schemas.openxmlformats.org/drawingml/2006/main">
              <a:ext uri="{FF2B5EF4-FFF2-40B4-BE49-F238E27FC236}">
                <a16:creationId xmlns:a16="http://schemas.microsoft.com/office/drawing/2014/main" id="{129AB236-E6EE-4820-A538-51EC6D4A6DE9}"/>
              </a:ext>
            </a:extLst>
          </p:cNvPr>
          <p:cNvSpPr>
            <a:spLocks xmlns:a="http://schemas.openxmlformats.org/drawingml/2006/main" noGrp="1"/>
          </p:cNvSpPr>
          <p:nvPr/>
        </p:nvSpPr>
        <p:spPr>
          <a:xfrm xmlns:a="http://schemas.openxmlformats.org/drawingml/2006/main">
            <a:off x="904875" y="4572000"/>
            <a:ext cx="180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D24747"/>
                </a:solidFill>
                <a:latin typeface="Segoe UI"/>
                <a:ea typeface="Segoe UI"/>
                <a:cs typeface="Segoe UI"/>
              </a:defRPr>
            </a:pPr>
            <a:r>
              <a:rPr sz="1125" b="1">
                <a:solidFill>
                  <a:srgbClr val="D24747"/>
                </a:solidFill>
                <a:latin typeface="Segoe UI"/>
                <a:ea typeface="Segoe UI"/>
                <a:cs typeface="Segoe UI"/>
              </a:rPr>
              <a:t>HIỆU NĂNG</a:t>
            </a:r>
          </a:p>
        </p:txBody>
      </p:sp>
      <p:sp>
        <p:nvSpPr>
          <p:cNvPr id="16" name="metric-name-3">
            <a:extLst xmlns:a="http://schemas.openxmlformats.org/drawingml/2006/main">
              <a:ext uri="{FF2B5EF4-FFF2-40B4-BE49-F238E27FC236}">
                <a16:creationId xmlns:a16="http://schemas.microsoft.com/office/drawing/2014/main" id="{6E89E981-93BC-4062-917F-D71659995478}"/>
              </a:ext>
            </a:extLst>
          </p:cNvPr>
          <p:cNvSpPr>
            <a:spLocks xmlns:a="http://schemas.openxmlformats.org/drawingml/2006/main" noGrp="1"/>
          </p:cNvSpPr>
          <p:nvPr/>
        </p:nvSpPr>
        <p:spPr>
          <a:xfrm xmlns:a="http://schemas.openxmlformats.org/drawingml/2006/main">
            <a:off x="3000375" y="4572000"/>
            <a:ext cx="257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a:solidFill>
                  <a:srgbClr val="112F63"/>
                </a:solidFill>
                <a:latin typeface="Segoe UI"/>
                <a:ea typeface="Segoe UI"/>
                <a:cs typeface="Segoe UI"/>
              </a:defRPr>
            </a:pPr>
            <a:r>
              <a:rPr sz="1875" b="1">
                <a:solidFill>
                  <a:srgbClr val="112F63"/>
                </a:solidFill>
                <a:latin typeface="Segoe UI"/>
                <a:ea typeface="Segoe UI"/>
                <a:cs typeface="Segoe UI"/>
              </a:rPr>
              <a:t>p50 / p95 / p99</a:t>
            </a:r>
          </a:p>
        </p:txBody>
      </p:sp>
      <p:sp>
        <p:nvSpPr>
          <p:cNvPr id="17" name="metric-desc-3">
            <a:extLst xmlns:a="http://schemas.openxmlformats.org/drawingml/2006/main">
              <a:ext uri="{FF2B5EF4-FFF2-40B4-BE49-F238E27FC236}">
                <a16:creationId xmlns:a16="http://schemas.microsoft.com/office/drawing/2014/main" id="{CF9AA358-56FF-41E1-9442-07D9C6A9BA03}"/>
              </a:ext>
            </a:extLst>
          </p:cNvPr>
          <p:cNvSpPr>
            <a:spLocks xmlns:a="http://schemas.openxmlformats.org/drawingml/2006/main" noGrp="1"/>
          </p:cNvSpPr>
          <p:nvPr/>
        </p:nvSpPr>
        <p:spPr>
          <a:xfrm xmlns:a="http://schemas.openxmlformats.org/drawingml/2006/main">
            <a:off x="5810250" y="4572000"/>
            <a:ext cx="5334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Phân vị độ trễ đầu cuối trên CPU</a:t>
            </a:r>
          </a:p>
        </p:txBody>
      </p:sp>
      <p:sp>
        <p:nvSpPr>
          <p:cNvPr id="18" name="strict-note">
            <a:extLst xmlns:a="http://schemas.openxmlformats.org/drawingml/2006/main">
              <a:ext uri="{FF2B5EF4-FFF2-40B4-BE49-F238E27FC236}">
                <a16:creationId xmlns:a16="http://schemas.microsoft.com/office/drawing/2014/main" id="{3C74C695-0D1C-4BEC-94B2-D25B13F121BC}"/>
              </a:ext>
            </a:extLst>
          </p:cNvPr>
          <p:cNvSpPr>
            <a:spLocks xmlns:a="http://schemas.openxmlformats.org/drawingml/2006/main" noGrp="1"/>
          </p:cNvSpPr>
          <p:nvPr/>
        </p:nvSpPr>
        <p:spPr>
          <a:xfrm xmlns:a="http://schemas.openxmlformats.org/drawingml/2006/main">
            <a:off x="2762250" y="5667375"/>
            <a:ext cx="666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425" b="1">
                <a:solidFill>
                  <a:srgbClr val="D24747"/>
                </a:solidFill>
                <a:latin typeface="Segoe UI"/>
                <a:ea typeface="Segoe UI"/>
                <a:cs typeface="Segoe UI"/>
              </a:defRPr>
            </a:pPr>
            <a:r>
              <a:rPr sz="1425" b="1">
                <a:solidFill>
                  <a:srgbClr val="D24747"/>
                </a:solidFill>
                <a:latin typeface="Segoe UI"/>
                <a:ea typeface="Segoe UI"/>
                <a:cs typeface="Segoe UI"/>
              </a:rPr>
              <a:t>Một ký tự sai được tính là sai toàn bộ biển số</a:t>
            </a:r>
          </a:p>
        </p:txBody>
      </p:sp>
    </p:spTree>
    <p:extLst>
      <p:ext uri="{BB962C8B-B14F-4D97-AF65-F5344CB8AC3E}">
        <p14:creationId xmlns:p14="http://schemas.microsoft.com/office/powerpoint/2010/main" val="20960045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3005EFC-4879-452F-A314-D415E0AD7113}"/>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2F63"/>
                </a:solidFill>
                <a:latin typeface="Segoe UI"/>
                <a:ea typeface="Segoe UI"/>
                <a:cs typeface="Segoe UI"/>
              </a:defRPr>
            </a:pPr>
            <a:r>
              <a:rPr sz="2400" b="1">
                <a:solidFill>
                  <a:srgbClr val="112F63"/>
                </a:solidFill>
                <a:latin typeface="Segoe UI"/>
                <a:ea typeface="Segoe UI"/>
                <a:cs typeface="Segoe UI"/>
              </a:rPr>
              <a:t>Giao thức đo và tính hợp lệ</a:t>
            </a:r>
          </a:p>
        </p:txBody>
      </p:sp>
      <p:sp>
        <p:nvSpPr>
          <p:cNvPr id="2" name="subtitle">
            <a:extLst xmlns:a="http://schemas.openxmlformats.org/drawingml/2006/main">
              <a:ext uri="{FF2B5EF4-FFF2-40B4-BE49-F238E27FC236}">
                <a16:creationId xmlns:a16="http://schemas.microsoft.com/office/drawing/2014/main" id="{BC6F3048-FD7C-4738-8624-73C7D8D29D62}"/>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58E"/>
                </a:solidFill>
                <a:latin typeface="Segoe UI"/>
                <a:ea typeface="Segoe UI"/>
                <a:cs typeface="Segoe UI"/>
              </a:defRPr>
            </a:pPr>
            <a:r>
              <a:rPr sz="1275" b="0">
                <a:solidFill>
                  <a:srgbClr val="66758E"/>
                </a:solidFill>
                <a:latin typeface="Segoe UI"/>
                <a:ea typeface="Segoe UI"/>
                <a:cs typeface="Segoe UI"/>
              </a:rPr>
              <a:t>Mỗi kết luận dùng cùng đường mã, cùng dữ liệu và cùng cấu hình</a:t>
            </a:r>
          </a:p>
        </p:txBody>
      </p:sp>
      <p:graphicFrame>
        <p:nvGraphicFramePr>
          <p:cNvPr id="6" name=""/>
          <p:cNvGraphicFramePr/>
          <p:nvPr/>
        </p:nvGraphicFramePr>
        <p:xfrm>
          <a:off xmlns:a="http://schemas.openxmlformats.org/drawingml/2006/main" x="952500" y="1571625"/>
          <a:ext xmlns:a="http://schemas.openxmlformats.org/drawingml/2006/main" cx="10287000" cy="3714750"/>
        </p:xfrm>
        <a:graphic xmlns:a="http://schemas.openxmlformats.org/drawingml/2006/main">
          <a:graphicData uri="http://schemas.openxmlformats.org/drawingml/2006/table">
            <a:tbl>
              <a:tblPr firstRow="1" bandRow="1"/>
              <a:tblGrid>
                <a:gridCol w="2857500"/>
                <a:gridCol w="7429500"/>
              </a:tblGrid>
              <a:tr h="619125">
                <a:tc>
                  <a:txBody>
                    <a:bodyPr/>
                    <a:lstStyle/>
                    <a:p>
                      <a:r>
                        <a:rPr sz="1125" b="1">
                          <a:solidFill>
                            <a:srgbClr val="FFFFFF"/>
                          </a:solidFill>
                          <a:latin typeface="Segoe UI"/>
                          <a:ea typeface="Segoe UI"/>
                          <a:cs typeface="Segoe UI"/>
                        </a:rPr>
                        <a:t>Kiểm soát</a:t>
                      </a:r>
                    </a:p>
                  </a:txBody>
                  <a:tcPr marL="95250" marR="95250" marT="76200" marB="76200" anchor="ctr">
                    <a:solidFill>
                      <a:srgbClr val="112F63"/>
                    </a:solidFill>
                  </a:tcPr>
                </a:tc>
                <a:tc>
                  <a:txBody>
                    <a:bodyPr/>
                    <a:lstStyle/>
                    <a:p>
                      <a:r>
                        <a:rPr sz="1125" b="1">
                          <a:solidFill>
                            <a:srgbClr val="FFFFFF"/>
                          </a:solidFill>
                          <a:latin typeface="Segoe UI"/>
                          <a:ea typeface="Segoe UI"/>
                          <a:cs typeface="Segoe UI"/>
                        </a:rPr>
                        <a:t>Cách thực hiện</a:t>
                      </a:r>
                    </a:p>
                  </a:txBody>
                  <a:tcPr marL="95250" marR="95250" marT="76200" marB="76200" anchor="ctr">
                    <a:solidFill>
                      <a:srgbClr val="112F63"/>
                    </a:solidFill>
                  </a:tcPr>
                </a:tc>
              </a:tr>
              <a:tr h="619125">
                <a:tc>
                  <a:txBody>
                    <a:bodyPr/>
                    <a:lstStyle/>
                    <a:p>
                      <a:r>
                        <a:rPr sz="1125">
                          <a:solidFill>
                            <a:srgbClr val="27354D"/>
                          </a:solidFill>
                          <a:latin typeface="Segoe UI"/>
                          <a:ea typeface="Segoe UI"/>
                          <a:cs typeface="Segoe UI"/>
                        </a:rPr>
                        <a:t>Trọng số</a:t>
                      </a:r>
                    </a:p>
                  </a:txBody>
                  <a:tcPr marL="95250" marR="95250" marT="66675" marB="66675" anchor="ctr"/>
                </a:tc>
                <a:tc>
                  <a:txBody>
                    <a:bodyPr/>
                    <a:lstStyle/>
                    <a:p>
                      <a:r>
                        <a:rPr sz="1125">
                          <a:solidFill>
                            <a:srgbClr val="27354D"/>
                          </a:solidFill>
                          <a:latin typeface="Segoe UI"/>
                          <a:ea typeface="Segoe UI"/>
                          <a:cs typeface="Segoe UI"/>
                        </a:rPr>
                        <a:t>Đóng băng trước mọi phép đo</a:t>
                      </a:r>
                    </a:p>
                  </a:txBody>
                  <a:tcPr marL="95250" marR="95250" marT="66675" marB="66675" anchor="ctr"/>
                </a:tc>
              </a:tr>
              <a:tr h="619125">
                <a:tc>
                  <a:txBody>
                    <a:bodyPr/>
                    <a:lstStyle/>
                    <a:p>
                      <a:r>
                        <a:rPr sz="1125">
                          <a:solidFill>
                            <a:srgbClr val="27354D"/>
                          </a:solidFill>
                          <a:latin typeface="Segoe UI"/>
                          <a:ea typeface="Segoe UI"/>
                          <a:cs typeface="Segoe UI"/>
                        </a:rPr>
                        <a:t>Tập test</a:t>
                      </a:r>
                    </a:p>
                  </a:txBody>
                  <a:tcPr marL="95250" marR="95250" marT="66675" marB="66675" anchor="ctr"/>
                </a:tc>
                <a:tc>
                  <a:txBody>
                    <a:bodyPr/>
                    <a:lstStyle/>
                    <a:p>
                      <a:r>
                        <a:rPr sz="1125">
                          <a:solidFill>
                            <a:srgbClr val="27354D"/>
                          </a:solidFill>
                          <a:latin typeface="Segoe UI"/>
                          <a:ea typeface="Segoe UI"/>
                          <a:cs typeface="Segoe UI"/>
                        </a:rPr>
                        <a:t>Không dùng khi huấn luyện hoặc chọn epoch</a:t>
                      </a:r>
                    </a:p>
                  </a:txBody>
                  <a:tcPr marL="95250" marR="95250" marT="66675" marB="66675" anchor="ctr"/>
                </a:tc>
              </a:tr>
              <a:tr h="619125">
                <a:tc>
                  <a:txBody>
                    <a:bodyPr/>
                    <a:lstStyle/>
                    <a:p>
                      <a:r>
                        <a:rPr sz="1125">
                          <a:solidFill>
                            <a:srgbClr val="27354D"/>
                          </a:solidFill>
                          <a:latin typeface="Segoe UI"/>
                          <a:ea typeface="Segoe UI"/>
                          <a:cs typeface="Segoe UI"/>
                        </a:rPr>
                        <a:t>Đo độ trễ</a:t>
                      </a:r>
                    </a:p>
                  </a:txBody>
                  <a:tcPr marL="95250" marR="95250" marT="66675" marB="66675" anchor="ctr"/>
                </a:tc>
                <a:tc>
                  <a:txBody>
                    <a:bodyPr/>
                    <a:lstStyle/>
                    <a:p>
                      <a:r>
                        <a:rPr sz="1125">
                          <a:solidFill>
                            <a:srgbClr val="27354D"/>
                          </a:solidFill>
                          <a:latin typeface="Segoe UI"/>
                          <a:ea typeface="Segoe UI"/>
                          <a:cs typeface="Segoe UI"/>
                        </a:rPr>
                        <a:t>Batch 1; bỏ 3 lượt warm-up; báo cáo p50, p95 và p99</a:t>
                      </a:r>
                    </a:p>
                  </a:txBody>
                  <a:tcPr marL="95250" marR="95250" marT="66675" marB="66675" anchor="ctr"/>
                </a:tc>
              </a:tr>
              <a:tr h="619125">
                <a:tc>
                  <a:txBody>
                    <a:bodyPr/>
                    <a:lstStyle/>
                    <a:p>
                      <a:r>
                        <a:rPr sz="1125">
                          <a:solidFill>
                            <a:srgbClr val="27354D"/>
                          </a:solidFill>
                          <a:latin typeface="Segoe UI"/>
                          <a:ea typeface="Segoe UI"/>
                          <a:cs typeface="Segoe UI"/>
                        </a:rPr>
                        <a:t>So sánh</a:t>
                      </a:r>
                    </a:p>
                  </a:txBody>
                  <a:tcPr marL="95250" marR="95250" marT="66675" marB="66675" anchor="ctr"/>
                </a:tc>
                <a:tc>
                  <a:txBody>
                    <a:bodyPr/>
                    <a:lstStyle/>
                    <a:p>
                      <a:r>
                        <a:rPr sz="1125">
                          <a:solidFill>
                            <a:srgbClr val="27354D"/>
                          </a:solidFill>
                          <a:latin typeface="Segoe UI"/>
                          <a:ea typeface="Segoe UI"/>
                          <a:cs typeface="Segoe UI"/>
                        </a:rPr>
                        <a:t>Hai vế đi qua cùng mã, ngữ liệu và phiên bản cấu hình</a:t>
                      </a:r>
                    </a:p>
                  </a:txBody>
                  <a:tcPr marL="95250" marR="95250" marT="66675" marB="66675" anchor="ctr"/>
                </a:tc>
              </a:tr>
              <a:tr h="619125">
                <a:tc>
                  <a:txBody>
                    <a:bodyPr/>
                    <a:lstStyle/>
                    <a:p>
                      <a:r>
                        <a:rPr sz="1125">
                          <a:solidFill>
                            <a:srgbClr val="27354D"/>
                          </a:solidFill>
                          <a:latin typeface="Segoe UI"/>
                          <a:ea typeface="Segoe UI"/>
                          <a:cs typeface="Segoe UI"/>
                        </a:rPr>
                        <a:t>Tải cạnh tranh</a:t>
                      </a:r>
                    </a:p>
                  </a:txBody>
                  <a:tcPr marL="95250" marR="95250" marT="66675" marB="66675" anchor="ctr"/>
                </a:tc>
                <a:tc>
                  <a:txBody>
                    <a:bodyPr/>
                    <a:lstStyle/>
                    <a:p>
                      <a:r>
                        <a:rPr sz="1125">
                          <a:solidFill>
                            <a:srgbClr val="27354D"/>
                          </a:solidFill>
                          <a:latin typeface="Segoe UI"/>
                          <a:ea typeface="Segoe UI"/>
                          <a:cs typeface="Segoe UI"/>
                        </a:rPr>
                        <a:t>Loại lượt đo có cảnh báo và chạy lại trên máy rảnh</a:t>
                      </a:r>
                    </a:p>
                  </a:txBody>
                  <a:tcPr marL="95250" marR="95250" marT="66675" marB="66675" anchor="ctr"/>
                </a:tc>
              </a:tr>
            </a:tbl>
          </a:graphicData>
        </a:graphic>
      </p:graphicFrame>
    </p:spTree>
    <p:extLst>
      <p:ext uri="{BB962C8B-B14F-4D97-AF65-F5344CB8AC3E}">
        <p14:creationId xmlns:p14="http://schemas.microsoft.com/office/powerpoint/2010/main" val="47331009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E2C10989-65CA-4879-B074-3CE4F6B82FFA}"/>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2F63"/>
                </a:solidFill>
                <a:latin typeface="Segoe UI"/>
                <a:ea typeface="Segoe UI"/>
                <a:cs typeface="Segoe UI"/>
              </a:defRPr>
            </a:pPr>
            <a:r>
              <a:rPr sz="2400" b="1">
                <a:solidFill>
                  <a:srgbClr val="112F63"/>
                </a:solidFill>
                <a:latin typeface="Segoe UI"/>
                <a:ea typeface="Segoe UI"/>
                <a:cs typeface="Segoe UI"/>
              </a:rPr>
              <a:t>Kết quả chính</a:t>
            </a:r>
          </a:p>
        </p:txBody>
      </p:sp>
      <p:sp>
        <p:nvSpPr>
          <p:cNvPr id="2" name="subtitle">
            <a:extLst xmlns:a="http://schemas.openxmlformats.org/drawingml/2006/main">
              <a:ext uri="{FF2B5EF4-FFF2-40B4-BE49-F238E27FC236}">
                <a16:creationId xmlns:a16="http://schemas.microsoft.com/office/drawing/2014/main" id="{4700576C-2D5D-447F-A996-F964273F2CCE}"/>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58E"/>
                </a:solidFill>
                <a:latin typeface="Segoe UI"/>
                <a:ea typeface="Segoe UI"/>
                <a:cs typeface="Segoe UI"/>
              </a:defRPr>
            </a:pPr>
            <a:r>
              <a:rPr sz="1275" b="0">
                <a:solidFill>
                  <a:srgbClr val="66758E"/>
                </a:solidFill>
                <a:latin typeface="Segoe UI"/>
                <a:ea typeface="Segoe UI"/>
                <a:cs typeface="Segoe UI"/>
              </a:rPr>
              <a:t>Ba chỉ số trả lời trực tiếp câu hỏi về độ chính xác và khả năng chạy trên CPU</a:t>
            </a:r>
          </a:p>
        </p:txBody>
      </p:sp>
      <p:sp>
        <p:nvSpPr>
          <p:cNvPr id="3" name="result-value-0">
            <a:extLst xmlns:a="http://schemas.openxmlformats.org/drawingml/2006/main">
              <a:ext uri="{FF2B5EF4-FFF2-40B4-BE49-F238E27FC236}">
                <a16:creationId xmlns:a16="http://schemas.microsoft.com/office/drawing/2014/main" id="{38B8F920-58FD-40A4-9400-1AB5E81B2521}"/>
              </a:ext>
            </a:extLst>
          </p:cNvPr>
          <p:cNvSpPr>
            <a:spLocks xmlns:a="http://schemas.openxmlformats.org/drawingml/2006/main" noGrp="1"/>
          </p:cNvSpPr>
          <p:nvPr/>
        </p:nvSpPr>
        <p:spPr>
          <a:xfrm xmlns:a="http://schemas.openxmlformats.org/drawingml/2006/main">
            <a:off x="762000" y="1952625"/>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3300" b="1">
                <a:solidFill>
                  <a:srgbClr val="119B69"/>
                </a:solidFill>
                <a:latin typeface="Segoe UI"/>
                <a:ea typeface="Segoe UI"/>
                <a:cs typeface="Segoe UI"/>
              </a:defRPr>
            </a:pPr>
            <a:r>
              <a:rPr sz="3300" b="1">
                <a:solidFill>
                  <a:srgbClr val="119B69"/>
                </a:solidFill>
                <a:latin typeface="Segoe UI"/>
                <a:ea typeface="Segoe UI"/>
                <a:cs typeface="Segoe UI"/>
              </a:rPr>
              <a:t>0,9829</a:t>
            </a:r>
          </a:p>
        </p:txBody>
      </p:sp>
      <p:sp>
        <p:nvSpPr>
          <p:cNvPr id="4" name="result-label-0">
            <a:extLst xmlns:a="http://schemas.openxmlformats.org/drawingml/2006/main">
              <a:ext uri="{FF2B5EF4-FFF2-40B4-BE49-F238E27FC236}">
                <a16:creationId xmlns:a16="http://schemas.microsoft.com/office/drawing/2014/main" id="{BC3F5C05-47EF-4776-8DB1-CE275EAB30FD}"/>
              </a:ext>
            </a:extLst>
          </p:cNvPr>
          <p:cNvSpPr>
            <a:spLocks xmlns:a="http://schemas.openxmlformats.org/drawingml/2006/main" noGrp="1"/>
          </p:cNvSpPr>
          <p:nvPr/>
        </p:nvSpPr>
        <p:spPr>
          <a:xfrm xmlns:a="http://schemas.openxmlformats.org/drawingml/2006/main">
            <a:off x="762000" y="2905125"/>
            <a:ext cx="333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12F63"/>
                </a:solidFill>
                <a:latin typeface="Segoe UI"/>
                <a:ea typeface="Segoe UI"/>
                <a:cs typeface="Segoe UI"/>
              </a:defRPr>
            </a:pPr>
            <a:r>
              <a:rPr sz="1500" b="1">
                <a:solidFill>
                  <a:srgbClr val="112F63"/>
                </a:solidFill>
                <a:latin typeface="Segoe UI"/>
                <a:ea typeface="Segoe UI"/>
                <a:cs typeface="Segoe UI"/>
              </a:rPr>
              <a:t>mAP@0,5 phát hiện</a:t>
            </a:r>
          </a:p>
        </p:txBody>
      </p:sp>
      <p:sp>
        <p:nvSpPr>
          <p:cNvPr id="5" name="result-target-0">
            <a:extLst xmlns:a="http://schemas.openxmlformats.org/drawingml/2006/main">
              <a:ext uri="{FF2B5EF4-FFF2-40B4-BE49-F238E27FC236}">
                <a16:creationId xmlns:a16="http://schemas.microsoft.com/office/drawing/2014/main" id="{8CF48556-0E7C-44AE-8B94-F83DB53B09A3}"/>
              </a:ext>
            </a:extLst>
          </p:cNvPr>
          <p:cNvSpPr>
            <a:spLocks xmlns:a="http://schemas.openxmlformats.org/drawingml/2006/main" noGrp="1"/>
          </p:cNvSpPr>
          <p:nvPr/>
        </p:nvSpPr>
        <p:spPr>
          <a:xfrm xmlns:a="http://schemas.openxmlformats.org/drawingml/2006/main">
            <a:off x="762000" y="3476625"/>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19B69"/>
                </a:solidFill>
                <a:latin typeface="Segoe UI"/>
                <a:ea typeface="Segoe UI"/>
                <a:cs typeface="Segoe UI"/>
              </a:defRPr>
            </a:pPr>
            <a:r>
              <a:rPr sz="1200" b="0">
                <a:solidFill>
                  <a:srgbClr val="119B69"/>
                </a:solidFill>
                <a:latin typeface="Segoe UI"/>
                <a:ea typeface="Segoe UI"/>
                <a:cs typeface="Segoe UI"/>
              </a:rPr>
              <a:t>Đạt mục tiêu 0,90</a:t>
            </a:r>
          </a:p>
        </p:txBody>
      </p:sp>
      <p:sp>
        <p:nvSpPr>
          <p:cNvPr id="6" name="">
            <a:extLst xmlns:a="http://schemas.openxmlformats.org/drawingml/2006/main">
              <a:ext uri="{FF2B5EF4-FFF2-40B4-BE49-F238E27FC236}">
                <a16:creationId xmlns:a16="http://schemas.microsoft.com/office/drawing/2014/main" id="{CAB26E11-7DFA-4F65-A22E-C59854D9FAC5}"/>
              </a:ext>
            </a:extLst>
          </p:cNvPr>
          <p:cNvSpPr>
            <a:spLocks xmlns:a="http://schemas.openxmlformats.org/drawingml/2006/main" noGrp="1"/>
          </p:cNvSpPr>
          <p:nvPr/>
        </p:nvSpPr>
        <p:spPr>
          <a:xfrm xmlns:a="http://schemas.openxmlformats.org/drawingml/2006/main">
            <a:off x="4286250" y="1952625"/>
            <a:ext cx="0" cy="2000250"/>
          </a:xfrm>
          <a:prstGeom xmlns:a="http://schemas.openxmlformats.org/drawingml/2006/main" prst="line">
            <a:avLst/>
          </a:prstGeom>
          <a:noFill xmlns:a="http://schemas.openxmlformats.org/drawingml/2006/main"/>
          <a:ln xmlns:a="http://schemas.openxmlformats.org/drawingml/2006/main" w="19050">
            <a:solidFill>
              <a:srgbClr val="D7E2F0"/>
            </a:solidFill>
            <a:prstDash val="solid"/>
          </a:ln>
        </p:spPr>
      </p:sp>
      <p:sp>
        <p:nvSpPr>
          <p:cNvPr id="7" name="result-value-1">
            <a:extLst xmlns:a="http://schemas.openxmlformats.org/drawingml/2006/main">
              <a:ext uri="{FF2B5EF4-FFF2-40B4-BE49-F238E27FC236}">
                <a16:creationId xmlns:a16="http://schemas.microsoft.com/office/drawing/2014/main" id="{0AC43CE5-ED6D-43AE-9665-8F2F605DE0BD}"/>
              </a:ext>
            </a:extLst>
          </p:cNvPr>
          <p:cNvSpPr>
            <a:spLocks xmlns:a="http://schemas.openxmlformats.org/drawingml/2006/main" noGrp="1"/>
          </p:cNvSpPr>
          <p:nvPr/>
        </p:nvSpPr>
        <p:spPr>
          <a:xfrm xmlns:a="http://schemas.openxmlformats.org/drawingml/2006/main">
            <a:off x="4524375" y="1952625"/>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3300" b="1">
                <a:solidFill>
                  <a:srgbClr val="D8840D"/>
                </a:solidFill>
                <a:latin typeface="Segoe UI"/>
                <a:ea typeface="Segoe UI"/>
                <a:cs typeface="Segoe UI"/>
              </a:defRPr>
            </a:pPr>
            <a:r>
              <a:rPr sz="3300" b="1">
                <a:solidFill>
                  <a:srgbClr val="D8840D"/>
                </a:solidFill>
                <a:latin typeface="Segoe UI"/>
                <a:ea typeface="Segoe UI"/>
                <a:cs typeface="Segoe UI"/>
              </a:rPr>
              <a:t>0,7701</a:t>
            </a:r>
          </a:p>
        </p:txBody>
      </p:sp>
      <p:sp>
        <p:nvSpPr>
          <p:cNvPr id="8" name="result-label-1">
            <a:extLst xmlns:a="http://schemas.openxmlformats.org/drawingml/2006/main">
              <a:ext uri="{FF2B5EF4-FFF2-40B4-BE49-F238E27FC236}">
                <a16:creationId xmlns:a16="http://schemas.microsoft.com/office/drawing/2014/main" id="{36A5C0E5-7E90-4924-9A5B-CB59FFA00261}"/>
              </a:ext>
            </a:extLst>
          </p:cNvPr>
          <p:cNvSpPr>
            <a:spLocks xmlns:a="http://schemas.openxmlformats.org/drawingml/2006/main" noGrp="1"/>
          </p:cNvSpPr>
          <p:nvPr/>
        </p:nvSpPr>
        <p:spPr>
          <a:xfrm xmlns:a="http://schemas.openxmlformats.org/drawingml/2006/main">
            <a:off x="4524375" y="2905125"/>
            <a:ext cx="333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12F63"/>
                </a:solidFill>
                <a:latin typeface="Segoe UI"/>
                <a:ea typeface="Segoe UI"/>
                <a:cs typeface="Segoe UI"/>
              </a:defRPr>
            </a:pPr>
            <a:r>
              <a:rPr sz="1500" b="1">
                <a:solidFill>
                  <a:srgbClr val="112F63"/>
                </a:solidFill>
                <a:latin typeface="Segoe UI"/>
                <a:ea typeface="Segoe UI"/>
                <a:cs typeface="Segoe UI"/>
              </a:rPr>
              <a:t>Đúng toàn bộ chuỗi</a:t>
            </a:r>
          </a:p>
        </p:txBody>
      </p:sp>
      <p:sp>
        <p:nvSpPr>
          <p:cNvPr id="9" name="result-target-1">
            <a:extLst xmlns:a="http://schemas.openxmlformats.org/drawingml/2006/main">
              <a:ext uri="{FF2B5EF4-FFF2-40B4-BE49-F238E27FC236}">
                <a16:creationId xmlns:a16="http://schemas.microsoft.com/office/drawing/2014/main" id="{1AE568C3-A29B-4DFF-8712-D3B0FC1F3AD0}"/>
              </a:ext>
            </a:extLst>
          </p:cNvPr>
          <p:cNvSpPr>
            <a:spLocks xmlns:a="http://schemas.openxmlformats.org/drawingml/2006/main" noGrp="1"/>
          </p:cNvSpPr>
          <p:nvPr/>
        </p:nvSpPr>
        <p:spPr>
          <a:xfrm xmlns:a="http://schemas.openxmlformats.org/drawingml/2006/main">
            <a:off x="4524375" y="3476625"/>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D8840D"/>
                </a:solidFill>
                <a:latin typeface="Segoe UI"/>
                <a:ea typeface="Segoe UI"/>
                <a:cs typeface="Segoe UI"/>
              </a:defRPr>
            </a:pPr>
            <a:r>
              <a:rPr sz="1200" b="0">
                <a:solidFill>
                  <a:srgbClr val="D8840D"/>
                </a:solidFill>
                <a:latin typeface="Segoe UI"/>
                <a:ea typeface="Segoe UI"/>
                <a:cs typeface="Segoe UI"/>
              </a:rPr>
              <a:t>Chưa đạt mục tiêu 0,85</a:t>
            </a:r>
          </a:p>
        </p:txBody>
      </p:sp>
      <p:sp>
        <p:nvSpPr>
          <p:cNvPr id="10" name="">
            <a:extLst xmlns:a="http://schemas.openxmlformats.org/drawingml/2006/main">
              <a:ext uri="{FF2B5EF4-FFF2-40B4-BE49-F238E27FC236}">
                <a16:creationId xmlns:a16="http://schemas.microsoft.com/office/drawing/2014/main" id="{03527417-8F3E-4BEC-87F2-26414C594A2E}"/>
              </a:ext>
            </a:extLst>
          </p:cNvPr>
          <p:cNvSpPr>
            <a:spLocks xmlns:a="http://schemas.openxmlformats.org/drawingml/2006/main" noGrp="1"/>
          </p:cNvSpPr>
          <p:nvPr/>
        </p:nvSpPr>
        <p:spPr>
          <a:xfrm xmlns:a="http://schemas.openxmlformats.org/drawingml/2006/main">
            <a:off x="8048625" y="1952625"/>
            <a:ext cx="0" cy="2000250"/>
          </a:xfrm>
          <a:prstGeom xmlns:a="http://schemas.openxmlformats.org/drawingml/2006/main" prst="line">
            <a:avLst/>
          </a:prstGeom>
          <a:noFill xmlns:a="http://schemas.openxmlformats.org/drawingml/2006/main"/>
          <a:ln xmlns:a="http://schemas.openxmlformats.org/drawingml/2006/main" w="19050">
            <a:solidFill>
              <a:srgbClr val="D7E2F0"/>
            </a:solidFill>
            <a:prstDash val="solid"/>
          </a:ln>
        </p:spPr>
      </p:sp>
      <p:sp>
        <p:nvSpPr>
          <p:cNvPr id="11" name="result-value-2">
            <a:extLst xmlns:a="http://schemas.openxmlformats.org/drawingml/2006/main">
              <a:ext uri="{FF2B5EF4-FFF2-40B4-BE49-F238E27FC236}">
                <a16:creationId xmlns:a16="http://schemas.microsoft.com/office/drawing/2014/main" id="{18B72079-19EA-485F-A617-C0951933F4F9}"/>
              </a:ext>
            </a:extLst>
          </p:cNvPr>
          <p:cNvSpPr>
            <a:spLocks xmlns:a="http://schemas.openxmlformats.org/drawingml/2006/main" noGrp="1"/>
          </p:cNvSpPr>
          <p:nvPr/>
        </p:nvSpPr>
        <p:spPr>
          <a:xfrm xmlns:a="http://schemas.openxmlformats.org/drawingml/2006/main">
            <a:off x="8286750" y="1952625"/>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3300" b="1">
                <a:solidFill>
                  <a:srgbClr val="119B69"/>
                </a:solidFill>
                <a:latin typeface="Segoe UI"/>
                <a:ea typeface="Segoe UI"/>
                <a:cs typeface="Segoe UI"/>
              </a:defRPr>
            </a:pPr>
            <a:r>
              <a:rPr sz="3300" b="1">
                <a:solidFill>
                  <a:srgbClr val="119B69"/>
                </a:solidFill>
                <a:latin typeface="Segoe UI"/>
                <a:ea typeface="Segoe UI"/>
                <a:cs typeface="Segoe UI"/>
              </a:rPr>
              <a:t>509,76 ms</a:t>
            </a:r>
          </a:p>
        </p:txBody>
      </p:sp>
      <p:sp>
        <p:nvSpPr>
          <p:cNvPr id="12" name="result-label-2">
            <a:extLst xmlns:a="http://schemas.openxmlformats.org/drawingml/2006/main">
              <a:ext uri="{FF2B5EF4-FFF2-40B4-BE49-F238E27FC236}">
                <a16:creationId xmlns:a16="http://schemas.microsoft.com/office/drawing/2014/main" id="{A7B1A880-6C59-4459-8EEB-562117C838D2}"/>
              </a:ext>
            </a:extLst>
          </p:cNvPr>
          <p:cNvSpPr>
            <a:spLocks xmlns:a="http://schemas.openxmlformats.org/drawingml/2006/main" noGrp="1"/>
          </p:cNvSpPr>
          <p:nvPr/>
        </p:nvSpPr>
        <p:spPr>
          <a:xfrm xmlns:a="http://schemas.openxmlformats.org/drawingml/2006/main">
            <a:off x="8286750" y="2905125"/>
            <a:ext cx="333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12F63"/>
                </a:solidFill>
                <a:latin typeface="Segoe UI"/>
                <a:ea typeface="Segoe UI"/>
                <a:cs typeface="Segoe UI"/>
              </a:defRPr>
            </a:pPr>
            <a:r>
              <a:rPr sz="1500" b="1">
                <a:solidFill>
                  <a:srgbClr val="112F63"/>
                </a:solidFill>
                <a:latin typeface="Segoe UI"/>
                <a:ea typeface="Segoe UI"/>
                <a:cs typeface="Segoe UI"/>
              </a:rPr>
              <a:t>Độ trễ p95 CPU</a:t>
            </a:r>
          </a:p>
        </p:txBody>
      </p:sp>
      <p:sp>
        <p:nvSpPr>
          <p:cNvPr id="13" name="result-target-2">
            <a:extLst xmlns:a="http://schemas.openxmlformats.org/drawingml/2006/main">
              <a:ext uri="{FF2B5EF4-FFF2-40B4-BE49-F238E27FC236}">
                <a16:creationId xmlns:a16="http://schemas.microsoft.com/office/drawing/2014/main" id="{853F0F1E-3457-4EBE-AD51-FEEE39796032}"/>
              </a:ext>
            </a:extLst>
          </p:cNvPr>
          <p:cNvSpPr>
            <a:spLocks xmlns:a="http://schemas.openxmlformats.org/drawingml/2006/main" noGrp="1"/>
          </p:cNvSpPr>
          <p:nvPr/>
        </p:nvSpPr>
        <p:spPr>
          <a:xfrm xmlns:a="http://schemas.openxmlformats.org/drawingml/2006/main">
            <a:off x="8286750" y="3476625"/>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19B69"/>
                </a:solidFill>
                <a:latin typeface="Segoe UI"/>
                <a:ea typeface="Segoe UI"/>
                <a:cs typeface="Segoe UI"/>
              </a:defRPr>
            </a:pPr>
            <a:r>
              <a:rPr sz="1200" b="0">
                <a:solidFill>
                  <a:srgbClr val="119B69"/>
                </a:solidFill>
                <a:latin typeface="Segoe UI"/>
                <a:ea typeface="Segoe UI"/>
                <a:cs typeface="Segoe UI"/>
              </a:rPr>
              <a:t>Đạt mục tiêu 800 ms</a:t>
            </a:r>
          </a:p>
        </p:txBody>
      </p:sp>
      <p:sp>
        <p:nvSpPr>
          <p:cNvPr id="14" name="result-takeaway">
            <a:extLst xmlns:a="http://schemas.openxmlformats.org/drawingml/2006/main">
              <a:ext uri="{FF2B5EF4-FFF2-40B4-BE49-F238E27FC236}">
                <a16:creationId xmlns:a16="http://schemas.microsoft.com/office/drawing/2014/main" id="{942B42FC-45B0-48CC-BC9C-B1B5C8360CAF}"/>
              </a:ext>
            </a:extLst>
          </p:cNvPr>
          <p:cNvSpPr>
            <a:spLocks xmlns:a="http://schemas.openxmlformats.org/drawingml/2006/main" noGrp="1"/>
          </p:cNvSpPr>
          <p:nvPr/>
        </p:nvSpPr>
        <p:spPr>
          <a:xfrm xmlns:a="http://schemas.openxmlformats.org/drawingml/2006/main">
            <a:off x="1714500" y="4762500"/>
            <a:ext cx="876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D24747"/>
                </a:solidFill>
                <a:latin typeface="Segoe UI"/>
                <a:ea typeface="Segoe UI"/>
                <a:cs typeface="Segoe UI"/>
              </a:defRPr>
            </a:pPr>
            <a:r>
              <a:rPr sz="1950" b="1">
                <a:solidFill>
                  <a:srgbClr val="D24747"/>
                </a:solidFill>
                <a:latin typeface="Segoe UI"/>
                <a:ea typeface="Segoe UI"/>
                <a:cs typeface="Segoe UI"/>
              </a:rPr>
              <a:t>Khoảng thiếu hụt tập trung ở biển hai dòng: S₁ = 0,7234</a:t>
            </a:r>
          </a:p>
        </p:txBody>
      </p:sp>
      <p:sp>
        <p:nvSpPr>
          <p:cNvPr id="15" name="result-detail">
            <a:extLst xmlns:a="http://schemas.openxmlformats.org/drawingml/2006/main">
              <a:ext uri="{FF2B5EF4-FFF2-40B4-BE49-F238E27FC236}">
                <a16:creationId xmlns:a16="http://schemas.microsoft.com/office/drawing/2014/main" id="{AB134274-3D02-4705-B40E-DB1E2660CB65}"/>
              </a:ext>
            </a:extLst>
          </p:cNvPr>
          <p:cNvSpPr>
            <a:spLocks xmlns:a="http://schemas.openxmlformats.org/drawingml/2006/main" noGrp="1"/>
          </p:cNvSpPr>
          <p:nvPr/>
        </p:nvSpPr>
        <p:spPr>
          <a:xfrm xmlns:a="http://schemas.openxmlformats.org/drawingml/2006/main">
            <a:off x="3333750" y="5476875"/>
            <a:ext cx="552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66758E"/>
                </a:solidFill>
                <a:latin typeface="Segoe UI"/>
                <a:ea typeface="Segoe UI"/>
                <a:cs typeface="Segoe UI"/>
              </a:defRPr>
            </a:pPr>
            <a:r>
              <a:rPr sz="1125" b="0">
                <a:solidFill>
                  <a:srgbClr val="66758E"/>
                </a:solidFill>
                <a:latin typeface="Segoe UI"/>
                <a:ea typeface="Segoe UI"/>
                <a:cs typeface="Segoe UI"/>
              </a:rPr>
              <a:t>Precision = 0,984 · Recall = 0,971</a:t>
            </a:r>
          </a:p>
        </p:txBody>
      </p:sp>
    </p:spTree>
    <p:extLst>
      <p:ext uri="{BB962C8B-B14F-4D97-AF65-F5344CB8AC3E}">
        <p14:creationId xmlns:p14="http://schemas.microsoft.com/office/powerpoint/2010/main" val="116599362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C031C4C8-928B-460E-BDB8-DD30A5B09A2B}"/>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2F63"/>
                </a:solidFill>
                <a:latin typeface="Segoe UI"/>
                <a:ea typeface="Segoe UI"/>
                <a:cs typeface="Segoe UI"/>
              </a:defRPr>
            </a:pPr>
            <a:r>
              <a:rPr sz="2400" b="1">
                <a:solidFill>
                  <a:srgbClr val="112F63"/>
                </a:solidFill>
                <a:latin typeface="Segoe UI"/>
                <a:ea typeface="Segoe UI"/>
                <a:cs typeface="Segoe UI"/>
              </a:rPr>
              <a:t>Độ trễ cấu hình triển khai</a:t>
            </a:r>
          </a:p>
        </p:txBody>
      </p:sp>
      <p:sp>
        <p:nvSpPr>
          <p:cNvPr id="2" name="subtitle">
            <a:extLst xmlns:a="http://schemas.openxmlformats.org/drawingml/2006/main">
              <a:ext uri="{FF2B5EF4-FFF2-40B4-BE49-F238E27FC236}">
                <a16:creationId xmlns:a16="http://schemas.microsoft.com/office/drawing/2014/main" id="{2916403B-4CFB-4314-8014-9176C7167D75}"/>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58E"/>
                </a:solidFill>
                <a:latin typeface="Segoe UI"/>
                <a:ea typeface="Segoe UI"/>
                <a:cs typeface="Segoe UI"/>
              </a:defRPr>
            </a:pPr>
            <a:r>
              <a:rPr sz="1275" b="0">
                <a:solidFill>
                  <a:srgbClr val="66758E"/>
                </a:solidFill>
                <a:latin typeface="Segoe UI"/>
                <a:ea typeface="Segoe UI"/>
                <a:cs typeface="Segoe UI"/>
              </a:rPr>
              <a:t>Ba phân vị đo trên cùng máy CPU sau tối ưu tầng suy luận</a:t>
            </a:r>
          </a:p>
        </p:txBody>
      </p:sp>
      <p:graphicFrame>
        <p:nvGraphicFramePr>
          <p:cNvPr id="10" name="Chart"/>
          <p:cNvGraphicFramePr/>
          <p:nvPr/>
        </p:nvGraphicFramePr>
        <p:xfrm>
          <a:off xmlns:a="http://schemas.openxmlformats.org/drawingml/2006/main" x="1381125" y="1619250"/>
          <a:ext xmlns:a="http://schemas.openxmlformats.org/drawingml/2006/main" cx="9429750" cy="3619500"/>
        </p:xfrm>
        <a:graphic xmlns:a="http://schemas.openxmlformats.org/drawingml/2006/main">
          <a:graphicData uri="http://schemas.openxmlformats.org/drawingml/2006/chart">
            <c:chart xmlns:r="http://schemas.openxmlformats.org/officeDocument/2006/relationships" xmlns:c="http://schemas.openxmlformats.org/drawingml/2006/chart" r:id="R02ad6f3a9c574077"/>
          </a:graphicData>
        </a:graphic>
      </p:graphicFrame>
      <p:sp>
        <p:nvSpPr>
          <p:cNvPr id="4" name="latency-p50">
            <a:extLst xmlns:a="http://schemas.openxmlformats.org/drawingml/2006/main">
              <a:ext uri="{FF2B5EF4-FFF2-40B4-BE49-F238E27FC236}">
                <a16:creationId xmlns:a16="http://schemas.microsoft.com/office/drawing/2014/main" id="{7F89C363-990F-46F6-B7D5-45F396D0E1D8}"/>
              </a:ext>
            </a:extLst>
          </p:cNvPr>
          <p:cNvSpPr>
            <a:spLocks xmlns:a="http://schemas.openxmlformats.org/drawingml/2006/main" noGrp="1"/>
          </p:cNvSpPr>
          <p:nvPr/>
        </p:nvSpPr>
        <p:spPr>
          <a:xfrm xmlns:a="http://schemas.openxmlformats.org/drawingml/2006/main">
            <a:off x="2619375" y="43338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66758E"/>
                </a:solidFill>
                <a:latin typeface="Segoe UI"/>
                <a:ea typeface="Segoe UI"/>
                <a:cs typeface="Segoe UI"/>
              </a:defRPr>
            </a:pPr>
            <a:r>
              <a:rPr sz="975" b="1">
                <a:solidFill>
                  <a:srgbClr val="66758E"/>
                </a:solidFill>
                <a:latin typeface="Segoe UI"/>
                <a:ea typeface="Segoe UI"/>
                <a:cs typeface="Segoe UI"/>
              </a:rPr>
              <a:t>150,07</a:t>
            </a:r>
          </a:p>
        </p:txBody>
      </p:sp>
      <p:sp>
        <p:nvSpPr>
          <p:cNvPr id="5" name="latency-p95">
            <a:extLst xmlns:a="http://schemas.openxmlformats.org/drawingml/2006/main">
              <a:ext uri="{FF2B5EF4-FFF2-40B4-BE49-F238E27FC236}">
                <a16:creationId xmlns:a16="http://schemas.microsoft.com/office/drawing/2014/main" id="{3452B000-08D2-4E10-AC99-E2B3AFAE4394}"/>
              </a:ext>
            </a:extLst>
          </p:cNvPr>
          <p:cNvSpPr>
            <a:spLocks xmlns:a="http://schemas.openxmlformats.org/drawingml/2006/main" noGrp="1"/>
          </p:cNvSpPr>
          <p:nvPr/>
        </p:nvSpPr>
        <p:spPr>
          <a:xfrm xmlns:a="http://schemas.openxmlformats.org/drawingml/2006/main">
            <a:off x="5667375" y="34290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66758E"/>
                </a:solidFill>
                <a:latin typeface="Segoe UI"/>
                <a:ea typeface="Segoe UI"/>
                <a:cs typeface="Segoe UI"/>
              </a:defRPr>
            </a:pPr>
            <a:r>
              <a:rPr sz="975" b="1">
                <a:solidFill>
                  <a:srgbClr val="66758E"/>
                </a:solidFill>
                <a:latin typeface="Segoe UI"/>
                <a:ea typeface="Segoe UI"/>
                <a:cs typeface="Segoe UI"/>
              </a:rPr>
              <a:t>509,76</a:t>
            </a:r>
          </a:p>
        </p:txBody>
      </p:sp>
      <p:sp>
        <p:nvSpPr>
          <p:cNvPr id="6" name="latency-p99">
            <a:extLst xmlns:a="http://schemas.openxmlformats.org/drawingml/2006/main">
              <a:ext uri="{FF2B5EF4-FFF2-40B4-BE49-F238E27FC236}">
                <a16:creationId xmlns:a16="http://schemas.microsoft.com/office/drawing/2014/main" id="{FC64069F-D3E7-4FDE-A31A-323A568B3035}"/>
              </a:ext>
            </a:extLst>
          </p:cNvPr>
          <p:cNvSpPr>
            <a:spLocks xmlns:a="http://schemas.openxmlformats.org/drawingml/2006/main" noGrp="1"/>
          </p:cNvSpPr>
          <p:nvPr/>
        </p:nvSpPr>
        <p:spPr>
          <a:xfrm xmlns:a="http://schemas.openxmlformats.org/drawingml/2006/main">
            <a:off x="8667750" y="18573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66758E"/>
                </a:solidFill>
                <a:latin typeface="Segoe UI"/>
                <a:ea typeface="Segoe UI"/>
                <a:cs typeface="Segoe UI"/>
              </a:defRPr>
            </a:pPr>
            <a:r>
              <a:rPr sz="975" b="1">
                <a:solidFill>
                  <a:srgbClr val="66758E"/>
                </a:solidFill>
                <a:latin typeface="Segoe UI"/>
                <a:ea typeface="Segoe UI"/>
                <a:cs typeface="Segoe UI"/>
              </a:rPr>
              <a:t>1.124,13</a:t>
            </a:r>
          </a:p>
        </p:txBody>
      </p:sp>
      <p:sp>
        <p:nvSpPr>
          <p:cNvPr id="7" name="latency-target">
            <a:extLst xmlns:a="http://schemas.openxmlformats.org/drawingml/2006/main">
              <a:ext uri="{FF2B5EF4-FFF2-40B4-BE49-F238E27FC236}">
                <a16:creationId xmlns:a16="http://schemas.microsoft.com/office/drawing/2014/main" id="{E3E7BEA9-3D7E-4EDC-9DDD-30C0D7D73C12}"/>
              </a:ext>
            </a:extLst>
          </p:cNvPr>
          <p:cNvSpPr>
            <a:spLocks xmlns:a="http://schemas.openxmlformats.org/drawingml/2006/main" noGrp="1"/>
          </p:cNvSpPr>
          <p:nvPr/>
        </p:nvSpPr>
        <p:spPr>
          <a:xfrm xmlns:a="http://schemas.openxmlformats.org/drawingml/2006/main">
            <a:off x="2333625" y="5476875"/>
            <a:ext cx="752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19B69"/>
                </a:solidFill>
                <a:latin typeface="Segoe UI"/>
                <a:ea typeface="Segoe UI"/>
                <a:cs typeface="Segoe UI"/>
              </a:defRPr>
            </a:pPr>
            <a:r>
              <a:rPr sz="1350" b="1">
                <a:solidFill>
                  <a:srgbClr val="119B69"/>
                </a:solidFill>
                <a:latin typeface="Segoe UI"/>
                <a:ea typeface="Segoe UI"/>
                <a:cs typeface="Segoe UI"/>
              </a:rPr>
              <a:t>Mục tiêu p95 ≤ 800 ms; kết quả đạt với biên khoảng 290 ms</a:t>
            </a:r>
          </a:p>
        </p:txBody>
      </p:sp>
    </p:spTree>
    <p:extLst>
      <p:ext uri="{BB962C8B-B14F-4D97-AF65-F5344CB8AC3E}">
        <p14:creationId xmlns:p14="http://schemas.microsoft.com/office/powerpoint/2010/main" val="473310091"/>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715C4DA-75DD-45F4-9884-ABEFAC354470}"/>
              </a:ext>
            </a:extLst>
          </p:cNvPr>
          <p:cNvSpPr>
            <a:spLocks xmlns:a="http://schemas.openxmlformats.org/drawingml/2006/main" noGrp="1"/>
          </p:cNvSpPr>
          <p:nvPr/>
        </p:nvSpPr>
        <p:spPr>
          <a:xfrm xmlns:a="http://schemas.openxmlformats.org/drawingml/2006/main">
            <a:off x="749808" y="393192"/>
            <a:ext cx="10195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0F2A5F"/>
                </a:solidFill>
                <a:latin typeface="Arial"/>
                <a:ea typeface="Arial"/>
                <a:cs typeface="Arial"/>
              </a:rPr>
              <a:t>Khoảng cách nằm ở biển hai dòng</a:t>
            </a:r>
            <a:endParaRPr sz="2500"/>
          </a:p>
        </p:txBody>
      </p:sp>
      <p:sp>
        <p:nvSpPr>
          <p:cNvPr id="3" name="Text 1">
            <a:extLst xmlns:a="http://schemas.openxmlformats.org/drawingml/2006/main">
              <a:ext uri="{FF2B5EF4-FFF2-40B4-BE49-F238E27FC236}">
                <a16:creationId xmlns:a16="http://schemas.microsoft.com/office/drawing/2014/main" id="{C8E15C4F-F9EC-4E5D-BE02-A615E71B0073}"/>
              </a:ext>
            </a:extLst>
          </p:cNvPr>
          <p:cNvSpPr>
            <a:spLocks xmlns:a="http://schemas.openxmlformats.org/drawingml/2006/main" noGrp="1"/>
          </p:cNvSpPr>
          <p:nvPr/>
        </p:nvSpPr>
        <p:spPr>
          <a:xfrm xmlns:a="http://schemas.openxmlformats.org/drawingml/2006/main">
            <a:off x="768096" y="914400"/>
            <a:ext cx="10058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65748B"/>
                </a:solidFill>
                <a:latin typeface="Arial"/>
                <a:ea typeface="Arial"/>
                <a:cs typeface="Arial"/>
              </a:rPr>
              <a:t>Độ chính xác mức ký tự gần bằng nhau, nhưng sai số tích lũy trên chuỗi phân hóa rất lớn</a:t>
            </a:r>
            <a:endParaRPr sz="1150"/>
          </a:p>
        </p:txBody>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3ad43da7fa96417b"/>
          <a:stretch xmlns:a="http://schemas.openxmlformats.org/drawingml/2006/main">
            <a:fillRect l="0" t="0" r="0" b="0"/>
          </a:stretch>
        </p:blipFill>
        <p:spPr>
          <a:xfrm xmlns:a="http://schemas.openxmlformats.org/drawingml/2006/main">
            <a:off x="5588001" y="1333500"/>
            <a:ext cx="5709227" cy="4381500"/>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62374C50-A9DB-4EC7-AB82-BB862F1A0585}"/>
              </a:ext>
            </a:extLst>
          </p:cNvPr>
          <p:cNvSpPr>
            <a:spLocks xmlns:a="http://schemas.openxmlformats.org/drawingml/2006/main" noGrp="1"/>
          </p:cNvSpPr>
          <p:nvPr/>
        </p:nvSpPr>
        <p:spPr>
          <a:xfrm xmlns:a="http://schemas.openxmlformats.org/drawingml/2006/main">
            <a:off x="777240" y="1554480"/>
            <a:ext cx="4343400" cy="3566160"/>
          </a:xfrm>
          <a:prstGeom xmlns:a="http://schemas.openxmlformats.org/drawingml/2006/main" prst="roundRect">
            <a:avLst>
              <a:gd name="adj" fmla="val 2051"/>
            </a:avLst>
          </a:prstGeom>
          <a:solidFill xmlns:a="http://schemas.openxmlformats.org/drawingml/2006/main">
            <a:srgbClr val="F9FBFD"/>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6" name="Text 3">
            <a:extLst xmlns:a="http://schemas.openxmlformats.org/drawingml/2006/main">
              <a:ext uri="{FF2B5EF4-FFF2-40B4-BE49-F238E27FC236}">
                <a16:creationId xmlns:a16="http://schemas.microsoft.com/office/drawing/2014/main" id="{BDCE6FEE-25B7-4769-AD50-5B3FFD5AA9EC}"/>
              </a:ext>
            </a:extLst>
          </p:cNvPr>
          <p:cNvSpPr>
            <a:spLocks xmlns:a="http://schemas.openxmlformats.org/drawingml/2006/main" noGrp="1"/>
          </p:cNvSpPr>
          <p:nvPr/>
        </p:nvSpPr>
        <p:spPr>
          <a:xfrm xmlns:a="http://schemas.openxmlformats.org/drawingml/2006/main">
            <a:off x="1051560" y="1874520"/>
            <a:ext cx="37947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1E5FD4"/>
                </a:solidFill>
              </a:rPr>
              <a:t>95,41%</a:t>
            </a:r>
            <a:endParaRPr sz="3000"/>
          </a:p>
        </p:txBody>
      </p:sp>
      <p:sp>
        <p:nvSpPr>
          <p:cNvPr id="7" name="Text 4">
            <a:extLst xmlns:a="http://schemas.openxmlformats.org/drawingml/2006/main">
              <a:ext uri="{FF2B5EF4-FFF2-40B4-BE49-F238E27FC236}">
                <a16:creationId xmlns:a16="http://schemas.microsoft.com/office/drawing/2014/main" id="{64143FC8-684D-499B-A7E4-80D1F648F762}"/>
              </a:ext>
            </a:extLst>
          </p:cNvPr>
          <p:cNvSpPr>
            <a:spLocks xmlns:a="http://schemas.openxmlformats.org/drawingml/2006/main" noGrp="1"/>
          </p:cNvSpPr>
          <p:nvPr/>
        </p:nvSpPr>
        <p:spPr>
          <a:xfrm xmlns:a="http://schemas.openxmlformats.org/drawingml/2006/main">
            <a:off x="1051560" y="2395728"/>
            <a:ext cx="3794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a:solidFill>
                  <a:srgbClr val="26354A"/>
                </a:solidFill>
              </a:rPr>
              <a:t>Biển một dòng</a:t>
            </a:r>
            <a:endParaRPr sz="1500"/>
          </a:p>
        </p:txBody>
      </p:sp>
      <p:sp>
        <p:nvSpPr>
          <p:cNvPr id="8" name="Text 5">
            <a:extLst xmlns:a="http://schemas.openxmlformats.org/drawingml/2006/main">
              <a:ext uri="{FF2B5EF4-FFF2-40B4-BE49-F238E27FC236}">
                <a16:creationId xmlns:a16="http://schemas.microsoft.com/office/drawing/2014/main" id="{8C340665-F45C-450A-8D90-B15A83714834}"/>
              </a:ext>
            </a:extLst>
          </p:cNvPr>
          <p:cNvSpPr>
            <a:spLocks xmlns:a="http://schemas.openxmlformats.org/drawingml/2006/main" noGrp="1"/>
          </p:cNvSpPr>
          <p:nvPr/>
        </p:nvSpPr>
        <p:spPr>
          <a:xfrm xmlns:a="http://schemas.openxmlformats.org/drawingml/2006/main">
            <a:off x="1051560" y="3154680"/>
            <a:ext cx="37947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C74343"/>
                </a:solidFill>
              </a:rPr>
              <a:t>72,34%</a:t>
            </a:r>
            <a:endParaRPr sz="3000"/>
          </a:p>
        </p:txBody>
      </p:sp>
      <p:sp>
        <p:nvSpPr>
          <p:cNvPr id="9" name="Text 6">
            <a:extLst xmlns:a="http://schemas.openxmlformats.org/drawingml/2006/main">
              <a:ext uri="{FF2B5EF4-FFF2-40B4-BE49-F238E27FC236}">
                <a16:creationId xmlns:a16="http://schemas.microsoft.com/office/drawing/2014/main" id="{48F50C2E-5254-4686-9C7A-BABE6E53B0CA}"/>
              </a:ext>
            </a:extLst>
          </p:cNvPr>
          <p:cNvSpPr>
            <a:spLocks xmlns:a="http://schemas.openxmlformats.org/drawingml/2006/main" noGrp="1"/>
          </p:cNvSpPr>
          <p:nvPr/>
        </p:nvSpPr>
        <p:spPr>
          <a:xfrm xmlns:a="http://schemas.openxmlformats.org/drawingml/2006/main">
            <a:off x="1051560" y="3675888"/>
            <a:ext cx="3794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a:solidFill>
                  <a:srgbClr val="26354A"/>
                </a:solidFill>
              </a:rPr>
              <a:t>Biển hai dòng</a:t>
            </a:r>
            <a:endParaRPr sz="1500"/>
          </a:p>
        </p:txBody>
      </p:sp>
      <p:sp>
        <p:nvSpPr>
          <p:cNvPr id="10" name="Shape 7">
            <a:extLst xmlns:a="http://schemas.openxmlformats.org/drawingml/2006/main">
              <a:ext uri="{FF2B5EF4-FFF2-40B4-BE49-F238E27FC236}">
                <a16:creationId xmlns:a16="http://schemas.microsoft.com/office/drawing/2014/main" id="{31982229-7098-47C4-8083-BE33FD9E6EA0}"/>
              </a:ext>
            </a:extLst>
          </p:cNvPr>
          <p:cNvSpPr>
            <a:spLocks xmlns:a="http://schemas.openxmlformats.org/drawingml/2006/main" noGrp="1"/>
          </p:cNvSpPr>
          <p:nvPr/>
        </p:nvSpPr>
        <p:spPr>
          <a:xfrm xmlns:a="http://schemas.openxmlformats.org/drawingml/2006/main">
            <a:off x="1417320" y="4572000"/>
            <a:ext cx="3017520" cy="384048"/>
          </a:xfrm>
          <a:prstGeom xmlns:a="http://schemas.openxmlformats.org/drawingml/2006/main" prst="roundRect">
            <a:avLst>
              <a:gd name="adj" fmla="val 19048"/>
            </a:avLst>
          </a:prstGeom>
          <a:solidFill xmlns:a="http://schemas.openxmlformats.org/drawingml/2006/main">
            <a:srgbClr val="FFF3F3"/>
          </a:solidFill>
          <a:ln xmlns:a="http://schemas.openxmlformats.org/drawingml/2006/main" w="12700">
            <a:solidFill>
              <a:srgbClr val="FFF3F3"/>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8">
            <a:extLst xmlns:a="http://schemas.openxmlformats.org/drawingml/2006/main">
              <a:ext uri="{FF2B5EF4-FFF2-40B4-BE49-F238E27FC236}">
                <a16:creationId xmlns:a16="http://schemas.microsoft.com/office/drawing/2014/main" id="{7CD526DD-CDD8-4FE6-AAD8-646E8E48AD01}"/>
              </a:ext>
            </a:extLst>
          </p:cNvPr>
          <p:cNvSpPr>
            <a:spLocks xmlns:a="http://schemas.openxmlformats.org/drawingml/2006/main" noGrp="1"/>
          </p:cNvSpPr>
          <p:nvPr/>
        </p:nvSpPr>
        <p:spPr>
          <a:xfrm xmlns:a="http://schemas.openxmlformats.org/drawingml/2006/main">
            <a:off x="1079500" y="4645152"/>
            <a:ext cx="37465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C74343"/>
                </a:solidFill>
                <a:latin typeface="Segoe UI"/>
                <a:ea typeface="Segoe UI"/>
                <a:cs typeface="Segoe UI"/>
              </a:rPr>
              <a:t>Điểm nghẽn cốt lõi: Biển hai dòng</a:t>
            </a:r>
            <a:endParaRPr sz="1100" b="1">
              <a:latin typeface="Segoe UI"/>
              <a:ea typeface="Segoe UI"/>
              <a:cs typeface="Segoe UI"/>
            </a:endParaRPr>
          </a:p>
        </p:txBody>
      </p:sp>
    </p:spTree>
    <p:extLst>
      <p:ext uri="{BB962C8B-B14F-4D97-AF65-F5344CB8AC3E}">
        <p14:creationId xmlns:p14="http://schemas.microsoft.com/office/powerpoint/2010/main" val="49404663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56732FD-A499-416F-84BA-EA9877C42636}"/>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2F63"/>
                </a:solidFill>
                <a:latin typeface="Segoe UI"/>
                <a:ea typeface="Segoe UI"/>
                <a:cs typeface="Segoe UI"/>
              </a:defRPr>
            </a:pPr>
            <a:r>
              <a:rPr sz="2400" b="1">
                <a:solidFill>
                  <a:srgbClr val="112F63"/>
                </a:solidFill>
                <a:latin typeface="Segoe UI"/>
                <a:ea typeface="Segoe UI"/>
                <a:cs typeface="Segoe UI"/>
              </a:rPr>
              <a:t>Các trường hợp hậu xử lý sửa đúng</a:t>
            </a:r>
          </a:p>
        </p:txBody>
      </p:sp>
      <p:sp>
        <p:nvSpPr>
          <p:cNvPr id="2" name="subtitle">
            <a:extLst xmlns:a="http://schemas.openxmlformats.org/drawingml/2006/main">
              <a:ext uri="{FF2B5EF4-FFF2-40B4-BE49-F238E27FC236}">
                <a16:creationId xmlns:a16="http://schemas.microsoft.com/office/drawing/2014/main" id="{92BA21AF-E4B3-4795-A77D-32089F71A680}"/>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58E"/>
                </a:solidFill>
                <a:latin typeface="Segoe UI"/>
                <a:ea typeface="Segoe UI"/>
                <a:cs typeface="Segoe UI"/>
              </a:defRPr>
            </a:pPr>
            <a:r>
              <a:rPr sz="1275" b="0">
                <a:solidFill>
                  <a:srgbClr val="66758E"/>
                </a:solidFill>
                <a:latin typeface="Segoe UI"/>
                <a:ea typeface="Segoe UI"/>
                <a:cs typeface="Segoe UI"/>
              </a:rPr>
              <a:t>Ba ví dụ cho thấy quy tắc vị trí khôi phục mã tỉnh và ký tự bị OCR bỏ sót</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63edbe804cb4dd2"/>
          <a:stretch xmlns:a="http://schemas.openxmlformats.org/drawingml/2006/main"/>
        </p:blipFill>
        <p:spPr>
          <a:xfrm xmlns:a="http://schemas.openxmlformats.org/drawingml/2006/main">
            <a:off x="956385" y="1571625"/>
            <a:ext cx="10279230" cy="3286125"/>
          </a:xfrm>
          <a:prstGeom xmlns:a="http://schemas.openxmlformats.org/drawingml/2006/main" prst="rect">
            <a:avLst/>
          </a:prstGeom>
        </p:spPr>
      </p:pic>
      <p:sp>
        <p:nvSpPr>
          <p:cNvPr id="4" name="corrected-note">
            <a:extLst xmlns:a="http://schemas.openxmlformats.org/drawingml/2006/main">
              <a:ext uri="{FF2B5EF4-FFF2-40B4-BE49-F238E27FC236}">
                <a16:creationId xmlns:a16="http://schemas.microsoft.com/office/drawing/2014/main" id="{C13DA8DD-79E8-4010-A6B6-3B7EE4DAAEC8}"/>
              </a:ext>
            </a:extLst>
          </p:cNvPr>
          <p:cNvSpPr>
            <a:spLocks xmlns:a="http://schemas.openxmlformats.org/drawingml/2006/main" noGrp="1"/>
          </p:cNvSpPr>
          <p:nvPr/>
        </p:nvSpPr>
        <p:spPr>
          <a:xfrm xmlns:a="http://schemas.openxmlformats.org/drawingml/2006/main">
            <a:off x="1714500" y="5238750"/>
            <a:ext cx="876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19B69"/>
                </a:solidFill>
                <a:latin typeface="Segoe UI"/>
                <a:ea typeface="Segoe UI"/>
                <a:cs typeface="Segoe UI"/>
              </a:defRPr>
            </a:pPr>
            <a:r>
              <a:rPr sz="1350" b="1">
                <a:solidFill>
                  <a:srgbClr val="119B69"/>
                </a:solidFill>
                <a:latin typeface="Segoe UI"/>
                <a:ea typeface="Segoe UI"/>
                <a:cs typeface="Segoe UI"/>
              </a:rPr>
              <a:t>Hậu xử lý chỉ sửa theo vị trí hợp lệ và không làm sai thêm trường hợp đúng</a:t>
            </a:r>
          </a:p>
        </p:txBody>
      </p:sp>
    </p:spTree>
    <p:extLst>
      <p:ext uri="{BB962C8B-B14F-4D97-AF65-F5344CB8AC3E}">
        <p14:creationId xmlns:p14="http://schemas.microsoft.com/office/powerpoint/2010/main" val="45674933"/>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ECF62DC-BED4-4DBE-B3EF-EBB374E3F584}"/>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2F63"/>
                </a:solidFill>
                <a:latin typeface="Segoe UI"/>
                <a:ea typeface="Segoe UI"/>
                <a:cs typeface="Segoe UI"/>
              </a:defRPr>
            </a:pPr>
            <a:r>
              <a:rPr sz="2400" b="1">
                <a:solidFill>
                  <a:srgbClr val="112F63"/>
                </a:solidFill>
                <a:latin typeface="Segoe UI"/>
                <a:ea typeface="Segoe UI"/>
                <a:cs typeface="Segoe UI"/>
              </a:rPr>
              <a:t>Các trường hợp còn nhận dạng sai</a:t>
            </a:r>
          </a:p>
        </p:txBody>
      </p:sp>
      <p:sp>
        <p:nvSpPr>
          <p:cNvPr id="2" name="subtitle">
            <a:extLst xmlns:a="http://schemas.openxmlformats.org/drawingml/2006/main">
              <a:ext uri="{FF2B5EF4-FFF2-40B4-BE49-F238E27FC236}">
                <a16:creationId xmlns:a16="http://schemas.microsoft.com/office/drawing/2014/main" id="{2B0FC5FA-D248-44E9-9D36-04DB735B7285}"/>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58E"/>
                </a:solidFill>
                <a:latin typeface="Segoe UI"/>
                <a:ea typeface="Segoe UI"/>
                <a:cs typeface="Segoe UI"/>
              </a:defRPr>
            </a:pPr>
            <a:r>
              <a:rPr sz="1275" b="0">
                <a:solidFill>
                  <a:srgbClr val="66758E"/>
                </a:solidFill>
                <a:latin typeface="Segoe UI"/>
                <a:ea typeface="Segoe UI"/>
                <a:cs typeface="Segoe UI"/>
              </a:rPr>
              <a:t>Lỗi còn lại tập trung ở ảnh mờ và dòng trên của biển hai dòng</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550311b5cb340a4"/>
          <a:stretch xmlns:a="http://schemas.openxmlformats.org/drawingml/2006/main"/>
        </p:blipFill>
        <p:spPr>
          <a:xfrm xmlns:a="http://schemas.openxmlformats.org/drawingml/2006/main">
            <a:off x="762000" y="1602222"/>
            <a:ext cx="10668000" cy="3224931"/>
          </a:xfrm>
          <a:prstGeom xmlns:a="http://schemas.openxmlformats.org/drawingml/2006/main" prst="rect">
            <a:avLst/>
          </a:prstGeom>
        </p:spPr>
      </p:pic>
      <p:sp>
        <p:nvSpPr>
          <p:cNvPr id="4" name="failure-note">
            <a:extLst xmlns:a="http://schemas.openxmlformats.org/drawingml/2006/main">
              <a:ext uri="{FF2B5EF4-FFF2-40B4-BE49-F238E27FC236}">
                <a16:creationId xmlns:a16="http://schemas.microsoft.com/office/drawing/2014/main" id="{28351262-5FCD-4521-BCC6-714551D03AAD}"/>
              </a:ext>
            </a:extLst>
          </p:cNvPr>
          <p:cNvSpPr>
            <a:spLocks xmlns:a="http://schemas.openxmlformats.org/drawingml/2006/main" noGrp="1"/>
          </p:cNvSpPr>
          <p:nvPr/>
        </p:nvSpPr>
        <p:spPr>
          <a:xfrm xmlns:a="http://schemas.openxmlformats.org/drawingml/2006/main">
            <a:off x="1428750" y="5238750"/>
            <a:ext cx="933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D24747"/>
                </a:solidFill>
                <a:latin typeface="Segoe UI"/>
                <a:ea typeface="Segoe UI"/>
                <a:cs typeface="Segoe UI"/>
              </a:defRPr>
            </a:pPr>
            <a:r>
              <a:rPr sz="1350" b="1">
                <a:solidFill>
                  <a:srgbClr val="D24747"/>
                </a:solidFill>
                <a:latin typeface="Segoe UI"/>
                <a:ea typeface="Segoe UI"/>
                <a:cs typeface="Segoe UI"/>
              </a:rPr>
              <a:t>Nguyên nhân gốc: chất lượng ảnh thấp và recognizer chưa tối ưu cho bố cục hai dòng</a:t>
            </a:r>
          </a:p>
        </p:txBody>
      </p:sp>
    </p:spTree>
    <p:extLst>
      <p:ext uri="{BB962C8B-B14F-4D97-AF65-F5344CB8AC3E}">
        <p14:creationId xmlns:p14="http://schemas.microsoft.com/office/powerpoint/2010/main" val="47331009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C0540E1-3AF9-4667-8DA1-C6D84280C3B2}"/>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400" b="1">
                <a:solidFill>
                  <a:srgbClr val="112F63"/>
                </a:solidFill>
                <a:latin typeface="Segoe UI"/>
                <a:ea typeface="Segoe UI"/>
                <a:cs typeface="Segoe UI"/>
              </a:defRPr>
            </a:pPr>
            <a:r>
              <a:rPr sz="2400" b="1">
                <a:solidFill>
                  <a:srgbClr val="112F63"/>
                </a:solidFill>
                <a:latin typeface="Segoe UI"/>
                <a:ea typeface="Segoe UI"/>
                <a:cs typeface="Segoe UI"/>
              </a:rPr>
              <a:t>Bóc tách đóng góp từng bước</a:t>
            </a:r>
          </a:p>
        </p:txBody>
      </p:sp>
      <p:sp>
        <p:nvSpPr>
          <p:cNvPr id="2" name="subtitle">
            <a:extLst xmlns:a="http://schemas.openxmlformats.org/drawingml/2006/main">
              <a:ext uri="{FF2B5EF4-FFF2-40B4-BE49-F238E27FC236}">
                <a16:creationId xmlns:a16="http://schemas.microsoft.com/office/drawing/2014/main" id="{692BD7A2-E4B6-49D6-B3B6-0F00BBA7B80E}"/>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0">
                <a:solidFill>
                  <a:srgbClr val="66758E"/>
                </a:solidFill>
                <a:latin typeface="Segoe UI"/>
                <a:ea typeface="Segoe UI"/>
                <a:cs typeface="Segoe UI"/>
              </a:defRPr>
            </a:pPr>
            <a:r>
              <a:rPr sz="1275" b="0">
                <a:solidFill>
                  <a:srgbClr val="66758E"/>
                </a:solidFill>
                <a:latin typeface="Segoe UI"/>
                <a:ea typeface="Segoe UI"/>
                <a:cs typeface="Segoe UI"/>
              </a:rPr>
              <a:t>Mức cải thiện và chi phí tính toán được báo cáo cùng nhau trên đúng đường đo</a:t>
            </a:r>
          </a:p>
        </p:txBody>
      </p:sp>
      <p:graphicFrame>
        <p:nvGraphicFramePr>
          <p:cNvPr id="9" name=""/>
          <p:cNvGraphicFramePr/>
          <p:nvPr/>
        </p:nvGraphicFramePr>
        <p:xfrm>
          <a:off xmlns:a="http://schemas.openxmlformats.org/drawingml/2006/main" x="857250" y="1666875"/>
          <a:ext xmlns:a="http://schemas.openxmlformats.org/drawingml/2006/main" cx="10477500" cy="2762250"/>
        </p:xfrm>
        <a:graphic xmlns:a="http://schemas.openxmlformats.org/drawingml/2006/main">
          <a:graphicData uri="http://schemas.openxmlformats.org/drawingml/2006/table">
            <a:tbl>
              <a:tblPr firstRow="1" bandRow="1"/>
              <a:tblGrid>
                <a:gridCol w="4000500"/>
                <a:gridCol w="3333750"/>
                <a:gridCol w="3143250"/>
              </a:tblGrid>
              <a:tr h="690563">
                <a:tc>
                  <a:txBody>
                    <a:bodyPr/>
                    <a:lstStyle/>
                    <a:p>
                      <a:r>
                        <a:rPr sz="1125" b="1">
                          <a:solidFill>
                            <a:srgbClr val="FFFFFF"/>
                          </a:solidFill>
                          <a:latin typeface="Segoe UI"/>
                          <a:ea typeface="Segoe UI"/>
                          <a:cs typeface="Segoe UI"/>
                        </a:rPr>
                        <a:t>Can thiệp</a:t>
                      </a:r>
                    </a:p>
                  </a:txBody>
                  <a:tcPr marL="95250" marR="95250" marT="76200" marB="76200" anchor="ctr">
                    <a:solidFill>
                      <a:srgbClr val="112F63"/>
                    </a:solidFill>
                  </a:tcPr>
                </a:tc>
                <a:tc>
                  <a:txBody>
                    <a:bodyPr/>
                    <a:lstStyle/>
                    <a:p>
                      <a:r>
                        <a:rPr sz="1125" b="1">
                          <a:solidFill>
                            <a:srgbClr val="FFFFFF"/>
                          </a:solidFill>
                          <a:latin typeface="Segoe UI"/>
                          <a:ea typeface="Segoe UI"/>
                          <a:cs typeface="Segoe UI"/>
                        </a:rPr>
                        <a:t>Mức cải thiện (+Δ metric)</a:t>
                      </a:r>
                    </a:p>
                  </a:txBody>
                  <a:tcPr marL="95250" marR="95250" marT="76200" marB="76200" anchor="ctr">
                    <a:solidFill>
                      <a:srgbClr val="112F63"/>
                    </a:solidFill>
                  </a:tcPr>
                </a:tc>
                <a:tc>
                  <a:txBody>
                    <a:bodyPr/>
                    <a:lstStyle/>
                    <a:p>
                      <a:r>
                        <a:rPr sz="1125" b="1">
                          <a:solidFill>
                            <a:srgbClr val="FFFFFF"/>
                          </a:solidFill>
                          <a:latin typeface="Segoe UI"/>
                          <a:ea typeface="Segoe UI"/>
                          <a:cs typeface="Segoe UI"/>
                        </a:rPr>
                        <a:t>Chi phí tính toán (+ms trễ)</a:t>
                      </a:r>
                    </a:p>
                  </a:txBody>
                  <a:tcPr marL="95250" marR="95250" marT="76200" marB="76200" anchor="ctr">
                    <a:solidFill>
                      <a:srgbClr val="112F63"/>
                    </a:solidFill>
                  </a:tcPr>
                </a:tc>
              </a:tr>
              <a:tr h="690563">
                <a:tc>
                  <a:txBody>
                    <a:bodyPr/>
                    <a:lstStyle/>
                    <a:p>
                      <a:r>
                        <a:rPr sz="1050">
                          <a:solidFill>
                            <a:srgbClr val="27354D"/>
                          </a:solidFill>
                          <a:latin typeface="Segoe UI"/>
                          <a:ea typeface="Segoe UI"/>
                          <a:cs typeface="Segoe UI"/>
                        </a:rPr>
                        <a:t>Tách-ghép ngang + PP-OCRv5</a:t>
                      </a:r>
                    </a:p>
                  </a:txBody>
                  <a:tcPr marL="95250" marR="95250" marT="66675" marB="66675" anchor="ctr">
                    <a:solidFill>
                      <a:srgbClr val="EAF7F2"/>
                    </a:solidFill>
                  </a:tcPr>
                </a:tc>
                <a:tc>
                  <a:txBody>
                    <a:bodyPr/>
                    <a:lstStyle/>
                    <a:p>
                      <a:r>
                        <a:rPr sz="1350" b="1">
                          <a:solidFill>
                            <a:srgbClr val="2563D8"/>
                          </a:solidFill>
                          <a:latin typeface="Segoe UI"/>
                          <a:ea typeface="Segoe UI"/>
                          <a:cs typeface="Segoe UI"/>
                        </a:rPr>
                        <a:t>+34,92 điểm S₀</a:t>
                      </a:r>
                    </a:p>
                  </a:txBody>
                  <a:tcPr marL="95250" marR="95250" marT="66675" marB="66675" anchor="ctr">
                    <a:solidFill>
                      <a:srgbClr val="EAF7F2"/>
                    </a:solidFill>
                  </a:tcPr>
                </a:tc>
                <a:tc>
                  <a:txBody>
                    <a:bodyPr/>
                    <a:lstStyle/>
                    <a:p>
                      <a:r>
                        <a:rPr sz="1200" b="1">
                          <a:solidFill>
                            <a:srgbClr val="D8840D"/>
                          </a:solidFill>
                          <a:latin typeface="Segoe UI"/>
                          <a:ea typeface="Segoe UI"/>
                          <a:cs typeface="Segoe UI"/>
                        </a:rPr>
                        <a:t>Chưa đo tách riêng</a:t>
                      </a:r>
                    </a:p>
                  </a:txBody>
                  <a:tcPr marL="95250" marR="95250" marT="66675" marB="66675" anchor="ctr">
                    <a:solidFill>
                      <a:srgbClr val="EAF7F2"/>
                    </a:solidFill>
                  </a:tcPr>
                </a:tc>
              </a:tr>
              <a:tr h="690563">
                <a:tc>
                  <a:txBody>
                    <a:bodyPr/>
                    <a:lstStyle/>
                    <a:p>
                      <a:r>
                        <a:rPr sz="1050">
                          <a:solidFill>
                            <a:srgbClr val="27354D"/>
                          </a:solidFill>
                          <a:latin typeface="Segoe UI"/>
                          <a:ea typeface="Segoe UI"/>
                          <a:cs typeface="Segoe UI"/>
                        </a:rPr>
                        <a:t>Hậu xử lý theo vị trí</a:t>
                      </a:r>
                    </a:p>
                  </a:txBody>
                  <a:tcPr marL="95250" marR="95250" marT="66675" marB="66675" anchor="ctr"/>
                </a:tc>
                <a:tc>
                  <a:txBody>
                    <a:bodyPr/>
                    <a:lstStyle/>
                    <a:p>
                      <a:r>
                        <a:rPr sz="1350" b="1">
                          <a:solidFill>
                            <a:srgbClr val="2563D8"/>
                          </a:solidFill>
                          <a:latin typeface="Segoe UI"/>
                          <a:ea typeface="Segoe UI"/>
                          <a:cs typeface="Segoe UI"/>
                        </a:rPr>
                        <a:t>+13,28 điểm S₁</a:t>
                      </a:r>
                    </a:p>
                  </a:txBody>
                  <a:tcPr marL="95250" marR="95250" marT="66675" marB="66675" anchor="ctr"/>
                </a:tc>
                <a:tc>
                  <a:txBody>
                    <a:bodyPr/>
                    <a:lstStyle/>
                    <a:p>
                      <a:r>
                        <a:rPr sz="1200" b="1">
                          <a:solidFill>
                            <a:srgbClr val="D8840D"/>
                          </a:solidFill>
                          <a:latin typeface="Segoe UI"/>
                          <a:ea typeface="Segoe UI"/>
                          <a:cs typeface="Segoe UI"/>
                        </a:rPr>
                        <a:t>+0,03 ms</a:t>
                      </a:r>
                    </a:p>
                  </a:txBody>
                  <a:tcPr marL="95250" marR="95250" marT="66675" marB="66675" anchor="ctr"/>
                </a:tc>
              </a:tr>
              <a:tr h="690563">
                <a:tc>
                  <a:txBody>
                    <a:bodyPr/>
                    <a:lstStyle/>
                    <a:p>
                      <a:r>
                        <a:rPr sz="1050">
                          <a:solidFill>
                            <a:srgbClr val="27354D"/>
                          </a:solidFill>
                          <a:latin typeface="Segoe UI"/>
                          <a:ea typeface="Segoe UI"/>
                          <a:cs typeface="Segoe UI"/>
                        </a:rPr>
                        <a:t>Thử lại có nắn phẳng</a:t>
                      </a:r>
                    </a:p>
                  </a:txBody>
                  <a:tcPr marL="95250" marR="95250" marT="66675" marB="66675" anchor="ctr"/>
                </a:tc>
                <a:tc>
                  <a:txBody>
                    <a:bodyPr/>
                    <a:lstStyle/>
                    <a:p>
                      <a:r>
                        <a:rPr sz="1350" b="1">
                          <a:solidFill>
                            <a:srgbClr val="2563D8"/>
                          </a:solidFill>
                          <a:latin typeface="Segoe UI"/>
                          <a:ea typeface="Segoe UI"/>
                          <a:cs typeface="Segoe UI"/>
                        </a:rPr>
                        <a:t>+34 biển đúng</a:t>
                      </a:r>
                    </a:p>
                  </a:txBody>
                  <a:tcPr marL="95250" marR="95250" marT="66675" marB="66675" anchor="ctr"/>
                </a:tc>
                <a:tc>
                  <a:txBody>
                    <a:bodyPr/>
                    <a:lstStyle/>
                    <a:p>
                      <a:r>
                        <a:rPr sz="1200" b="1">
                          <a:solidFill>
                            <a:srgbClr val="D8840D"/>
                          </a:solidFill>
                          <a:latin typeface="Segoe UI"/>
                          <a:ea typeface="Segoe UI"/>
                          <a:cs typeface="Segoe UI"/>
                        </a:rPr>
                        <a:t>+276,80 ms p95</a:t>
                      </a:r>
                    </a:p>
                  </a:txBody>
                  <a:tcPr marL="95250" marR="95250" marT="66675" marB="66675" anchor="ctr"/>
                </a:tc>
              </a:tr>
            </a:tbl>
          </a:graphicData>
        </a:graphic>
      </p:graphicFrame>
      <p:sp>
        <p:nvSpPr>
          <p:cNvPr id="4" name="ablation-note">
            <a:extLst xmlns:a="http://schemas.openxmlformats.org/drawingml/2006/main">
              <a:ext uri="{FF2B5EF4-FFF2-40B4-BE49-F238E27FC236}">
                <a16:creationId xmlns:a16="http://schemas.microsoft.com/office/drawing/2014/main" id="{1D6C7B2F-7CF9-4C3B-A3BF-8DF89C2D8CDE}"/>
              </a:ext>
            </a:extLst>
          </p:cNvPr>
          <p:cNvSpPr>
            <a:spLocks xmlns:a="http://schemas.openxmlformats.org/drawingml/2006/main" noGrp="1"/>
          </p:cNvSpPr>
          <p:nvPr/>
        </p:nvSpPr>
        <p:spPr>
          <a:xfrm xmlns:a="http://schemas.openxmlformats.org/drawingml/2006/main">
            <a:off x="1809750" y="5048250"/>
            <a:ext cx="857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425" b="1">
                <a:solidFill>
                  <a:srgbClr val="112F63"/>
                </a:solidFill>
                <a:latin typeface="Segoe UI"/>
                <a:ea typeface="Segoe UI"/>
                <a:cs typeface="Segoe UI"/>
              </a:defRPr>
            </a:pPr>
            <a:r>
              <a:rPr sz="1425" b="1">
                <a:solidFill>
                  <a:srgbClr val="112F63"/>
                </a:solidFill>
                <a:latin typeface="Segoe UI"/>
                <a:ea typeface="Segoe UI"/>
                <a:cs typeface="Segoe UI"/>
              </a:rPr>
              <a:t>Tách-ghép tạo mức tăng lớn nhất. Chi phí độc lập của bước này chưa có phép đo hợp lệ.</a:t>
            </a:r>
          </a:p>
        </p:txBody>
      </p:sp>
    </p:spTree>
    <p:extLst>
      <p:ext uri="{BB962C8B-B14F-4D97-AF65-F5344CB8AC3E}">
        <p14:creationId xmlns:p14="http://schemas.microsoft.com/office/powerpoint/2010/main" val="205067559"/>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25a25b2e2c994fbb"/>
          <a:stretch xmlns:a="http://schemas.openxmlformats.org/drawingml/2006/main">
            <a:fillRect l="0" t="0" r="0" b="0"/>
          </a:stretch>
        </p:blipFill>
        <p:spPr>
          <a:xfrm xmlns:a="http://schemas.openxmlformats.org/drawingml/2006/main">
            <a:off x="4238625" y="1381125"/>
            <a:ext cx="7286625" cy="4524375"/>
          </a:xfrm>
          <a:prstGeom xmlns:a="http://schemas.openxmlformats.org/drawingml/2006/main" prst="rect">
            <a:avLst/>
          </a:prstGeom>
        </p:spPr>
      </p:pic>
      <p:sp>
        <p:nvSpPr>
          <p:cNvPr id="12" name="title">
            <a:extLst xmlns:a="http://schemas.openxmlformats.org/drawingml/2006/main">
              <a:ext uri="{FF2B5EF4-FFF2-40B4-BE49-F238E27FC236}">
                <a16:creationId xmlns:a16="http://schemas.microsoft.com/office/drawing/2014/main" id="{B71235D2-A2A1-4A43-91D3-7F18C3023380}"/>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2F63"/>
                </a:solidFill>
                <a:latin typeface="Segoe UI"/>
                <a:ea typeface="Segoe UI"/>
                <a:cs typeface="Segoe UI"/>
              </a:defRPr>
            </a:pPr>
            <a:r>
              <a:rPr sz="2400" b="1">
                <a:solidFill>
                  <a:srgbClr val="112F63"/>
                </a:solidFill>
                <a:latin typeface="Segoe UI"/>
                <a:ea typeface="Segoe UI"/>
                <a:cs typeface="Segoe UI"/>
              </a:rPr>
              <a:t>Demo hệ thống</a:t>
            </a:r>
          </a:p>
        </p:txBody>
      </p:sp>
      <p:sp>
        <p:nvSpPr>
          <p:cNvPr id="13" name="subtitle">
            <a:extLst xmlns:a="http://schemas.openxmlformats.org/drawingml/2006/main">
              <a:ext uri="{FF2B5EF4-FFF2-40B4-BE49-F238E27FC236}">
                <a16:creationId xmlns:a16="http://schemas.microsoft.com/office/drawing/2014/main" id="{CA5390BA-2408-40E7-9E1D-F101399DB153}"/>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58E"/>
                </a:solidFill>
                <a:latin typeface="Segoe UI"/>
                <a:ea typeface="Segoe UI"/>
                <a:cs typeface="Segoe UI"/>
              </a:defRPr>
            </a:pPr>
            <a:r>
              <a:rPr sz="1275" b="0">
                <a:solidFill>
                  <a:srgbClr val="66758E"/>
                </a:solidFill>
                <a:latin typeface="Segoe UI"/>
                <a:ea typeface="Segoe UI"/>
                <a:cs typeface="Segoe UI"/>
              </a:rPr>
              <a:t>Một lệnh khởi chạy và một giao diện kiểm tra toàn bộ kết quả</a:t>
            </a:r>
          </a:p>
        </p:txBody>
      </p:sp>
      <p:sp>
        <p:nvSpPr>
          <p:cNvPr id="14" name="demo-command">
            <a:extLst xmlns:a="http://schemas.openxmlformats.org/drawingml/2006/main">
              <a:ext uri="{FF2B5EF4-FFF2-40B4-BE49-F238E27FC236}">
                <a16:creationId xmlns:a16="http://schemas.microsoft.com/office/drawing/2014/main" id="{261071A4-70E4-4F76-A699-D82926DE0DC3}"/>
              </a:ext>
            </a:extLst>
          </p:cNvPr>
          <p:cNvSpPr>
            <a:spLocks xmlns:a="http://schemas.openxmlformats.org/drawingml/2006/main" noGrp="1"/>
          </p:cNvSpPr>
          <p:nvPr/>
        </p:nvSpPr>
        <p:spPr>
          <a:xfrm xmlns:a="http://schemas.openxmlformats.org/drawingml/2006/main">
            <a:off x="809625" y="1714500"/>
            <a:ext cx="3000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025" b="1">
                <a:solidFill>
                  <a:srgbClr val="112F63"/>
                </a:solidFill>
                <a:latin typeface="Segoe UI"/>
                <a:ea typeface="Segoe UI"/>
                <a:cs typeface="Segoe UI"/>
              </a:defRPr>
            </a:pPr>
            <a:r>
              <a:rPr sz="2025" b="1">
                <a:solidFill>
                  <a:srgbClr val="112F63"/>
                </a:solidFill>
                <a:latin typeface="Segoe UI"/>
                <a:ea typeface="Segoe UI"/>
                <a:cs typeface="Segoe UI"/>
              </a:rPr>
              <a:t>docker compose up</a:t>
            </a:r>
          </a:p>
        </p:txBody>
      </p:sp>
      <p:sp>
        <p:nvSpPr>
          <p:cNvPr id="15" name="demo-points">
            <a:extLst xmlns:a="http://schemas.openxmlformats.org/drawingml/2006/main">
              <a:ext uri="{FF2B5EF4-FFF2-40B4-BE49-F238E27FC236}">
                <a16:creationId xmlns:a16="http://schemas.microsoft.com/office/drawing/2014/main" id="{3F536DA9-1379-4522-BFD3-2CF0910E7FF6}"/>
              </a:ext>
            </a:extLst>
          </p:cNvPr>
          <p:cNvSpPr>
            <a:spLocks xmlns:a="http://schemas.openxmlformats.org/drawingml/2006/main" noGrp="1"/>
          </p:cNvSpPr>
          <p:nvPr/>
        </p:nvSpPr>
        <p:spPr>
          <a:xfrm xmlns:a="http://schemas.openxmlformats.org/drawingml/2006/main">
            <a:off x="857250" y="2428875"/>
            <a:ext cx="3048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27354D"/>
                </a:solidFill>
                <a:latin typeface="Segoe UI"/>
                <a:ea typeface="Segoe UI"/>
                <a:cs typeface="Segoe UI"/>
              </a:defRPr>
            </a:pPr>
            <a:r>
              <a:rPr sz="1350" b="0">
                <a:solidFill>
                  <a:srgbClr val="27354D"/>
                </a:solidFill>
                <a:latin typeface="Segoe UI"/>
                <a:ea typeface="Segoe UI"/>
                <a:cs typeface="Segoe UI"/>
              </a:rPr>
              <a:t>• Ảnh tĩnh, video và webcam</a:t>
            </a:r>
          </a:p>
          <a:p xmlns:a="http://schemas.openxmlformats.org/drawingml/2006/main">
            <a:r>
              <a:t/>
            </a:r>
          </a:p>
          <a:p xmlns:a="http://schemas.openxmlformats.org/drawingml/2006/main">
            <a:pPr algn="l">
              <a:defRPr sz="1350" b="0">
                <a:solidFill>
                  <a:srgbClr val="27354D"/>
                </a:solidFill>
                <a:latin typeface="Segoe UI"/>
                <a:ea typeface="Segoe UI"/>
                <a:cs typeface="Segoe UI"/>
              </a:defRPr>
            </a:pPr>
            <a:r>
              <a:rPr sz="1350" b="0">
                <a:solidFill>
                  <a:srgbClr val="27354D"/>
                </a:solidFill>
                <a:latin typeface="Segoe UI"/>
                <a:ea typeface="Segoe UI"/>
                <a:cs typeface="Segoe UI"/>
              </a:rPr>
              <a:t>• So sánh OCR thô với kết quả chuẩn hóa</a:t>
            </a:r>
          </a:p>
          <a:p xmlns:a="http://schemas.openxmlformats.org/drawingml/2006/main">
            <a:r>
              <a:t/>
            </a:r>
          </a:p>
          <a:p xmlns:a="http://schemas.openxmlformats.org/drawingml/2006/main">
            <a:pPr algn="l">
              <a:defRPr sz="1350" b="0">
                <a:solidFill>
                  <a:srgbClr val="27354D"/>
                </a:solidFill>
                <a:latin typeface="Segoe UI"/>
                <a:ea typeface="Segoe UI"/>
                <a:cs typeface="Segoe UI"/>
              </a:defRPr>
            </a:pPr>
            <a:r>
              <a:rPr sz="1350" b="0">
                <a:solidFill>
                  <a:srgbClr val="27354D"/>
                </a:solidFill>
                <a:latin typeface="Segoe UI"/>
                <a:ea typeface="Segoe UI"/>
                <a:cs typeface="Segoe UI"/>
              </a:rPr>
              <a:t>• Hiển thị độ trễ từng bước</a:t>
            </a:r>
          </a:p>
        </p:txBody>
      </p:sp>
      <p:sp>
        <p:nvSpPr>
          <p:cNvPr id="16" name="demo-fallback">
            <a:extLst xmlns:a="http://schemas.openxmlformats.org/drawingml/2006/main">
              <a:ext uri="{FF2B5EF4-FFF2-40B4-BE49-F238E27FC236}">
                <a16:creationId xmlns:a16="http://schemas.microsoft.com/office/drawing/2014/main" id="{D6608AD1-4409-41E4-BAEE-55763428AFEB}"/>
              </a:ext>
            </a:extLst>
          </p:cNvPr>
          <p:cNvSpPr>
            <a:spLocks xmlns:a="http://schemas.openxmlformats.org/drawingml/2006/main" noGrp="1"/>
          </p:cNvSpPr>
          <p:nvPr/>
        </p:nvSpPr>
        <p:spPr>
          <a:xfrm xmlns:a="http://schemas.openxmlformats.org/drawingml/2006/main">
            <a:off x="857250" y="4762500"/>
            <a:ext cx="304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2563D8"/>
                </a:solidFill>
                <a:latin typeface="Segoe UI"/>
                <a:ea typeface="Segoe UI"/>
                <a:cs typeface="Segoe UI"/>
              </a:defRPr>
            </a:pPr>
            <a:r>
              <a:rPr sz="1200" b="1">
                <a:solidFill>
                  <a:srgbClr val="2563D8"/>
                </a:solidFill>
                <a:latin typeface="Segoe UI"/>
                <a:ea typeface="Segoe UI"/>
                <a:cs typeface="Segoe UI"/>
              </a:rPr>
              <a:t>Dự phòng: ảnh test ngoại tuyến và video demo 60 giây</a:t>
            </a:r>
          </a:p>
        </p:txBody>
      </p:sp>
    </p:spTree>
    <p:extLst>
      <p:ext uri="{BB962C8B-B14F-4D97-AF65-F5344CB8AC3E}">
        <p14:creationId xmlns:p14="http://schemas.microsoft.com/office/powerpoint/2010/main" val="30832818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7" name="title">
            <a:extLst xmlns:a="http://schemas.openxmlformats.org/drawingml/2006/main">
              <a:ext uri="{FF2B5EF4-FFF2-40B4-BE49-F238E27FC236}">
                <a16:creationId xmlns:a16="http://schemas.microsoft.com/office/drawing/2014/main" id="{D7BA4E8B-24B7-43C3-A464-62ACA5C28A1E}"/>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400" b="1">
                <a:solidFill>
                  <a:srgbClr val="112F63"/>
                </a:solidFill>
                <a:latin typeface="Segoe UI"/>
                <a:ea typeface="Segoe UI"/>
                <a:cs typeface="Segoe UI"/>
              </a:defRPr>
            </a:pPr>
            <a:r>
              <a:rPr sz="2400" b="1">
                <a:solidFill>
                  <a:srgbClr val="112F63"/>
                </a:solidFill>
                <a:latin typeface="Segoe UI"/>
                <a:ea typeface="Segoe UI"/>
                <a:cs typeface="Segoe UI"/>
              </a:rPr>
              <a:t>Kết luận</a:t>
            </a:r>
          </a:p>
        </p:txBody>
      </p:sp>
      <p:sp>
        <p:nvSpPr>
          <p:cNvPr id="2" name="subtitle">
            <a:extLst xmlns:a="http://schemas.openxmlformats.org/drawingml/2006/main">
              <a:ext uri="{FF2B5EF4-FFF2-40B4-BE49-F238E27FC236}">
                <a16:creationId xmlns:a16="http://schemas.microsoft.com/office/drawing/2014/main" id="{E8AA8876-FFC8-4E27-95FC-C3002DFC4D0C}"/>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0">
                <a:solidFill>
                  <a:srgbClr val="66758E"/>
                </a:solidFill>
                <a:latin typeface="Segoe UI"/>
                <a:ea typeface="Segoe UI"/>
                <a:cs typeface="Segoe UI"/>
              </a:defRPr>
            </a:pPr>
            <a:r>
              <a:rPr sz="1275" b="0">
                <a:solidFill>
                  <a:srgbClr val="66758E"/>
                </a:solidFill>
                <a:latin typeface="Segoe UI"/>
                <a:ea typeface="Segoe UI"/>
                <a:cs typeface="Segoe UI"/>
              </a:rPr>
              <a:t>Hệ thống đạt mục tiêu phát hiện và độ trễ; điểm nghẽn còn lại nằm ở biển hai dòng</a:t>
            </a:r>
          </a:p>
        </p:txBody>
      </p:sp>
      <p:sp>
        <p:nvSpPr>
          <p:cNvPr id="3" name="conclusion-card-0">
            <a:extLst xmlns:a="http://schemas.openxmlformats.org/drawingml/2006/main">
              <a:ext uri="{FF2B5EF4-FFF2-40B4-BE49-F238E27FC236}">
                <a16:creationId xmlns:a16="http://schemas.microsoft.com/office/drawing/2014/main" id="{481491E3-2B7B-4DC3-A240-BCF31A79C334}"/>
              </a:ext>
            </a:extLst>
          </p:cNvPr>
          <p:cNvSpPr>
            <a:spLocks xmlns:a="http://schemas.openxmlformats.org/drawingml/2006/main" noGrp="1"/>
          </p:cNvSpPr>
          <p:nvPr/>
        </p:nvSpPr>
        <p:spPr>
          <a:xfrm xmlns:a="http://schemas.openxmlformats.org/drawingml/2006/main">
            <a:off x="666750" y="1714500"/>
            <a:ext cx="2476500" cy="2000250"/>
          </a:xfrm>
          <a:prstGeom xmlns:a="http://schemas.openxmlformats.org/drawingml/2006/main" prst="roundRect">
            <a:avLst>
              <a:gd name="adj" fmla="val 7619"/>
            </a:avLst>
          </a:prstGeom>
          <a:solidFill xmlns:a="http://schemas.openxmlformats.org/drawingml/2006/main">
            <a:srgbClr val="F5F9FE"/>
          </a:solidFill>
          <a:ln xmlns:a="http://schemas.openxmlformats.org/drawingml/2006/main" w="9525">
            <a:solidFill>
              <a:srgbClr val="D7E2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conclusion-value-0">
            <a:extLst xmlns:a="http://schemas.openxmlformats.org/drawingml/2006/main">
              <a:ext uri="{FF2B5EF4-FFF2-40B4-BE49-F238E27FC236}">
                <a16:creationId xmlns:a16="http://schemas.microsoft.com/office/drawing/2014/main" id="{39B2E183-8A7C-4405-80C4-DBECFEB00328}"/>
              </a:ext>
            </a:extLst>
          </p:cNvPr>
          <p:cNvSpPr>
            <a:spLocks xmlns:a="http://schemas.openxmlformats.org/drawingml/2006/main" noGrp="1"/>
          </p:cNvSpPr>
          <p:nvPr/>
        </p:nvSpPr>
        <p:spPr>
          <a:xfrm xmlns:a="http://schemas.openxmlformats.org/drawingml/2006/main">
            <a:off x="809625" y="2047875"/>
            <a:ext cx="219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2250" b="1">
                <a:solidFill>
                  <a:srgbClr val="2563D8"/>
                </a:solidFill>
                <a:latin typeface="Segoe UI"/>
                <a:ea typeface="Segoe UI"/>
                <a:cs typeface="Segoe UI"/>
              </a:defRPr>
            </a:pPr>
            <a:r>
              <a:rPr sz="2250" b="1">
                <a:solidFill>
                  <a:srgbClr val="2563D8"/>
                </a:solidFill>
                <a:latin typeface="Segoe UI"/>
                <a:ea typeface="Segoe UI"/>
                <a:cs typeface="Segoe UI"/>
              </a:rPr>
              <a:t>0,9829</a:t>
            </a:r>
          </a:p>
        </p:txBody>
      </p:sp>
      <p:sp>
        <p:nvSpPr>
          <p:cNvPr id="5" name="conclusion-label-0">
            <a:extLst xmlns:a="http://schemas.openxmlformats.org/drawingml/2006/main">
              <a:ext uri="{FF2B5EF4-FFF2-40B4-BE49-F238E27FC236}">
                <a16:creationId xmlns:a16="http://schemas.microsoft.com/office/drawing/2014/main" id="{4A80A70C-8AB9-40F4-A456-6DD66AE91517}"/>
              </a:ext>
            </a:extLst>
          </p:cNvPr>
          <p:cNvSpPr>
            <a:spLocks xmlns:a="http://schemas.openxmlformats.org/drawingml/2006/main" noGrp="1"/>
          </p:cNvSpPr>
          <p:nvPr/>
        </p:nvSpPr>
        <p:spPr>
          <a:xfrm xmlns:a="http://schemas.openxmlformats.org/drawingml/2006/main">
            <a:off x="857250" y="285750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0">
                <a:solidFill>
                  <a:srgbClr val="66758E"/>
                </a:solidFill>
                <a:latin typeface="Segoe UI"/>
                <a:ea typeface="Segoe UI"/>
                <a:cs typeface="Segoe UI"/>
              </a:defRPr>
            </a:pPr>
            <a:r>
              <a:rPr sz="1275" b="0">
                <a:solidFill>
                  <a:srgbClr val="66758E"/>
                </a:solidFill>
                <a:latin typeface="Segoe UI"/>
                <a:ea typeface="Segoe UI"/>
                <a:cs typeface="Segoe UI"/>
              </a:rPr>
              <a:t>mAP@0,5</a:t>
            </a:r>
          </a:p>
        </p:txBody>
      </p:sp>
      <p:sp>
        <p:nvSpPr>
          <p:cNvPr id="6" name="conclusion-card-1">
            <a:extLst xmlns:a="http://schemas.openxmlformats.org/drawingml/2006/main">
              <a:ext uri="{FF2B5EF4-FFF2-40B4-BE49-F238E27FC236}">
                <a16:creationId xmlns:a16="http://schemas.microsoft.com/office/drawing/2014/main" id="{733ADC50-5387-4C1B-9C88-1AA73094CE42}"/>
              </a:ext>
            </a:extLst>
          </p:cNvPr>
          <p:cNvSpPr>
            <a:spLocks xmlns:a="http://schemas.openxmlformats.org/drawingml/2006/main" noGrp="1"/>
          </p:cNvSpPr>
          <p:nvPr/>
        </p:nvSpPr>
        <p:spPr>
          <a:xfrm xmlns:a="http://schemas.openxmlformats.org/drawingml/2006/main">
            <a:off x="3524250" y="1714500"/>
            <a:ext cx="2476500" cy="2000250"/>
          </a:xfrm>
          <a:prstGeom xmlns:a="http://schemas.openxmlformats.org/drawingml/2006/main" prst="roundRect">
            <a:avLst>
              <a:gd name="adj" fmla="val 7619"/>
            </a:avLst>
          </a:prstGeom>
          <a:solidFill xmlns:a="http://schemas.openxmlformats.org/drawingml/2006/main">
            <a:srgbClr val="F5F9FE"/>
          </a:solidFill>
          <a:ln xmlns:a="http://schemas.openxmlformats.org/drawingml/2006/main" w="9525">
            <a:solidFill>
              <a:srgbClr val="D7E2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conclusion-value-1">
            <a:extLst xmlns:a="http://schemas.openxmlformats.org/drawingml/2006/main">
              <a:ext uri="{FF2B5EF4-FFF2-40B4-BE49-F238E27FC236}">
                <a16:creationId xmlns:a16="http://schemas.microsoft.com/office/drawing/2014/main" id="{E2938649-5A7A-42E6-B611-2F3F3DDC80D9}"/>
              </a:ext>
            </a:extLst>
          </p:cNvPr>
          <p:cNvSpPr>
            <a:spLocks xmlns:a="http://schemas.openxmlformats.org/drawingml/2006/main" noGrp="1"/>
          </p:cNvSpPr>
          <p:nvPr/>
        </p:nvSpPr>
        <p:spPr>
          <a:xfrm xmlns:a="http://schemas.openxmlformats.org/drawingml/2006/main">
            <a:off x="3667125" y="2047875"/>
            <a:ext cx="219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2250" b="1">
                <a:solidFill>
                  <a:srgbClr val="2563D8"/>
                </a:solidFill>
                <a:latin typeface="Segoe UI"/>
                <a:ea typeface="Segoe UI"/>
                <a:cs typeface="Segoe UI"/>
              </a:defRPr>
            </a:pPr>
            <a:r>
              <a:rPr sz="2250" b="1">
                <a:solidFill>
                  <a:srgbClr val="2563D8"/>
                </a:solidFill>
                <a:latin typeface="Segoe UI"/>
                <a:ea typeface="Segoe UI"/>
                <a:cs typeface="Segoe UI"/>
              </a:rPr>
              <a:t>+34,92 điểm</a:t>
            </a:r>
          </a:p>
        </p:txBody>
      </p:sp>
      <p:sp>
        <p:nvSpPr>
          <p:cNvPr id="8" name="conclusion-label-1">
            <a:extLst xmlns:a="http://schemas.openxmlformats.org/drawingml/2006/main">
              <a:ext uri="{FF2B5EF4-FFF2-40B4-BE49-F238E27FC236}">
                <a16:creationId xmlns:a16="http://schemas.microsoft.com/office/drawing/2014/main" id="{36697BBD-2DDC-4CBD-9999-DF14B432CABD}"/>
              </a:ext>
            </a:extLst>
          </p:cNvPr>
          <p:cNvSpPr>
            <a:spLocks xmlns:a="http://schemas.openxmlformats.org/drawingml/2006/main" noGrp="1"/>
          </p:cNvSpPr>
          <p:nvPr/>
        </p:nvSpPr>
        <p:spPr>
          <a:xfrm xmlns:a="http://schemas.openxmlformats.org/drawingml/2006/main">
            <a:off x="3714750" y="285750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0">
                <a:solidFill>
                  <a:srgbClr val="66758E"/>
                </a:solidFill>
                <a:latin typeface="Segoe UI"/>
                <a:ea typeface="Segoe UI"/>
                <a:cs typeface="Segoe UI"/>
              </a:defRPr>
            </a:pPr>
            <a:r>
              <a:rPr sz="1275" b="0">
                <a:solidFill>
                  <a:srgbClr val="66758E"/>
                </a:solidFill>
                <a:latin typeface="Segoe UI"/>
                <a:ea typeface="Segoe UI"/>
                <a:cs typeface="Segoe UI"/>
              </a:rPr>
              <a:t>Tách-ghép ngang</a:t>
            </a:r>
          </a:p>
        </p:txBody>
      </p:sp>
      <p:sp>
        <p:nvSpPr>
          <p:cNvPr id="9" name="conclusion-card-2">
            <a:extLst xmlns:a="http://schemas.openxmlformats.org/drawingml/2006/main">
              <a:ext uri="{FF2B5EF4-FFF2-40B4-BE49-F238E27FC236}">
                <a16:creationId xmlns:a16="http://schemas.microsoft.com/office/drawing/2014/main" id="{2E4B97F2-00A5-40DA-9C98-B6E7AF97EE6B}"/>
              </a:ext>
            </a:extLst>
          </p:cNvPr>
          <p:cNvSpPr>
            <a:spLocks xmlns:a="http://schemas.openxmlformats.org/drawingml/2006/main" noGrp="1"/>
          </p:cNvSpPr>
          <p:nvPr/>
        </p:nvSpPr>
        <p:spPr>
          <a:xfrm xmlns:a="http://schemas.openxmlformats.org/drawingml/2006/main">
            <a:off x="6381750" y="1714500"/>
            <a:ext cx="2476500" cy="2000250"/>
          </a:xfrm>
          <a:prstGeom xmlns:a="http://schemas.openxmlformats.org/drawingml/2006/main" prst="roundRect">
            <a:avLst>
              <a:gd name="adj" fmla="val 7619"/>
            </a:avLst>
          </a:prstGeom>
          <a:solidFill xmlns:a="http://schemas.openxmlformats.org/drawingml/2006/main">
            <a:srgbClr val="F5F9FE"/>
          </a:solidFill>
          <a:ln xmlns:a="http://schemas.openxmlformats.org/drawingml/2006/main" w="9525">
            <a:solidFill>
              <a:srgbClr val="D7E2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conclusion-value-2">
            <a:extLst xmlns:a="http://schemas.openxmlformats.org/drawingml/2006/main">
              <a:ext uri="{FF2B5EF4-FFF2-40B4-BE49-F238E27FC236}">
                <a16:creationId xmlns:a16="http://schemas.microsoft.com/office/drawing/2014/main" id="{F3A9B23F-E0BE-491C-BEDB-6B0FB9BAF46E}"/>
              </a:ext>
            </a:extLst>
          </p:cNvPr>
          <p:cNvSpPr>
            <a:spLocks xmlns:a="http://schemas.openxmlformats.org/drawingml/2006/main" noGrp="1"/>
          </p:cNvSpPr>
          <p:nvPr/>
        </p:nvSpPr>
        <p:spPr>
          <a:xfrm xmlns:a="http://schemas.openxmlformats.org/drawingml/2006/main">
            <a:off x="6524625" y="2047875"/>
            <a:ext cx="219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2250" b="1">
                <a:solidFill>
                  <a:srgbClr val="119B69"/>
                </a:solidFill>
                <a:latin typeface="Segoe UI"/>
                <a:ea typeface="Segoe UI"/>
                <a:cs typeface="Segoe UI"/>
              </a:defRPr>
            </a:pPr>
            <a:r>
              <a:rPr sz="2250" b="1">
                <a:solidFill>
                  <a:srgbClr val="119B69"/>
                </a:solidFill>
                <a:latin typeface="Segoe UI"/>
                <a:ea typeface="Segoe UI"/>
                <a:cs typeface="Segoe UI"/>
              </a:rPr>
              <a:t>+13,28 điểm</a:t>
            </a:r>
          </a:p>
        </p:txBody>
      </p:sp>
      <p:sp>
        <p:nvSpPr>
          <p:cNvPr id="11" name="conclusion-label-2">
            <a:extLst xmlns:a="http://schemas.openxmlformats.org/drawingml/2006/main">
              <a:ext uri="{FF2B5EF4-FFF2-40B4-BE49-F238E27FC236}">
                <a16:creationId xmlns:a16="http://schemas.microsoft.com/office/drawing/2014/main" id="{ABE23906-74D5-430B-9B32-F679BDF5BE65}"/>
              </a:ext>
            </a:extLst>
          </p:cNvPr>
          <p:cNvSpPr>
            <a:spLocks xmlns:a="http://schemas.openxmlformats.org/drawingml/2006/main" noGrp="1"/>
          </p:cNvSpPr>
          <p:nvPr/>
        </p:nvSpPr>
        <p:spPr>
          <a:xfrm xmlns:a="http://schemas.openxmlformats.org/drawingml/2006/main">
            <a:off x="6572250" y="285750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0">
                <a:solidFill>
                  <a:srgbClr val="66758E"/>
                </a:solidFill>
                <a:latin typeface="Segoe UI"/>
                <a:ea typeface="Segoe UI"/>
                <a:cs typeface="Segoe UI"/>
              </a:defRPr>
            </a:pPr>
            <a:r>
              <a:rPr sz="1275" b="0">
                <a:solidFill>
                  <a:srgbClr val="66758E"/>
                </a:solidFill>
                <a:latin typeface="Segoe UI"/>
                <a:ea typeface="Segoe UI"/>
                <a:cs typeface="Segoe UI"/>
              </a:rPr>
              <a:t>Hậu xử lý vị trí</a:t>
            </a:r>
          </a:p>
        </p:txBody>
      </p:sp>
      <p:sp>
        <p:nvSpPr>
          <p:cNvPr id="12" name="conclusion-card-3">
            <a:extLst xmlns:a="http://schemas.openxmlformats.org/drawingml/2006/main">
              <a:ext uri="{FF2B5EF4-FFF2-40B4-BE49-F238E27FC236}">
                <a16:creationId xmlns:a16="http://schemas.microsoft.com/office/drawing/2014/main" id="{D56A7C37-CB5D-48DF-9C5B-EAFA69FE42F9}"/>
              </a:ext>
            </a:extLst>
          </p:cNvPr>
          <p:cNvSpPr>
            <a:spLocks xmlns:a="http://schemas.openxmlformats.org/drawingml/2006/main" noGrp="1"/>
          </p:cNvSpPr>
          <p:nvPr/>
        </p:nvSpPr>
        <p:spPr>
          <a:xfrm xmlns:a="http://schemas.openxmlformats.org/drawingml/2006/main">
            <a:off x="9239250" y="1714500"/>
            <a:ext cx="2476500" cy="2000250"/>
          </a:xfrm>
          <a:prstGeom xmlns:a="http://schemas.openxmlformats.org/drawingml/2006/main" prst="roundRect">
            <a:avLst>
              <a:gd name="adj" fmla="val 7619"/>
            </a:avLst>
          </a:prstGeom>
          <a:solidFill xmlns:a="http://schemas.openxmlformats.org/drawingml/2006/main">
            <a:srgbClr val="F5F9FE"/>
          </a:solidFill>
          <a:ln xmlns:a="http://schemas.openxmlformats.org/drawingml/2006/main" w="9525">
            <a:solidFill>
              <a:srgbClr val="D7E2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conclusion-value-3">
            <a:extLst xmlns:a="http://schemas.openxmlformats.org/drawingml/2006/main">
              <a:ext uri="{FF2B5EF4-FFF2-40B4-BE49-F238E27FC236}">
                <a16:creationId xmlns:a16="http://schemas.microsoft.com/office/drawing/2014/main" id="{B63BB571-3BB3-418C-8C4C-95140BCFE771}"/>
              </a:ext>
            </a:extLst>
          </p:cNvPr>
          <p:cNvSpPr>
            <a:spLocks xmlns:a="http://schemas.openxmlformats.org/drawingml/2006/main" noGrp="1"/>
          </p:cNvSpPr>
          <p:nvPr/>
        </p:nvSpPr>
        <p:spPr>
          <a:xfrm xmlns:a="http://schemas.openxmlformats.org/drawingml/2006/main">
            <a:off x="9382125" y="2047875"/>
            <a:ext cx="219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2250" b="1">
                <a:solidFill>
                  <a:srgbClr val="119B69"/>
                </a:solidFill>
                <a:latin typeface="Segoe UI"/>
                <a:ea typeface="Segoe UI"/>
                <a:cs typeface="Segoe UI"/>
              </a:defRPr>
            </a:pPr>
            <a:r>
              <a:rPr sz="2250" b="1">
                <a:solidFill>
                  <a:srgbClr val="119B69"/>
                </a:solidFill>
                <a:latin typeface="Segoe UI"/>
                <a:ea typeface="Segoe UI"/>
                <a:cs typeface="Segoe UI"/>
              </a:rPr>
              <a:t>509,76 ms</a:t>
            </a:r>
          </a:p>
        </p:txBody>
      </p:sp>
      <p:sp>
        <p:nvSpPr>
          <p:cNvPr id="14" name="conclusion-label-3">
            <a:extLst xmlns:a="http://schemas.openxmlformats.org/drawingml/2006/main">
              <a:ext uri="{FF2B5EF4-FFF2-40B4-BE49-F238E27FC236}">
                <a16:creationId xmlns:a16="http://schemas.microsoft.com/office/drawing/2014/main" id="{ED8F6CEC-0D62-4B9D-808D-2EFCFE017343}"/>
              </a:ext>
            </a:extLst>
          </p:cNvPr>
          <p:cNvSpPr>
            <a:spLocks xmlns:a="http://schemas.openxmlformats.org/drawingml/2006/main" noGrp="1"/>
          </p:cNvSpPr>
          <p:nvPr/>
        </p:nvSpPr>
        <p:spPr>
          <a:xfrm xmlns:a="http://schemas.openxmlformats.org/drawingml/2006/main">
            <a:off x="9429750" y="285750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0">
                <a:solidFill>
                  <a:srgbClr val="66758E"/>
                </a:solidFill>
                <a:latin typeface="Segoe UI"/>
                <a:ea typeface="Segoe UI"/>
                <a:cs typeface="Segoe UI"/>
              </a:defRPr>
            </a:pPr>
            <a:r>
              <a:rPr sz="1275" b="0">
                <a:solidFill>
                  <a:srgbClr val="66758E"/>
                </a:solidFill>
                <a:latin typeface="Segoe UI"/>
                <a:ea typeface="Segoe UI"/>
                <a:cs typeface="Segoe UI"/>
              </a:rPr>
              <a:t>Độ trễ p95 CPU</a:t>
            </a:r>
          </a:p>
        </p:txBody>
      </p:sp>
      <p:sp>
        <p:nvSpPr>
          <p:cNvPr id="15" name="remaining-gap">
            <a:extLst xmlns:a="http://schemas.openxmlformats.org/drawingml/2006/main">
              <a:ext uri="{FF2B5EF4-FFF2-40B4-BE49-F238E27FC236}">
                <a16:creationId xmlns:a16="http://schemas.microsoft.com/office/drawing/2014/main" id="{4C2213C5-E6A4-49D6-816B-E80E3ED3F5EB}"/>
              </a:ext>
            </a:extLst>
          </p:cNvPr>
          <p:cNvSpPr>
            <a:spLocks xmlns:a="http://schemas.openxmlformats.org/drawingml/2006/main" noGrp="1"/>
          </p:cNvSpPr>
          <p:nvPr/>
        </p:nvSpPr>
        <p:spPr>
          <a:xfrm xmlns:a="http://schemas.openxmlformats.org/drawingml/2006/main">
            <a:off x="1809750" y="4476750"/>
            <a:ext cx="857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a:solidFill>
                  <a:srgbClr val="D24747"/>
                </a:solidFill>
                <a:latin typeface="Segoe UI"/>
                <a:ea typeface="Segoe UI"/>
                <a:cs typeface="Segoe UI"/>
              </a:defRPr>
            </a:pPr>
            <a:r>
              <a:rPr sz="1875" b="1">
                <a:solidFill>
                  <a:srgbClr val="D24747"/>
                </a:solidFill>
                <a:latin typeface="Segoe UI"/>
                <a:ea typeface="Segoe UI"/>
                <a:cs typeface="Segoe UI"/>
              </a:rPr>
              <a:t>Biển một dòng S₁ = 0,9541  •  Biển hai dòng S₁ = 0,7234</a:t>
            </a:r>
          </a:p>
        </p:txBody>
      </p:sp>
      <p:sp>
        <p:nvSpPr>
          <p:cNvPr id="16" name="conclusion-takeaway">
            <a:extLst xmlns:a="http://schemas.openxmlformats.org/drawingml/2006/main">
              <a:ext uri="{FF2B5EF4-FFF2-40B4-BE49-F238E27FC236}">
                <a16:creationId xmlns:a16="http://schemas.microsoft.com/office/drawing/2014/main" id="{AAFCBDCB-9D7A-487C-A567-8CDA7C8CA815}"/>
              </a:ext>
            </a:extLst>
          </p:cNvPr>
          <p:cNvSpPr>
            <a:spLocks xmlns:a="http://schemas.openxmlformats.org/drawingml/2006/main" noGrp="1"/>
          </p:cNvSpPr>
          <p:nvPr/>
        </p:nvSpPr>
        <p:spPr>
          <a:xfrm xmlns:a="http://schemas.openxmlformats.org/drawingml/2006/main">
            <a:off x="2381250" y="5238750"/>
            <a:ext cx="7429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425" b="1">
                <a:solidFill>
                  <a:srgbClr val="112F63"/>
                </a:solidFill>
                <a:latin typeface="Segoe UI"/>
                <a:ea typeface="Segoe UI"/>
                <a:cs typeface="Segoe UI"/>
              </a:defRPr>
            </a:pPr>
            <a:r>
              <a:rPr sz="1425" b="1">
                <a:solidFill>
                  <a:srgbClr val="112F63"/>
                </a:solidFill>
                <a:latin typeface="Segoe UI"/>
                <a:ea typeface="Segoe UI"/>
                <a:cs typeface="Segoe UI"/>
              </a:rPr>
              <a:t>Nhóm thực hiện đã định vị rõ nguyên nhân và hướng xử lý tiếp theo</a:t>
            </a:r>
          </a:p>
        </p:txBody>
      </p:sp>
    </p:spTree>
    <p:extLst>
      <p:ext uri="{BB962C8B-B14F-4D97-AF65-F5344CB8AC3E}">
        <p14:creationId xmlns:p14="http://schemas.microsoft.com/office/powerpoint/2010/main" val="1030187610"/>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A4D9474-4503-47A7-AD51-475A4DA1EA00}"/>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400" b="1">
                <a:solidFill>
                  <a:srgbClr val="112F63"/>
                </a:solidFill>
                <a:latin typeface="Segoe UI"/>
                <a:ea typeface="Segoe UI"/>
                <a:cs typeface="Segoe UI"/>
              </a:defRPr>
            </a:pPr>
            <a:r>
              <a:rPr sz="2400" b="1">
                <a:solidFill>
                  <a:srgbClr val="112F63"/>
                </a:solidFill>
                <a:latin typeface="Segoe UI"/>
                <a:ea typeface="Segoe UI"/>
                <a:cs typeface="Segoe UI"/>
              </a:rPr>
              <a:t>Hạn chế và hướng phát triển</a:t>
            </a:r>
          </a:p>
        </p:txBody>
      </p:sp>
      <p:sp>
        <p:nvSpPr>
          <p:cNvPr id="2" name="subtitle">
            <a:extLst xmlns:a="http://schemas.openxmlformats.org/drawingml/2006/main">
              <a:ext uri="{FF2B5EF4-FFF2-40B4-BE49-F238E27FC236}">
                <a16:creationId xmlns:a16="http://schemas.microsoft.com/office/drawing/2014/main" id="{BE76E38E-8DB6-4F6A-85A2-99ED27761EE6}"/>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0">
                <a:solidFill>
                  <a:srgbClr val="66758E"/>
                </a:solidFill>
                <a:latin typeface="Segoe UI"/>
                <a:ea typeface="Segoe UI"/>
                <a:cs typeface="Segoe UI"/>
              </a:defRPr>
            </a:pPr>
            <a:r>
              <a:rPr sz="1275" b="0">
                <a:solidFill>
                  <a:srgbClr val="66758E"/>
                </a:solidFill>
                <a:latin typeface="Segoe UI"/>
                <a:ea typeface="Segoe UI"/>
                <a:cs typeface="Segoe UI"/>
              </a:rPr>
              <a:t>Mỗi hướng phát triển gắn trực tiếp với một hạn chế đã đo hoặc đã xác định</a:t>
            </a:r>
          </a:p>
        </p:txBody>
      </p:sp>
      <p:graphicFrame>
        <p:nvGraphicFramePr>
          <p:cNvPr id="9" name=""/>
          <p:cNvGraphicFramePr/>
          <p:nvPr/>
        </p:nvGraphicFramePr>
        <p:xfrm>
          <a:off xmlns:a="http://schemas.openxmlformats.org/drawingml/2006/main" x="952500" y="1666875"/>
          <a:ext xmlns:a="http://schemas.openxmlformats.org/drawingml/2006/main" cx="10287000" cy="3000375"/>
        </p:xfrm>
        <a:graphic xmlns:a="http://schemas.openxmlformats.org/drawingml/2006/main">
          <a:graphicData uri="http://schemas.openxmlformats.org/drawingml/2006/table">
            <a:tbl>
              <a:tblPr firstRow="1" bandRow="1"/>
              <a:tblGrid>
                <a:gridCol w="4095750"/>
                <a:gridCol w="6191250"/>
              </a:tblGrid>
              <a:tr h="750094">
                <a:tc>
                  <a:txBody>
                    <a:bodyPr/>
                    <a:lstStyle/>
                    <a:p>
                      <a:r>
                        <a:rPr sz="1125" b="1">
                          <a:solidFill>
                            <a:srgbClr val="FFFFFF"/>
                          </a:solidFill>
                          <a:latin typeface="Segoe UI"/>
                          <a:ea typeface="Segoe UI"/>
                          <a:cs typeface="Segoe UI"/>
                        </a:rPr>
                        <a:t>Hạn chế</a:t>
                      </a:r>
                    </a:p>
                  </a:txBody>
                  <a:tcPr marL="95250" marR="95250" marT="76200" marB="76200" anchor="ctr">
                    <a:solidFill>
                      <a:srgbClr val="112F63"/>
                    </a:solidFill>
                  </a:tcPr>
                </a:tc>
                <a:tc>
                  <a:txBody>
                    <a:bodyPr/>
                    <a:lstStyle/>
                    <a:p>
                      <a:r>
                        <a:rPr sz="1125" b="1">
                          <a:solidFill>
                            <a:srgbClr val="FFFFFF"/>
                          </a:solidFill>
                          <a:latin typeface="Segoe UI"/>
                          <a:ea typeface="Segoe UI"/>
                          <a:cs typeface="Segoe UI"/>
                        </a:rPr>
                        <a:t>Hướng phát triển</a:t>
                      </a:r>
                    </a:p>
                  </a:txBody>
                  <a:tcPr marL="95250" marR="95250" marT="76200" marB="76200" anchor="ctr">
                    <a:solidFill>
                      <a:srgbClr val="112F63"/>
                    </a:solidFill>
                  </a:tcPr>
                </a:tc>
              </a:tr>
              <a:tr h="750094">
                <a:tc>
                  <a:txBody>
                    <a:bodyPr/>
                    <a:lstStyle/>
                    <a:p>
                      <a:r>
                        <a:rPr sz="1200" b="1">
                          <a:solidFill>
                            <a:srgbClr val="D24747"/>
                          </a:solidFill>
                          <a:latin typeface="Segoe UI"/>
                          <a:ea typeface="Segoe UI"/>
                          <a:cs typeface="Segoe UI"/>
                        </a:rPr>
                        <a:t>Biển hai dòng S₁ = 0,7234</a:t>
                      </a:r>
                    </a:p>
                  </a:txBody>
                  <a:tcPr marL="95250" marR="95250" marT="66675" marB="66675" anchor="ctr"/>
                </a:tc>
                <a:tc>
                  <a:txBody>
                    <a:bodyPr/>
                    <a:lstStyle/>
                    <a:p>
                      <a:r>
                        <a:rPr sz="1200">
                          <a:solidFill>
                            <a:srgbClr val="27354D"/>
                          </a:solidFill>
                          <a:latin typeface="Segoe UI"/>
                          <a:ea typeface="Segoe UI"/>
                          <a:cs typeface="Segoe UI"/>
                        </a:rPr>
                        <a:t>Huấn luyện recognizer chuyên biệt cho biển Việt Nam</a:t>
                      </a:r>
                    </a:p>
                  </a:txBody>
                  <a:tcPr marL="95250" marR="95250" marT="66675" marB="66675" anchor="ctr"/>
                </a:tc>
              </a:tr>
              <a:tr h="750094">
                <a:tc>
                  <a:txBody>
                    <a:bodyPr/>
                    <a:lstStyle/>
                    <a:p>
                      <a:r>
                        <a:rPr sz="1200" b="1">
                          <a:solidFill>
                            <a:srgbClr val="D24747"/>
                          </a:solidFill>
                          <a:latin typeface="Segoe UI"/>
                          <a:ea typeface="Segoe UI"/>
                          <a:cs typeface="Segoe UI"/>
                        </a:rPr>
                        <a:t>Bảng ánh xạ nhầm lẫn còn hạn chế</a:t>
                      </a:r>
                    </a:p>
                  </a:txBody>
                  <a:tcPr marL="95250" marR="95250" marT="66675" marB="66675" anchor="ctr"/>
                </a:tc>
                <a:tc>
                  <a:txBody>
                    <a:bodyPr/>
                    <a:lstStyle/>
                    <a:p>
                      <a:r>
                        <a:rPr sz="1200">
                          <a:solidFill>
                            <a:srgbClr val="27354D"/>
                          </a:solidFill>
                          <a:latin typeface="Segoe UI"/>
                          <a:ea typeface="Segoe UI"/>
                          <a:cs typeface="Segoe UI"/>
                        </a:rPr>
                        <a:t>Mở rộng từ ma trận nhầm lẫn trên dữ liệu mới</a:t>
                      </a:r>
                    </a:p>
                  </a:txBody>
                  <a:tcPr marL="95250" marR="95250" marT="66675" marB="66675" anchor="ctr"/>
                </a:tc>
              </a:tr>
              <a:tr h="750094">
                <a:tc>
                  <a:txBody>
                    <a:bodyPr/>
                    <a:lstStyle/>
                    <a:p>
                      <a:r>
                        <a:rPr sz="1200" b="1">
                          <a:solidFill>
                            <a:srgbClr val="D24747"/>
                          </a:solidFill>
                          <a:latin typeface="Segoe UI"/>
                          <a:ea typeface="Segoe UI"/>
                          <a:cs typeface="Segoe UI"/>
                        </a:rPr>
                        <a:t>Tập test chưa xuyên nguồn dữ liệu</a:t>
                      </a:r>
                    </a:p>
                  </a:txBody>
                  <a:tcPr marL="95250" marR="95250" marT="66675" marB="66675" anchor="ctr"/>
                </a:tc>
                <a:tc>
                  <a:txBody>
                    <a:bodyPr/>
                    <a:lstStyle/>
                    <a:p>
                      <a:r>
                        <a:rPr sz="1200">
                          <a:solidFill>
                            <a:srgbClr val="27354D"/>
                          </a:solidFill>
                          <a:latin typeface="Segoe UI"/>
                          <a:ea typeface="Segoe UI"/>
                          <a:cs typeface="Segoe UI"/>
                        </a:rPr>
                        <a:t>Bổ sung đánh giá chéo theo nguồn và chuỗi biển số</a:t>
                      </a:r>
                    </a:p>
                  </a:txBody>
                  <a:tcPr marL="95250" marR="95250" marT="66675" marB="66675" anchor="ctr"/>
                </a:tc>
              </a:tr>
            </a:tbl>
          </a:graphicData>
        </a:graphic>
      </p:graphicFrame>
      <p:sp>
        <p:nvSpPr>
          <p:cNvPr id="4" name="scope-note">
            <a:extLst xmlns:a="http://schemas.openxmlformats.org/drawingml/2006/main">
              <a:ext uri="{FF2B5EF4-FFF2-40B4-BE49-F238E27FC236}">
                <a16:creationId xmlns:a16="http://schemas.microsoft.com/office/drawing/2014/main" id="{E151D669-77D3-46EF-8DC6-357BCFB78F8F}"/>
              </a:ext>
            </a:extLst>
          </p:cNvPr>
          <p:cNvSpPr>
            <a:spLocks xmlns:a="http://schemas.openxmlformats.org/drawingml/2006/main" noGrp="1"/>
          </p:cNvSpPr>
          <p:nvPr/>
        </p:nvSpPr>
        <p:spPr>
          <a:xfrm xmlns:a="http://schemas.openxmlformats.org/drawingml/2006/main">
            <a:off x="2190750" y="5191125"/>
            <a:ext cx="7810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500" b="1">
                <a:solidFill>
                  <a:srgbClr val="112F63"/>
                </a:solidFill>
                <a:latin typeface="Segoe UI"/>
                <a:ea typeface="Segoe UI"/>
                <a:cs typeface="Segoe UI"/>
              </a:defRPr>
            </a:pPr>
            <a:r>
              <a:rPr sz="1500" b="1">
                <a:solidFill>
                  <a:srgbClr val="112F63"/>
                </a:solidFill>
                <a:latin typeface="Segoe UI"/>
                <a:ea typeface="Segoe UI"/>
                <a:cs typeface="Segoe UI"/>
              </a:rPr>
              <a:t>Ưu tiên tiếp theo: bộ nhận dạng ký tự chuyên biệt cho bố cục hai dòng</a:t>
            </a:r>
          </a:p>
        </p:txBody>
      </p:sp>
    </p:spTree>
    <p:extLst>
      <p:ext uri="{BB962C8B-B14F-4D97-AF65-F5344CB8AC3E}">
        <p14:creationId xmlns:p14="http://schemas.microsoft.com/office/powerpoint/2010/main" val="4485762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5" name="thanks">
            <a:extLst xmlns:a="http://schemas.openxmlformats.org/drawingml/2006/main">
              <a:ext uri="{FF2B5EF4-FFF2-40B4-BE49-F238E27FC236}">
                <a16:creationId xmlns:a16="http://schemas.microsoft.com/office/drawing/2014/main" id="{42D5E5E4-9B37-4A94-96DD-65BDA41BB097}"/>
              </a:ext>
            </a:extLst>
          </p:cNvPr>
          <p:cNvSpPr>
            <a:spLocks xmlns:a="http://schemas.openxmlformats.org/drawingml/2006/main" noGrp="1"/>
          </p:cNvSpPr>
          <p:nvPr/>
        </p:nvSpPr>
        <p:spPr>
          <a:xfrm xmlns:a="http://schemas.openxmlformats.org/drawingml/2006/main">
            <a:off x="1666875" y="1666875"/>
            <a:ext cx="8858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3150" b="1">
                <a:solidFill>
                  <a:srgbClr val="112F63"/>
                </a:solidFill>
                <a:latin typeface="Segoe UI"/>
                <a:ea typeface="Segoe UI"/>
                <a:cs typeface="Segoe UI"/>
              </a:defRPr>
            </a:pPr>
            <a:r>
              <a:rPr sz="3150" b="1">
                <a:solidFill>
                  <a:srgbClr val="112F63"/>
                </a:solidFill>
                <a:latin typeface="Segoe UI"/>
                <a:ea typeface="Segoe UI"/>
                <a:cs typeface="Segoe UI"/>
              </a:rPr>
              <a:t>TRÂN TRỌNG CẢM ƠN</a:t>
            </a:r>
          </a:p>
        </p:txBody>
      </p:sp>
      <p:sp>
        <p:nvSpPr>
          <p:cNvPr id="2" name="qa">
            <a:extLst xmlns:a="http://schemas.openxmlformats.org/drawingml/2006/main">
              <a:ext uri="{FF2B5EF4-FFF2-40B4-BE49-F238E27FC236}">
                <a16:creationId xmlns:a16="http://schemas.microsoft.com/office/drawing/2014/main" id="{985F7C46-3634-46B1-8730-1C61E3299CE7}"/>
              </a:ext>
            </a:extLst>
          </p:cNvPr>
          <p:cNvSpPr>
            <a:spLocks xmlns:a="http://schemas.openxmlformats.org/drawingml/2006/main" noGrp="1"/>
          </p:cNvSpPr>
          <p:nvPr/>
        </p:nvSpPr>
        <p:spPr>
          <a:xfrm xmlns:a="http://schemas.openxmlformats.org/drawingml/2006/main">
            <a:off x="3714750" y="2619375"/>
            <a:ext cx="476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4800" b="1">
                <a:solidFill>
                  <a:srgbClr val="2563D8"/>
                </a:solidFill>
                <a:latin typeface="Segoe UI"/>
                <a:ea typeface="Segoe UI"/>
                <a:cs typeface="Segoe UI"/>
              </a:defRPr>
            </a:pPr>
            <a:r>
              <a:rPr sz="4800" b="1">
                <a:solidFill>
                  <a:srgbClr val="2563D8"/>
                </a:solidFill>
                <a:latin typeface="Segoe UI"/>
                <a:ea typeface="Segoe UI"/>
                <a:cs typeface="Segoe UI"/>
              </a:rPr>
              <a:t>Q&amp;A</a:t>
            </a:r>
          </a:p>
        </p:txBody>
      </p:sp>
      <p:sp>
        <p:nvSpPr>
          <p:cNvPr id="3" name="topic">
            <a:extLst xmlns:a="http://schemas.openxmlformats.org/drawingml/2006/main">
              <a:ext uri="{FF2B5EF4-FFF2-40B4-BE49-F238E27FC236}">
                <a16:creationId xmlns:a16="http://schemas.microsoft.com/office/drawing/2014/main" id="{51632598-2A12-453A-9CBE-CDE67F830B20}"/>
              </a:ext>
            </a:extLst>
          </p:cNvPr>
          <p:cNvSpPr>
            <a:spLocks xmlns:a="http://schemas.openxmlformats.org/drawingml/2006/main" noGrp="1"/>
          </p:cNvSpPr>
          <p:nvPr/>
        </p:nvSpPr>
        <p:spPr>
          <a:xfrm xmlns:a="http://schemas.openxmlformats.org/drawingml/2006/main">
            <a:off x="1905000" y="4048125"/>
            <a:ext cx="838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0">
                <a:solidFill>
                  <a:srgbClr val="27354D"/>
                </a:solidFill>
                <a:latin typeface="Segoe UI"/>
                <a:ea typeface="Segoe UI"/>
                <a:cs typeface="Segoe UI"/>
              </a:defRPr>
            </a:pPr>
            <a:r>
              <a:rPr sz="1650" b="0">
                <a:solidFill>
                  <a:srgbClr val="27354D"/>
                </a:solidFill>
                <a:latin typeface="Segoe UI"/>
                <a:ea typeface="Segoe UI"/>
                <a:cs typeface="Segoe UI"/>
              </a:rPr>
              <a:t>Xây dựng hệ thống nhận diện biển số xe bằng Trí tuệ nhân tạo</a:t>
            </a:r>
          </a:p>
        </p:txBody>
      </p:sp>
      <p:sp>
        <p:nvSpPr>
          <p:cNvPr id="4" name="team">
            <a:extLst xmlns:a="http://schemas.openxmlformats.org/drawingml/2006/main">
              <a:ext uri="{FF2B5EF4-FFF2-40B4-BE49-F238E27FC236}">
                <a16:creationId xmlns:a16="http://schemas.microsoft.com/office/drawing/2014/main" id="{FC41563B-C473-4F73-8F14-142EBD0CAB15}"/>
              </a:ext>
            </a:extLst>
          </p:cNvPr>
          <p:cNvSpPr>
            <a:spLocks xmlns:a="http://schemas.openxmlformats.org/drawingml/2006/main" noGrp="1"/>
          </p:cNvSpPr>
          <p:nvPr/>
        </p:nvSpPr>
        <p:spPr>
          <a:xfrm xmlns:a="http://schemas.openxmlformats.org/drawingml/2006/main">
            <a:off x="1143000" y="4810125"/>
            <a:ext cx="9906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0">
                <a:solidFill>
                  <a:srgbClr val="66758E"/>
                </a:solidFill>
                <a:latin typeface="Segoe UI"/>
                <a:ea typeface="Segoe UI"/>
                <a:cs typeface="Segoe UI"/>
              </a:defRPr>
            </a:pPr>
            <a:r>
              <a:rPr sz="1275" b="0">
                <a:solidFill>
                  <a:srgbClr val="66758E"/>
                </a:solidFill>
                <a:latin typeface="Segoe UI"/>
                <a:ea typeface="Segoe UI"/>
                <a:cs typeface="Segoe UI"/>
              </a:rPr>
              <a:t>Nhóm thực hiện: Phạm Nguyễn Thế Châu  •  Nguyễn Công Hậu  •  Nguyễn Minh Hiếu  •  Phạm Công Thành</a:t>
            </a:r>
          </a:p>
        </p:txBody>
      </p:sp>
    </p:spTree>
    <p:extLst>
      <p:ext uri="{BB962C8B-B14F-4D97-AF65-F5344CB8AC3E}">
        <p14:creationId xmlns:p14="http://schemas.microsoft.com/office/powerpoint/2010/main" val="473310091"/>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2ECD3773-3B09-4D9D-81AC-7F0DD137DD62}"/>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2F63"/>
                </a:solidFill>
                <a:latin typeface="Segoe UI"/>
                <a:ea typeface="Segoe UI"/>
                <a:cs typeface="Segoe UI"/>
              </a:defRPr>
            </a:pPr>
            <a:r>
              <a:rPr sz="2400" b="1">
                <a:solidFill>
                  <a:srgbClr val="112F63"/>
                </a:solidFill>
                <a:latin typeface="Segoe UI"/>
                <a:ea typeface="Segoe UI"/>
                <a:cs typeface="Segoe UI"/>
              </a:rPr>
              <a:t>Cấu hình huấn luyện và môi trường đo</a:t>
            </a:r>
          </a:p>
        </p:txBody>
      </p:sp>
      <p:sp>
        <p:nvSpPr>
          <p:cNvPr id="2" name="subtitle">
            <a:extLst xmlns:a="http://schemas.openxmlformats.org/drawingml/2006/main">
              <a:ext uri="{FF2B5EF4-FFF2-40B4-BE49-F238E27FC236}">
                <a16:creationId xmlns:a16="http://schemas.microsoft.com/office/drawing/2014/main" id="{B31277D9-ACC8-4105-82E9-2635C478FFAC}"/>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58E"/>
                </a:solidFill>
                <a:latin typeface="Segoe UI"/>
                <a:ea typeface="Segoe UI"/>
                <a:cs typeface="Segoe UI"/>
              </a:defRPr>
            </a:pPr>
            <a:r>
              <a:rPr sz="1275" b="0">
                <a:solidFill>
                  <a:srgbClr val="66758E"/>
                </a:solidFill>
                <a:latin typeface="Segoe UI"/>
                <a:ea typeface="Segoe UI"/>
                <a:cs typeface="Segoe UI"/>
              </a:rPr>
              <a:t>Thông số lấy từ bản ghi đã thực thi, không phải cấu hình dự định</a:t>
            </a:r>
          </a:p>
        </p:txBody>
      </p:sp>
      <p:sp>
        <p:nvSpPr>
          <p:cNvPr id="3" name="backup-tag">
            <a:extLst xmlns:a="http://schemas.openxmlformats.org/drawingml/2006/main">
              <a:ext uri="{FF2B5EF4-FFF2-40B4-BE49-F238E27FC236}">
                <a16:creationId xmlns:a16="http://schemas.microsoft.com/office/drawing/2014/main" id="{A05E3B60-FAF1-4F83-9919-AA9294D00E28}"/>
              </a:ext>
            </a:extLst>
          </p:cNvPr>
          <p:cNvSpPr>
            <a:spLocks xmlns:a="http://schemas.openxmlformats.org/drawingml/2006/main" noGrp="1"/>
          </p:cNvSpPr>
          <p:nvPr/>
        </p:nvSpPr>
        <p:spPr>
          <a:xfrm xmlns:a="http://schemas.openxmlformats.org/drawingml/2006/main">
            <a:off x="10382250" y="514350"/>
            <a:ext cx="100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16B5E2"/>
                </a:solidFill>
                <a:latin typeface="Segoe UI"/>
                <a:ea typeface="Segoe UI"/>
                <a:cs typeface="Segoe UI"/>
              </a:defRPr>
            </a:pPr>
            <a:r>
              <a:rPr sz="975" b="1">
                <a:solidFill>
                  <a:srgbClr val="16B5E2"/>
                </a:solidFill>
                <a:latin typeface="Segoe UI"/>
                <a:ea typeface="Segoe UI"/>
                <a:cs typeface="Segoe UI"/>
              </a:rPr>
              <a:t>BACKUP</a:t>
            </a:r>
          </a:p>
        </p:txBody>
      </p:sp>
      <p:graphicFrame>
        <p:nvGraphicFramePr>
          <p:cNvPr id="9" name=""/>
          <p:cNvGraphicFramePr/>
          <p:nvPr/>
        </p:nvGraphicFramePr>
        <p:xfrm>
          <a:off xmlns:a="http://schemas.openxmlformats.org/drawingml/2006/main" x="952500" y="1571625"/>
          <a:ext xmlns:a="http://schemas.openxmlformats.org/drawingml/2006/main" cx="10287000" cy="3667125"/>
        </p:xfrm>
        <a:graphic xmlns:a="http://schemas.openxmlformats.org/drawingml/2006/main">
          <a:graphicData uri="http://schemas.openxmlformats.org/drawingml/2006/table">
            <a:tbl>
              <a:tblPr firstRow="1" bandRow="1"/>
              <a:tblGrid>
                <a:gridCol w="2857500"/>
                <a:gridCol w="7429500"/>
              </a:tblGrid>
              <a:tr h="611188">
                <a:tc>
                  <a:txBody>
                    <a:bodyPr/>
                    <a:lstStyle/>
                    <a:p>
                      <a:r>
                        <a:rPr sz="1125" b="1">
                          <a:solidFill>
                            <a:srgbClr val="FFFFFF"/>
                          </a:solidFill>
                          <a:latin typeface="Segoe UI"/>
                          <a:ea typeface="Segoe UI"/>
                          <a:cs typeface="Segoe UI"/>
                        </a:rPr>
                        <a:t>Hạng mục</a:t>
                      </a:r>
                    </a:p>
                  </a:txBody>
                  <a:tcPr marL="95250" marR="95250" marT="76200" marB="76200" anchor="ctr">
                    <a:solidFill>
                      <a:srgbClr val="112F63"/>
                    </a:solidFill>
                  </a:tcPr>
                </a:tc>
                <a:tc>
                  <a:txBody>
                    <a:bodyPr/>
                    <a:lstStyle/>
                    <a:p>
                      <a:r>
                        <a:rPr sz="1125" b="1">
                          <a:solidFill>
                            <a:srgbClr val="FFFFFF"/>
                          </a:solidFill>
                          <a:latin typeface="Segoe UI"/>
                          <a:ea typeface="Segoe UI"/>
                          <a:cs typeface="Segoe UI"/>
                        </a:rPr>
                        <a:t>Giá trị</a:t>
                      </a:r>
                    </a:p>
                  </a:txBody>
                  <a:tcPr marL="95250" marR="95250" marT="76200" marB="76200" anchor="ctr">
                    <a:solidFill>
                      <a:srgbClr val="112F63"/>
                    </a:solidFill>
                  </a:tcPr>
                </a:tc>
              </a:tr>
              <a:tr h="611188">
                <a:tc>
                  <a:txBody>
                    <a:bodyPr/>
                    <a:lstStyle/>
                    <a:p>
                      <a:r>
                        <a:rPr sz="1125">
                          <a:solidFill>
                            <a:srgbClr val="27354D"/>
                          </a:solidFill>
                          <a:latin typeface="Segoe UI"/>
                          <a:ea typeface="Segoe UI"/>
                          <a:cs typeface="Segoe UI"/>
                        </a:rPr>
                        <a:t>Phần cứng</a:t>
                      </a:r>
                    </a:p>
                  </a:txBody>
                  <a:tcPr marL="95250" marR="95250" marT="66675" marB="66675" anchor="ctr"/>
                </a:tc>
                <a:tc>
                  <a:txBody>
                    <a:bodyPr/>
                    <a:lstStyle/>
                    <a:p>
                      <a:r>
                        <a:rPr sz="1125">
                          <a:solidFill>
                            <a:srgbClr val="27354D"/>
                          </a:solidFill>
                          <a:latin typeface="Segoe UI"/>
                          <a:ea typeface="Segoe UI"/>
                          <a:cs typeface="Segoe UI"/>
                        </a:rPr>
                        <a:t>Intel Core i5-14600K, 14 nhân / 20 luồng; không dùng GPU CUDA</a:t>
                      </a:r>
                    </a:p>
                  </a:txBody>
                  <a:tcPr marL="95250" marR="95250" marT="66675" marB="66675" anchor="ctr"/>
                </a:tc>
              </a:tr>
              <a:tr h="611188">
                <a:tc>
                  <a:txBody>
                    <a:bodyPr/>
                    <a:lstStyle/>
                    <a:p>
                      <a:r>
                        <a:rPr sz="1125">
                          <a:solidFill>
                            <a:srgbClr val="27354D"/>
                          </a:solidFill>
                          <a:latin typeface="Segoe UI"/>
                          <a:ea typeface="Segoe UI"/>
                          <a:cs typeface="Segoe UI"/>
                        </a:rPr>
                        <a:t>Mô hình</a:t>
                      </a:r>
                    </a:p>
                  </a:txBody>
                  <a:tcPr marL="95250" marR="95250" marT="66675" marB="66675" anchor="ctr"/>
                </a:tc>
                <a:tc>
                  <a:txBody>
                    <a:bodyPr/>
                    <a:lstStyle/>
                    <a:p>
                      <a:r>
                        <a:rPr sz="1125">
                          <a:solidFill>
                            <a:srgbClr val="27354D"/>
                          </a:solidFill>
                          <a:latin typeface="Segoe UI"/>
                          <a:ea typeface="Segoe UI"/>
                          <a:cs typeface="Segoe UI"/>
                        </a:rPr>
                        <a:t>YOLO11n, 2.590.035 tham số; ảnh đầu vào 640</a:t>
                      </a:r>
                    </a:p>
                  </a:txBody>
                  <a:tcPr marL="95250" marR="95250" marT="66675" marB="66675" anchor="ctr"/>
                </a:tc>
              </a:tr>
              <a:tr h="611188">
                <a:tc>
                  <a:txBody>
                    <a:bodyPr/>
                    <a:lstStyle/>
                    <a:p>
                      <a:r>
                        <a:rPr sz="1125">
                          <a:solidFill>
                            <a:srgbClr val="27354D"/>
                          </a:solidFill>
                          <a:latin typeface="Segoe UI"/>
                          <a:ea typeface="Segoe UI"/>
                          <a:cs typeface="Segoe UI"/>
                        </a:rPr>
                        <a:t>Huấn luyện</a:t>
                      </a:r>
                    </a:p>
                  </a:txBody>
                  <a:tcPr marL="95250" marR="95250" marT="66675" marB="66675" anchor="ctr"/>
                </a:tc>
                <a:tc>
                  <a:txBody>
                    <a:bodyPr/>
                    <a:lstStyle/>
                    <a:p>
                      <a:r>
                        <a:rPr sz="1125">
                          <a:solidFill>
                            <a:srgbClr val="27354D"/>
                          </a:solidFill>
                          <a:latin typeface="Segoe UI"/>
                          <a:ea typeface="Segoe UI"/>
                          <a:cs typeface="Segoe UI"/>
                        </a:rPr>
                        <a:t>20 epoch; batch 8; AdamW; lr0 = 0,001; cosine</a:t>
                      </a:r>
                    </a:p>
                  </a:txBody>
                  <a:tcPr marL="95250" marR="95250" marT="66675" marB="66675" anchor="ctr"/>
                </a:tc>
              </a:tr>
              <a:tr h="611188">
                <a:tc>
                  <a:txBody>
                    <a:bodyPr/>
                    <a:lstStyle/>
                    <a:p>
                      <a:r>
                        <a:rPr sz="1125">
                          <a:solidFill>
                            <a:srgbClr val="27354D"/>
                          </a:solidFill>
                          <a:latin typeface="Segoe UI"/>
                          <a:ea typeface="Segoe UI"/>
                          <a:cs typeface="Segoe UI"/>
                        </a:rPr>
                        <a:t>Tái lập</a:t>
                      </a:r>
                    </a:p>
                  </a:txBody>
                  <a:tcPr marL="95250" marR="95250" marT="66675" marB="66675" anchor="ctr"/>
                </a:tc>
                <a:tc>
                  <a:txBody>
                    <a:bodyPr/>
                    <a:lstStyle/>
                    <a:p>
                      <a:r>
                        <a:rPr sz="1125">
                          <a:solidFill>
                            <a:srgbClr val="27354D"/>
                          </a:solidFill>
                          <a:latin typeface="Segoe UI"/>
                          <a:ea typeface="Segoe UI"/>
                          <a:cs typeface="Segoe UI"/>
                        </a:rPr>
                        <a:t>Seed 42; deterministic bật; fliplr = 0,0</a:t>
                      </a:r>
                    </a:p>
                  </a:txBody>
                  <a:tcPr marL="95250" marR="95250" marT="66675" marB="66675" anchor="ctr"/>
                </a:tc>
              </a:tr>
              <a:tr h="611188">
                <a:tc>
                  <a:txBody>
                    <a:bodyPr/>
                    <a:lstStyle/>
                    <a:p>
                      <a:r>
                        <a:rPr sz="1125">
                          <a:solidFill>
                            <a:srgbClr val="27354D"/>
                          </a:solidFill>
                          <a:latin typeface="Segoe UI"/>
                          <a:ea typeface="Segoe UI"/>
                          <a:cs typeface="Segoe UI"/>
                        </a:rPr>
                        <a:t>Thời gian</a:t>
                      </a:r>
                    </a:p>
                  </a:txBody>
                  <a:tcPr marL="95250" marR="95250" marT="66675" marB="66675" anchor="ctr"/>
                </a:tc>
                <a:tc>
                  <a:txBody>
                    <a:bodyPr/>
                    <a:lstStyle/>
                    <a:p>
                      <a:r>
                        <a:rPr sz="1125">
                          <a:solidFill>
                            <a:srgbClr val="27354D"/>
                          </a:solidFill>
                          <a:latin typeface="Segoe UI"/>
                          <a:ea typeface="Segoe UI"/>
                          <a:cs typeface="Segoe UI"/>
                        </a:rPr>
                        <a:t>Khoảng 10,05 giờ trên CPU</a:t>
                      </a:r>
                    </a:p>
                  </a:txBody>
                  <a:tcPr marL="95250" marR="95250" marT="66675" marB="66675" anchor="ctr"/>
                </a:tc>
              </a:tr>
            </a:tbl>
          </a:graphicData>
        </a:graphic>
      </p:graphicFrame>
      <p:sp>
        <p:nvSpPr>
          <p:cNvPr id="5" name="training-source">
            <a:extLst xmlns:a="http://schemas.openxmlformats.org/drawingml/2006/main">
              <a:ext uri="{FF2B5EF4-FFF2-40B4-BE49-F238E27FC236}">
                <a16:creationId xmlns:a16="http://schemas.microsoft.com/office/drawing/2014/main" id="{F4D66117-972B-490C-B2E7-BB8A49FA6C78}"/>
              </a:ext>
            </a:extLst>
          </p:cNvPr>
          <p:cNvSpPr>
            <a:spLocks xmlns:a="http://schemas.openxmlformats.org/drawingml/2006/main" noGrp="1"/>
          </p:cNvSpPr>
          <p:nvPr/>
        </p:nvSpPr>
        <p:spPr>
          <a:xfrm xmlns:a="http://schemas.openxmlformats.org/drawingml/2006/main">
            <a:off x="4000500" y="5572125"/>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66758E"/>
                </a:solidFill>
                <a:latin typeface="Segoe UI"/>
                <a:ea typeface="Segoe UI"/>
                <a:cs typeface="Segoe UI"/>
              </a:defRPr>
            </a:pPr>
            <a:r>
              <a:rPr sz="975" b="0">
                <a:solidFill>
                  <a:srgbClr val="66758E"/>
                </a:solidFill>
                <a:latin typeface="Segoe UI"/>
                <a:ea typeface="Segoe UI"/>
                <a:cs typeface="Segoe UI"/>
              </a:rPr>
              <a:t>Nguồn: Phụ lục A, báo cáo môn học</a:t>
            </a:r>
          </a:p>
        </p:txBody>
      </p:sp>
    </p:spTree>
    <p:extLst>
      <p:ext uri="{BB962C8B-B14F-4D97-AF65-F5344CB8AC3E}">
        <p14:creationId xmlns:p14="http://schemas.microsoft.com/office/powerpoint/2010/main" val="473310091"/>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876EC8E-6180-44E2-8397-956BBF2FFE5F}"/>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2F63"/>
                </a:solidFill>
                <a:latin typeface="Segoe UI"/>
                <a:ea typeface="Segoe UI"/>
                <a:cs typeface="Segoe UI"/>
              </a:defRPr>
            </a:pPr>
            <a:r>
              <a:rPr sz="2400" b="1">
                <a:solidFill>
                  <a:srgbClr val="112F63"/>
                </a:solidFill>
                <a:latin typeface="Segoe UI"/>
                <a:ea typeface="Segoe UI"/>
                <a:cs typeface="Segoe UI"/>
              </a:rPr>
              <a:t>Phạm vi đề tài</a:t>
            </a:r>
          </a:p>
        </p:txBody>
      </p:sp>
      <p:sp>
        <p:nvSpPr>
          <p:cNvPr id="2" name="subtitle">
            <a:extLst xmlns:a="http://schemas.openxmlformats.org/drawingml/2006/main">
              <a:ext uri="{FF2B5EF4-FFF2-40B4-BE49-F238E27FC236}">
                <a16:creationId xmlns:a16="http://schemas.microsoft.com/office/drawing/2014/main" id="{009947E7-D413-4C33-8511-8DE16579EF73}"/>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58E"/>
                </a:solidFill>
                <a:latin typeface="Segoe UI"/>
                <a:ea typeface="Segoe UI"/>
                <a:cs typeface="Segoe UI"/>
              </a:defRPr>
            </a:pPr>
            <a:r>
              <a:rPr sz="1275" b="0">
                <a:solidFill>
                  <a:srgbClr val="66758E"/>
                </a:solidFill>
                <a:latin typeface="Segoe UI"/>
                <a:ea typeface="Segoe UI"/>
                <a:cs typeface="Segoe UI"/>
              </a:rPr>
              <a:t>Ranh giới được giữ cố định để kết quả phản ánh đúng bài toán nhận dạng</a:t>
            </a:r>
          </a:p>
        </p:txBody>
      </p:sp>
      <p:sp>
        <p:nvSpPr>
          <p:cNvPr id="3" name="backup-tag">
            <a:extLst xmlns:a="http://schemas.openxmlformats.org/drawingml/2006/main">
              <a:ext uri="{FF2B5EF4-FFF2-40B4-BE49-F238E27FC236}">
                <a16:creationId xmlns:a16="http://schemas.microsoft.com/office/drawing/2014/main" id="{AB9ACAB4-8BAA-4602-9C3B-B41E97D32EDE}"/>
              </a:ext>
            </a:extLst>
          </p:cNvPr>
          <p:cNvSpPr>
            <a:spLocks xmlns:a="http://schemas.openxmlformats.org/drawingml/2006/main" noGrp="1"/>
          </p:cNvSpPr>
          <p:nvPr/>
        </p:nvSpPr>
        <p:spPr>
          <a:xfrm xmlns:a="http://schemas.openxmlformats.org/drawingml/2006/main">
            <a:off x="10382250" y="514350"/>
            <a:ext cx="100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16B5E2"/>
                </a:solidFill>
                <a:latin typeface="Segoe UI"/>
                <a:ea typeface="Segoe UI"/>
                <a:cs typeface="Segoe UI"/>
              </a:defRPr>
            </a:pPr>
            <a:r>
              <a:rPr sz="975" b="1">
                <a:solidFill>
                  <a:srgbClr val="16B5E2"/>
                </a:solidFill>
                <a:latin typeface="Segoe UI"/>
                <a:ea typeface="Segoe UI"/>
                <a:cs typeface="Segoe UI"/>
              </a:rPr>
              <a:t>BACKUP</a:t>
            </a:r>
          </a:p>
        </p:txBody>
      </p:sp>
      <p:graphicFrame>
        <p:nvGraphicFramePr>
          <p:cNvPr id="9" name=""/>
          <p:cNvGraphicFramePr/>
          <p:nvPr/>
        </p:nvGraphicFramePr>
        <p:xfrm>
          <a:off xmlns:a="http://schemas.openxmlformats.org/drawingml/2006/main" x="952500" y="1666875"/>
          <a:ext xmlns:a="http://schemas.openxmlformats.org/drawingml/2006/main" cx="10287000" cy="3333750"/>
        </p:xfrm>
        <a:graphic xmlns:a="http://schemas.openxmlformats.org/drawingml/2006/main">
          <a:graphicData uri="http://schemas.openxmlformats.org/drawingml/2006/table">
            <a:tbl>
              <a:tblPr firstRow="1" bandRow="1"/>
              <a:tblGrid>
                <a:gridCol w="5143500"/>
                <a:gridCol w="5143500"/>
              </a:tblGrid>
              <a:tr h="666750">
                <a:tc>
                  <a:txBody>
                    <a:bodyPr/>
                    <a:lstStyle/>
                    <a:p>
                      <a:r>
                        <a:rPr sz="1125" b="1">
                          <a:solidFill>
                            <a:srgbClr val="FFFFFF"/>
                          </a:solidFill>
                          <a:latin typeface="Segoe UI"/>
                          <a:ea typeface="Segoe UI"/>
                          <a:cs typeface="Segoe UI"/>
                        </a:rPr>
                        <a:t>Trong phạm vi</a:t>
                      </a:r>
                    </a:p>
                  </a:txBody>
                  <a:tcPr marL="95250" marR="95250" marT="76200" marB="76200" anchor="ctr">
                    <a:solidFill>
                      <a:srgbClr val="112F63"/>
                    </a:solidFill>
                  </a:tcPr>
                </a:tc>
                <a:tc>
                  <a:txBody>
                    <a:bodyPr/>
                    <a:lstStyle/>
                    <a:p>
                      <a:r>
                        <a:rPr sz="1125" b="1">
                          <a:solidFill>
                            <a:srgbClr val="FFFFFF"/>
                          </a:solidFill>
                          <a:latin typeface="Segoe UI"/>
                          <a:ea typeface="Segoe UI"/>
                          <a:cs typeface="Segoe UI"/>
                        </a:rPr>
                        <a:t>Ngoài phạm vi</a:t>
                      </a:r>
                    </a:p>
                  </a:txBody>
                  <a:tcPr marL="95250" marR="95250" marT="76200" marB="76200" anchor="ctr">
                    <a:solidFill>
                      <a:srgbClr val="112F63"/>
                    </a:solidFill>
                  </a:tcPr>
                </a:tc>
              </a:tr>
              <a:tr h="666750">
                <a:tc>
                  <a:txBody>
                    <a:bodyPr/>
                    <a:lstStyle/>
                    <a:p>
                      <a:r>
                        <a:rPr sz="1200">
                          <a:solidFill>
                            <a:srgbClr val="087B56"/>
                          </a:solidFill>
                          <a:latin typeface="Segoe UI"/>
                          <a:ea typeface="Segoe UI"/>
                          <a:cs typeface="Segoe UI"/>
                        </a:rPr>
                        <a:t>Phát hiện biển số trên ảnh</a:t>
                      </a:r>
                    </a:p>
                  </a:txBody>
                  <a:tcPr marL="95250" marR="95250" marT="66675" marB="66675" anchor="ctr">
                    <a:solidFill>
                      <a:srgbClr val="EAF7F2"/>
                    </a:solidFill>
                  </a:tcPr>
                </a:tc>
                <a:tc>
                  <a:txBody>
                    <a:bodyPr/>
                    <a:lstStyle/>
                    <a:p>
                      <a:r>
                        <a:rPr sz="1200">
                          <a:solidFill>
                            <a:srgbClr val="D24747"/>
                          </a:solidFill>
                          <a:latin typeface="Segoe UI"/>
                          <a:ea typeface="Segoe UI"/>
                          <a:cs typeface="Segoe UI"/>
                        </a:rPr>
                        <a:t>Theo dõi phương tiện qua nhiều khung hình</a:t>
                      </a:r>
                    </a:p>
                  </a:txBody>
                  <a:tcPr marL="95250" marR="95250" marT="66675" marB="66675" anchor="ctr">
                    <a:solidFill>
                      <a:srgbClr val="FFF2F2"/>
                    </a:solidFill>
                  </a:tcPr>
                </a:tc>
              </a:tr>
              <a:tr h="666750">
                <a:tc>
                  <a:txBody>
                    <a:bodyPr/>
                    <a:lstStyle/>
                    <a:p>
                      <a:r>
                        <a:rPr sz="1200">
                          <a:solidFill>
                            <a:srgbClr val="087B56"/>
                          </a:solidFill>
                          <a:latin typeface="Segoe UI"/>
                          <a:ea typeface="Segoe UI"/>
                          <a:cs typeface="Segoe UI"/>
                        </a:rPr>
                        <a:t>Nhận dạng biển một dòng và hai dòng</a:t>
                      </a:r>
                    </a:p>
                  </a:txBody>
                  <a:tcPr marL="95250" marR="95250" marT="66675" marB="66675" anchor="ctr">
                    <a:solidFill>
                      <a:srgbClr val="EAF7F2"/>
                    </a:solidFill>
                  </a:tcPr>
                </a:tc>
                <a:tc>
                  <a:txBody>
                    <a:bodyPr/>
                    <a:lstStyle/>
                    <a:p>
                      <a:r>
                        <a:rPr sz="1200">
                          <a:solidFill>
                            <a:srgbClr val="D24747"/>
                          </a:solidFill>
                          <a:latin typeface="Segoe UI"/>
                          <a:ea typeface="Segoe UI"/>
                          <a:cs typeface="Segoe UI"/>
                        </a:rPr>
                        <a:t>Điều khiển barie hoặc thiết bị ngoại vi</a:t>
                      </a:r>
                    </a:p>
                  </a:txBody>
                  <a:tcPr marL="95250" marR="95250" marT="66675" marB="66675" anchor="ctr">
                    <a:solidFill>
                      <a:srgbClr val="FFF2F2"/>
                    </a:solidFill>
                  </a:tcPr>
                </a:tc>
              </a:tr>
              <a:tr h="666750">
                <a:tc>
                  <a:txBody>
                    <a:bodyPr/>
                    <a:lstStyle/>
                    <a:p>
                      <a:r>
                        <a:rPr sz="1200">
                          <a:solidFill>
                            <a:srgbClr val="087B56"/>
                          </a:solidFill>
                          <a:latin typeface="Segoe UI"/>
                          <a:ea typeface="Segoe UI"/>
                          <a:cs typeface="Segoe UI"/>
                        </a:rPr>
                        <a:t>Chuẩn hóa chuỗi và nhận dạng màu nền</a:t>
                      </a:r>
                    </a:p>
                  </a:txBody>
                  <a:tcPr marL="95250" marR="95250" marT="66675" marB="66675" anchor="ctr">
                    <a:solidFill>
                      <a:srgbClr val="EAF7F2"/>
                    </a:solidFill>
                  </a:tcPr>
                </a:tc>
                <a:tc>
                  <a:txBody>
                    <a:bodyPr/>
                    <a:lstStyle/>
                    <a:p>
                      <a:r>
                        <a:rPr sz="1200">
                          <a:solidFill>
                            <a:srgbClr val="D24747"/>
                          </a:solidFill>
                          <a:latin typeface="Segoe UI"/>
                          <a:ea typeface="Segoe UI"/>
                          <a:cs typeface="Segoe UI"/>
                        </a:rPr>
                        <a:t>Kiến trúc microservices hoặc multi-GPU</a:t>
                      </a:r>
                    </a:p>
                  </a:txBody>
                  <a:tcPr marL="95250" marR="95250" marT="66675" marB="66675" anchor="ctr">
                    <a:solidFill>
                      <a:srgbClr val="FFF2F2"/>
                    </a:solidFill>
                  </a:tcPr>
                </a:tc>
              </a:tr>
              <a:tr h="666750">
                <a:tc>
                  <a:txBody>
                    <a:bodyPr/>
                    <a:lstStyle/>
                    <a:p>
                      <a:r>
                        <a:rPr sz="1200">
                          <a:solidFill>
                            <a:srgbClr val="087B56"/>
                          </a:solidFill>
                          <a:latin typeface="Segoe UI"/>
                          <a:ea typeface="Segoe UI"/>
                          <a:cs typeface="Segoe UI"/>
                        </a:rPr>
                        <a:t>Tối ưu suy luận trên CPU</a:t>
                      </a:r>
                    </a:p>
                  </a:txBody>
                  <a:tcPr marL="95250" marR="95250" marT="66675" marB="66675" anchor="ctr">
                    <a:solidFill>
                      <a:srgbClr val="EAF7F2"/>
                    </a:solidFill>
                  </a:tcPr>
                </a:tc>
                <a:tc>
                  <a:txBody>
                    <a:bodyPr/>
                    <a:lstStyle/>
                    <a:p>
                      <a:r>
                        <a:rPr sz="1200">
                          <a:solidFill>
                            <a:srgbClr val="D24747"/>
                          </a:solidFill>
                          <a:latin typeface="Segoe UI"/>
                          <a:ea typeface="Segoe UI"/>
                          <a:cs typeface="Segoe UI"/>
                        </a:rPr>
                        <a:t>Nhận dạng khuôn mặt và danh tính chủ xe</a:t>
                      </a:r>
                    </a:p>
                  </a:txBody>
                  <a:tcPr marL="95250" marR="95250" marT="66675" marB="66675" anchor="ctr">
                    <a:solidFill>
                      <a:srgbClr val="FFF2F2"/>
                    </a:solidFill>
                  </a:tcPr>
                </a:tc>
              </a:tr>
            </a:tbl>
          </a:graphicData>
        </a:graphic>
      </p:graphicFrame>
      <p:sp>
        <p:nvSpPr>
          <p:cNvPr id="5" name="scope-note">
            <a:extLst xmlns:a="http://schemas.openxmlformats.org/drawingml/2006/main">
              <a:ext uri="{FF2B5EF4-FFF2-40B4-BE49-F238E27FC236}">
                <a16:creationId xmlns:a16="http://schemas.microsoft.com/office/drawing/2014/main" id="{13EBF9A1-B534-4E46-8968-AD15C8A3B53F}"/>
              </a:ext>
            </a:extLst>
          </p:cNvPr>
          <p:cNvSpPr>
            <a:spLocks xmlns:a="http://schemas.openxmlformats.org/drawingml/2006/main" noGrp="1"/>
          </p:cNvSpPr>
          <p:nvPr/>
        </p:nvSpPr>
        <p:spPr>
          <a:xfrm xmlns:a="http://schemas.openxmlformats.org/drawingml/2006/main">
            <a:off x="2381250" y="5381625"/>
            <a:ext cx="7429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12F63"/>
                </a:solidFill>
                <a:latin typeface="Segoe UI"/>
                <a:ea typeface="Segoe UI"/>
                <a:cs typeface="Segoe UI"/>
              </a:defRPr>
            </a:pPr>
            <a:r>
              <a:rPr sz="1425" b="1">
                <a:solidFill>
                  <a:srgbClr val="112F63"/>
                </a:solidFill>
                <a:latin typeface="Segoe UI"/>
                <a:ea typeface="Segoe UI"/>
                <a:cs typeface="Segoe UI"/>
              </a:rPr>
              <a:t>Mục tiêu chính: nhận dạng biển số Việt Nam chính xác trên CPU</a:t>
            </a:r>
          </a:p>
        </p:txBody>
      </p:sp>
    </p:spTree>
    <p:extLst>
      <p:ext uri="{BB962C8B-B14F-4D97-AF65-F5344CB8AC3E}">
        <p14:creationId xmlns:p14="http://schemas.microsoft.com/office/powerpoint/2010/main" val="47331009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2026-09-15T01:15:55.7120000Z</dcterms:created>
  <dcterms:modified xsi:type="dcterms:W3CDTF">2026-09-15T01:15:55.7130000Z</dcterms:modified>
</coreProperties>
</file>