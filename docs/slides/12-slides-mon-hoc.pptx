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6858000" cy="9144000"/>
  <p:embeddedFontLst>
    <p:embeddedFont>
      <p:font typeface="Roboto"/>
      <p:regular r:id="rId21"/>
      <p:bold r:id="rId22"/>
      <p:italic r:id="rId23"/>
      <p:boldItalic r:id="rId24"/>
    </p:embeddedFont>
    <p:embeddedFont>
      <p:font typeface="Open Sans"/>
      <p:regular r:id="rId25"/>
      <p:bold r:id="rId26"/>
      <p:italic r:id="rId27"/>
      <p:boldItalic r:id="rId28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9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22" Type="http://schemas.openxmlformats.org/officeDocument/2006/relationships/font" Target="fonts/Roboto-bold.fntdata" /><Relationship Id="rId21" Type="http://schemas.openxmlformats.org/officeDocument/2006/relationships/font" Target="fonts/Roboto-regular.fntdata" /><Relationship Id="rId24" Type="http://schemas.openxmlformats.org/officeDocument/2006/relationships/font" Target="fonts/Roboto-boldItalic.fntdata" /><Relationship Id="rId23" Type="http://schemas.openxmlformats.org/officeDocument/2006/relationships/font" Target="fonts/Roboto-italic.fntdata" /><Relationship Id="rId25" Type="http://schemas.openxmlformats.org/officeDocument/2006/relationships/font" Target="fonts/OpenSans-regular.fntdata" /><Relationship Id="rId27" Type="http://schemas.openxmlformats.org/officeDocument/2006/relationships/font" Target="fonts/OpenSans-italic.fntdata" /><Relationship Id="rId26" Type="http://schemas.openxmlformats.org/officeDocument/2006/relationships/font" Target="fonts/OpenSans-bold.fntdata" /><Relationship Id="rId29" Type="http://customschemas.google.com/relationships/presentationmetadata" Target="metadata" /><Relationship Id="rId28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môn học · Xử lý ảnh và ứng dụng</a:t>
            </a:r>
            <a:br/>
            <a:br/>
            <a:r>
              <a:rPr/>
              <a:t>Phạm Nguyễn Thế Châu — 25410004 · Nguyễn Công Hậu — 25410006</a:t>
            </a:r>
            <a:br/>
            <a:r>
              <a:rPr/>
              <a:t>Nguyễn Minh Hiếu — 25410007 · Phạm Công Thành — 25410013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ở Việt Nam </a:t>
            </a:r>
            <a:r>
              <a:rPr b="1"/>
              <a:t>biển hai dòng là đa số</a:t>
            </a:r>
            <a:r>
              <a:rPr/>
              <a:t>, không phải ngoại lệ</a:t>
            </a:r>
          </a:p>
          <a:p>
            <a:pPr lvl="0"/>
            <a:r>
              <a:rPr/>
              <a:t>Biển xe mô tô chỉ </a:t>
            </a:r>
            <a:r>
              <a:rPr b="1"/>
              <a:t>190 × 140 mm</a:t>
            </a:r>
            <a:r>
              <a:rPr/>
              <a:t>, tỉ lệ khung hình </a:t>
            </a:r>
            <a:r>
              <a:rPr b="1"/>
              <a:t>1,357</a:t>
            </a:r>
            <a:r>
              <a:rPr/>
              <a:t> — vừa là đối tượng nhỏ, vừa là bố cục hai dòng</a:t>
            </a:r>
          </a:p>
          <a:p>
            <a:pPr lvl="0"/>
            <a:r>
              <a:rPr/>
              <a:t>Mọi bộ nhận dạng ký tự dựng sẵn đều </a:t>
            </a:r>
            <a:r>
              <a:rPr b="1"/>
              <a:t>giả định văn bản nằm trên một dòng ngang</a:t>
            </a:r>
            <a:r>
              <a:rPr/>
              <a:t> — giả định đó </a:t>
            </a:r>
            <a:r>
              <a:rPr b="1"/>
              <a:t>sai</a:t>
            </a:r>
            <a:r>
              <a:rPr/>
              <a:t> với đa số biển số Việt Nam</a:t>
            </a:r>
          </a:p>
          <a:p>
            <a:pPr lvl="0"/>
            <a:r>
              <a:rPr/>
              <a:t>Ảnh thực tế còn thêm: bề mặt phản quang gây </a:t>
            </a:r>
            <a:r>
              <a:rPr b="1"/>
              <a:t>chói cục bộ</a:t>
            </a:r>
            <a:r>
              <a:rPr/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chạy đầu cuối,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mAP@0.5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liệu: khử trùng lặp bằng băm tri giác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bộ công khai fork lẫn nhau, nên </a:t>
            </a:r>
            <a:r>
              <a:rPr b="1"/>
              <a:t>44,2% ảnh là bản trùng</a:t>
            </a:r>
            <a:r>
              <a:rPr/>
              <a:t> — không khử thì đang đo trí nhớ</a:t>
            </a:r>
          </a:p>
        </p:txBody>
      </p:sp>
      <p:pic>
        <p:nvPicPr>
          <p:cNvPr descr="figures/fig-mon-hoc-funn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2324100"/>
            <a:ext cx="9474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biển hai dòng làm OCR đọc sai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CRNN hạ chiều cao bản đồ đặc trưng về 1</a:t>
            </a:r>
            <a:r>
              <a:rPr/>
              <a:t> — đó chính là chỗ giả định "một dòng" nằm</a:t>
            </a:r>
          </a:p>
          <a:p>
            <a:pPr lvl="0"/>
            <a:r>
              <a:rPr/>
              <a:t>Ảnh hai dòng: ký tự hai hàng </a:t>
            </a:r>
            <a:r>
              <a:rPr b="1"/>
              <a:t>bị chiếu chồng lên nhau</a:t>
            </a:r>
            <a:r>
              <a:rPr/>
              <a:t> vào cùng một cột đặc trưng</a:t>
            </a:r>
          </a:p>
          <a:p>
            <a:pPr lvl="0"/>
            <a:r>
              <a:rPr/>
              <a:t>Mô-đun nhận dạng chuẩn hoá mọi ảnh về </a:t>
            </a:r>
            <a:r>
              <a:rPr b="1"/>
              <a:t>48 px</a:t>
            </a:r>
            <a:r>
              <a:rPr/>
              <a:t>, nên mỗi hàng chỉ còn khoảng </a:t>
            </a:r>
            <a:r>
              <a:rPr b="1"/>
              <a:t>24 px</a:t>
            </a:r>
          </a:p>
          <a:p>
            <a:pPr lvl="0"/>
            <a:r>
              <a:rPr/>
              <a:t>Hệ quả: đọc lộn thứ tự, ghép lẫn hai dòng, hoặc </a:t>
            </a:r>
            <a:r>
              <a:rPr b="1"/>
              <a:t>mất hẳn một dòng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giải: sửa ảnh, không đổi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Nếu vấn đề là </a:t>
            </a:r>
            <a:r>
              <a:rPr i="1"/>
              <a:t>ảnh có hai dòng</a:t>
            </a:r>
            <a:r>
              <a:rPr/>
              <a:t>, thì biến nó thành </a:t>
            </a:r>
            <a:r>
              <a:rPr b="1"/>
              <a:t>ảnh một dòng</a:t>
            </a:r>
            <a:r>
              <a:rPr/>
              <a:t> trước khi đưa vào mô hình.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Thay cho phương án hiển nhiên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rPr/>
                        <a:t> để đặt ngưỡng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thêm một bộ phân loại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Biến ảnh hai dòng thành 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Đổi sang mô hình đọc đa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mảng chói cục bộ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Làm mờ Gauss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ảnh trùng giữa các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mật mã MD5/SHA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màu nền bền với ánh sáng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ngưỡng trên RGB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Chuỗi xử lý trên một biển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Mỗi khung là ảnh thật ở đầu ra một bước, dựng từ </a:t>
            </a:r>
            <a:r>
              <a:rPr b="1"/>
              <a:t>chính mã bàn giao</a:t>
            </a:r>
            <a:r>
              <a:rPr/>
              <a:t>.</a:t>
            </a:r>
          </a:p>
        </p:txBody>
      </p:sp>
      <p:pic>
        <p:nvPicPr>
          <p:cNvPr descr="figures/fig-pipeline-strip-nga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324100"/>
            <a:ext cx="42926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ràng buộc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ràng buộc đặc thù biển số Việt Nam, khai thác </a:t>
            </a:r>
            <a:r>
              <a:rPr b="1"/>
              <a:t>theo từng vị trí trong chuỗi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Vì sao không dùng luật phẳng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81/89</a:t>
                      </a:r>
                      <a:r>
                        <a:rPr/>
                        <a:t> giá trị được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\d{2}</a:t>
                      </a:r>
                      <a:r>
                        <a:rPr/>
                        <a:t> cho qua 8 chuỗi không tồn tại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1 </a:t>
                      </a:r>
                      <a:r>
                        <a:rPr b="1"/>
                        <a:t>có G không R</a:t>
                      </a:r>
                      <a:r>
                        <a:rPr/>
                        <a:t>; vị trí 2 của xe máy </a:t>
                      </a:r>
                      <a:r>
                        <a:rPr b="1"/>
                        <a:t>có R không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Danh sách phẳng sai hệ thống trên mọi biển xe máy có </a:t>
                      </a:r>
                      <a:r>
                        <a:rPr>
                          <a:latin typeface="Courier"/>
                        </a:rPr>
                        <a:t>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Mặt nạ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DDLDDDDD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DDL?DDDDD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 3 là vị trí </a:t>
                      </a:r>
                      <a:r>
                        <a:rPr b="1"/>
                        <a:t>duy nhất</a:t>
                      </a:r>
                      <a:r>
                        <a:rPr/>
                        <a:t> cả chữ lẫn số đều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Ánh xạ nhầm lẫn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 → 0</a:t>
                      </a:r>
                      <a:r>
                        <a:rPr/>
                        <a:t> hợp lý, </a:t>
                      </a:r>
                      <a:r>
                        <a:rPr>
                          <a:latin typeface="Courier"/>
                        </a:rPr>
                        <a:t>0 → O</a:t>
                      </a:r>
                      <a:r>
                        <a:rPr/>
                        <a:t> </a:t>
                      </a:r>
                      <a:r>
                        <a:rPr b="1"/>
                        <a:t>không bao giờ</a:t>
                      </a:r>
                      <a:r>
                        <a:rPr/>
                        <a:t> — chiều đúng là </a:t>
                      </a:r>
                      <a:r>
                        <a:rPr>
                          <a:latin typeface="Courier"/>
                        </a:rPr>
                        <a:t>0 → 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Bảng đối xứng sẽ tạo ra ký tự bất hợp lệ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 — riêng biển một dòng đạt 0,9541</a:t>
            </a:r>
          </a:p>
        </p:txBody>
      </p:sp>
      <p:pic>
        <p:nvPicPr>
          <p:cNvPr descr="figures/fig-mon-hoc-kp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2781300"/>
            <a:ext cx="105791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ở đâu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Đo mức ký tự thì hai bố cục gần bằng nhau; đo cả chuỗi thì cách một trời một vực.</a:t>
            </a:r>
          </a:p>
        </p:txBody>
      </p:sp>
      <p:pic>
        <p:nvPicPr>
          <p:cNvPr descr="figures/fig-ch4-layou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2324100"/>
            <a:ext cx="8039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Lỗi trông như thế nào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ca được chuẩn hóa đúng nhờ hậu xử lý, ba ca vẫn sai — </a:t>
            </a:r>
            <a:r>
              <a:rPr b="1"/>
              <a:t>cả ba ca sai đều hỏng ở dòng trên</a:t>
            </a:r>
            <a:r>
              <a:rPr/>
              <a:t>.</a:t>
            </a:r>
          </a:p>
        </p:txBody>
      </p:sp>
      <p:pic>
        <p:nvPicPr>
          <p:cNvPr descr="figures/fig-ch4-lo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Bóc tách đóng góp của từng bước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bước bật tắt độc lập, nên đóng góp của từng bước </a:t>
            </a:r>
            <a:r>
              <a:rPr b="1"/>
              <a:t>đo được riêng</a:t>
            </a:r>
            <a:r>
              <a:rPr/>
              <a:t> — kể cả khi bằng 0. </a:t>
            </a:r>
            <a:r>
              <a:rPr i="1"/>
              <a:t>(Đối chứng: tách-ghép trên Tesseract chỉ +0,03 điểm)</a:t>
            </a:r>
          </a:p>
        </p:txBody>
      </p:sp>
      <p:pic>
        <p:nvPicPr>
          <p:cNvPr descr="figures/fig-mon-hoc-donggo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2781300"/>
            <a:ext cx="105791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kết quả khác với dự đoán ban đầu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Tách-ghép không độc lập bộ nhận dạng</a:t>
            </a:r>
            <a:r>
              <a:rPr/>
              <a:t> — 34,92 điểm cho PaddleOCR, </a:t>
            </a:r>
            <a:r>
              <a:rPr b="1"/>
              <a:t>0,03</a:t>
            </a:r>
            <a:r>
              <a:rPr/>
              <a:t> cho Tesseract ⇒ điều kiện cần, không đủ</a:t>
            </a:r>
          </a:p>
          <a:p>
            <a:pPr lvl="0"/>
            <a:r>
              <a:rPr b="1"/>
              <a:t>Bảng luật suy từ hình dạng chỉ phủ 2/10 cặp nhầm phổ biến nhất</a:t>
            </a:r>
            <a:r>
              <a:rPr/>
              <a:t>; bảng trích từ ma trận đo được phủ </a:t>
            </a:r>
            <a:r>
              <a:rPr b="1"/>
              <a:t>4/10</a:t>
            </a:r>
            <a:r>
              <a:rPr/>
              <a:t> và thêm </a:t>
            </a:r>
            <a:r>
              <a:rPr b="1"/>
              <a:t>53 biển đúng</a:t>
            </a:r>
          </a:p>
          <a:p>
            <a:pPr lvl="0"/>
            <a:r>
              <a:rPr b="1"/>
              <a:t>Siêu phân giải cải thiện 0 biển, nhưng 0/120 mẫu lọt cổng</a:t>
            </a:r>
            <a:r>
              <a:rPr/>
              <a:t> ⇒ </a:t>
            </a:r>
            <a:r>
              <a:rPr i="1"/>
              <a:t>chi phí đã đo, lợi ích chưa ai đo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rPr/>
              <a:t>; giao diện hiện </a:t>
            </a:r>
            <a:r>
              <a:rPr b="1"/>
              <a:t>cả chuỗi thô lẫn chuỗi đã sửa</a:t>
            </a:r>
            <a:r>
              <a:rPr/>
              <a:t>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nghẽn lớn nhất —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Mở rộng bảng ánh xạ từ ma trận nhầm lẫn khi có thêm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Vòng đầu đã +53 biển; 5 cặp còn lại chưa đủ bằng chứng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rò rỉ theo </a:t>
                      </a:r>
                      <a:r>
                        <a:rPr b="1"/>
                        <a:t>chuỗi biển số</a:t>
                      </a:r>
                      <a:r>
                        <a:rPr/>
                        <a:t> thay vì theo băm tri giác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tri giác tóm tắt khung ảnh, không tóm tắt chiếc xe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 cuối trên CPU: phát hiện </a:t>
            </a:r>
            <a:r>
              <a:rPr b="1"/>
              <a:t>mAP@0.5 = 0,9829</a:t>
            </a:r>
          </a:p>
          <a:p>
            <a:pPr lvl="0"/>
            <a:r>
              <a:rPr/>
              <a:t>Biển hai dòng giải bằng </a:t>
            </a:r>
            <a:r>
              <a:rPr b="1"/>
              <a:t>phép biến đổi ảnh</a:t>
            </a:r>
            <a:r>
              <a:rPr/>
              <a:t>, không bằng mô hình nặng hơn — </a:t>
            </a:r>
            <a:r>
              <a:rPr b="1"/>
              <a:t>34,92 điểm</a:t>
            </a:r>
          </a:p>
          <a:p>
            <a:pPr lvl="0"/>
            <a:r>
              <a:rPr/>
              <a:t>Hậu xử lý theo vị trí </a:t>
            </a:r>
            <a:r>
              <a:rPr b="1"/>
              <a:t>+13,28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/ 2.801 biển</a:t>
            </a:r>
          </a:p>
          <a:p>
            <a:pPr lvl="0"/>
            <a:r>
              <a:rPr/>
              <a:t>Điểm nghẽn còn lại: </a:t>
            </a:r>
            <a:r>
              <a:rPr b="1"/>
              <a:t>biển hai dòng</a:t>
            </a:r>
            <a:r>
              <a:rPr/>
              <a:t> (S₁ = 0,7234)</a:t>
            </a:r>
          </a:p>
          <a:p>
            <a:pPr lvl="0" indent="0" marL="0">
              <a:buNone/>
            </a:pPr>
            <a:r>
              <a:rPr b="1"/>
              <a:t>Nhóm thực hiện xin trân trọng cảm ơn Quý Thầy/Cô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Phạm Nguyễn Thế Châu — 25410004 · Nguyễn Công Hậu — 25410006; Nguyễn Minh Hiếu — 25410007 · Phạm Công Thành — 25410013</dc:creator>
  <cp:keywords/>
  <dcterms:created xsi:type="dcterms:W3CDTF">2026-09-03T07:07:45Z</dcterms:created>
  <dcterms:modified xsi:type="dcterms:W3CDTF">2026-09-03T07:07:45Z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