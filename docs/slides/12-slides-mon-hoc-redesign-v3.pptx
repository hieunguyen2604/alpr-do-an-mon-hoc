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3ef03421e74679" /><Relationship Type="http://schemas.openxmlformats.org/officeDocument/2006/relationships/extended-properties" Target="/docProps/app.xml" Id="Rcb77a9aa2bd649a5" /><Relationship Type="http://schemas.openxmlformats.org/officeDocument/2006/relationships/officeDocument" Target="/ppt/presentation.xml" Id="R1f2c6d89e55444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82e62f273c4c19"/>
  </p:sldMasterIdLst>
  <p:notesMasterIdLst>
    <p:notesMasterId xmlns:r="http://schemas.openxmlformats.org/officeDocument/2006/relationships" r:id="R4e7cf5b422af4c66"/>
  </p:notesMasterIdLst>
  <p:sldIdLst>
    <p:sldId xmlns:r="http://schemas.openxmlformats.org/officeDocument/2006/relationships" id="256" r:id="R5ab2bf67ee324c5c"/>
    <p:sldId xmlns:r="http://schemas.openxmlformats.org/officeDocument/2006/relationships" id="257" r:id="R4d7d0dfcbc2d44d2"/>
    <p:sldId xmlns:r="http://schemas.openxmlformats.org/officeDocument/2006/relationships" id="258" r:id="R351aa83fda994b04"/>
    <p:sldId xmlns:r="http://schemas.openxmlformats.org/officeDocument/2006/relationships" id="259" r:id="R152a0d2006ab4159"/>
    <p:sldId xmlns:r="http://schemas.openxmlformats.org/officeDocument/2006/relationships" id="260" r:id="R6cd2c568cbbc453d"/>
    <p:sldId xmlns:r="http://schemas.openxmlformats.org/officeDocument/2006/relationships" id="261" r:id="Re5d521b539894aca"/>
    <p:sldId xmlns:r="http://schemas.openxmlformats.org/officeDocument/2006/relationships" id="262" r:id="R57e01210b177442e"/>
    <p:sldId xmlns:r="http://schemas.openxmlformats.org/officeDocument/2006/relationships" id="263" r:id="R8411a6cd583a44bb"/>
    <p:sldId xmlns:r="http://schemas.openxmlformats.org/officeDocument/2006/relationships" id="264" r:id="Rb11d73a7b1964a84"/>
    <p:sldId xmlns:r="http://schemas.openxmlformats.org/officeDocument/2006/relationships" id="265" r:id="Ra5674017e6c740dc"/>
    <p:sldId xmlns:r="http://schemas.openxmlformats.org/officeDocument/2006/relationships" id="266" r:id="Re4693a6624de4edb"/>
    <p:sldId xmlns:r="http://schemas.openxmlformats.org/officeDocument/2006/relationships" id="267" r:id="R1639c90aa6054a97"/>
    <p:sldId xmlns:r="http://schemas.openxmlformats.org/officeDocument/2006/relationships" id="268" r:id="R14e5b9f4455f4d44"/>
    <p:sldId xmlns:r="http://schemas.openxmlformats.org/officeDocument/2006/relationships" id="269" r:id="R5de1e8cb33bb419e"/>
    <p:sldId xmlns:r="http://schemas.openxmlformats.org/officeDocument/2006/relationships" id="270" r:id="Rc6eb341b63a34544"/>
    <p:sldId xmlns:r="http://schemas.openxmlformats.org/officeDocument/2006/relationships" id="271" r:id="R01fd3681a3b9422c"/>
    <p:sldId xmlns:r="http://schemas.openxmlformats.org/officeDocument/2006/relationships" id="272" r:id="R75ab42dc76ce4226"/>
    <p:sldId xmlns:r="http://schemas.openxmlformats.org/officeDocument/2006/relationships" id="273" r:id="R740dd76025b8413e"/>
    <p:sldId xmlns:r="http://schemas.openxmlformats.org/officeDocument/2006/relationships" id="274" r:id="Rda8c5e1a0fb746f1"/>
    <p:sldId xmlns:r="http://schemas.openxmlformats.org/officeDocument/2006/relationships" id="275" r:id="R16ba73ae887c44e8"/>
    <p:sldId xmlns:r="http://schemas.openxmlformats.org/officeDocument/2006/relationships" id="276" r:id="R161e67130e7f4137"/>
    <p:sldId xmlns:r="http://schemas.openxmlformats.org/officeDocument/2006/relationships" id="277" r:id="R1d8cd933cda64eab"/>
    <p:sldId xmlns:r="http://schemas.openxmlformats.org/officeDocument/2006/relationships" id="278" r:id="Rfad814ab5c6f4cec"/>
    <p:sldId xmlns:r="http://schemas.openxmlformats.org/officeDocument/2006/relationships" id="279" r:id="R09fddd10c5854f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0c8ee3fb3b4d31" /><Relationship Type="http://schemas.openxmlformats.org/officeDocument/2006/relationships/slideMaster" Target="/ppt/slideMasters/slideMaster1.xml" Id="R2782e62f273c4c19" /><Relationship Type="http://schemas.openxmlformats.org/officeDocument/2006/relationships/notesMaster" Target="/ppt/notesMasters/notesMaster1.xml" Id="R4e7cf5b422af4c66" /><Relationship Type="http://schemas.openxmlformats.org/officeDocument/2006/relationships/presProps" Target="/ppt/presProps.xml" Id="R0beac3a6c61b4894" /><Relationship Type="http://schemas.openxmlformats.org/officeDocument/2006/relationships/viewProps" Target="/ppt/viewProps.xml" Id="Ra3c4abd847154108" /><Relationship Type="http://schemas.openxmlformats.org/officeDocument/2006/relationships/tableStyles" Target="/ppt/tableStyles.xml" Id="Rcc7229ba4f7947c2" /><Relationship Type="http://schemas.openxmlformats.org/officeDocument/2006/relationships/slide" Target="/ppt/slides/slide1.xml" Id="R5ab2bf67ee324c5c" /><Relationship Type="http://schemas.openxmlformats.org/officeDocument/2006/relationships/slide" Target="/ppt/slides/slide2.xml" Id="R4d7d0dfcbc2d44d2" /><Relationship Type="http://schemas.openxmlformats.org/officeDocument/2006/relationships/slide" Target="/ppt/slides/slide3.xml" Id="R351aa83fda994b04" /><Relationship Type="http://schemas.openxmlformats.org/officeDocument/2006/relationships/slide" Target="/ppt/slides/slide4.xml" Id="R152a0d2006ab4159" /><Relationship Type="http://schemas.openxmlformats.org/officeDocument/2006/relationships/slide" Target="/ppt/slides/slide5.xml" Id="R6cd2c568cbbc453d" /><Relationship Type="http://schemas.openxmlformats.org/officeDocument/2006/relationships/slide" Target="/ppt/slides/slide6.xml" Id="Re5d521b539894aca" /><Relationship Type="http://schemas.openxmlformats.org/officeDocument/2006/relationships/slide" Target="/ppt/slides/slide7.xml" Id="R57e01210b177442e" /><Relationship Type="http://schemas.openxmlformats.org/officeDocument/2006/relationships/slide" Target="/ppt/slides/slide8.xml" Id="R8411a6cd583a44bb" /><Relationship Type="http://schemas.openxmlformats.org/officeDocument/2006/relationships/slide" Target="/ppt/slides/slide9.xml" Id="Rb11d73a7b1964a84" /><Relationship Type="http://schemas.openxmlformats.org/officeDocument/2006/relationships/slide" Target="/ppt/slides/slide10.xml" Id="Ra5674017e6c740dc" /><Relationship Type="http://schemas.openxmlformats.org/officeDocument/2006/relationships/slide" Target="/ppt/slides/slide11.xml" Id="Re4693a6624de4edb" /><Relationship Type="http://schemas.openxmlformats.org/officeDocument/2006/relationships/slide" Target="/ppt/slides/slide12.xml" Id="R1639c90aa6054a97" /><Relationship Type="http://schemas.openxmlformats.org/officeDocument/2006/relationships/slide" Target="/ppt/slides/slide13.xml" Id="R14e5b9f4455f4d44" /><Relationship Type="http://schemas.openxmlformats.org/officeDocument/2006/relationships/slide" Target="/ppt/slides/slide14.xml" Id="R5de1e8cb33bb419e" /><Relationship Type="http://schemas.openxmlformats.org/officeDocument/2006/relationships/slide" Target="/ppt/slides/slide15.xml" Id="Rc6eb341b63a34544" /><Relationship Type="http://schemas.openxmlformats.org/officeDocument/2006/relationships/slide" Target="/ppt/slides/slide16.xml" Id="R01fd3681a3b9422c" /><Relationship Type="http://schemas.openxmlformats.org/officeDocument/2006/relationships/slide" Target="/ppt/slides/slide17.xml" Id="R75ab42dc76ce4226" /><Relationship Type="http://schemas.openxmlformats.org/officeDocument/2006/relationships/slide" Target="/ppt/slides/slide18.xml" Id="R740dd76025b8413e" /><Relationship Type="http://schemas.openxmlformats.org/officeDocument/2006/relationships/slide" Target="/ppt/slides/slide19.xml" Id="Rda8c5e1a0fb746f1" /><Relationship Type="http://schemas.openxmlformats.org/officeDocument/2006/relationships/slide" Target="/ppt/slides/slide20.xml" Id="R16ba73ae887c44e8" /><Relationship Type="http://schemas.openxmlformats.org/officeDocument/2006/relationships/slide" Target="/ppt/slides/slide21.xml" Id="R161e67130e7f4137" /><Relationship Type="http://schemas.openxmlformats.org/officeDocument/2006/relationships/slide" Target="/ppt/slides/slide22.xml" Id="R1d8cd933cda64eab" /><Relationship Type="http://schemas.openxmlformats.org/officeDocument/2006/relationships/slide" Target="/ppt/slides/slide23.xml" Id="Rfad814ab5c6f4cec" /><Relationship Type="http://schemas.openxmlformats.org/officeDocument/2006/relationships/slide" Target="/ppt/slides/slide24.xml" Id="R09fddd10c5854f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9bc8daea414a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e9e993dab24287" /><Relationship Type="http://schemas.openxmlformats.org/officeDocument/2006/relationships/notesMaster" Target="/ppt/notesMasters/notesMaster1.xml" Id="R4029922e95e045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7a14c4f7ec4997" /><Relationship Type="http://schemas.openxmlformats.org/officeDocument/2006/relationships/notesMaster" Target="/ppt/notesMasters/notesMaster1.xml" Id="R47a61d6c676345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24dc6dc718408a" /><Relationship Type="http://schemas.openxmlformats.org/officeDocument/2006/relationships/notesMaster" Target="/ppt/notesMasters/notesMaster1.xml" Id="Raf3769408eff48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ee699d9ebb49e2" /><Relationship Type="http://schemas.openxmlformats.org/officeDocument/2006/relationships/notesMaster" Target="/ppt/notesMasters/notesMaster1.xml" Id="R76b494c90dd748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474902dba741a3" /><Relationship Type="http://schemas.openxmlformats.org/officeDocument/2006/relationships/notesMaster" Target="/ppt/notesMasters/notesMaster1.xml" Id="Re55ddb654d38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6b2886d46a4d3d" /><Relationship Type="http://schemas.openxmlformats.org/officeDocument/2006/relationships/notesMaster" Target="/ppt/notesMasters/notesMaster1.xml" Id="R4ddd1d37bb214d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6146af369f4620" /><Relationship Type="http://schemas.openxmlformats.org/officeDocument/2006/relationships/notesMaster" Target="/ppt/notesMasters/notesMaster1.xml" Id="Rc881f36ddfd347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b3b82bfe2e436c" /><Relationship Type="http://schemas.openxmlformats.org/officeDocument/2006/relationships/notesMaster" Target="/ppt/notesMasters/notesMaster1.xml" Id="R457a0320111848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d7cdfc04b8408d" /><Relationship Type="http://schemas.openxmlformats.org/officeDocument/2006/relationships/notesMaster" Target="/ppt/notesMasters/notesMaster1.xml" Id="R5a352d47e3bf44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61a5ac4e5441b3" /><Relationship Type="http://schemas.openxmlformats.org/officeDocument/2006/relationships/notesMaster" Target="/ppt/notesMasters/notesMaster1.xml" Id="Ra4ee45f6bb3140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e547dfdeb14610" /><Relationship Type="http://schemas.openxmlformats.org/officeDocument/2006/relationships/notesMaster" Target="/ppt/notesMasters/notesMaster1.xml" Id="R77052b979e4a46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1db092801048fd" /><Relationship Type="http://schemas.openxmlformats.org/officeDocument/2006/relationships/notesMaster" Target="/ppt/notesMasters/notesMaster1.xml" Id="R4c1e368138fc4b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d552da00cd43be" /><Relationship Type="http://schemas.openxmlformats.org/officeDocument/2006/relationships/notesMaster" Target="/ppt/notesMasters/notesMaster1.xml" Id="Ra8fdd8ca1a4e4f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d216f8d2ca48b1" /><Relationship Type="http://schemas.openxmlformats.org/officeDocument/2006/relationships/notesMaster" Target="/ppt/notesMasters/notesMaster1.xml" Id="R5c95c7d0cc5541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7df393a3604451" /><Relationship Type="http://schemas.openxmlformats.org/officeDocument/2006/relationships/notesMaster" Target="/ppt/notesMasters/notesMaster1.xml" Id="Rcddf11bca2b94c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830444938c4eb8" /><Relationship Type="http://schemas.openxmlformats.org/officeDocument/2006/relationships/notesMaster" Target="/ppt/notesMasters/notesMaster1.xml" Id="Rd435f9f508f441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11aca4d73e4b5e" /><Relationship Type="http://schemas.openxmlformats.org/officeDocument/2006/relationships/notesMaster" Target="/ppt/notesMasters/notesMaster1.xml" Id="R1172c0755e6541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e6e97cd9b24751" /><Relationship Type="http://schemas.openxmlformats.org/officeDocument/2006/relationships/notesMaster" Target="/ppt/notesMasters/notesMaster1.xml" Id="Rb658f395b6ca4d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f1b1239c46400d" /><Relationship Type="http://schemas.openxmlformats.org/officeDocument/2006/relationships/notesMaster" Target="/ppt/notesMasters/notesMaster1.xml" Id="Rdc29b36a46df4d0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16a45790f44038" /><Relationship Type="http://schemas.openxmlformats.org/officeDocument/2006/relationships/notesMaster" Target="/ppt/notesMasters/notesMaster1.xml" Id="R144275b1147847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c85140c54674d12" /><Relationship Type="http://schemas.openxmlformats.org/officeDocument/2006/relationships/notesMaster" Target="/ppt/notesMasters/notesMaster1.xml" Id="R5503807a14f04ff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1ea2ee800845eb" /><Relationship Type="http://schemas.openxmlformats.org/officeDocument/2006/relationships/notesMaster" Target="/ppt/notesMasters/notesMaster1.xml" Id="Re1f57f39d39c4c5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29a341e3044902" /><Relationship Type="http://schemas.openxmlformats.org/officeDocument/2006/relationships/notesMaster" Target="/ppt/notesMasters/notesMaster1.xml" Id="R7257da9e70d344b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d62d04981794ab3" /><Relationship Type="http://schemas.openxmlformats.org/officeDocument/2006/relationships/notesMaster" Target="/ppt/notesMasters/notesMaster1.xml" Id="Rccb5effb6e014b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 và ch2-co-so-ly-thuyet.md.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docs/papers/mon-hoc/ch1-gioi-thieu.md. Phạm vi chỉ là nhận dạng biển số, không bao gồm tracking hoặc barie.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[2] Laroca et al., VISAPP 2022; [7] Jocher &amp; Qiu, Ultralytics YOLO11, 2024; [8] Cui, PP-OCRv5, 2026. Danh mục đầy đủ: docs/papers/mon-hoc/ch8-tai-lieu-tham-khao.md.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docs/papers/mon-hoc/ch2-co-so-ly-thuyet.md và ch4-thuc-nghiem.md.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docs/papers/mon-hoc/ch4-thuc-nghiem.md. Số liệu cấu hình triển khai: mAP@0,5 = 0,9829; độ chính xác toàn chuỗi = 0,7701; p95 = 509,76 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ảnh và nhãn: docs/slides/figures/fig-ch4-loi.png; phân tích chi tiết tại docs/papers/mon-hoc/ch4-thuc-nghiem.md.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ảnh và nhãn: docs/slides/figures/fig-ch4-loi.png. Ground Truth và Predicted được giữ nguyên theo báo cáo thực nghiệm.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docs/papers/mon-hoc/ch4-thuc-nghiem.md, Bảng 4.8 đến 4.10. Không cộng chéo số tuyệt đối từ các lượt đo khác nhau.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Kịch bản demo: docs/slides/10-demo-script.md. Khi demo trực tiếp gặp lỗi camera hoặc mạng, dùng bộ ảnh cục bộ và video dự phòng.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 và ch5-ket-luan.md.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docs/papers/mon-hoc/ch5-ket-luan.md. Các hạng mục này chưa hoàn thành nên chỉ xuất hiện ở phần hạn chế và hướng phát triển.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docs/papers/mon-hoc/ch9-phu-luc.md, mục A.1 và A.2.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docs/papers/mon-hoc/ch4-thuc-nghiem.md, mục 4.5.2. Không ghép với lượt đo trước tối ưu ở Bảng 4.9.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 và .agents/rules/measurement-validity.md.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theo AGENTS.md và mục tiêu của báo cáo môn học. Không mở rộng sang tracking, barie, multi-GPU hoặc microservices.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db2a519ef4e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8364c05b2410f" /><Relationship Type="http://schemas.openxmlformats.org/officeDocument/2006/relationships/image" Target="/ppt/media/image.png" Id="R9d73a69208824ed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3a6920882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7FC641D-20BA-456B-83B6-DC4E569A2A9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46304" y="6473952"/>
            <a:ext cx="201168" cy="146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cdf6b20da449c4" /><Relationship Type="http://schemas.openxmlformats.org/officeDocument/2006/relationships/slideLayout" Target="/ppt/slideLayouts/slideLayout1.xml" Id="R0169908ac65d47e3" /><Relationship Type="http://schemas.openxmlformats.org/officeDocument/2006/relationships/slideLayout" Target="/ppt/slideLayouts/slideLayout2.xml" Id="Rf3bfb9acd4a7440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ED98A9B-F0AB-4612-ADB8-C3A156149E8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46304" y="6473952"/>
            <a:ext cx="201168" cy="146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69908ac65d47e3"/>
    <p:sldLayoutId xmlns:r="http://schemas.openxmlformats.org/officeDocument/2006/relationships" id="2147483650" r:id="Rf3bfb9acd4a7440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8058b45b024be3" /><Relationship Type="http://schemas.openxmlformats.org/officeDocument/2006/relationships/image" Target="/ppt/media/image2.png" Id="R6876e759ad9042d7" /><Relationship Type="http://schemas.openxmlformats.org/officeDocument/2006/relationships/notesSlide" Target="/ppt/notesSlides/notesSlide1.xml" Id="R03d48aebc03d44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9399da91ea4582" /><Relationship Type="http://schemas.openxmlformats.org/officeDocument/2006/relationships/notesSlide" Target="/ppt/notesSlides/notesSlide2.xml" Id="R952ee40fa5eb40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2421d2ad5a4c81" /><Relationship Type="http://schemas.openxmlformats.org/officeDocument/2006/relationships/notesSlide" Target="/ppt/notesSlides/notesSlide3.xml" Id="R82baa77a4db044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cc2a783ca74376" /><Relationship Type="http://schemas.openxmlformats.org/officeDocument/2006/relationships/notesSlide" Target="/ppt/notesSlides/notesSlide4.xml" Id="Rb07ada80e8b340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7e16756eb4428" /><Relationship Type="http://schemas.openxmlformats.org/officeDocument/2006/relationships/notesSlide" Target="/ppt/notesSlides/notesSlide5.xml" Id="Refbc2d55b90442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371882989d43f8" /><Relationship Type="http://schemas.openxmlformats.org/officeDocument/2006/relationships/notesSlide" Target="/ppt/notesSlides/notesSlide6.xml" Id="R02d70e7e28034b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dcfa34a4b54e1e" /><Relationship Type="http://schemas.openxmlformats.org/officeDocument/2006/relationships/image" Target="/ppt/media/image3.png" Id="R6d39e7f144fe49e1" /><Relationship Type="http://schemas.openxmlformats.org/officeDocument/2006/relationships/notesSlide" Target="/ppt/notesSlides/notesSlide7.xml" Id="R0e2938e9ff534c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4b6ab1e03a4992" /><Relationship Type="http://schemas.openxmlformats.org/officeDocument/2006/relationships/image" Target="/ppt/media/image4.png" Id="Rb1dbdfbb9da74a7f" /><Relationship Type="http://schemas.openxmlformats.org/officeDocument/2006/relationships/notesSlide" Target="/ppt/notesSlides/notesSlide8.xml" Id="R6622ebfc348f44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ca0f957d1649df" /><Relationship Type="http://schemas.openxmlformats.org/officeDocument/2006/relationships/notesSlide" Target="/ppt/notesSlides/notesSlide9.xml" Id="Re177aa6d75134f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97df66abdc401a" /><Relationship Type="http://schemas.openxmlformats.org/officeDocument/2006/relationships/image" Target="/ppt/media/image5.png" Id="Rc6e39943dd0b429a" /><Relationship Type="http://schemas.openxmlformats.org/officeDocument/2006/relationships/notesSlide" Target="/ppt/notesSlides/notesSlide10.xml" Id="R55cb2d1b2db94f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5936496b55496b" /><Relationship Type="http://schemas.openxmlformats.org/officeDocument/2006/relationships/notesSlide" Target="/ppt/notesSlides/notesSlide11.xml" Id="R05e254b2aa2249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d9f0b6eaa242a3" /><Relationship Type="http://schemas.openxmlformats.org/officeDocument/2006/relationships/notesSlide" Target="/ppt/notesSlides/notesSlide12.xml" Id="Ra0a23b97db404f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8265d6f8e4651" /><Relationship Type="http://schemas.openxmlformats.org/officeDocument/2006/relationships/image" Target="/ppt/media/image6.png" Id="R7597cc575e1b4d1d" /><Relationship Type="http://schemas.openxmlformats.org/officeDocument/2006/relationships/notesSlide" Target="/ppt/notesSlides/notesSlide13.xml" Id="Rce5051d654924d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90a72a5d69408e" /><Relationship Type="http://schemas.openxmlformats.org/officeDocument/2006/relationships/image" Target="/ppt/media/image7.png" Id="R4f1251d8b5324a4f" /><Relationship Type="http://schemas.openxmlformats.org/officeDocument/2006/relationships/notesSlide" Target="/ppt/notesSlides/notesSlide14.xml" Id="Ra746b238de1f4a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9785bafbea458f" /><Relationship Type="http://schemas.openxmlformats.org/officeDocument/2006/relationships/image" Target="/ppt/media/image8.png" Id="R0d0ff611c53b4ce9" /><Relationship Type="http://schemas.openxmlformats.org/officeDocument/2006/relationships/notesSlide" Target="/ppt/notesSlides/notesSlide15.xml" Id="R529470feef3e45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087265758448a9" /><Relationship Type="http://schemas.openxmlformats.org/officeDocument/2006/relationships/notesSlide" Target="/ppt/notesSlides/notesSlide16.xml" Id="Rb3c0e50367ef40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62d8e7cdb944b4" /><Relationship Type="http://schemas.openxmlformats.org/officeDocument/2006/relationships/image" Target="/ppt/media/image9.png" Id="R69dc6695571d4d0d" /><Relationship Type="http://schemas.openxmlformats.org/officeDocument/2006/relationships/notesSlide" Target="/ppt/notesSlides/notesSlide17.xml" Id="R281f15a96b8e48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46dc31307840db" /><Relationship Type="http://schemas.openxmlformats.org/officeDocument/2006/relationships/notesSlide" Target="/ppt/notesSlides/notesSlide18.xml" Id="R9082d480badc44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ebf2bc66e4e6f" /><Relationship Type="http://schemas.openxmlformats.org/officeDocument/2006/relationships/notesSlide" Target="/ppt/notesSlides/notesSlide19.xml" Id="R05e0cc20092643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d033a08f9e47d7" /><Relationship Type="http://schemas.openxmlformats.org/officeDocument/2006/relationships/notesSlide" Target="/ppt/notesSlides/notesSlide20.xml" Id="Rbfc3b5407acb41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f75640186245ad" /><Relationship Type="http://schemas.openxmlformats.org/officeDocument/2006/relationships/notesSlide" Target="/ppt/notesSlides/notesSlide21.xml" Id="Rcbeef6f192714a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84401fe196488f" /><Relationship Type="http://schemas.openxmlformats.org/officeDocument/2006/relationships/chart" Target="/ppt/slides/charts/chart1.xml" Id="Rbab44e2d8129460f" /><Relationship Type="http://schemas.openxmlformats.org/officeDocument/2006/relationships/notesSlide" Target="/ppt/notesSlides/notesSlide22.xml" Id="Rae4481dc16cc461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79b24371734be5" /><Relationship Type="http://schemas.openxmlformats.org/officeDocument/2006/relationships/notesSlide" Target="/ppt/notesSlides/notesSlide23.xml" Id="R09e5ba1d773640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aa90aab6c94e92" /><Relationship Type="http://schemas.openxmlformats.org/officeDocument/2006/relationships/notesSlide" Target="/ppt/notesSlides/notesSlide24.xml" Id="R933bf0a362c645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Độ trễ (ms)</c:v>
          </c:tx>
          <c:spPr>
            <a:solidFill xmlns:a="http://schemas.openxmlformats.org/drawingml/2006/main">
              <a:srgbClr val="2563D8"/>
            </a:solidFill>
          </c:spPr>
          <c:cat>
            <c:strRef>
              <c:f>'Chart Data'!$A$2:$A$4</c:f>
              <c:strCache>
                <c:ptCount val="3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150.07</c:v>
                </c:pt>
                <c:pt idx="1">
                  <c:v>509.76</c:v>
                </c:pt>
                <c:pt idx="2">
                  <c:v>1124.13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B7DA1B-61D4-4A9A-855E-356E519D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10698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F2A5F"/>
                </a:solidFill>
              </a:rPr>
              <a:t>Xây dựng hệ thống nhận diện</a:t>
            </a:r>
            <a:endParaRPr sz="3000"/>
          </a:p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F2A5F"/>
                </a:solidFill>
              </a:rPr>
              <a:t>biển số xe bằng Trí tuệ nhân tạo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AE71AC-8E87-48CC-9926-38430BD5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63240"/>
            <a:ext cx="8915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6354A"/>
                </a:solidFill>
              </a:rPr>
              <a:t>Đồ án môn học · Xử lý ảnh và ứng dụng</a:t>
            </a:r>
            <a:endParaRPr sz="1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C3E55D4-9E65-49C0-96F6-2266707B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3873500"/>
            <a:ext cx="36195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Phạm Nguyễn Thế Châu – 25410004
Nguyễn Minh Hiếu – 25410007</a:t>
            </a:r>
            <a:endParaRPr sz="130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E5ECA4C-8D79-4E0D-AFB8-44BA637D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635500"/>
            <a:ext cx="711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GVHD: ThS. Cáp Phạm Đình Thăng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0A6E75-F465-450D-BA54-5BFE42E4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651500"/>
            <a:ext cx="2651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8D98A9"/>
                </a:solidFill>
              </a:rPr>
              <a:t>Tháng 9 · 2026</a:t>
            </a:r>
            <a:endParaRPr sz="1000"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EE15865-D16E-41F6-95CE-137F940F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" y="36576"/>
            <a:ext cx="37947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6e759ad9042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" y="68580"/>
            <a:ext cx="3246120" cy="333963"/>
          </a:xfrm>
          <a:prstGeom xmlns:a="http://schemas.openxmlformats.org/drawingml/2006/main" prst="rect">
            <a:avLst/>
          </a:prstGeom>
        </p:spPr>
      </p:pic>
      <p:sp>
        <p:nvSpPr>
          <p:cNvPr id="2" name="Text 3_Right">
            <a:extLst xmlns:a="http://schemas.openxmlformats.org/drawingml/2006/main">
              <a:ext uri="{FF2B5EF4-FFF2-40B4-BE49-F238E27FC236}">
                <a16:creationId xmlns:a16="http://schemas.microsoft.com/office/drawing/2014/main" id="{D7F6B2D8-A06E-A086-DB56-471DF42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3500"/>
            <a:ext cx="3619500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Nguyễn Công Hậu – 25410006
Phạm Công Thành – 25410013</a:t>
            </a:r>
          </a:p>
        </p:txBody>
      </p:sp>
    </p:spTree>
    <p:extLst>
      <p:ext uri="{BB962C8B-B14F-4D97-AF65-F5344CB8AC3E}">
        <p14:creationId xmlns:p14="http://schemas.microsoft.com/office/powerpoint/2010/main" val="10100632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D9A88E-3BE5-42F2-ACB3-2240F83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Nội dung trình bày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530B7D-B3B2-491A-BB9F-E1E5B42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4 phần theo rubric báo cáo của giảng viên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28799F-6E4C-4CE0-8328-3C52B4A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55DED99-1872-41C7-BDF6-EB9F5B1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74650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01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D4DCEA-975B-4F34-99AA-2DF4D6A5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4650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Bài toán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0FCDA42-9C22-494F-A248-E6D6ED6F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604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C7830C-DA2B-4766-BC39-35972576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5234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02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F73D08-D65E-4353-9B3B-B9693419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5234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6354A"/>
                </a:solidFill>
              </a:rPr>
              <a:t>Phương pháp đề xuất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6C2282F-8D0F-4886-BE39-0B79DCD9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188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C2C32E-F288-440A-BC55-E4B7E85E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5818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03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1DB34A-BE09-4CB9-BC5F-F8AA2E0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818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Thực nghiệm</a:t>
            </a:r>
            <a:endParaRPr sz="18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8A5A1F3-D894-4CEF-A215-DFD17623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772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C6CA70D-6B3B-47BC-98EB-1074326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402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04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CCEB7DE-4D01-4D35-AFB8-BF890EA6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402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Kết luận và hướng phát triển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6503072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A368F281-8DFA-4794-9FA0-B6DD7FC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Định nghĩa bài toán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3B5F5E-DF5F-4FBE-9405-B42A3C6F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Từ ảnh phương tiện đến vị trí, chuỗi ký tự và màu nền biển số</a:t>
            </a:r>
          </a:p>
        </p:txBody>
      </p:sp>
      <p:sp>
        <p:nvSpPr>
          <p:cNvPr id="3" name="formula-box">
            <a:extLst xmlns:a="http://schemas.openxmlformats.org/drawingml/2006/main">
              <a:ext uri="{FF2B5EF4-FFF2-40B4-BE49-F238E27FC236}">
                <a16:creationId xmlns:a16="http://schemas.microsoft.com/office/drawing/2014/main" id="{C078E67B-1A6B-4DA6-804C-BEB126C2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476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ED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2BEEF7D6-7AFA-4098-8104-153D801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05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ĐẦU VÀO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0A302692-3A74-47E3-A2E9-02A0D3EC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I ∈ ℝᴴˣᵂˣ³</a:t>
            </a:r>
          </a:p>
        </p:txBody>
      </p:sp>
      <p:sp>
        <p:nvSpPr>
          <p:cNvPr id="6" name="mapping">
            <a:extLst xmlns:a="http://schemas.openxmlformats.org/drawingml/2006/main">
              <a:ext uri="{FF2B5EF4-FFF2-40B4-BE49-F238E27FC236}">
                <a16:creationId xmlns:a16="http://schemas.microsoft.com/office/drawing/2014/main" id="{59D01B9E-D027-45E0-9147-E0A955ED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fθ(I) = (b, y, c)</a:t>
            </a:r>
          </a:p>
        </p:txBody>
      </p:sp>
      <p:sp>
        <p:nvSpPr>
          <p:cNvPr id="7" name="constraint">
            <a:extLst xmlns:a="http://schemas.openxmlformats.org/drawingml/2006/main">
              <a:ext uri="{FF2B5EF4-FFF2-40B4-BE49-F238E27FC236}">
                <a16:creationId xmlns:a16="http://schemas.microsoft.com/office/drawing/2014/main" id="{6D7F419D-B2C0-4E3F-8909-F402CCF7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CPU  •  p95 ≤ 1,5 giây</a:t>
            </a:r>
          </a:p>
        </p:txBody>
      </p:sp>
      <p:sp>
        <p:nvSpPr>
          <p:cNvPr id="8" name="symbol-0">
            <a:extLst xmlns:a="http://schemas.openxmlformats.org/drawingml/2006/main">
              <a:ext uri="{FF2B5EF4-FFF2-40B4-BE49-F238E27FC236}">
                <a16:creationId xmlns:a16="http://schemas.microsoft.com/office/drawing/2014/main" id="{E5BA5401-2F79-47AC-B2C5-417B11CC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b</a:t>
            </a:r>
          </a:p>
        </p:txBody>
      </p:sp>
      <p:sp>
        <p:nvSpPr>
          <p:cNvPr id="9" name="meaning-0">
            <a:extLst xmlns:a="http://schemas.openxmlformats.org/drawingml/2006/main">
              <a:ext uri="{FF2B5EF4-FFF2-40B4-BE49-F238E27FC236}">
                <a16:creationId xmlns:a16="http://schemas.microsoft.com/office/drawing/2014/main" id="{69E0F239-7D0C-427E-879E-2533B535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Hộp bao biển số trong ảnh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CFCEF-F493-47AE-BD01-8C423992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1" name="symbol-1">
            <a:extLst xmlns:a="http://schemas.openxmlformats.org/drawingml/2006/main">
              <a:ext uri="{FF2B5EF4-FFF2-40B4-BE49-F238E27FC236}">
                <a16:creationId xmlns:a16="http://schemas.microsoft.com/office/drawing/2014/main" id="{45A5CDF6-9A16-491A-A2E4-51B2ECEA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y ∈ Σⁿ</a:t>
            </a:r>
          </a:p>
        </p:txBody>
      </p:sp>
      <p:sp>
        <p:nvSpPr>
          <p:cNvPr id="12" name="meaning-1">
            <a:extLst xmlns:a="http://schemas.openxmlformats.org/drawingml/2006/main">
              <a:ext uri="{FF2B5EF4-FFF2-40B4-BE49-F238E27FC236}">
                <a16:creationId xmlns:a16="http://schemas.microsoft.com/office/drawing/2014/main" id="{F9F863BF-6506-4432-8CCE-F84EED8A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Chuỗi biển số, n ∈ {7, 8, 9}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1979F-4FE9-4460-A9C0-769E9094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4" name="symbol-2">
            <a:extLst xmlns:a="http://schemas.openxmlformats.org/drawingml/2006/main">
              <a:ext uri="{FF2B5EF4-FFF2-40B4-BE49-F238E27FC236}">
                <a16:creationId xmlns:a16="http://schemas.microsoft.com/office/drawing/2014/main" id="{4E69DF96-4DCC-4037-A206-41C8634E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c</a:t>
            </a:r>
          </a:p>
        </p:txBody>
      </p:sp>
      <p:sp>
        <p:nvSpPr>
          <p:cNvPr id="15" name="meaning-2">
            <a:extLst xmlns:a="http://schemas.openxmlformats.org/drawingml/2006/main">
              <a:ext uri="{FF2B5EF4-FFF2-40B4-BE49-F238E27FC236}">
                <a16:creationId xmlns:a16="http://schemas.microsoft.com/office/drawing/2014/main" id="{C0D24E9B-8CC2-4023-BA1C-17C186B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14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Nhãn màu nền biển</a:t>
            </a:r>
          </a:p>
        </p:txBody>
      </p:sp>
      <p:sp>
        <p:nvSpPr>
          <p:cNvPr id="16" name="metric-note">
            <a:extLst xmlns:a="http://schemas.openxmlformats.org/drawingml/2006/main">
              <a:ext uri="{FF2B5EF4-FFF2-40B4-BE49-F238E27FC236}">
                <a16:creationId xmlns:a16="http://schemas.microsoft.com/office/drawing/2014/main" id="{219F3A07-738F-44FA-A17B-EF594508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Tiêu chí vận hành chính: đúng toàn bộ chuỗi, không chỉ đúng từng ký tự</a:t>
            </a:r>
          </a:p>
        </p:txBody>
      </p:sp>
    </p:spTree>
    <p:extLst>
      <p:ext uri="{BB962C8B-B14F-4D97-AF65-F5344CB8AC3E}">
        <p14:creationId xmlns:p14="http://schemas.microsoft.com/office/powerpoint/2010/main" val="19449539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BC5B926F-C050-4F26-8B6A-4355E3B5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Ý nghĩa thực tiễn và thách thức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31C689-2B47-4845-9EDD-18615A43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Bài toán có giá trị triển khai rõ ràng nhưng chịu ràng buộc đặc thù tại Việt Nam</a:t>
            </a:r>
          </a:p>
        </p:txBody>
      </p:sp>
      <p:sp>
        <p:nvSpPr>
          <p:cNvPr id="3" name="practical-head">
            <a:extLst xmlns:a="http://schemas.openxmlformats.org/drawingml/2006/main">
              <a:ext uri="{FF2B5EF4-FFF2-40B4-BE49-F238E27FC236}">
                <a16:creationId xmlns:a16="http://schemas.microsoft.com/office/drawing/2014/main" id="{B703689F-E460-4C3E-985B-9DCF6D65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Ý nghĩa thực tiễn</a:t>
            </a:r>
          </a:p>
        </p:txBody>
      </p:sp>
      <p:sp>
        <p:nvSpPr>
          <p:cNvPr id="4" name="practical-body">
            <a:extLst xmlns:a="http://schemas.openxmlformats.org/drawingml/2006/main">
              <a:ext uri="{FF2B5EF4-FFF2-40B4-BE49-F238E27FC236}">
                <a16:creationId xmlns:a16="http://schemas.microsoft.com/office/drawing/2014/main" id="{1A8AA912-6366-4A48-B779-69FB8912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5243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Tự động nhập biển số từ camera hoặc ảnh tĩnh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Lõi nhận dạng cho bãi đỗ xe, thu phí và kiểm soát ra vào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Chạy trên CPU phổ thông, thuận lợi khi triển khai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71CBD-416A-4A6D-AF7E-395874C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6" name="challenge-head">
            <a:extLst xmlns:a="http://schemas.openxmlformats.org/drawingml/2006/main">
              <a:ext uri="{FF2B5EF4-FFF2-40B4-BE49-F238E27FC236}">
                <a16:creationId xmlns:a16="http://schemas.microsoft.com/office/drawing/2014/main" id="{D0D7554F-A698-4F3C-A5F4-0122504B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Thách thức kỹ thuật</a:t>
            </a:r>
          </a:p>
        </p:txBody>
      </p:sp>
      <p:sp>
        <p:nvSpPr>
          <p:cNvPr id="7" name="challenge-body">
            <a:extLst xmlns:a="http://schemas.openxmlformats.org/drawingml/2006/main">
              <a:ext uri="{FF2B5EF4-FFF2-40B4-BE49-F238E27FC236}">
                <a16:creationId xmlns:a16="http://schemas.microsoft.com/office/drawing/2014/main" id="{A2BDFA4D-58C4-4098-AB9C-FC21341F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77 triệu xe máy, biển hai dòng là trường hợp phổ biến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Biển 190 × 140 mm là đối tượng nhỏ trong khung hình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Chói phản quang, nhòe, bụi bẩn và góc nghiêng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CRNN/CTC ưu tiên chuỗi một dòng ngang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5B82E46C-4C7E-47AC-8797-B82AE772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76875"/>
            <a:ext cx="7715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B9DBF2"/>
            </a:solidFill>
            <a:prstDash val="solid"/>
          </a:ln>
        </p:spPr>
      </p:sp>
      <p:sp>
        <p:nvSpPr>
          <p:cNvPr id="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F7DBE877-35D7-4B98-A708-1D92CDB0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149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Biển hai dòng là điểm nghẽn cần giải quyết, không phải trường hợp ngoại lệ</a:t>
            </a:r>
          </a:p>
        </p:txBody>
      </p:sp>
    </p:spTree>
    <p:extLst>
      <p:ext uri="{BB962C8B-B14F-4D97-AF65-F5344CB8AC3E}">
        <p14:creationId xmlns:p14="http://schemas.microsoft.com/office/powerpoint/2010/main" val="2412670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90ADC4-37CF-42A4-970C-E05A90C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Khảo sát các hướng tiếp cận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612EED-3076-42AD-9152-5C22E43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Bốn phương án được đối chiếu theo khả năng xử lý biển Việt Nam và ràng buộc CPU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3429000"/>
                <a:gridCol w="4286250"/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tiếp cận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nhận dạng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Đánh đổi chính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Morphology + SVM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Phân đoạn từng ký tự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Nhạy với nhiễu và góc nghiêng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YOLO + OCR dựng sẵn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EasyOCR hoặc Tesseract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Suy giảm mạnh trên biển hai dòng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End-to-end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LPRNet hoặc CRNN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Cần dữ liệu Việt Nam để huấn luyện lại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Phương pháp đề tài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YOLO11n + PP-OCRv5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Biến đổi hình học, phù hợp CPU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</a:tr>
            </a:tbl>
          </a:graphicData>
        </a:graphic>
      </p:graphicFrame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F2E435D2-9620-4909-B0CB-3DB4586F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BD3F2"/>
            </a:solidFill>
            <a:prstDash val="solid"/>
          </a:ln>
        </p:spPr>
      </p:sp>
      <p:sp>
        <p:nvSpPr>
          <p:cNvPr id="5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E173B62E-17CA-4D1F-8DDA-5DEC3205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Lựa chọn phương án 4: không huấn luyện lại OCR, vẫn tối ưu được trên CPU</a:t>
            </a:r>
          </a:p>
        </p:txBody>
      </p:sp>
      <p:sp>
        <p:nvSpPr>
          <p:cNvPr id="8" name="visible-sources">
            <a:extLst xmlns:a="http://schemas.openxmlformats.org/drawingml/2006/main">
              <a:ext uri="{FF2B5EF4-FFF2-40B4-BE49-F238E27FC236}">
                <a16:creationId xmlns:a16="http://schemas.microsoft.com/office/drawing/2014/main" id="{E6F24F35-FC97-4FB9-9A79-3B84DDB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Nguồn: Laroca và cộng sự (VISAPP 2022) · Ultralytics YOLO11 (2024) · PP-OCRv5 (2026)</a:t>
            </a:r>
          </a:p>
        </p:txBody>
      </p:sp>
    </p:spTree>
    <p:extLst>
      <p:ext uri="{BB962C8B-B14F-4D97-AF65-F5344CB8AC3E}">
        <p14:creationId xmlns:p14="http://schemas.microsoft.com/office/powerpoint/2010/main" val="691914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1CD969-550B-41D6-BAD9-E069BB22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Pipeline xử lý tổng thể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CAC01E-4C30-4545-AECF-7A3CDD0D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Đóng góp cốt lõi nằm ở hai khối: Xử lý ảnh thích ứng và Hậu xử lý tri thức chuyên miền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5DAB67-291E-40C3-B612-EDCF6238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D481E35-7192-40DD-B127-1E34454F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Ảnh đầu vào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A28219-9BE4-4888-AA52-938DABDF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Camera / ảnh thực tế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186AF58-6820-4F5A-8035-9EF6DD7A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C613EEF-EB93-4A51-86EE-40422E4F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13C55B-CDA3-45D6-8A44-A60E575B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YOLO11n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E929E1-4DA4-4599-B5D8-F9EE44C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Phát hiện biển số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110E319-4450-4AD9-BC2F-7F638E56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44E5579-2CA1-427F-A00C-50A929F1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17BCEB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27C648-035B-4B6A-9491-516575B7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5FD4"/>
                </a:solidFill>
              </a:rPr>
              <a:t>Xử lý ảnh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982EF8D-076C-4198-9325-EB26228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Deskew · Tách–ghép dòng · CLAHE · Lọc song phương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EF4B028-B617-4F11-ACA1-07245436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1B895A5-6576-4425-9BAB-D28BDD22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63DBA0A-73F5-4B8B-B5BF-693465A6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PaddleOCR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6FE222-A7FD-4F6E-9CA4-F8735686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PP-OCRv5 Mobile (Thuần CPU)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4F752D9-0FAB-41DC-9240-E244E8A5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D700C98-0502-439B-91DF-5664B4F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17BCEB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44FFF6C-8F66-4CA2-8B79-63D6E8E9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5FD4"/>
                </a:solidFill>
              </a:rPr>
              <a:t>Hậu xử lý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7CFA5F3-FC95-4690-AF87-E9F082D7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Kiểm tra 34 tỉnh · Mặt nạ vị trí · Ma trận hoán vị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A6ED0EA-00F7-4EC4-8EBC-876715D9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D89D805-160F-4886-A172-3DDAB51E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1D3C7C-722C-4083-903B-962037F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Kết quả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8B8189C-5C60-421D-A080-84E7594C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Chuỗi biển số chuẩn hóa + Màu sắc &amp; Loại xe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AFC6D99-F874-4AD5-8A0D-957F6710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800600"/>
            <a:ext cx="649224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EE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8ABEF59-BF45-4C43-8959-874B2646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4873752"/>
            <a:ext cx="6345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5FD4"/>
                </a:solidFill>
                <a:latin typeface="Arial"/>
                <a:ea typeface="Arial"/>
                <a:cs typeface="Arial"/>
              </a:rPr>
              <a:t>Không sửa đổi cấu trúc OCR → Tái cấu trúc hình học ảnh để tương thích tối ưu với OCR sẵn có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991899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7C1BBC-4D49-4030-9B95-0A47094C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Vì sao biển hai dòng làm OCR đọc sai?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B18BE5-3107-47BC-B5C8-A92CE597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Hình học đầu vào vi phạm giả định thứ tự thời gian đơn điệu của hàm mất mát CTC Loss</a:t>
            </a:r>
            <a:endParaRPr sz="11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9e7f144fe49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381125"/>
            <a:ext cx="7096125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1492A3B-BBE3-4CB7-BFDF-DC0FB5B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3571875" cy="39052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AE448BF-EEEF-405F-A57E-DD17F8A9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Xung đột đặc trưng 2 dòng</a:t>
            </a:r>
            <a:endParaRPr sz="1350" b="1">
              <a:solidFill>
                <a:srgbClr val="DC262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6748A0B-467A-4E61-95B5-A05533AD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095625" cy="2047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CNN ép chiều cao ảnh về một hàng đặc trưng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/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Hai dòng ký tự bị trộn theo cùng trục thời gian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/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CTC mất căn chỉnh đơn điệu và bỏ sót ký tự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537DAEC-3DCC-4F96-8EAF-98313B58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Giải pháp: chuẩn hóa biển hai dòng thành một dải ngang trước OCR</a:t>
            </a:r>
            <a:endParaRPr sz="115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73288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4AB49E-68AB-4FC8-A6FC-93D54B64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Chuẩn hóa biển hai dòng bằng biến đổi hình học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D0B399-F99B-4037-9A60-8D22213F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Chuỗi 5 phép biến đổi hình học giúp chuẩn hóa biển 2 dòng thành 1 dòng chất lượng cao</a:t>
            </a:r>
            <a:endParaRPr sz="1150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bdfbb9da74a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285875"/>
            <a:ext cx="6286500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9C16B6A-F1F3-4C7C-868A-A539278E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447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220E5D4-C51C-4B28-950E-0C16492E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1790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D029855-E587-4758-AC43-079A3F74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1732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Phân loại 1 / 2 dòng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54BA44-4F8D-477F-BE65-DAFD2243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41732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AR = 2,50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D5FAE78-B1E8-45A9-B9B9-D79DC84A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219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3907D08-E51D-4C77-B5FA-7D2F96B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9514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2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F826287-53BC-4627-9980-30517271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9456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Nắn phẳng Affine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5A18DB8-5C99-4318-8DB2-10602D8D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9456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Xoay bằng minAreaRect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F38228D-080D-491A-99A3-41C5C415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116B200-009E-4592-9377-EB53B3EE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7238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3</a:t>
            </a:r>
            <a:endParaRPr sz="1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A61C599-07C8-4EDA-9C18-903E54C1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97180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Tách hai dòng ổn định</a:t>
            </a:r>
            <a:endParaRPr sz="15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F2C87B0-39BF-4C9C-A65C-D19CE8A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7180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Cắt 5/12 trên và 1/3 dưới</a:t>
            </a:r>
            <a:endParaRPr sz="11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170809A-E24D-4352-A027-660E6B27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764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3C4D068-EF14-4B9E-9A9D-52346E2B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962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4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70753FA-B851-4B74-B36D-6192530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74904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Ghép ngang nối tiếp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8B2FD50-A519-40A4-89CE-CF4B43EE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4904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Nối thành một dải ngang</a:t>
            </a:r>
            <a:endParaRPr sz="11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F0CBE5-DF2A-49E0-B1A2-4CB427B6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537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9B3E408-7468-4559-AFE0-797797BC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2686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5</a:t>
            </a:r>
            <a:endParaRPr sz="10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8B9DDAE-D798-4060-ACC6-1D63421D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52628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CLAHE &amp; Lọc song phương</a:t>
            </a:r>
            <a:endParaRPr sz="15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DF66E6B-CAC9-4A19-A811-64EBD38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2628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Tăng tương phản, giữ nét chữ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3566744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E4401D5-FBA8-4213-B9A7-C562AAB2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Hậu xử lý theo vị trí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E77608-7A8E-4A9E-A05C-6E270C74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Khai thác quy chuẩn Việt Nam (TT 79/2024 &amp; TT 51/2025) theo từng vị trí ký tự trong chuỗi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262EC0-9C2B-40F1-AB05-A0542431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5667F1-76CF-4EDA-8106-279E0A59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642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1. Danh mục 34 Mã địa phương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5E2ED8-CA12-40FB-9F8A-7445261A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99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Rà soát theo 34 tỉnh/thành hợp lệ (TT 51/2025); loại bỏ hoàn toàn các mã giả lập không tồn tại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9384033-3F81-43B7-94B5-DDA6BBB6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630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B9117E-A148-4A21-9CA2-A20568AF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642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2. Mặt nạ cú pháp định dạng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0F7560-766B-4321-B1CD-2CAFFC65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299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Ràng buộc nghiêm ngặt vị trí số và chữ theo quy chuẩn DD-L DDD.DD hoặc DD-L? DDD.DD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28F76F4-54BA-4069-B2AB-905FFED0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17F3B9-5F40-41E7-BA32-BAFD426A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644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3. Tập ký tự seri theo loại xe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FB49EC-E0C0-4F2B-809B-A08E4B37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301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Xe con không chứa ký tự 'R'; xe máy phân biệt rõ 'G' và 'R' ở từng vị trí seri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43D5B7-3B66-476B-B086-EE9597CE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632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142949-4594-432E-9302-223BDDD5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644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4. Ma trận hoán vị bất đối xứng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71CC751-D47D-4688-BFCC-9205CA45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301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Sửa lỗi OCR có định hướng: 'O','D' → '0' khi ở vị trí số; '0' → 'D' khi ở vị trí chữ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3255250-D57F-409C-879F-B90AFB3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92040"/>
            <a:ext cx="9784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12700">
            <a:solidFill>
              <a:srgbClr val="CFE2F6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AE7D13D-2E6B-44CD-8A67-6431FBB0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1846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0F2A5F"/>
                </a:solidFill>
              </a:rPr>
              <a:t>Ví dụ thực tế: Tại vị trí số, 'O' được sửa thành '0'; nhưng tại vị trí chữ, '0' được sửa thành 'D' chứ không sửa thành 'O' để bảo toàn tính hợp lệ.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8304457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92C698-7651-4E9B-8516-19EF9386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Bộ dữ liệu: Khử trùng lặp trước khi đánh giá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DF9590-144F-4122-9ECF-88B3CE2A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Triệt tiêu rò rỉ dữ liệu (Data Leakage) khi các bộ dữ liệu công khai fork chéo lẫn nhau</a:t>
            </a:r>
            <a:endParaRPr sz="1150"/>
          </a:p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9943dd0b42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1417320"/>
            <a:ext cx="5166360" cy="425196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24F3465-7329-4A24-9E2D-FD811653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84632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F0F0E7-1170-4510-AB07-EBB002C4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7452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0F2A5F"/>
                </a:solidFill>
              </a:rPr>
              <a:t>27.711 ảnh</a:t>
            </a:r>
            <a:endParaRPr sz="28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AAB1988-1EE3-4E5B-B8C7-7B66490A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5748B"/>
                </a:solidFill>
              </a:rPr>
              <a:t>Gộp từ 7 bộ dữ liệu ALPR công khai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E7BAA59-B3D3-47C8-BDCA-24FD8756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7180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74343"/>
                </a:solidFill>
              </a:rPr>
              <a:t>− 44,2%</a:t>
            </a:r>
            <a:endParaRPr sz="3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63C4512-551A-45B4-8BC5-299BBC62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02152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26354A"/>
                </a:solidFill>
              </a:rPr>
              <a:t>ảnh trùng bị loại bằng pHash DCT 64-bit (Hamming ≤ 6)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F9C9D3C-8203-494F-BBEA-31020F5C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49A68"/>
                </a:solidFill>
              </a:rPr>
              <a:t>15.133 ảnh độc lập (10.592 Train / 3.027 Val / 1.514 Test)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8265185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E6F2EFF6-3A03-49D1-88D4-0A2F4F4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Phương pháp đánh giá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92C252-F355-4AF2-975B-96FDAA8D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Tách riêng chất lượng phát hiện, nhận dạng toàn chuỗi và độ trễ đầu cuối</a:t>
            </a:r>
          </a:p>
        </p:txBody>
      </p:sp>
      <p:sp>
        <p:nvSpPr>
          <p:cNvPr id="3" name="metric-type-0">
            <a:extLst xmlns:a="http://schemas.openxmlformats.org/drawingml/2006/main">
              <a:ext uri="{FF2B5EF4-FFF2-40B4-BE49-F238E27FC236}">
                <a16:creationId xmlns:a16="http://schemas.microsoft.com/office/drawing/2014/main" id="{F15A07DC-E6AC-46E4-A9A3-727CA87D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PHÁT HIỆN</a:t>
            </a:r>
          </a:p>
        </p:txBody>
      </p:sp>
      <p:sp>
        <p:nvSpPr>
          <p:cNvPr id="4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230CE426-B651-4676-9724-D9078A6E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mAP@0,5</a:t>
            </a:r>
          </a:p>
        </p:txBody>
      </p:sp>
      <p:sp>
        <p:nvSpPr>
          <p:cNvPr id="5" name="metric-desc-0">
            <a:extLst xmlns:a="http://schemas.openxmlformats.org/drawingml/2006/main">
              <a:ext uri="{FF2B5EF4-FFF2-40B4-BE49-F238E27FC236}">
                <a16:creationId xmlns:a16="http://schemas.microsoft.com/office/drawing/2014/main" id="{60216A91-73CC-44F9-91BE-07ECC6A4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IoU ≥ 0,5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FFAAD-292C-4BDE-8E2E-0A76FE6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7" name="metric-type-1">
            <a:extLst xmlns:a="http://schemas.openxmlformats.org/drawingml/2006/main">
              <a:ext uri="{FF2B5EF4-FFF2-40B4-BE49-F238E27FC236}">
                <a16:creationId xmlns:a16="http://schemas.microsoft.com/office/drawing/2014/main" id="{CDDE01C9-4088-442C-88F0-C65E6A95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NHẬN DẠNG</a:t>
            </a:r>
          </a:p>
        </p:txBody>
      </p:sp>
      <p:sp>
        <p:nvSpPr>
          <p:cNvPr id="8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47D11024-EA30-4D9F-8E9A-0A529AC0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71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S₀ và S₁</a:t>
            </a:r>
          </a:p>
        </p:txBody>
      </p:sp>
      <p:sp>
        <p:nvSpPr>
          <p:cNvPr id="9" name="metric-desc-1">
            <a:extLst xmlns:a="http://schemas.openxmlformats.org/drawingml/2006/main">
              <a:ext uri="{FF2B5EF4-FFF2-40B4-BE49-F238E27FC236}">
                <a16:creationId xmlns:a16="http://schemas.microsoft.com/office/drawing/2014/main" id="{C56A0F5D-0B13-4C71-81AF-60BCA33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Đúng cả chuỗi trước và sau hậu xử lý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B9568-E1F7-46C0-AD7D-0C100F56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1" name="metric-type-2">
            <a:extLst xmlns:a="http://schemas.openxmlformats.org/drawingml/2006/main">
              <a:ext uri="{FF2B5EF4-FFF2-40B4-BE49-F238E27FC236}">
                <a16:creationId xmlns:a16="http://schemas.microsoft.com/office/drawing/2014/main" id="{C7679D99-8D1A-4C0F-9462-7ABFB79E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KÝ TỰ</a:t>
            </a:r>
          </a:p>
        </p:txBody>
      </p:sp>
      <p:sp>
        <p:nvSpPr>
          <p:cNvPr id="12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9CA8D99A-5B36-4F4F-90A1-6DBC9488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71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CER</a:t>
            </a:r>
          </a:p>
        </p:txBody>
      </p:sp>
      <p:sp>
        <p:nvSpPr>
          <p:cNvPr id="13" name="metric-desc-2">
            <a:extLst xmlns:a="http://schemas.openxmlformats.org/drawingml/2006/main">
              <a:ext uri="{FF2B5EF4-FFF2-40B4-BE49-F238E27FC236}">
                <a16:creationId xmlns:a16="http://schemas.microsoft.com/office/drawing/2014/main" id="{422B6CD5-AB0F-455C-9D1A-F1346381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7187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Tỉ lệ ký tự sai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D80B7-E284-494E-8EFC-C639011F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5" name="metric-type-3">
            <a:extLst xmlns:a="http://schemas.openxmlformats.org/drawingml/2006/main">
              <a:ext uri="{FF2B5EF4-FFF2-40B4-BE49-F238E27FC236}">
                <a16:creationId xmlns:a16="http://schemas.microsoft.com/office/drawing/2014/main" id="{129AB236-E6EE-4820-A538-51EC6D4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HIỆU NĂNG</a:t>
            </a:r>
          </a:p>
        </p:txBody>
      </p:sp>
      <p:sp>
        <p:nvSpPr>
          <p:cNvPr id="16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6E89E981-93BC-4062-917F-D716599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72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p50 / p95 / p99</a:t>
            </a:r>
          </a:p>
        </p:txBody>
      </p:sp>
      <p:sp>
        <p:nvSpPr>
          <p:cNvPr id="17" name="metric-desc-3">
            <a:extLst xmlns:a="http://schemas.openxmlformats.org/drawingml/2006/main">
              <a:ext uri="{FF2B5EF4-FFF2-40B4-BE49-F238E27FC236}">
                <a16:creationId xmlns:a16="http://schemas.microsoft.com/office/drawing/2014/main" id="{CF9AA358-56FF-41E1-9442-07D9C6A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Phân vị độ trễ đầu cuối trên CPU</a:t>
            </a:r>
          </a:p>
        </p:txBody>
      </p:sp>
      <p:sp>
        <p:nvSpPr>
          <p:cNvPr id="18" name="strict-note">
            <a:extLst xmlns:a="http://schemas.openxmlformats.org/drawingml/2006/main">
              <a:ext uri="{FF2B5EF4-FFF2-40B4-BE49-F238E27FC236}">
                <a16:creationId xmlns:a16="http://schemas.microsoft.com/office/drawing/2014/main" id="{3C74C695-0D1C-4BEC-94B2-D25B13F1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Một ký tự sai được tính là sai toàn bộ biển số</a:t>
            </a:r>
          </a:p>
        </p:txBody>
      </p:sp>
    </p:spTree>
    <p:extLst>
      <p:ext uri="{BB962C8B-B14F-4D97-AF65-F5344CB8AC3E}">
        <p14:creationId xmlns:p14="http://schemas.microsoft.com/office/powerpoint/2010/main" val="2096004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8EBFCFC6-32E2-4CFD-82CD-A3264382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Kết quả chính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C7219E-57A1-4372-9D31-929226D0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Ba chỉ số trả lời trực tiếp câu hỏi về độ chính xác và khả năng chạy trên CPU</a:t>
            </a:r>
          </a:p>
        </p:txBody>
      </p:sp>
      <p:sp>
        <p:nvSpPr>
          <p:cNvPr id="3" name="result-value-0">
            <a:extLst xmlns:a="http://schemas.openxmlformats.org/drawingml/2006/main">
              <a:ext uri="{FF2B5EF4-FFF2-40B4-BE49-F238E27FC236}">
                <a16:creationId xmlns:a16="http://schemas.microsoft.com/office/drawing/2014/main" id="{9E93943A-5950-441C-8AE2-96D5D03D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0,9829</a:t>
            </a:r>
          </a:p>
        </p:txBody>
      </p:sp>
      <p:sp>
        <p:nvSpPr>
          <p:cNvPr id="4" name="result-label-0">
            <a:extLst xmlns:a="http://schemas.openxmlformats.org/drawingml/2006/main">
              <a:ext uri="{FF2B5EF4-FFF2-40B4-BE49-F238E27FC236}">
                <a16:creationId xmlns:a16="http://schemas.microsoft.com/office/drawing/2014/main" id="{C0205AFE-C9BF-4E9B-8AC4-7C8A49D9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mAP@0,5 phát hiện</a:t>
            </a:r>
          </a:p>
        </p:txBody>
      </p:sp>
      <p:sp>
        <p:nvSpPr>
          <p:cNvPr id="5" name="result-target-0">
            <a:extLst xmlns:a="http://schemas.openxmlformats.org/drawingml/2006/main">
              <a:ext uri="{FF2B5EF4-FFF2-40B4-BE49-F238E27FC236}">
                <a16:creationId xmlns:a16="http://schemas.microsoft.com/office/drawing/2014/main" id="{ED752E26-C279-48C8-9497-9ED259D2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Đạt mục tiêu 0,90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720C7-2150-4CA7-B6E3-E59870A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7" name="result-value-1">
            <a:extLst xmlns:a="http://schemas.openxmlformats.org/drawingml/2006/main">
              <a:ext uri="{FF2B5EF4-FFF2-40B4-BE49-F238E27FC236}">
                <a16:creationId xmlns:a16="http://schemas.microsoft.com/office/drawing/2014/main" id="{7DB3C131-91FB-4772-B7CE-B2AA0C57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0,7701</a:t>
            </a:r>
          </a:p>
        </p:txBody>
      </p:sp>
      <p:sp>
        <p:nvSpPr>
          <p:cNvPr id="8" name="result-label-1">
            <a:extLst xmlns:a="http://schemas.openxmlformats.org/drawingml/2006/main">
              <a:ext uri="{FF2B5EF4-FFF2-40B4-BE49-F238E27FC236}">
                <a16:creationId xmlns:a16="http://schemas.microsoft.com/office/drawing/2014/main" id="{7E24860B-27D6-476C-A32C-CC70C94C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Đúng toàn bộ chuỗi</a:t>
            </a:r>
          </a:p>
        </p:txBody>
      </p:sp>
      <p:sp>
        <p:nvSpPr>
          <p:cNvPr id="9" name="result-target-1">
            <a:extLst xmlns:a="http://schemas.openxmlformats.org/drawingml/2006/main">
              <a:ext uri="{FF2B5EF4-FFF2-40B4-BE49-F238E27FC236}">
                <a16:creationId xmlns:a16="http://schemas.microsoft.com/office/drawing/2014/main" id="{F970F00E-F1FA-44A7-8997-48FA1659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Chưa đạt mục tiêu 0,85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6EA4F-A714-4064-8413-A0542F48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11" name="result-value-2">
            <a:extLst xmlns:a="http://schemas.openxmlformats.org/drawingml/2006/main">
              <a:ext uri="{FF2B5EF4-FFF2-40B4-BE49-F238E27FC236}">
                <a16:creationId xmlns:a16="http://schemas.microsoft.com/office/drawing/2014/main" id="{3DE0ECC2-FD08-4B83-B655-BC5F70BA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509,76 ms</a:t>
            </a:r>
          </a:p>
        </p:txBody>
      </p:sp>
      <p:sp>
        <p:nvSpPr>
          <p:cNvPr id="12" name="result-label-2">
            <a:extLst xmlns:a="http://schemas.openxmlformats.org/drawingml/2006/main">
              <a:ext uri="{FF2B5EF4-FFF2-40B4-BE49-F238E27FC236}">
                <a16:creationId xmlns:a16="http://schemas.microsoft.com/office/drawing/2014/main" id="{2190E3DC-C307-4255-80E9-6E41C4EC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Độ trễ p95 CPU</a:t>
            </a:r>
          </a:p>
        </p:txBody>
      </p:sp>
      <p:sp>
        <p:nvSpPr>
          <p:cNvPr id="13" name="result-target-2">
            <a:extLst xmlns:a="http://schemas.openxmlformats.org/drawingml/2006/main">
              <a:ext uri="{FF2B5EF4-FFF2-40B4-BE49-F238E27FC236}">
                <a16:creationId xmlns:a16="http://schemas.microsoft.com/office/drawing/2014/main" id="{58603DB0-0D5C-4007-BB20-6007221A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Đạt mục tiêu 800 ms</a:t>
            </a:r>
          </a:p>
        </p:txBody>
      </p:sp>
      <p:sp>
        <p:nvSpPr>
          <p:cNvPr id="14" name="result-takeaway">
            <a:extLst xmlns:a="http://schemas.openxmlformats.org/drawingml/2006/main">
              <a:ext uri="{FF2B5EF4-FFF2-40B4-BE49-F238E27FC236}">
                <a16:creationId xmlns:a16="http://schemas.microsoft.com/office/drawing/2014/main" id="{00A7C41A-52ED-437D-B0F1-105F842F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Khoảng thiếu hụt tập trung ở biển hai dòng: S₁ = 0,7234</a:t>
            </a:r>
          </a:p>
        </p:txBody>
      </p:sp>
      <p:sp>
        <p:nvSpPr>
          <p:cNvPr id="15" name="result-detail">
            <a:extLst xmlns:a="http://schemas.openxmlformats.org/drawingml/2006/main">
              <a:ext uri="{FF2B5EF4-FFF2-40B4-BE49-F238E27FC236}">
                <a16:creationId xmlns:a16="http://schemas.microsoft.com/office/drawing/2014/main" id="{98359E2E-1A15-48BF-B237-07B30CFD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Precision = 0,984 · Recall = 0,971</a:t>
            </a:r>
          </a:p>
        </p:txBody>
      </p:sp>
    </p:spTree>
    <p:extLst>
      <p:ext uri="{BB962C8B-B14F-4D97-AF65-F5344CB8AC3E}">
        <p14:creationId xmlns:p14="http://schemas.microsoft.com/office/powerpoint/2010/main" val="11659936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15C4DA-75DD-45F4-9884-ABEFAC3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Khoảng cách nằm ở biển hai dòng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E15C4F-F9EC-4E5D-BE02-A615E71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Độ chính xác mức ký tự gần bằng nhau, nhưng sai số tích lũy trên chuỗi phân hóa rất lớn</a:t>
            </a:r>
            <a:endParaRPr sz="1150"/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7cc575e1b4d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8001" y="1333500"/>
            <a:ext cx="5709227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2374C50-A9DB-4EC7-AB82-BB862F1A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34340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CE6FEE-25B7-4769-AD50-5B3FFD5A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E5FD4"/>
                </a:solidFill>
              </a:rPr>
              <a:t>95,41%</a:t>
            </a:r>
            <a:endParaRPr sz="3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143FC8-684D-499B-A7E4-80D1F648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95728"/>
            <a:ext cx="3794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6354A"/>
                </a:solidFill>
              </a:rPr>
              <a:t>Biển một dòng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340665-F45C-450A-8D90-B15A8371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154680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74343"/>
                </a:solidFill>
              </a:rPr>
              <a:t>72,34%</a:t>
            </a:r>
            <a:endParaRPr sz="3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8F50C2E-5254-4686-9C7A-BABE6E53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75888"/>
            <a:ext cx="3794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6354A"/>
                </a:solidFill>
              </a:rPr>
              <a:t>Biển hai dòng</a:t>
            </a:r>
            <a:endParaRPr sz="15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1982229-7098-47C4-8083-BE33FD9E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572000"/>
            <a:ext cx="301752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12700">
            <a:solidFill>
              <a:srgbClr val="FF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CD526DD-CDD8-4FE6-AAD8-646E8E4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4645152"/>
            <a:ext cx="3746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74343"/>
                </a:solidFill>
                <a:latin typeface="Segoe UI"/>
                <a:ea typeface="Segoe UI"/>
                <a:cs typeface="Segoe UI"/>
              </a:rPr>
              <a:t>Điểm nghẽn cốt lõi: Biển hai dòng</a:t>
            </a:r>
            <a:endParaRPr sz="1100" b="1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940466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F75F2B9-51E2-4A3A-9E5B-4D39A59B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Các trường hợp hậu xử lý sửa đúng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6EAC28-98AA-4D00-9F61-F9DBA8DA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Ba ví dụ cho thấy quy tắc vị trí khôi phục mã tỉnh và ký tự bị OCR bỏ sót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251d8b5324a4f"/>
          <a:stretch xmlns:a="http://schemas.openxmlformats.org/drawingml/2006/main"/>
        </p:blipFill>
        <p:spPr>
          <a:xfrm xmlns:a="http://schemas.openxmlformats.org/drawingml/2006/main">
            <a:off x="2880089" y="1381125"/>
            <a:ext cx="6431823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corrected-note">
            <a:extLst xmlns:a="http://schemas.openxmlformats.org/drawingml/2006/main">
              <a:ext uri="{FF2B5EF4-FFF2-40B4-BE49-F238E27FC236}">
                <a16:creationId xmlns:a16="http://schemas.microsoft.com/office/drawing/2014/main" id="{ED397184-2F0A-4D07-AAFD-E318C0CB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Hậu xử lý chỉ sửa theo vị trí hợp lệ và không làm sai thêm trường hợp đúng</a:t>
            </a:r>
          </a:p>
        </p:txBody>
      </p:sp>
    </p:spTree>
    <p:extLst>
      <p:ext uri="{BB962C8B-B14F-4D97-AF65-F5344CB8AC3E}">
        <p14:creationId xmlns:p14="http://schemas.microsoft.com/office/powerpoint/2010/main" val="456749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53F544-D7D7-4213-9D12-6C2ECCD3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Các trường hợp còn nhận dạng sai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11B857-09DA-4B50-BFFB-6750BE75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Lỗi còn lại tập trung ở ảnh mờ và dòng trên của biển hai dòng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ff611c53b4ce9"/>
          <a:stretch xmlns:a="http://schemas.openxmlformats.org/drawingml/2006/main"/>
        </p:blipFill>
        <p:spPr>
          <a:xfrm xmlns:a="http://schemas.openxmlformats.org/drawingml/2006/main">
            <a:off x="2880089" y="1381125"/>
            <a:ext cx="6431823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failure-note">
            <a:extLst xmlns:a="http://schemas.openxmlformats.org/drawingml/2006/main">
              <a:ext uri="{FF2B5EF4-FFF2-40B4-BE49-F238E27FC236}">
                <a16:creationId xmlns:a16="http://schemas.microsoft.com/office/drawing/2014/main" id="{811878AE-DED4-4C20-962E-FC8C09A9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Nguyên nhân gốc: chất lượng ảnh thấp và recognizer chưa tối ưu cho bố cục hai dòng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0540E1-3AF9-4667-8DA1-C6D84280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Bóc tách đóng góp từng bước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2BD7A2-E4B6-49D6-B3B6-0F00BBA7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Mức cải thiện và chi phí tính toán được báo cáo cùng nhau trên đúng đường đo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0"/>
                <a:gridCol w="3333750"/>
                <a:gridCol w="3143250"/>
              </a:tblGrid>
              <a:tr h="6905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Can thiệp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Mức cải thiện (+Δ metric)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Chi phí tính toán (+ms trễ)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Tách-ghép ngang + PP-OCRv5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+34,92 điểm S₀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Chưa đo tách riêng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Hậu xử lý theo vị trí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+13,28 điểm S₁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+0,03 ms</a:t>
                      </a:r>
                    </a:p>
                  </a:txBody>
                  <a:tcPr marL="95250" marR="95250" marT="66675" marB="66675" anchor="ctr"/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Thử lại có nắn phẳng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+34 biển đúng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+276,80 ms p95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4" name="ablation-note">
            <a:extLst xmlns:a="http://schemas.openxmlformats.org/drawingml/2006/main">
              <a:ext uri="{FF2B5EF4-FFF2-40B4-BE49-F238E27FC236}">
                <a16:creationId xmlns:a16="http://schemas.microsoft.com/office/drawing/2014/main" id="{1D6C7B2F-7CF9-4C3B-A3BF-8DF89C2D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Tách-ghép tạo mức tăng lớn nhất. Chi phí độc lập của bước này chưa có phép đo hợp lệ.</a:t>
            </a:r>
          </a:p>
        </p:txBody>
      </p:sp>
    </p:spTree>
    <p:extLst>
      <p:ext uri="{BB962C8B-B14F-4D97-AF65-F5344CB8AC3E}">
        <p14:creationId xmlns:p14="http://schemas.microsoft.com/office/powerpoint/2010/main" val="20506755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c6695571d4d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1381125"/>
            <a:ext cx="7286625" cy="4524375"/>
          </a:xfrm>
          <a:prstGeom xmlns:a="http://schemas.openxmlformats.org/drawingml/2006/main" prst="rect">
            <a:avLst/>
          </a:prstGeom>
        </p:spPr>
      </p:pic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75D8490F-16FF-4DDF-A43F-73C7CDF9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Demo hệ thống</a:t>
            </a:r>
          </a:p>
        </p:txBody>
      </p:sp>
      <p:sp>
        <p:nvSpPr>
          <p:cNvPr id="13" name="subtitle">
            <a:extLst xmlns:a="http://schemas.openxmlformats.org/drawingml/2006/main">
              <a:ext uri="{FF2B5EF4-FFF2-40B4-BE49-F238E27FC236}">
                <a16:creationId xmlns:a16="http://schemas.microsoft.com/office/drawing/2014/main" id="{2EF5C1CF-E7B2-4DD2-9445-42752EC9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Một lệnh khởi chạy và một giao diện kiểm tra toàn bộ kết quả</a:t>
            </a:r>
          </a:p>
        </p:txBody>
      </p:sp>
      <p:sp>
        <p:nvSpPr>
          <p:cNvPr id="14" name="demo-command">
            <a:extLst xmlns:a="http://schemas.openxmlformats.org/drawingml/2006/main">
              <a:ext uri="{FF2B5EF4-FFF2-40B4-BE49-F238E27FC236}">
                <a16:creationId xmlns:a16="http://schemas.microsoft.com/office/drawing/2014/main" id="{C729D202-D4E7-465F-B76F-C322BA55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docker compose up</a:t>
            </a:r>
          </a:p>
        </p:txBody>
      </p:sp>
      <p:sp>
        <p:nvSpPr>
          <p:cNvPr id="15" name="demo-points">
            <a:extLst xmlns:a="http://schemas.openxmlformats.org/drawingml/2006/main">
              <a:ext uri="{FF2B5EF4-FFF2-40B4-BE49-F238E27FC236}">
                <a16:creationId xmlns:a16="http://schemas.microsoft.com/office/drawing/2014/main" id="{D4EA8552-2A47-475E-ACD3-C935EF39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Ảnh tĩnh, video và webcam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So sánh OCR thô với kết quả chuẩn hóa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Hiển thị độ trễ từng bước</a:t>
            </a:r>
          </a:p>
        </p:txBody>
      </p:sp>
      <p:sp>
        <p:nvSpPr>
          <p:cNvPr id="16" name="demo-fallback">
            <a:extLst xmlns:a="http://schemas.openxmlformats.org/drawingml/2006/main">
              <a:ext uri="{FF2B5EF4-FFF2-40B4-BE49-F238E27FC236}">
                <a16:creationId xmlns:a16="http://schemas.microsoft.com/office/drawing/2014/main" id="{27EF0C4F-A178-42E4-B40B-6EA5C966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Dự phòng: ảnh test ngoại tuyến và video demo 60 giây</a:t>
            </a:r>
          </a:p>
        </p:txBody>
      </p:sp>
    </p:spTree>
    <p:extLst>
      <p:ext uri="{BB962C8B-B14F-4D97-AF65-F5344CB8AC3E}">
        <p14:creationId xmlns:p14="http://schemas.microsoft.com/office/powerpoint/2010/main" val="30832818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D7BA4E8B-24B7-43C3-A464-62ACA5C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Kết luận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AA8876-FFC8-4E27-95FC-C3002DFC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Hệ thống đạt mục tiêu phát hiện và độ trễ; điểm nghẽn còn lại nằm ở biển hai dòng</a:t>
            </a:r>
          </a:p>
        </p:txBody>
      </p:sp>
      <p:sp>
        <p:nvSpPr>
          <p:cNvPr id="3" name="conclusion-card-0">
            <a:extLst xmlns:a="http://schemas.openxmlformats.org/drawingml/2006/main">
              <a:ext uri="{FF2B5EF4-FFF2-40B4-BE49-F238E27FC236}">
                <a16:creationId xmlns:a16="http://schemas.microsoft.com/office/drawing/2014/main" id="{481491E3-2B7B-4DC3-A240-BCF31A79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conclusion-value-0">
            <a:extLst xmlns:a="http://schemas.openxmlformats.org/drawingml/2006/main">
              <a:ext uri="{FF2B5EF4-FFF2-40B4-BE49-F238E27FC236}">
                <a16:creationId xmlns:a16="http://schemas.microsoft.com/office/drawing/2014/main" id="{39B2E183-8A7C-4405-80C4-DBECFEB0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0,9829</a:t>
            </a:r>
          </a:p>
        </p:txBody>
      </p:sp>
      <p:sp>
        <p:nvSpPr>
          <p:cNvPr id="5" name="conclusion-label-0">
            <a:extLst xmlns:a="http://schemas.openxmlformats.org/drawingml/2006/main">
              <a:ext uri="{FF2B5EF4-FFF2-40B4-BE49-F238E27FC236}">
                <a16:creationId xmlns:a16="http://schemas.microsoft.com/office/drawing/2014/main" id="{4A80A70C-8AB9-40F4-A456-6DD66AE9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mAP@0,5</a:t>
            </a:r>
          </a:p>
        </p:txBody>
      </p:sp>
      <p:sp>
        <p:nvSpPr>
          <p:cNvPr id="6" name="conclusion-card-1">
            <a:extLst xmlns:a="http://schemas.openxmlformats.org/drawingml/2006/main">
              <a:ext uri="{FF2B5EF4-FFF2-40B4-BE49-F238E27FC236}">
                <a16:creationId xmlns:a16="http://schemas.microsoft.com/office/drawing/2014/main" id="{733ADC50-5387-4C1B-9C88-1AA7309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onclusion-value-1">
            <a:extLst xmlns:a="http://schemas.openxmlformats.org/drawingml/2006/main">
              <a:ext uri="{FF2B5EF4-FFF2-40B4-BE49-F238E27FC236}">
                <a16:creationId xmlns:a16="http://schemas.microsoft.com/office/drawing/2014/main" id="{E2938649-5A7A-42E6-B611-2F3F3DDC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+34,92 điểm</a:t>
            </a:r>
          </a:p>
        </p:txBody>
      </p:sp>
      <p:sp>
        <p:nvSpPr>
          <p:cNvPr id="8" name="conclusion-label-1">
            <a:extLst xmlns:a="http://schemas.openxmlformats.org/drawingml/2006/main">
              <a:ext uri="{FF2B5EF4-FFF2-40B4-BE49-F238E27FC236}">
                <a16:creationId xmlns:a16="http://schemas.microsoft.com/office/drawing/2014/main" id="{36697BBD-2DDC-4CBD-9999-DF14B43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Tách-ghép ngang</a:t>
            </a:r>
          </a:p>
        </p:txBody>
      </p:sp>
      <p:sp>
        <p:nvSpPr>
          <p:cNvPr id="9" name="conclusion-card-2">
            <a:extLst xmlns:a="http://schemas.openxmlformats.org/drawingml/2006/main">
              <a:ext uri="{FF2B5EF4-FFF2-40B4-BE49-F238E27FC236}">
                <a16:creationId xmlns:a16="http://schemas.microsoft.com/office/drawing/2014/main" id="{2E4B97F2-00A5-40DA-9C98-B6E7AF97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onclusion-value-2">
            <a:extLst xmlns:a="http://schemas.openxmlformats.org/drawingml/2006/main">
              <a:ext uri="{FF2B5EF4-FFF2-40B4-BE49-F238E27FC236}">
                <a16:creationId xmlns:a16="http://schemas.microsoft.com/office/drawing/2014/main" id="{F3A9B23F-E0BE-491C-BEDB-6B0FB9BA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+13,28 điểm</a:t>
            </a:r>
          </a:p>
        </p:txBody>
      </p:sp>
      <p:sp>
        <p:nvSpPr>
          <p:cNvPr id="11" name="conclusion-label-2">
            <a:extLst xmlns:a="http://schemas.openxmlformats.org/drawingml/2006/main">
              <a:ext uri="{FF2B5EF4-FFF2-40B4-BE49-F238E27FC236}">
                <a16:creationId xmlns:a16="http://schemas.microsoft.com/office/drawing/2014/main" id="{ABE23906-74D5-430B-9B32-F679BDF5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Hậu xử lý vị trí</a:t>
            </a:r>
          </a:p>
        </p:txBody>
      </p:sp>
      <p:sp>
        <p:nvSpPr>
          <p:cNvPr id="12" name="conclusion-card-3">
            <a:extLst xmlns:a="http://schemas.openxmlformats.org/drawingml/2006/main">
              <a:ext uri="{FF2B5EF4-FFF2-40B4-BE49-F238E27FC236}">
                <a16:creationId xmlns:a16="http://schemas.microsoft.com/office/drawing/2014/main" id="{D56A7C37-CB5D-48DF-9C5B-EAFA69FE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onclusion-value-3">
            <a:extLst xmlns:a="http://schemas.openxmlformats.org/drawingml/2006/main">
              <a:ext uri="{FF2B5EF4-FFF2-40B4-BE49-F238E27FC236}">
                <a16:creationId xmlns:a16="http://schemas.microsoft.com/office/drawing/2014/main" id="{B63BB571-3BB3-418C-8C4C-95140BCF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509,76 ms</a:t>
            </a:r>
          </a:p>
        </p:txBody>
      </p:sp>
      <p:sp>
        <p:nvSpPr>
          <p:cNvPr id="14" name="conclusion-label-3">
            <a:extLst xmlns:a="http://schemas.openxmlformats.org/drawingml/2006/main">
              <a:ext uri="{FF2B5EF4-FFF2-40B4-BE49-F238E27FC236}">
                <a16:creationId xmlns:a16="http://schemas.microsoft.com/office/drawing/2014/main" id="{ED8F6CEC-0D62-4B9D-808D-2EFCFE0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Độ trễ p95 CPU</a:t>
            </a:r>
          </a:p>
        </p:txBody>
      </p:sp>
      <p:sp>
        <p:nvSpPr>
          <p:cNvPr id="15" name="remaining-gap">
            <a:extLst xmlns:a="http://schemas.openxmlformats.org/drawingml/2006/main">
              <a:ext uri="{FF2B5EF4-FFF2-40B4-BE49-F238E27FC236}">
                <a16:creationId xmlns:a16="http://schemas.microsoft.com/office/drawing/2014/main" id="{4C2213C5-E6A4-49D6-816B-E80E3ED3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Biển một dòng S₁ = 0,9541  •  Biển hai dòng S₁ = 0,7234</a:t>
            </a:r>
          </a:p>
        </p:txBody>
      </p:sp>
      <p:sp>
        <p:nvSpPr>
          <p:cNvPr id="16" name="conclusion-takeaway">
            <a:extLst xmlns:a="http://schemas.openxmlformats.org/drawingml/2006/main">
              <a:ext uri="{FF2B5EF4-FFF2-40B4-BE49-F238E27FC236}">
                <a16:creationId xmlns:a16="http://schemas.microsoft.com/office/drawing/2014/main" id="{AAFCBDCB-9D7A-487C-A567-8CDA7C8C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Nhóm thực hiện đã định vị rõ nguyên nhân và hướng xử lý tiếp theo</a:t>
            </a:r>
          </a:p>
        </p:txBody>
      </p:sp>
    </p:spTree>
    <p:extLst>
      <p:ext uri="{BB962C8B-B14F-4D97-AF65-F5344CB8AC3E}">
        <p14:creationId xmlns:p14="http://schemas.microsoft.com/office/powerpoint/2010/main" val="103018761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4D9474-4503-47A7-AD51-475A4DA1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Hạn chế và hướng phát triển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76E38E-8DB6-4F6A-85A2-99ED277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Mỗi hướng phát triển gắn trực tiếp với một hạn chế đã đo hoặc đã xác định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666875"/>
          <a:ext xmlns:a="http://schemas.openxmlformats.org/drawingml/2006/main" cx="102870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95750"/>
                <a:gridCol w="6191250"/>
              </a:tblGrid>
              <a:tr h="75009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Hạn chế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phát triển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Biển hai dòng S₁ = 0,7234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Huấn luyện recognizer chuyên biệt cho biển Việt Nam</a:t>
                      </a:r>
                    </a:p>
                  </a:txBody>
                  <a:tcPr marL="95250" marR="95250" marT="66675" marB="66675" anchor="ctr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Bảng ánh xạ nhầm lẫn còn hạn chế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Mở rộng từ ma trận nhầm lẫn trên dữ liệu mới</a:t>
                      </a:r>
                    </a:p>
                  </a:txBody>
                  <a:tcPr marL="95250" marR="95250" marT="66675" marB="66675" anchor="ctr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Tập test chưa xuyên nguồn dữ liệu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Bổ sung đánh giá chéo theo nguồn và chuỗi biển số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4" name="scope-note">
            <a:extLst xmlns:a="http://schemas.openxmlformats.org/drawingml/2006/main">
              <a:ext uri="{FF2B5EF4-FFF2-40B4-BE49-F238E27FC236}">
                <a16:creationId xmlns:a16="http://schemas.microsoft.com/office/drawing/2014/main" id="{E151D669-77D3-46EF-8DC6-357BCFB7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911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Ưu tiên tiếp theo: bộ nhận dạng ký tự chuyên biệt cho bố cục hai dòng</a:t>
            </a:r>
          </a:p>
        </p:txBody>
      </p:sp>
    </p:spTree>
    <p:extLst>
      <p:ext uri="{BB962C8B-B14F-4D97-AF65-F5344CB8AC3E}">
        <p14:creationId xmlns:p14="http://schemas.microsoft.com/office/powerpoint/2010/main" val="4485762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42D5E5E4-9B37-4A94-96DD-65BDA41B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TRÂN TRỌNG CẢM ƠN</a:t>
            </a:r>
          </a:p>
        </p:txBody>
      </p:sp>
      <p:sp>
        <p:nvSpPr>
          <p:cNvPr id="2" name="qa">
            <a:extLst xmlns:a="http://schemas.openxmlformats.org/drawingml/2006/main">
              <a:ext uri="{FF2B5EF4-FFF2-40B4-BE49-F238E27FC236}">
                <a16:creationId xmlns:a16="http://schemas.microsoft.com/office/drawing/2014/main" id="{985F7C46-3634-46B1-8730-1C61E32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Q&amp;A</a:t>
            </a:r>
          </a:p>
        </p:txBody>
      </p:sp>
      <p:sp>
        <p:nvSpPr>
          <p:cNvPr id="3" name="topic">
            <a:extLst xmlns:a="http://schemas.openxmlformats.org/drawingml/2006/main">
              <a:ext uri="{FF2B5EF4-FFF2-40B4-BE49-F238E27FC236}">
                <a16:creationId xmlns:a16="http://schemas.microsoft.com/office/drawing/2014/main" id="{51632598-2A12-453A-9CBE-CDE67F83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481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Xây dựng hệ thống nhận diện biển số xe bằng Trí tuệ nhân tạo</a:t>
            </a:r>
          </a:p>
        </p:txBody>
      </p:sp>
      <p:sp>
        <p:nvSpPr>
          <p:cNvPr id="4" name="team">
            <a:extLst xmlns:a="http://schemas.openxmlformats.org/drawingml/2006/main">
              <a:ext uri="{FF2B5EF4-FFF2-40B4-BE49-F238E27FC236}">
                <a16:creationId xmlns:a16="http://schemas.microsoft.com/office/drawing/2014/main" id="{FC41563B-C473-4F73-8F14-142EBD0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Nhóm thực hiện: Phạm Nguyễn Thế Châu  •  Nguyễn Công Hậu  •  Nguyễn Minh Hiếu  •  Phạm Công Thành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3B516C5-65D5-4304-9135-EB6DB3BC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Cấu hình huấn luyện và môi trường đo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A6C8A6-803F-4F88-B63F-24B6876D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Thông số lấy từ bản ghi đã thực thi, không phải cấu hình dự định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C210BDD2-4D4A-44AA-974C-09C71456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571625"/>
          <a:ext xmlns:a="http://schemas.openxmlformats.org/drawingml/2006/main" cx="10287000" cy="3667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7429500"/>
              </a:tblGrid>
              <a:tr h="6111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Hạng mục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Giá trị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Phần cứng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Intel Core i5-14600K, 14 nhân / 20 luồng; không dùng GPU CUDA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Mô hình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YOLO11n, 2.590.035 tham số; ảnh đầu vào 640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Huấn luyện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20 epoch; batch 8; AdamW; lr0 = 0,001; cosine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Tái lập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Seed 42; deterministic bật; fliplr = 0,0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Khoảng 10,05 giờ trên CPU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5" name="training-source">
            <a:extLst xmlns:a="http://schemas.openxmlformats.org/drawingml/2006/main">
              <a:ext uri="{FF2B5EF4-FFF2-40B4-BE49-F238E27FC236}">
                <a16:creationId xmlns:a16="http://schemas.microsoft.com/office/drawing/2014/main" id="{3C7B18E9-8D24-48DB-A424-12EF6779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Nguồn: Phụ lục A, báo cáo môn học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D0C7B69-17F8-49E3-977D-15E2D46F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Độ trễ cấu hình triển khai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2B4D0B-FE19-4574-80ED-E858ED51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Ba phân vị đo trên cùng máy CPU sau tối ưu tầng suy luận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158506F5-8289-4941-BE9A-E6C32DBF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1381125" y="1619250"/>
          <a:ext xmlns:a="http://schemas.openxmlformats.org/drawingml/2006/main" cx="9429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b44e2d8129460f"/>
          </a:graphicData>
        </a:graphic>
      </p:graphicFrame>
      <p:sp>
        <p:nvSpPr>
          <p:cNvPr id="5" name="latency-target">
            <a:extLst xmlns:a="http://schemas.openxmlformats.org/drawingml/2006/main">
              <a:ext uri="{FF2B5EF4-FFF2-40B4-BE49-F238E27FC236}">
                <a16:creationId xmlns:a16="http://schemas.microsoft.com/office/drawing/2014/main" id="{454D1318-4E07-4DC7-8E0E-BDC2C403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768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Mục tiêu p95 ≤ 800 ms; kết quả đạt với biên khoảng 290 ms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7672E3-2652-49A4-A8DD-B3460C0C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Giao thức đo và tính hợp lệ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775758-E056-4028-B6B7-80BF0323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Mỗi kết luận dùng cùng đường mã, cùng dữ liệu và cùng cấu hình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50E2E578-F997-451C-8E8A-3F8DF996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952500" y="1571625"/>
          <a:ext xmlns:a="http://schemas.openxmlformats.org/drawingml/2006/main" cx="102870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7429500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Kiểm soát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thực hiện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Trọng số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Đóng băng trước mọi phép đo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Tập test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Không dùng khi huấn luyện hoặc chọn epoch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Đo độ trễ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Batch 1; bỏ 3 lượt warm-up; báo cáo p50, p95 và p99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So sánh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Hai vế đi qua cùng mã, ngữ liệu và phiên bản cấu hình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Tải cạnh tranh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Loại lượt đo có cảnh báo và chạy lại trên máy rảnh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3C1E583-D596-459A-812E-C7390216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Phạm vi đề tài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9EF500-FEF4-4D4B-98AA-49587539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Ranh giới được giữ cố định để kết quả phản ánh đúng bài toán nhận dạng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9EA022C5-3281-4DCE-B709-3201C790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666875"/>
          <a:ext xmlns:a="http://schemas.openxmlformats.org/drawingml/2006/main" cx="102870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143500"/>
                <a:gridCol w="5143500"/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Trong phạm vi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Ngoài phạm vi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Phát hiện biển số trên ảnh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Theo dõi phương tiện qua nhiều khung hình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Nhận dạng biển một dòng và hai dòng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Điều khiển barie hoặc thiết bị ngoại vi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Chuẩn hóa chuỗi và nhận dạng màu nền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Kiến trúc microservices hoặc multi-GPU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Tối ưu suy luận trên CPU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Nhận dạng khuôn mặt và danh tính chủ xe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</a:tbl>
          </a:graphicData>
        </a:graphic>
      </p:graphicFrame>
      <p:sp>
        <p:nvSpPr>
          <p:cNvPr id="5" name="scope-note">
            <a:extLst xmlns:a="http://schemas.openxmlformats.org/drawingml/2006/main">
              <a:ext uri="{FF2B5EF4-FFF2-40B4-BE49-F238E27FC236}">
                <a16:creationId xmlns:a16="http://schemas.microsoft.com/office/drawing/2014/main" id="{39E8F640-840A-4E10-A6DF-996DFE32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Mục tiêu chính: nhận dạng biển số Việt Nam chính xác trên CPU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2026-09-14T14:15:24.5570000Z</dcterms:created>
  <dcterms:modified xsi:type="dcterms:W3CDTF">2026-09-14T14:15:24.5570000Z</dcterms:modified>
</coreProperties>
</file>