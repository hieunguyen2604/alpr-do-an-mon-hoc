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5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xed_assets/school_frame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" y="6473952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" y="6473952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2A5F"/>
                </a:solidFill>
              </a:rPr>
              <a:t>Xây dựng hệ thống nhận diện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F2A5F"/>
                </a:solidFill>
              </a:rPr>
              <a:t>biển số xe bằng Trí tuệ nhân tạo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3063240"/>
            <a:ext cx="8915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54A"/>
                </a:solidFill>
              </a:rPr>
              <a:t>Đồ án môn học · Xử lý ảnh và ứng dụng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13000" y="3873500"/>
            <a:ext cx="361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Segoe UI" panose="020B0502040204020203" pitchFamily="34" charset="0"/>
              </a:rPr>
              <a:t>Phạm Nguyễn Thế Châu – 25410004
Nguyễn Minh Hiếu – 25410007</a:t>
            </a:r>
            <a:endParaRPr lang="en-US" sz="1300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40000" y="4635500"/>
            <a:ext cx="711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Segoe UI" panose="020B0502040204020203" pitchFamily="34" charset="0"/>
              </a:rPr>
              <a:t>GVHD: ThS. Cáp Phạm Đình Thăng</a:t>
            </a:r>
          </a:p>
        </p:txBody>
      </p:sp>
      <p:sp>
        <p:nvSpPr>
          <p:cNvPr id="9" name="Text 7"/>
          <p:cNvSpPr/>
          <p:nvPr/>
        </p:nvSpPr>
        <p:spPr>
          <a:xfrm>
            <a:off x="4754880" y="56515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8A9"/>
                </a:solidFill>
              </a:rPr>
              <a:t>Tháng 9 · 2026</a:t>
            </a:r>
            <a:endParaRPr lang="en-US" sz="1000" dirty="0"/>
          </a:p>
        </p:txBody>
      </p:sp>
      <p:sp>
        <p:nvSpPr>
          <p:cNvPr id="11" name="Rectangle 10"/>
          <p:cNvSpPr/>
          <p:nvPr/>
        </p:nvSpPr>
        <p:spPr>
          <a:xfrm>
            <a:off x="64008" y="36576"/>
            <a:ext cx="3794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2f71b8ea-a853-41a1-b4a9-4425720821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8580"/>
            <a:ext cx="3246120" cy="333963"/>
          </a:xfrm>
          <a:prstGeom prst="rect">
            <a:avLst/>
          </a:prstGeom>
        </p:spPr>
      </p:pic>
      <p:sp>
        <p:nvSpPr>
          <p:cNvPr id="2" name="Text 3_Right">
            <a:extLst>
              <a:ext uri="{FF2B5EF4-FFF2-40B4-BE49-F238E27FC236}">
                <a16:creationId xmlns:a16="http://schemas.microsoft.com/office/drawing/2014/main" id="{D7F6B2D8-A06E-A086-DB56-471DF42CE21B}"/>
              </a:ext>
            </a:extLst>
          </p:cNvPr>
          <p:cNvSpPr txBox="1"/>
          <p:nvPr/>
        </p:nvSpPr>
        <p:spPr>
          <a:xfrm>
            <a:off x="6286500" y="3873500"/>
            <a:ext cx="36195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Segoe UI" panose="020B0502040204020203" pitchFamily="34" charset="0"/>
              </a:rPr>
              <a:t>Nguyễn Công Hậu – 25410006
Phạm Công Thành – 25410013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phần chính · Tập trung vào các phương pháp xử lý ảnh và quy chuẩn thực nghiệm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43000" y="160020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7465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17465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6354A"/>
                </a:solidFill>
              </a:rPr>
              <a:t>Bối cảnh &amp; Mục tiêu nghiên cứu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60604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2F8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27523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75234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800" b="1">
                <a:solidFill>
                  <a:srgbClr val="26354A"/>
                </a:solidFill>
              </a:rPr>
              <a:t>Phương pháp đề xuất (Pipeline &amp; Xử lý ảnh thích ứng)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361188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3758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37581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6354A"/>
                </a:solidFill>
              </a:rPr>
              <a:t>Kết quả thực nghiệm &amp; Bóc tách đóng góp (Ablation)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46177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47640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47640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800">
                <a:solidFill>
                  <a:srgbClr val="26354A"/>
                </a:solidFill>
              </a:rPr>
              <a:t>Kết luận &amp; Định hướng phát triển tương lai</a:t>
            </a:r>
            <a:endParaRPr lang="en-US" sz="1800" dirty="0"/>
          </a:p>
        </p:txBody>
      </p:sp>
      <p:sp>
        <p:nvSpPr>
          <p:cNvPr id="16" name="Oval 15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2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42B5C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Bối cảnh &amp; Thách thức bài toán</a:t>
            </a:r>
            <a:endParaRPr lang="en-US" sz="2500" b="1" dirty="0">
              <a:solidFill>
                <a:srgbClr val="142B5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05F73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Đặc thù nhận diện biển số xe máy tại Việt Nam &amp; Giới hạn của các mô hình hiện hành</a:t>
            </a:r>
            <a:endParaRPr lang="en-US" sz="1150" dirty="0">
              <a:solidFill>
                <a:srgbClr val="505F73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5500" y="15875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450" b="1">
                <a:solidFill>
                  <a:srgbClr val="0E7490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• Áp đảo về lưu lượng (Thực tế):</a:t>
            </a:r>
            <a:r>
              <a:rPr lang="vi-VN" sz="1450">
                <a:solidFill>
                  <a:srgbClr val="1E293B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 Hơn 77 triệu xe máy (chiếm 85–90% phương tiện) → Biển số 2 dòng là đối tượng phục vụ cốt lõi tại Việt Nam, không phải ngoại lệ.</a:t>
            </a:r>
            <a:endParaRPr lang="en-US" sz="1450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5500" y="26670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450" b="1">
                <a:solidFill>
                  <a:srgbClr val="0E7490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• Thách thức hình học (Vật lý):</a:t>
            </a:r>
            <a:r>
              <a:rPr lang="vi-VN" sz="1450">
                <a:solidFill>
                  <a:srgbClr val="1E293B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 Kích thước nhỏ (190 × 140 mm, AR = 1,357), ký tự bị ép 2 tầng → Thuộc nhóm đối tượng nhỏ (small objects) khó phát hiện và phân đoạn.</a:t>
            </a:r>
            <a:endParaRPr lang="en-US" sz="1450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5500" y="37465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vi-VN" sz="1450" b="1">
                <a:solidFill>
                  <a:srgbClr val="0E7490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• Điều kiện ghi hình khắc nghiệt (Môi trường):</a:t>
            </a:r>
            <a:r>
              <a:rPr lang="vi-VN" sz="1450">
                <a:solidFill>
                  <a:srgbClr val="1E293B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 Chịu chói lóa phản quang (retroreflection), góc chụp nghiêng, ngược sáng, biển số cong vênh và bám bụi bẩn.</a:t>
            </a:r>
            <a:endParaRPr lang="en-US" sz="1450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3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70A2550-077A-3568-9AA9-A38C80EDBA78}"/>
              </a:ext>
            </a:extLst>
          </p:cNvPr>
          <p:cNvSpPr txBox="1"/>
          <p:nvPr/>
        </p:nvSpPr>
        <p:spPr>
          <a:xfrm>
            <a:off x="825500" y="4826000"/>
            <a:ext cx="10541000" cy="53860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vi-VN" sz="1450" b="1">
                <a:solidFill>
                  <a:srgbClr val="0E7490"/>
                </a:solidFill>
                <a:latin typeface="Segoe UI" panose="020B0502040204020203" pitchFamily="34" charset="0"/>
              </a:rPr>
              <a:t>• Xung đột kiến trúc (Mô hình):</a:t>
            </a:r>
            <a:r>
              <a:rPr lang="vi-VN" sz="1450">
                <a:solidFill>
                  <a:srgbClr val="1E293B"/>
                </a:solidFill>
                <a:latin typeface="Segoe UI" panose="020B0502040204020203" pitchFamily="34" charset="0"/>
              </a:rPr>
              <a:t> Các bộ OCR phổ biến (CRNN/CTC) giả định văn bản 1 dòng ngang → Độ chính xác sụt giảm mạnh trên bố cục 2 dòng do gộp nhầm đặc trưng.</a:t>
            </a:r>
            <a:endParaRPr lang="en-US" sz="145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Chỉ tiêu kỹ thuật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đầu cuối, suy luận hoàn toàn trên CPU, hỗ trợ chuẩn xác cả biển 1 dòng và 2 dòng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5880" y="1673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6354A"/>
                </a:solidFill>
              </a:rPr>
              <a:t>Độ chính xác phát hiện (mAP@0.5)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66760" y="1655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5FD4"/>
                </a:solidFill>
              </a:rPr>
              <a:t>≥ 0,90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237744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2542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6354A"/>
                </a:solidFill>
              </a:rPr>
              <a:t>Độ chính xác toàn chuỗi (Full-sequence Accuracy)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6676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5FD4"/>
                </a:solidFill>
              </a:rPr>
              <a:t>≥ 0,85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6354A"/>
                </a:solidFill>
              </a:rPr>
              <a:t>Độ chính xác mức ký tự (1 − CER)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5FD4"/>
                </a:solidFill>
              </a:rPr>
              <a:t>≥ 0,92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11480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279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6354A"/>
                </a:solidFill>
              </a:rPr>
              <a:t>Độ trễ suy luận p95 trên CPU (1 luồng)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4261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5FD4"/>
                </a:solidFill>
              </a:rPr>
              <a:t>≤ 800 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54680" y="5349240"/>
            <a:ext cx="5943600" cy="384048"/>
          </a:xfrm>
          <a:prstGeom prst="roundRect">
            <a:avLst>
              <a:gd name="adj" fmla="val 19048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27832" y="5422392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050" b="1">
                <a:solidFill>
                  <a:srgbClr val="149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then chốt: Đảm bảo độ chính xác toàn chuỗi cao với độ trễ thực tế tối ưu trên CPU</a:t>
            </a:r>
            <a:endParaRPr lang="en-US" sz="1050" dirty="0"/>
          </a:p>
        </p:txBody>
      </p:sp>
      <p:sp>
        <p:nvSpPr>
          <p:cNvPr id="18" name="Oval 17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4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xử lý tổng thể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cốt lõi nằm ở hai khối: Xử lý ảnh thích ứng và Hậu xử lý tri thức chuyên miền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0936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5F"/>
                </a:solidFill>
              </a:rPr>
              <a:t>Ảnh đầu vào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48B"/>
                </a:solidFill>
              </a:rPr>
              <a:t>Camera / ảnh thực tế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30552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04872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3288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5F"/>
                </a:solidFill>
              </a:rPr>
              <a:t>YOLO11n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48B"/>
                </a:solidFill>
              </a:rPr>
              <a:t>Phát hiện biển số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32504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06824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EFF8FF"/>
          </a:solidFill>
          <a:ln w="12700">
            <a:solidFill>
              <a:srgbClr val="17BCEB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5FD4"/>
                </a:solidFill>
              </a:rPr>
              <a:t>Xử lý ảnh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16552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050">
                <a:solidFill>
                  <a:srgbClr val="65748B"/>
                </a:solidFill>
              </a:rPr>
              <a:t>Deskew · Tách–ghép dòng · CLAHE · Lọc song phương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34456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08776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36792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5F"/>
                </a:solidFill>
              </a:rPr>
              <a:t>PaddleOCR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5748B"/>
                </a:solidFill>
              </a:rPr>
              <a:t>PP-OCRv5 Mobile (Thuần CPU)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36408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10728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EFF8FF"/>
          </a:solidFill>
          <a:ln w="12700">
            <a:solidFill>
              <a:srgbClr val="17BCEB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38744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5FD4"/>
                </a:solidFill>
              </a:rPr>
              <a:t>Hậu xử lý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0456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5748B"/>
                </a:solidFill>
              </a:rPr>
              <a:t>Kiểm tra 34 tỉnh · Mặt nạ vị trí · Ma trận hoán vị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38360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12680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40696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5F"/>
                </a:solidFill>
              </a:rPr>
              <a:t>Kết quả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22408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5748B"/>
                </a:solidFill>
              </a:rPr>
              <a:t>Chuỗi biển số chuẩn hóa + Màu sắc &amp; Loại xe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80360" y="4800600"/>
            <a:ext cx="649224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53512" y="487375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050" b="1">
                <a:solidFill>
                  <a:srgbClr val="1E5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sửa đổi cấu trúc OCR → Tái cấu trúc hình học ảnh để tương thích tối ưu với OCR sẵn có</a:t>
            </a:r>
            <a:endParaRPr lang="en-US" sz="1050" dirty="0"/>
          </a:p>
        </p:txBody>
      </p:sp>
      <p:sp>
        <p:nvSpPr>
          <p:cNvPr id="29" name="Oval 28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5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500" b="1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dữ liệu: Khử trùng lặp trước khi đánh giá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Triệt tiêu rò rỉ dữ liệu (Data Leakage) khi các bộ dữ liệu công khai fork chéo lẫn nhau</a:t>
            </a:r>
            <a:endParaRPr lang="en-US" sz="1150" dirty="0"/>
          </a:p>
        </p:txBody>
      </p:sp>
      <p:pic>
        <p:nvPicPr>
          <p:cNvPr id="4" name="Image 0" descr="/mnt/data/fixed_assets/crop-06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17320"/>
            <a:ext cx="516636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60020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2A5F"/>
                </a:solidFill>
              </a:rPr>
              <a:t>27.711 ảnh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05840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5748B"/>
                </a:solidFill>
              </a:rPr>
              <a:t>Gộp từ 7 bộ dữ liệu ALPR công khai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74343"/>
                </a:solidFill>
              </a:rPr>
              <a:t>− 44,2%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05840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26354A"/>
                </a:solidFill>
              </a:rPr>
              <a:t>ảnh trùng bị loại bằng pHash DCT 64-bit (Hamming ≤ 6)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49A68"/>
                </a:solidFill>
              </a:rPr>
              <a:t>15.133 ảnh độc lập (10.592 Train / 3.027 Val / 1.514 Test)</a:t>
            </a:r>
            <a:endParaRPr lang="en-US" sz="1700" dirty="0"/>
          </a:p>
        </p:txBody>
      </p:sp>
      <p:sp>
        <p:nvSpPr>
          <p:cNvPr id="11" name="Oval 10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6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biển hai dòng làm OCR đọc sai?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học đầu vào vi phạm giả định thứ tự thời gian đơn điệu của hàm mất mát CTC Loss</a:t>
            </a:r>
            <a:endParaRPr lang="en-US" sz="1150" dirty="0"/>
          </a:p>
        </p:txBody>
      </p:sp>
      <p:pic>
        <p:nvPicPr>
          <p:cNvPr id="4" name="Image 0" descr="/mnt/data/fixed_assets/crop-07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389888"/>
            <a:ext cx="55321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460500"/>
            <a:ext cx="4526280" cy="3810000"/>
          </a:xfrm>
          <a:prstGeom prst="roundRect">
            <a:avLst>
              <a:gd name="adj" fmla="val 2025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9000" y="15875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350" b="1">
                <a:solidFill>
                  <a:srgbClr val="DC2626"/>
                </a:solidFill>
                <a:latin typeface="Segoe UI" panose="020B0502040204020203" pitchFamily="34" charset="0"/>
              </a:rPr>
              <a:t>Xung đột đặc trưng 2 dòng</a:t>
            </a:r>
            <a:endParaRPr lang="en-US" sz="1350" b="1" dirty="0">
              <a:solidFill>
                <a:srgbClr val="DC262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89000" y="1968500"/>
            <a:ext cx="4064000" cy="1905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vi-VN" sz="1150">
                <a:solidFill>
                  <a:srgbClr val="1E293B"/>
                </a:solidFill>
                <a:latin typeface="Segoe UI" panose="020B0502040204020203" pitchFamily="34" charset="0"/>
              </a:rPr>
              <a:t>• Tầng CNN hạ chiều cao H → 1 để tạo chuỗi 1D
• Hai hàng ký tự bị ép chung cột đặc trưng t
• Phá vỡ giả định đơn điệu của CTC Loss
• OCR đọc nhảy dòng, nuốt chữ hoặc sinh rác</a:t>
            </a:r>
            <a:endParaRPr lang="en-US" sz="1150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9000" y="41275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150" b="1">
                <a:solidFill>
                  <a:srgbClr val="004B91"/>
                </a:solidFill>
                <a:latin typeface="Segoe UI" panose="020B0502040204020203" pitchFamily="34" charset="0"/>
              </a:rPr>
              <a:t>Giải pháp: Biến đổi hình học đưa về 1 dòng ngang chuẩn hóa trước khi đưa vào OCR</a:t>
            </a:r>
            <a:endParaRPr lang="en-US" sz="1150" b="1" dirty="0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7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biển hai dòng bằng biến đổi hình học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Chuỗi 5 phép biến đổi hình học giúp chuẩn hóa biển 2 dòng thành 1 dòng chất lượng cao</a:t>
            </a:r>
            <a:endParaRPr lang="en-US" sz="1150" dirty="0"/>
          </a:p>
        </p:txBody>
      </p:sp>
      <p:pic>
        <p:nvPicPr>
          <p:cNvPr id="4" name="Image 0" descr="/mnt/data/fixed_assets/crop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98448"/>
            <a:ext cx="525780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44475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51790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258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6354A"/>
                </a:solidFill>
              </a:rPr>
              <a:t>Phân loại 1 / 2 dòng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3832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vi-VN" sz="1150">
                <a:solidFill>
                  <a:srgbClr val="65748B"/>
                </a:solidFill>
              </a:rPr>
              <a:t>Ngưỡng AR = 2,50 (khoảng cách rộng giữa 1,36 và 4,73)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22199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2951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258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6354A"/>
                </a:solidFill>
              </a:rPr>
              <a:t>Nắn phẳng Affine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832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vi-VN" sz="1150">
                <a:solidFill>
                  <a:srgbClr val="65748B"/>
                </a:solidFill>
              </a:rPr>
              <a:t>Tìm góc xoay tối ưu bằng cv2.minAreaRect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299923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0723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258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6354A"/>
                </a:solidFill>
              </a:rPr>
              <a:t>Tách hai dòng ổn định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832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vi-VN" sz="1150">
                <a:solidFill>
                  <a:srgbClr val="65748B"/>
                </a:solidFill>
              </a:rPr>
              <a:t>Cắt cố định 5/12 trên &amp; 1/3 dưới, loại ốc vít tim biển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377647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38496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2588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6354A"/>
                </a:solidFill>
              </a:rPr>
              <a:t>Ghép ngang nối tiếp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38328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vi-VN" sz="1150">
                <a:solidFill>
                  <a:srgbClr val="65748B"/>
                </a:solidFill>
              </a:rPr>
              <a:t>Dòng trên + dòng dưới → Chuỗi 1 dòng duy nhất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455371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" y="46268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25880" y="4526280"/>
            <a:ext cx="25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500" b="1">
                <a:solidFill>
                  <a:srgbClr val="26354A"/>
                </a:solidFill>
              </a:rPr>
              <a:t>CLAHE &amp; Lọc song phương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873500" y="4526280"/>
            <a:ext cx="203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vi-VN" sz="1150">
                <a:solidFill>
                  <a:srgbClr val="65748B"/>
                </a:solidFill>
              </a:rPr>
              <a:t>Tăng tương phản cục bộ, khử nhiễu mà bảo toàn nét chữ</a:t>
            </a:r>
            <a:endParaRPr lang="en-US" sz="1150" dirty="0"/>
          </a:p>
        </p:txBody>
      </p:sp>
      <p:sp>
        <p:nvSpPr>
          <p:cNvPr id="25" name="Oval 24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8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Hậu xử lý theo vị trí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thác quy chuẩn Việt Nam (TT 79/2024 &amp; TT 51/2025) theo từng vị trí ký tự trong chuỗi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600" b="1">
                <a:solidFill>
                  <a:srgbClr val="1E5FD4"/>
                </a:solidFill>
              </a:rPr>
              <a:t>1. Danh mục 34 Mã địa phương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029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6354A"/>
                </a:solidFill>
              </a:rPr>
              <a:t>Rà soát theo 34 tỉnh/thành hợp lệ (TT 51/2025); loại bỏ hoàn toàn các mã giả lập không tồn tại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5FD4"/>
                </a:solidFill>
              </a:rPr>
              <a:t>2. Mặt nạ cú pháp định dạng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029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6354A"/>
                </a:solidFill>
              </a:rPr>
              <a:t>Ràng buộc nghiêm ngặt vị trí số và chữ theo quy chuẩn DD-L DDD.DD hoặc DD-L? DDD.DD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5FD4"/>
                </a:solidFill>
              </a:rPr>
              <a:t>3. Tập ký tự seri theo loại xe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6301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6354A"/>
                </a:solidFill>
              </a:rPr>
              <a:t>Xe con không chứa ký tự 'R'; xe máy phân biệt rõ 'G' và 'R' ở từng vị trí seri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0632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5FD4"/>
                </a:solidFill>
              </a:rPr>
              <a:t>4. Ma trận hoán vị bất đối xứng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6301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300">
                <a:solidFill>
                  <a:srgbClr val="26354A"/>
                </a:solidFill>
              </a:rPr>
              <a:t>Sửa lỗi OCR có định hướng: 'O','D' → '0' khi ở vị trí số; '0' → 'D' khi ở vị trí chữ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4892040"/>
            <a:ext cx="9784080" cy="868680"/>
          </a:xfrm>
          <a:prstGeom prst="roundRect">
            <a:avLst>
              <a:gd name="adj" fmla="val 8421"/>
            </a:avLst>
          </a:prstGeom>
          <a:solidFill>
            <a:srgbClr val="F2F8FF"/>
          </a:solidFill>
          <a:ln w="12700">
            <a:solidFill>
              <a:srgbClr val="CFE2F6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51846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700" b="1">
                <a:solidFill>
                  <a:srgbClr val="0F2A5F"/>
                </a:solidFill>
              </a:rPr>
              <a:t>Ví dụ thực tế: Tại vị trí số, 'O' được sửa thành '0'; nhưng tại vị trí chữ, '0' được sửa thành 'D' chứ không sửa thành 'O' để bảo toàn tính hợp lệ.</a:t>
            </a:r>
            <a:endParaRPr lang="en-US" sz="1700" dirty="0"/>
          </a:p>
        </p:txBody>
      </p:sp>
      <p:sp>
        <p:nvSpPr>
          <p:cNvPr id="18" name="Oval 17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9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màu nền bằng HSV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sắc độ H khỏi độ sáng V để phân loại bền vững dưới bóng râm và chói lóa</a:t>
            </a:r>
            <a:endParaRPr lang="en-US" sz="1150" dirty="0"/>
          </a:p>
        </p:txBody>
      </p:sp>
      <p:pic>
        <p:nvPicPr>
          <p:cNvPr id="4" name="Image 0" descr="/mnt/data/fixed_assets/crop-12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371600"/>
            <a:ext cx="534924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45920"/>
            <a:ext cx="4480560" cy="3200400"/>
          </a:xfrm>
          <a:prstGeom prst="roundRect">
            <a:avLst>
              <a:gd name="adj" fmla="val 2286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728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9A68"/>
                </a:solidFill>
              </a:rPr>
              <a:t>97,89%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728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26354A"/>
                </a:solidFill>
              </a:rPr>
              <a:t>Độ chính xác phân loại tổng thể (1.565 mẫu)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2A5F"/>
                </a:solidFill>
              </a:rPr>
              <a:t>Nhận diện 4 nhóm màu chuẩn:
Trắng (97,4%) · Vàng (98,6%) · Xanh (96,8%) · Đỏ</a:t>
            </a:r>
            <a:endParaRPr lang="en-US" sz="1700" dirty="0"/>
          </a:p>
        </p:txBody>
      </p:sp>
      <p:sp>
        <p:nvSpPr>
          <p:cNvPr id="9" name="Oval 8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10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biển nghiêng: nắn 2D &amp; thử lại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lược Fallback Ladder: Chỉ kích hoạt khi cần để tăng độ chính xác mà không làm chậm p50</a:t>
            </a:r>
            <a:endParaRPr lang="en-US" sz="1150" dirty="0"/>
          </a:p>
        </p:txBody>
      </p:sp>
      <p:pic>
        <p:nvPicPr>
          <p:cNvPr id="4" name="Image 0" descr="/mnt/data/fixed_assets/crop-13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89888"/>
            <a:ext cx="62179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60020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51560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88818"/>
                </a:solidFill>
              </a:rPr>
              <a:t>+34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05156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500">
                <a:solidFill>
                  <a:srgbClr val="26354A"/>
                </a:solidFill>
              </a:rPr>
              <a:t>Biển số nghiêng được cứu thành công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F2A5F"/>
                </a:solidFill>
              </a:rPr>
              <a:t>Chi phí +277 ms (dồn vào đuôi p95)
p50 giữ nguyên 405 ms (+0 ms) cho phần lớn mẫu dễ</a:t>
            </a:r>
            <a:endParaRPr lang="en-US" sz="1600" dirty="0"/>
          </a:p>
        </p:txBody>
      </p:sp>
      <p:sp>
        <p:nvSpPr>
          <p:cNvPr id="9" name="Oval 8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11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đo được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và độ trễ đạt xuất sắc mục tiêu; độ chính xác toàn chuỗi phản ánh trung thực bài toán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9A68"/>
                </a:solidFill>
              </a:rPr>
              <a:t>0,9829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354A"/>
                </a:solidFill>
              </a:rPr>
              <a:t>mAP@0.5 (Phát hiện)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59669"/>
                </a:solidFill>
                <a:latin typeface="Segoe UI" panose="020B0502040204020203" pitchFamily="34" charset="0"/>
              </a:rPr>
              <a:t>ĐẠT mục tiêu 0,90</a:t>
            </a:r>
            <a:endParaRPr lang="en-US" sz="1000" b="1" dirty="0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73552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9A68"/>
                </a:solidFill>
              </a:rPr>
              <a:t>0,984 / 0,971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354A"/>
                </a:solidFill>
              </a:rPr>
              <a:t>Precision / Recall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59669"/>
                </a:solidFill>
                <a:latin typeface="Segoe UI" panose="020B0502040204020203" pitchFamily="34" charset="0"/>
              </a:rPr>
              <a:t>ĐẠT</a:t>
            </a:r>
            <a:endParaRPr lang="en-US" sz="1000" b="1" dirty="0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52744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8818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62472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8818"/>
                </a:solidFill>
              </a:rPr>
              <a:t>0,7701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6247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354A"/>
                </a:solidFill>
              </a:rPr>
              <a:t>Độ chính xác toàn chuỗi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62472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000" b="1">
                <a:solidFill>
                  <a:srgbClr val="DC2626"/>
                </a:solidFill>
                <a:latin typeface="Segoe UI" panose="020B0502040204020203" pitchFamily="34" charset="0"/>
              </a:rPr>
              <a:t>CHƯA ĐẠT ngưỡng 0,85</a:t>
            </a:r>
            <a:endParaRPr lang="en-US" sz="1000" b="1" dirty="0">
              <a:solidFill>
                <a:srgbClr val="DC2626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31936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41664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9A68"/>
                </a:solidFill>
              </a:rPr>
              <a:t>510 ms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41664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354A"/>
                </a:solidFill>
              </a:rPr>
              <a:t>Độ trễ p95 trên CPU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41664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59669"/>
                </a:solidFill>
                <a:latin typeface="Segoe UI" panose="020B0502040204020203" pitchFamily="34" charset="0"/>
              </a:rPr>
              <a:t>ĐẠT mục tiêu ≤ 800 ms</a:t>
            </a:r>
            <a:endParaRPr lang="en-US" sz="1000" b="1" dirty="0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50749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900" b="1">
                <a:solidFill>
                  <a:srgbClr val="0F2A5F"/>
                </a:solidFill>
              </a:rPr>
              <a:t>Nhận định khách quan: Hệ thống tối ưu xuất sắc trên CPU; khoảng cách độ chính xác tập trung ở biển hai dòng.</a:t>
            </a:r>
            <a:endParaRPr lang="en-US" sz="1900" dirty="0"/>
          </a:p>
        </p:txBody>
      </p:sp>
      <p:sp>
        <p:nvSpPr>
          <p:cNvPr id="21" name="Oval 20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12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nằm ở biển hai dòng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mức ký tự gần bằng nhau, nhưng sai số tích lũy trên chuỗi phân hóa rất lớn</a:t>
            </a:r>
            <a:endParaRPr lang="en-US" sz="1150" dirty="0"/>
          </a:p>
        </p:txBody>
      </p:sp>
      <p:pic>
        <p:nvPicPr>
          <p:cNvPr id="4" name="Image 0" descr="/mnt/data/fixed_assets/crop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1" y="1333500"/>
            <a:ext cx="5709227" cy="438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554480"/>
            <a:ext cx="4343400" cy="3566160"/>
          </a:xfrm>
          <a:prstGeom prst="roundRect">
            <a:avLst>
              <a:gd name="adj" fmla="val 2051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515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5FD4"/>
                </a:solidFill>
              </a:rPr>
              <a:t>95,41%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51560" y="2395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54A"/>
                </a:solidFill>
              </a:rPr>
              <a:t>Biển một dòng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1546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74343"/>
                </a:solidFill>
              </a:rPr>
              <a:t>72,34%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51560" y="3675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54A"/>
                </a:solidFill>
              </a:rPr>
              <a:t>Biển hai dòng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417320" y="4572000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FFF3F3"/>
          </a:solidFill>
          <a:ln w="12700">
            <a:solidFill>
              <a:srgbClr val="FF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79500" y="4645152"/>
            <a:ext cx="3746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74343"/>
                </a:solidFill>
                <a:latin typeface="Segoe UI" panose="020B0502040204020203" pitchFamily="34" charset="0"/>
                <a:ea typeface="Arial" pitchFamily="34" charset="-122"/>
                <a:cs typeface="Arial" pitchFamily="34" charset="-120"/>
              </a:rPr>
              <a:t>Điểm nghẽn cốt lõi: Biển hai dòng</a:t>
            </a:r>
            <a:endParaRPr lang="en-US" sz="1100" b="1" dirty="0">
              <a:latin typeface="Segoe UI" panose="020B0502040204020203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13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thực tế trông như thế nào?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Hậu xử lý cứu được nhiều ca OCR thô; các ca còn sai tập trung ở dòng trên của biển hai dòng</a:t>
            </a:r>
            <a:endParaRPr lang="en-US" sz="1150" dirty="0"/>
          </a:p>
        </p:txBody>
      </p:sp>
      <p:pic>
        <p:nvPicPr>
          <p:cNvPr id="4" name="Image 0" descr="/mnt/data/fixed_assets/crop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270000"/>
            <a:ext cx="10714182" cy="4572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14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Bóc tách đóng góp từng bước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độc lập mức độ cải thiện của từng phương pháp xử lý ảnh và hậu xử lý trên tập đo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35000" y="1651000"/>
            <a:ext cx="3302000" cy="2476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E5FD4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8500" y="1905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284C7"/>
                </a:solidFill>
                <a:latin typeface="Segoe UI" panose="020B0502040204020203" pitchFamily="34" charset="0"/>
              </a:rPr>
              <a:t>+34,92 pp</a:t>
            </a:r>
            <a:endParaRPr lang="en-US" sz="3000" b="1" dirty="0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8500" y="26670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  <a:latin typeface="Segoe UI" panose="020B0502040204020203" pitchFamily="34" charset="0"/>
              </a:rPr>
              <a:t>Tách–ghép dòng (Split-Merge)</a:t>
            </a:r>
            <a:endParaRPr lang="en-US" sz="1300" b="1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8500" y="33655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284C7"/>
                </a:solidFill>
                <a:latin typeface="Segoe UI" panose="020B0502040204020203" pitchFamily="34" charset="0"/>
              </a:rPr>
              <a:t>Đột phá hình học biển 2 dòng</a:t>
            </a:r>
            <a:endParaRPr lang="en-US" sz="1100" b="1" dirty="0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45000" y="1651000"/>
            <a:ext cx="3302000" cy="2476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8500" y="1905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59669"/>
                </a:solidFill>
                <a:latin typeface="Segoe UI" panose="020B0502040204020203" pitchFamily="34" charset="0"/>
              </a:rPr>
              <a:t>+13,28 pp</a:t>
            </a:r>
            <a:endParaRPr lang="en-US" sz="3000" b="1" dirty="0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08500" y="26670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  <a:latin typeface="Segoe UI" panose="020B0502040204020203" pitchFamily="34" charset="0"/>
              </a:rPr>
              <a:t>Hậu xử lý tri thức chuyên miền</a:t>
            </a:r>
            <a:endParaRPr lang="en-US" sz="1300" b="1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08500" y="33655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-FI" sz="1100" b="1">
                <a:solidFill>
                  <a:srgbClr val="059669"/>
                </a:solidFill>
                <a:latin typeface="Segoe UI" panose="020B0502040204020203" pitchFamily="34" charset="0"/>
              </a:rPr>
              <a:t>0 ca sửa sai (An toàn 100%)</a:t>
            </a:r>
            <a:endParaRPr lang="en-US" sz="1100" b="1" dirty="0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55000" y="1651000"/>
            <a:ext cx="3302000" cy="2476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8818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18500" y="1905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D98A13"/>
                </a:solidFill>
                <a:latin typeface="Segoe UI" panose="020B0502040204020203" pitchFamily="34" charset="0"/>
              </a:rPr>
              <a:t>+34 biển</a:t>
            </a:r>
            <a:endParaRPr lang="en-US" sz="3000" b="1" dirty="0">
              <a:solidFill>
                <a:srgbClr val="D98A13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18500" y="26670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  <a:latin typeface="Segoe UI" panose="020B0502040204020203" pitchFamily="34" charset="0"/>
              </a:rPr>
              <a:t>Nắn phẳng Affine Deskew</a:t>
            </a:r>
            <a:endParaRPr lang="en-US" sz="1300" b="1" dirty="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18500" y="33655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98A13"/>
                </a:solidFill>
                <a:latin typeface="Segoe UI" panose="020B0502040204020203" pitchFamily="34" charset="0"/>
              </a:rPr>
              <a:t>Cứu biển nghiêng phức tạp</a:t>
            </a:r>
            <a:endParaRPr lang="en-US" sz="1100" b="1" dirty="0">
              <a:solidFill>
                <a:srgbClr val="D98A13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" y="46355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004B91"/>
                </a:solidFill>
                <a:latin typeface="Segoe UI" panose="020B0502040204020203" pitchFamily="34" charset="0"/>
              </a:rPr>
              <a:t>Kết luận: Tách–ghép dòng là cải tiến mang tính quyết định nhất (+34,92 pp);
Hậu xử lý và Deskew tiếp tục nâng cao độ chính xác và độ an toàn của toàn hệ thống.</a:t>
            </a:r>
            <a:endParaRPr lang="en-US" sz="1350" b="1" dirty="0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15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bổ thời gian thực thi (Latency breakdown)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nghẽn thời gian nằm ở tầng OCR (60,8%), xử lý ảnh chỉ chiếm 1,2% ngân sách</a:t>
            </a:r>
            <a:endParaRPr lang="en-US" sz="1150" dirty="0"/>
          </a:p>
        </p:txBody>
      </p:sp>
      <p:pic>
        <p:nvPicPr>
          <p:cNvPr id="4" name="Image 0" descr="/mnt/data/fixed_assets/crop-18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0" y="1460500"/>
            <a:ext cx="5327542" cy="419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645920"/>
            <a:ext cx="4343400" cy="3337560"/>
          </a:xfrm>
          <a:prstGeom prst="roundRect">
            <a:avLst>
              <a:gd name="adj" fmla="val 2192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51560" y="19659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5FD4"/>
                </a:solidFill>
              </a:rPr>
              <a:t>60,8%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51560" y="2633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26354A"/>
                </a:solidFill>
              </a:rPr>
              <a:t>PP-OCRv5 chiếm 60,8% (89,16 ms)
YOLO11n chiếm 38,0% (55,66 ms)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4290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49A68"/>
                </a:solidFill>
              </a:rPr>
              <a:t>Xử lý ảnh: 1,78 ms (1,2%)
Hậu xử lý: ~0,03 ms (0,0%)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4389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65748B"/>
                </a:solidFill>
              </a:rPr>
              <a:t>Định luật Amdahl: Tăng tốc OCR (ONNX / OpenVINO / INT8) là then chốt</a:t>
            </a:r>
            <a:endParaRPr lang="en-US" sz="1300" dirty="0"/>
          </a:p>
        </p:txBody>
      </p:sp>
      <p:sp>
        <p:nvSpPr>
          <p:cNvPr id="10" name="Oval 9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16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hệ thống chạy thật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Khởi chạy một lệnh duy nhất · Giao diện Web trực quan · Đầy đủ API và lịch sử nhận dạng</a:t>
            </a:r>
            <a:endParaRPr lang="en-US" sz="1150" dirty="0"/>
          </a:p>
        </p:txBody>
      </p:sp>
      <p:pic>
        <p:nvPicPr>
          <p:cNvPr id="4" name="Image 0" descr="/mnt/data/fixed_assets/crop-20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397000"/>
            <a:ext cx="6017638" cy="431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6002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51560" y="19659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2788920"/>
            <a:ext cx="3246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vi-VN" sz="1500">
                <a:solidFill>
                  <a:srgbClr val="26354A"/>
                </a:solidFill>
              </a:rPr>
              <a:t>• Nhận dạng ảnh tĩnh, luồng video và webcam trực tiếp
• Đối chiếu chuỗi OCR thô và chuỗi chuẩn hóa theo luật
• Nhận dạng màu sắc biển (HSV) và loại phương tiện
• Bảng theo dõi lịch sử và độ trễ suy luận từng bước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43000" y="4572000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16152" y="464515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5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tự động trên 39 mẫu kiểm chuẩn có nhãn expected.json</a:t>
            </a:r>
            <a:endParaRPr lang="en-US" sz="1050" dirty="0"/>
          </a:p>
        </p:txBody>
      </p:sp>
      <p:sp>
        <p:nvSpPr>
          <p:cNvPr id="10" name="Oval 9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17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giải quyết điểm nghẽn còn lại: Mô hình nhận dạng chuyên biệt và biển hai dòng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26354A"/>
                </a:solidFill>
              </a:rPr>
              <a:t>Huấn luyện Recognizer chuyên biệt cho biển số VN: Hỗ trợ nhận diện trực tiếp biển 2 dòng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508760" y="185623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26354A"/>
                </a:solidFill>
              </a:rPr>
              <a:t>Tự động hóa ma trận hoán vị: Khai thác lỗi từ ma trận nhầm lẫn trên tập dữ liệu lớn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508760" y="267919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971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26354A"/>
                </a:solidFill>
              </a:rPr>
              <a:t>Khử rò rỉ dữ liệu theo chuỗi ký tự: Kết hợp pHash hình ảnh với khoảng cách Levenshtein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08760" y="350215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840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26354A"/>
                </a:solidFill>
              </a:rPr>
              <a:t>Mở rộng tập dữ liệu đa dạng: Bổ sung biển vàng dịch vụ, biển quân sự đỏ trong điều kiện ban đêm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08760" y="432511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6634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650">
                <a:solidFill>
                  <a:srgbClr val="26354A"/>
                </a:solidFill>
              </a:rPr>
              <a:t>Tối ưu hóa và lượng tử hóa mô hình: Tăng tốc bằng ONNX Runtime, OpenVINO và INT8 trên CPU</a:t>
            </a:r>
            <a:endParaRPr lang="en-US" sz="1650" dirty="0"/>
          </a:p>
        </p:txBody>
      </p:sp>
      <p:sp>
        <p:nvSpPr>
          <p:cNvPr id="18" name="Oval 17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18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hình học ảnh và hậu xử lý tri thức đem lại bước nhảy vọt mà không làm tăng tải mô hình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5FD4"/>
                </a:solidFill>
              </a:rPr>
              <a:t>0,9829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5748B"/>
                </a:solidFill>
              </a:rPr>
              <a:t>mAP@0.5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5FD4"/>
                </a:solidFill>
              </a:rPr>
              <a:t>+34,92 pp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61188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65748B"/>
                </a:solidFill>
              </a:rPr>
              <a:t>Tách–ghép dòng (Split-Merge)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5FD4"/>
                </a:solidFill>
              </a:rPr>
              <a:t>+13,28 pp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65748B"/>
                </a:solidFill>
              </a:rPr>
              <a:t>Hậu xử lý tri thức chuyên miền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8116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49A68"/>
                </a:solidFill>
              </a:rPr>
              <a:t>510 ms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8116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65748B"/>
                </a:solidFill>
              </a:rPr>
              <a:t>Độ trễ p95 trên CPU (1 luồng)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17320" y="3703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2100" b="1">
                <a:solidFill>
                  <a:srgbClr val="C74343"/>
                </a:solidFill>
              </a:rPr>
              <a:t>Điểm nghẽn độ chính xác còn lại: Biển 2 dòng (72,34%) → Đã định vị rõ giải pháp trong hướng phát triển.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331720" y="49377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3000" b="1">
                <a:solidFill>
                  <a:srgbClr val="004B91"/>
                </a:solidFill>
                <a:latin typeface="Segoe UI" panose="020B0502040204020203" pitchFamily="34" charset="0"/>
              </a:rPr>
              <a:t>Xin trân trọng cảm ơn Quý Thầy Cô &amp; Hội đồng! · Q&amp;A</a:t>
            </a:r>
            <a:endParaRPr lang="en-US" sz="3000" b="1" dirty="0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200" y="6502400"/>
            <a:ext cx="304800" cy="30480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>
                <a:solidFill>
                  <a:srgbClr val="004B91"/>
                </a:solidFill>
                <a:latin typeface="Segoe UI" panose="020B0502040204020203" pitchFamily="34" charset="0"/>
              </a:rPr>
              <a:t>19</a:t>
            </a:r>
            <a:endParaRPr sz="900" b="1">
              <a:solidFill>
                <a:srgbClr val="004B91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1907</Words>
  <Application>Microsoft Office PowerPoint</Application>
  <PresentationFormat>Widescreen</PresentationFormat>
  <Paragraphs>212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diện biển số xe bằng Trí tuệ nhân tạo</dc:title>
  <dc:subject>Revised ALPR course project slides</dc:subject>
  <dc:creator>OpenAI</dc:creator>
  <cp:lastModifiedBy>Nguyễn Minh Hiếu</cp:lastModifiedBy>
  <cp:revision>12</cp:revision>
  <dcterms:created xsi:type="dcterms:W3CDTF">2026-09-12T15:07:09Z</dcterms:created>
  <dcterms:modified xsi:type="dcterms:W3CDTF">2026-09-13T05:13:16Z</dcterms:modified>
</cp:coreProperties>
</file>