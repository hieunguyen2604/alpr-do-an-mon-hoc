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</p:sldIdLst>
  <p:sldSz cx="12192000" cy="6858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Open Sans"/>
      <p:regular r:id="rId47"/>
      <p:bold r:id="rId48"/>
      <p:italic r:id="rId49"/>
      <p:boldItalic r:id="rId5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5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38" Type="http://schemas.openxmlformats.org/officeDocument/2006/relationships/slide" Target="slides/slide34.xml" /><Relationship Id="rId39" Type="http://schemas.openxmlformats.org/officeDocument/2006/relationships/slide" Target="slides/slide35.xml" /><Relationship Id="rId40" Type="http://schemas.openxmlformats.org/officeDocument/2006/relationships/slide" Target="slides/slide36.xml" /><Relationship Id="rId41" Type="http://schemas.openxmlformats.org/officeDocument/2006/relationships/slide" Target="slides/slide37.xml" /><Relationship Id="rId42" Type="http://schemas.openxmlformats.org/officeDocument/2006/relationships/slide" Target="slides/slide3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44" Type="http://schemas.openxmlformats.org/officeDocument/2006/relationships/font" Target="fonts/Roboto-bold.fntdata" /><Relationship Id="rId43" Type="http://schemas.openxmlformats.org/officeDocument/2006/relationships/font" Target="fonts/Roboto-regular.fntdata" /><Relationship Id="rId46" Type="http://schemas.openxmlformats.org/officeDocument/2006/relationships/font" Target="fonts/Roboto-boldItalic.fntdata" /><Relationship Id="rId45" Type="http://schemas.openxmlformats.org/officeDocument/2006/relationships/font" Target="fonts/Roboto-italic.fntdata" /><Relationship Id="rId47" Type="http://schemas.openxmlformats.org/officeDocument/2006/relationships/font" Target="fonts/OpenSans-regular.fntdata" /><Relationship Id="rId49" Type="http://schemas.openxmlformats.org/officeDocument/2006/relationships/font" Target="fonts/OpenSans-italic.fntdata" /><Relationship Id="rId48" Type="http://schemas.openxmlformats.org/officeDocument/2006/relationships/font" Target="fonts/OpenSans-bold.fntdata" /><Relationship Id="rId51" Type="http://customschemas.google.com/relationships/presentationmetadata" Target="metadata" /><Relationship Id="rId5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30600" y="2324100"/>
            <a:ext cx="5029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13/2025 · TT 51/2025</a:t>
            </a:r>
            <a:r>
              <a:rPr/>
              <a:t> — sửa đổi TT 79/2024 · phụ lục mã tỉnh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75100" y="2324100"/>
            <a:ext cx="4152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So với EasyOCR / Tesseract:</a:t>
                      </a:r>
                      <a:r>
                        <a:rPr/>
                        <a:t> phép đo trên 2.801 biển trong cùng tầng bao quanh cho kết quả PaddleOCR cao hơn; kết luận chỉ áp dụng cho cấu hình này• </a:t>
                      </a:r>
                      <a:r>
                        <a:rPr b="1"/>
                        <a:t>So với PP-OCRv5 Server:</a:t>
                      </a:r>
                      <a:r>
                        <a:rPr/>
                        <a:t> bản Server nặng hơn, không phù hợp ràng buộc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nhỏ, độ chính xác mức ký tự 94,5% trên tập đánh giá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67100" y="2324100"/>
            <a:ext cx="5168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13200" y="2324100"/>
            <a:ext cx="40767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46500" y="2324100"/>
            <a:ext cx="4610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27400" y="2324100"/>
            <a:ext cx="54483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phục hồi khi nhận dạng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kích hoạt </a:t>
            </a:r>
            <a:r>
              <a:rPr b="1"/>
              <a:t>sau khi nhận dạng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làm thay đổi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Cơ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biển phục hồi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Phục hồi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Khử trùng lặp bằng pHash</a:t>
            </a:r>
            <a:r>
              <a:rPr/>
              <a:t> ở ngưỡng Hamming 10 — đo lại ở </a:t>
            </a:r>
            <a:r>
              <a:rPr b="1"/>
              <a:t>chính ngưỡng đó</a:t>
            </a:r>
            <a:r>
              <a:rPr/>
              <a:t> cho </a:t>
            </a:r>
            <a:r>
              <a:rPr b="1"/>
              <a:t>0 cặp</a:t>
            </a:r>
            <a:r>
              <a:rPr/>
              <a:t> Train–Test</a:t>
            </a:r>
          </a:p>
          <a:p>
            <a:pPr lvl="0" indent="0" marL="0">
              <a:buNone/>
            </a:pPr>
            <a:r>
              <a:rPr/>
              <a:t>⇒ Số 0 đó chứng minh </a:t>
            </a:r>
            <a:r>
              <a:rPr b="1"/>
              <a:t>bước gộp chạy đúng</a:t>
            </a:r>
            <a:r>
              <a:rPr/>
              <a:t>, không chứng minh tập test hoàn toàn độc lập: ở Hamming 12 vẫn còn </a:t>
            </a:r>
            <a:r>
              <a:rPr b="1"/>
              <a:t>791 cặp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</a:t>
            </a:r>
            <a:r>
              <a:rPr b="1"/>
              <a:t>10,05 giờ</a:t>
            </a:r>
            <a:r>
              <a:rPr/>
              <a:t> </a:t>
            </a:r>
            <a:r>
              <a:rPr i="1"/>
              <a:t>(30,2 phút/epoch)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43300" y="2324100"/>
            <a:ext cx="5003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lưu vết đánh giá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71800" y="2324100"/>
            <a:ext cx="61595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nghẽn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0,7234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 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0,563</a:t>
                      </a:r>
                      <a:r>
                        <a:rPr/>
                        <a:t> </a:t>
                      </a:r>
                      <a:r>
                        <a:rPr i="1"/>
                        <a:t>(nhãn máy sinh)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17800" y="2324100"/>
            <a:ext cx="6654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372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08400" y="2324100"/>
            <a:ext cx="46990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 thực nghiệm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23,07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0,7701)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Phục hồi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suy luận thuần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Điểm nghẽn thời gian là OCR (</a:t>
            </a:r>
            <a:r>
              <a:rPr b="1"/>
              <a:t>64,3%</a:t>
            </a:r>
            <a:r>
              <a:rPr/>
              <a:t>); tầng phát hiện chiếm </a:t>
            </a:r>
            <a:r>
              <a:rPr b="1"/>
              <a:t>34,0%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Ước lượng ban đầu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Đo thật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% tổng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ảnh + tiền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2,83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1,7%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</a:t>
                      </a:r>
                      <a:r>
                        <a:rPr i="1"/>
                        <a:t>(YOLO11n @ 640, CPU)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57,27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34,0%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dạng chữ </a:t>
                      </a:r>
                      <a:r>
                        <a:rPr i="1"/>
                        <a:t>(PaddleOCR, mỗi biển)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108,28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64,3%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Hậu xử lý regex + kiểm tra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0,03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suy luận thuần cho một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405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146,63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suy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hoàn tất dưới 500 ms; độ trễ tập trung ở các ca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09800" y="2324100"/>
            <a:ext cx="7696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1.004/1.004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độc lập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5.337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bền vững qua khởi động lại</a:t>
            </a:r>
            <a:r>
              <a:rPr/>
              <a:t>: 7.977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đóng gói và xác minh hoàn chỉnh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tổng hợp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0,7701</a:t>
                      </a:r>
                      <a:r>
                        <a:rPr/>
                        <a:t> · đầu cuối </a:t>
                      </a:r>
                      <a:r>
                        <a:rPr b="1"/>
                        <a:t>0,563</a:t>
                      </a:r>
                      <a:r>
                        <a:rPr/>
                        <a:t> </a:t>
                      </a:r>
                      <a:r>
                        <a:rPr i="1"/>
                        <a:t>(1.606 khung toàn cảnh, nhãn máy sinh)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510 ms</a:t>
                      </a:r>
                      <a:r>
                        <a:rPr/>
                        <a:t> </a:t>
                      </a:r>
                      <a:r>
                        <a:rPr i="1"/>
                        <a:t>(mục tiêu 800)</a:t>
                      </a:r>
                      <a:r>
                        <a:rPr/>
                        <a:t> · video </a:t>
                      </a:r>
                      <a:r>
                        <a:rPr b="1"/>
                        <a:t>0,87×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khung hình </a:t>
                      </a:r>
                      <a:r>
                        <a:rPr b="1"/>
                        <a:t>5,63 FPS</a:t>
                      </a:r>
                      <a:r>
                        <a:rPr/>
                        <a:t> </a:t>
                      </a:r>
                      <a:r>
                        <a:rPr i="1"/>
                        <a:t>(sàn 3, mục tiêu 5 — đo ở tầng API </a:t>
                      </a:r>
                      <a:r>
                        <a:rPr i="1">
                          <a:latin typeface="Courier"/>
                        </a:rPr>
                        <a:t>POST /api/detect/frame</a:t>
                      </a:r>
                      <a:r>
                        <a:rPr i="1"/>
                        <a:t>, không qua trang web)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1.004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 minh họa trên môi trường thực tế: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Tình huống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Mục tiêu kiểm chứng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cơ bản, nhận dạng chính xác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phân tách hai nửa và ghép ngang chạy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và hiển thị lịch sử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chưa đạt</a:t>
                      </a:r>
                      <a:r>
                        <a:rPr/>
                        <a:t> — đọc đúng cả chuỗi 0,7234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Độ chính xác đầu cuối chưa đo trên tập lớn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bộ dữ liệu đồng thời có ảnh toàn cảnh và nhãn chuỗi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Dữ liệu chủ yếu là biển trắng</a:t>
                      </a:r>
                      <a:r>
                        <a:rPr/>
                        <a:t> — tập nhãn có 97,7% biển trắng, 20 vàng, 4 xanh, </a:t>
                      </a:r>
                      <a:r>
                        <a:rPr b="1"/>
                        <a:t>0 đỏ, 0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Nguồn công khai chưa đa dạng các loại biển hiếm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chưa mở rộng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Đánh giá tổng quát hóa chủ yếu trong cùng phân phối thu thập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Tập trung vào các điểm nghẽn đã xác định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số Việt Nam</a:t>
            </a:r>
          </a:p>
          <a:p>
            <a:pPr lvl="0" indent="0" marL="347663">
              <a:buAutoNum type="arabicPeriod"/>
            </a:pPr>
            <a:r>
              <a:rPr b="1"/>
              <a:t>Xây dựng tập nhãn chuỗi cho ảnh hiện trường</a:t>
            </a:r>
            <a:r>
              <a:rPr/>
              <a:t> để đo đạc độ chính xác đầu cuối hoàn chỉnh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Đánh giá kiểm thử </a:t>
            </a:r>
            <a:r>
              <a:rPr b="1"/>
              <a:t>xuyên bộ dữ liệu</a:t>
            </a:r>
            <a:r>
              <a:rPr/>
              <a:t> để đo tổng quát hóa ngoài phân phối</a:t>
            </a:r>
          </a:p>
          <a:p>
            <a:pPr lvl="0" indent="0" marL="347663">
              <a:buAutoNum startAt="3" type="arabicPeriod"/>
            </a:pPr>
            <a:r>
              <a:rPr/>
              <a:t>Xuất mô hình sang OpenVINO / ONNX Runtime để tối ưu hóa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</a:t>
            </a:r>
            <a:r>
              <a:rPr b="1"/>
              <a:t>5 tầng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 — mAP50 </a:t>
            </a:r>
            <a:r>
              <a:rPr b="1"/>
              <a:t>0,983</a:t>
            </a:r>
          </a:p>
          <a:p>
            <a:pPr lvl="0"/>
            <a:r>
              <a:rPr/>
              <a:t>Hậu xử lý </a:t>
            </a:r>
            <a:r>
              <a:rPr b="1"/>
              <a:t>+13,28 điểm</a:t>
            </a:r>
            <a:r>
              <a:rPr/>
              <a:t>, đo tách bạch</a:t>
            </a:r>
          </a:p>
          <a:p>
            <a:pPr lvl="0"/>
            <a:r>
              <a:rPr b="1"/>
              <a:t>1.004/1.004 kiểm thử</a:t>
            </a:r>
            <a:r>
              <a:rPr/>
              <a:t> đạt · bao phủ </a:t>
            </a:r>
            <a:r>
              <a:rPr b="1"/>
              <a:t>87,7%</a:t>
            </a:r>
          </a:p>
          <a:p>
            <a:pPr lvl="0"/>
            <a:r>
              <a:rPr/>
              <a:t>Định lượng riêng biển </a:t>
            </a:r>
            <a:r>
              <a:rPr b="1"/>
              <a:t>1 dòng</a:t>
            </a:r>
            <a:r>
              <a:rPr/>
              <a:t> và </a:t>
            </a:r>
            <a:r>
              <a:rPr b="1"/>
              <a:t>2 dòng</a:t>
            </a:r>
            <a:r>
              <a:rPr/>
              <a:t> trên cùng hệ thống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Nhóm thực hiện xin trân trọng cảm ơn Quý Thầy/Cô và Hội đồng.</a:t>
            </a:r>
          </a:p>
          <a:p>
            <a:pPr lvl="0" indent="0" marL="0">
              <a:buNone/>
            </a:pPr>
            <a:r>
              <a:rPr b="1"/>
              <a:t>Trân trọng kính mời Hội đồng đặt câu hỏi phản biện.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Kiến trúc mô hình YOLO11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Cải tiến mạng trích xuất đặc trưng &amp; head phát hiện đa tỉ lệ </a:t>
            </a:r>
            <a:r>
              <a:rPr i="1"/>
              <a:t>(Ultralytics 2024)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 </a:t>
                      </a:r>
                      <a:r>
                        <a:rPr b="1"/>
                        <a:t>C3k2</a:t>
                      </a:r>
                      <a:r>
                        <a:rPr/>
                        <a:t> &amp;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đặc trưng vùng biển số sắc nét ở nhiều góc nghiêng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SPPF</a:t>
                      </a:r>
                      <a:r>
                        <a:rPr/>
                        <a:t> </a:t>
                      </a:r>
                      <a:r>
                        <a:rPr i="1"/>
                        <a:t>(Spatial Pyramid Pooling - Fast)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Tăng cường thông tin ngữ cảnh đa tỉ lệ mà không tăng độ trễ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 đoán bounding box của lớp </a:t>
                      </a:r>
                      <a:r>
                        <a:rPr>
                          <a:latin typeface="Courier"/>
                        </a:rPr>
                        <a:t>license_plate</a:t>
                      </a:r>
                      <a:r>
                        <a:rPr/>
                        <a:t>; bố cục một/hai dòng được suy ra ở bước hậu xử lý theo tỷ lệ khung hình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· </a:t>
                      </a:r>
                      <a:r>
                        <a:rPr b="1"/>
                        <a:t>2,6M params</a:t>
                      </a:r>
                      <a:r>
                        <a:rPr/>
                        <a:t> · </a:t>
                      </a:r>
                      <a:r>
                        <a:rPr b="1"/>
                        <a:t>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mAP50 0,983</a:t>
                      </a:r>
                      <a:r>
                        <a:rPr/>
                        <a:t> trên CPU với tốc độ ~35 ms/khung hình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Kiến trúc mô hình PP-OCRv5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Mô hình nhận dạng ký tự siêu nhẹ chuyên biệt cho văn bản </a:t>
            </a:r>
            <a:r>
              <a:rPr i="1"/>
              <a:t>(PaddlePaddle 2025)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chuỗi đặc trưng ký tự cực nhanh trên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</a:t>
                      </a:r>
                      <a:r>
                        <a:rPr i="1"/>
                        <a:t>(Gated-Attention 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thông tin ngữ cảnh chuỗi ký tự trên ảnh crop cao 64px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 &amp; 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</a:t>
                      </a:r>
                      <a:r>
                        <a:rPr i="1"/>
                        <a:t>(Connectionist Temporal 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chuỗi ký tự không cần gán nhãn từng vạch đứng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· </a:t>
                      </a:r>
                      <a:r>
                        <a:rPr b="1"/>
                        <a:t>4,5 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94,83% accuracy từng ký tự</a:t>
                      </a:r>
                      <a:r>
                        <a:rPr/>
                        <a:t> trên vùng cắt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Sáu loại lỗi </a:t>
            </a:r>
            <a:r>
              <a:rPr b="1"/>
              <a:t>loại trừ lẫn nhau</a:t>
            </a:r>
            <a:r>
              <a:rPr/>
              <a:t>, mỗi ca sai gán đúng một loại — </a:t>
            </a:r>
            <a:r>
              <a:rPr b="1"/>
              <a:t>697 ca trên 2.801 biển (24,88%)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Loại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 ca 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Một dòng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Hai dòng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Bỏ sót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nhầm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(chưa đo)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Nhầm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63,85%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428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10,47%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Thừa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2,58%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Sai thứ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372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5 — Siêu tham số và 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Trích </a:t>
            </a:r>
            <a:r>
              <a:rPr>
                <a:latin typeface="Courier"/>
              </a:rPr>
              <a:t>runs/final-640-v3/args.yaml</a:t>
            </a:r>
            <a:r>
              <a:rPr/>
              <a:t> và </a:t>
            </a:r>
            <a:r>
              <a:rPr>
                <a:latin typeface="Courier"/>
              </a:rPr>
              <a:t>results.csv</a:t>
            </a:r>
            <a:r>
              <a:rPr/>
              <a:t> — bản ghi </a:t>
            </a:r>
            <a:r>
              <a:rPr i="1"/>
              <a:t>đã thực thi</a:t>
            </a:r>
            <a:r>
              <a:rPr/>
              <a:t>, không phải dự định.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tham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Giá trị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Hàm mất mát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Epoch 1 → 20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imgsz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epochs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640 px</a:t>
                      </a:r>
                      <a:r>
                        <a:rPr/>
                        <a:t> / </a:t>
                      </a:r>
                      <a:r>
                        <a:rPr b="1"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box_loss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1,252 → 0,809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batch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seed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8</a:t>
                      </a:r>
                      <a:r>
                        <a:rPr/>
                        <a:t> / </a:t>
                      </a:r>
                      <a:r>
                        <a:rPr b="1"/>
                        <a:t>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cls_loss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0,833 → 0,313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optimizer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lr0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AdamW</a:t>
                      </a:r>
                      <a:r>
                        <a:rPr/>
                        <a:t> / </a:t>
                      </a:r>
                      <a:r>
                        <a:rPr b="1"/>
                        <a:t>0,001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dfl_loss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1,154 → 0,987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device</a:t>
                      </a:r>
                      <a:r>
                        <a:rPr b="1"/>
                        <a:t> / tham số 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cpu</a:t>
                      </a:r>
                      <a:r>
                        <a:rPr/>
                        <a:t> / </a:t>
                      </a:r>
                      <a:r>
                        <a:rPr b="1"/>
                        <a:t>2.590.035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mAP@0,5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0,9684 → 0,9830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Thời gian huấn luyện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10,05 giờ</a:t>
                      </a:r>
                      <a:r>
                        <a:rPr/>
                        <a:t> </a:t>
                      </a:r>
                      <a:r>
                        <a:rPr i="1"/>
                        <a:t>(30,2 phút/epoch)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6 — Tài liệu tham khảo chính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Đầy đủ </a:t>
            </a:r>
            <a:r>
              <a:rPr b="1"/>
              <a:t>232 mục</a:t>
            </a:r>
            <a:r>
              <a:rPr/>
              <a:t> trong </a:t>
            </a:r>
            <a:r>
              <a:rPr>
                <a:latin typeface="Courier"/>
              </a:rPr>
              <a:t>docs/references.bib</a:t>
            </a:r>
            <a:r>
              <a:rPr/>
              <a:t> — dưới đây là các nguồn chống đỡ những khẳng định chính của bài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VISAPP </a:t>
                      </a:r>
                      <a:r>
                        <a:rPr b="1"/>
                        <a:t>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On the Cross-Dataset Generalization in License Plate Recognition</a:t>
                      </a:r>
                      <a:r>
                        <a:rPr/>
                        <a:t> — </a:t>
                      </a:r>
                      <a:r>
                        <a:rPr b="1"/>
                        <a:t>nguồn của cặp số 94,3% / 45,7%</a:t>
                      </a:r>
                      <a:r>
                        <a:rPr/>
                        <a:t>, đo trên RodoSol-ALPR của </a:t>
                      </a:r>
                      <a:r>
                        <a:rPr b="1"/>
                        <a:t>Brazil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IET ITS </a:t>
                      </a:r>
                      <a:r>
                        <a:rPr b="1"/>
                        <a:t>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An efficient and layout-independent ALPR system based on the YOLO detector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Du</a:t>
                      </a:r>
                      <a:r>
                        <a:rPr/>
                        <a:t> và cộng sự, arXiv </a:t>
                      </a:r>
                      <a:r>
                        <a:rPr b="1"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PP-OCR: A Practical Ultra Lightweight OCR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PaddlePaddle Team, arXiv </a:t>
                      </a:r>
                      <a:r>
                        <a:rPr b="1"/>
                        <a:t>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PaddleOCR 3.0 Technical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Jocher &amp; Qiu</a:t>
                      </a:r>
                      <a:r>
                        <a:rPr/>
                        <a:t>, Ultralytics </a:t>
                      </a:r>
                      <a:r>
                        <a:rPr b="1"/>
                        <a:t>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Ultralytics YOLO11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TT 79/2024/TT-BCA</a:t>
                      </a:r>
                      <a:r>
                        <a:rPr/>
                        <a:t> · </a:t>
                      </a:r>
                      <a:r>
                        <a:rPr b="1"/>
                        <a:t>TT 51/2025/TT-BCA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trúc biển, seri, màu nền · phụ lục mã tỉnh (34 tỉnh/thành)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QCVN 08:2024/BCA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Kích thước và tỉ lệ khung hình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7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0,723)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150 ms</a:t>
                      </a:r>
                      <a:r>
                        <a:rPr/>
                        <a:t> · p95 </a:t>
                      </a:r>
                      <a:r>
                        <a:rPr b="1"/>
                        <a:t>510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1.004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2026-08-30T14:41:52Z</dcterms:created>
  <dcterms:modified xsi:type="dcterms:W3CDTF">2026-08-30T14:41:52Z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