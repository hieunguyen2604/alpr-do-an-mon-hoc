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hyperlink" Target="mailto:mAP@0.5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13/2025 · TT 51/2025</a:t>
            </a:r>
            <a:r>
              <a:rPr/>
              <a:t> — sửa đổi TT 79/2024 · phụ lục mã tỉnh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phục hồi khi nhận dạng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kích hoạt </a:t>
            </a:r>
            <a:r>
              <a:rPr b="1"/>
              <a:t>sau khi nhận dạng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làm thay đổi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Cơ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biển phục hồi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chứng minh </a:t>
            </a:r>
            <a:r>
              <a:rPr b="1"/>
              <a:t>bước gộp chạy đúng</a:t>
            </a:r>
            <a:r>
              <a:rPr/>
              <a:t>, không chứng minh tập test hoàn toàn độc lập: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lưu vết đánh giá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nghẽn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0,7234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 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372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 thực nghiệm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23,07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0,7701)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Điểm nghẽn thời gian là OCR (</a:t>
            </a:r>
            <a:r>
              <a:rPr b="1"/>
              <a:t>64,3%</a:t>
            </a:r>
            <a:r>
              <a:rPr/>
              <a:t>); tầng phát hiện chiếm </a:t>
            </a:r>
            <a:r>
              <a:rPr b="1"/>
              <a:t>34,0%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Ước lượng ban đầu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146,63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suy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hoàn tất dưới 500 ms; độ trễ tập trung ở các ca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1.004/1.004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độc lập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5.337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bền vững qua khởi động lại</a:t>
            </a:r>
            <a:r>
              <a:rPr/>
              <a:t>: 7.977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đóng gói và xác minh hoàn chỉnh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tổng hợp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0,7701</a:t>
                      </a:r>
                      <a:r>
                        <a:rPr/>
                        <a:t> · đầu cuối </a:t>
                      </a: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(1.606 khung toàn cảnh, 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510 ms</a:t>
                      </a:r>
                      <a:r>
                        <a:rPr/>
                        <a:t> </a:t>
                      </a:r>
                      <a:r>
                        <a:rPr i="1"/>
                        <a:t>(mục tiêu 800)</a:t>
                      </a:r>
                      <a:r>
                        <a:rPr/>
                        <a:t> · video </a:t>
                      </a:r>
                      <a:r>
                        <a:rPr b="1"/>
                        <a:t>0,87×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khung hình </a:t>
                      </a:r>
                      <a:r>
                        <a:rPr b="1"/>
                        <a:t>5,63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 — đo ở tầng API </a:t>
                      </a:r>
                      <a:r>
                        <a:rPr i="1">
                          <a:latin typeface="Courier"/>
                        </a:rPr>
                        <a:t>POST /api/detect/frame</a:t>
                      </a:r>
                      <a:r>
                        <a:rPr i="1"/>
                        <a:t>, không qua trang web)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 minh họa trên môi trường thực tế: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Tình huống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Mục tiêu kiểm chứng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cơ bản, nhận dạng chính xác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phân tách hai nửa và ghép ngang chạy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và hiển thị lịch sử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0,7234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Độ chính xác đầu cuối chưa đo trên tập lớn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bộ dữ liệu đồng thời có ảnh toàn cảnh và nhãn chuỗi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Dữ liệu chủ yếu là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Nguồn công khai chưa đa dạng các loại biển hiếm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chưa mở rộng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Đánh giá tổng quát hóa chủ yếu trong cùng phân phối thu thập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Tập trung vào các điểm nghẽn đã xác định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số Việt Nam</a:t>
            </a:r>
          </a:p>
          <a:p>
            <a:pPr lvl="0" indent="0" marL="347663">
              <a:buAutoNum type="arabicPeriod"/>
            </a:pPr>
            <a:r>
              <a:rPr b="1"/>
              <a:t>Xây dựng tập nhãn chuỗi cho ảnh hiện trường</a:t>
            </a:r>
            <a:r>
              <a:rPr/>
              <a:t> để đo đạc độ chính xác đầu cuối hoàn chỉnh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Đánh giá kiểm thử </a:t>
            </a:r>
            <a:r>
              <a:rPr b="1"/>
              <a:t>xuyên bộ dữ liệu</a:t>
            </a:r>
            <a:r>
              <a:rPr/>
              <a:t> để đo tổng quát hóa ngoài phân phối</a:t>
            </a:r>
          </a:p>
          <a:p>
            <a:pPr lvl="0" indent="0" marL="347663">
              <a:buAutoNum startAt="3" type="arabicPeriod"/>
            </a:pPr>
            <a:r>
              <a:rPr/>
              <a:t>Xuất mô hình sang OpenVINO / ONNX Runtime để tối ưu hóa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</a:t>
            </a:r>
            <a:r>
              <a:rPr b="1"/>
              <a:t>5 tầng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 — mAP50 </a:t>
            </a:r>
            <a:r>
              <a:rPr b="1"/>
              <a:t>0,983</a:t>
            </a:r>
          </a:p>
          <a:p>
            <a:pPr lvl="0"/>
            <a:r>
              <a:rPr/>
              <a:t>Hậu xử lý </a:t>
            </a:r>
            <a:r>
              <a:rPr b="1"/>
              <a:t>+13,28 điểm</a:t>
            </a:r>
            <a:r>
              <a:rPr/>
              <a:t>, đo tách bạch</a:t>
            </a:r>
          </a:p>
          <a:p>
            <a:pPr lvl="0"/>
            <a:r>
              <a:rPr b="1"/>
              <a:t>1.004/1.004 kiểm thử</a:t>
            </a:r>
            <a:r>
              <a:rPr/>
              <a:t> đạt · bao phủ </a:t>
            </a:r>
            <a:r>
              <a:rPr b="1"/>
              <a:t>87,7%</a:t>
            </a:r>
          </a:p>
          <a:p>
            <a:pPr lvl="0"/>
            <a:r>
              <a:rPr/>
              <a:t>Định lượng riêng biển </a:t>
            </a:r>
            <a:r>
              <a:rPr b="1"/>
              <a:t>1 dòng</a:t>
            </a:r>
            <a:r>
              <a:rPr/>
              <a:t> và </a:t>
            </a:r>
            <a:r>
              <a:rPr b="1"/>
              <a:t>2 dòng</a:t>
            </a:r>
            <a:r>
              <a:rPr/>
              <a:t> trên cùng hệ thống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Nhóm thực hiện xin trân trọng cảm ơn Quý Thầy/Cô và Hội đồng.</a:t>
            </a:r>
          </a:p>
          <a:p>
            <a:pPr lvl="0" indent="0" marL="0">
              <a:buNone/>
            </a:pPr>
            <a:r>
              <a:rPr b="1"/>
              <a:t>Trân trọng kính mời Hội đồng đặt câu hỏi phản biện.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của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  <a:r>
                        <a:rPr/>
                        <a:t>; bố cục một/hai dòng được suy ra ở bước hậu xử lý theo tỷ lệ khung hình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94,83%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372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hlinkClick r:id="rId2"/>
                        </a:rPr>
                        <a:t>mAP@0.5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0,723)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150 ms</a:t>
                      </a:r>
                      <a:r>
                        <a:rPr/>
                        <a:t> · p95 </a:t>
                      </a:r>
                      <a:r>
                        <a:rPr b="1"/>
                        <a:t>510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2026-08-31T04:43:42Z</dcterms:created>
  <dcterms:modified xsi:type="dcterms:W3CDTF">2026-08-31T04:43:42Z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