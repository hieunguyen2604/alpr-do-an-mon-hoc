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Default Extension="fntdata" ContentType="application/x-fontdata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 autoCompressPictures="0" embedTrueTypeFonts="1" saveSubsetFonts="1" strictFirstAndLastChars="0">
  <p:sldMasterIdLst>
    <p:sldMasterId id="2147483648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</p:sldIdLst>
  <p:sldSz cx="12192000" cy="6858000"/>
  <p:notesSz cx="6858000" cy="9144000"/>
  <p:embeddedFontLst>
    <p:embeddedFont>
      <p:font typeface="Roboto"/>
      <p:regular r:id="rId33"/>
      <p:bold r:id="rId34"/>
      <p:italic r:id="rId35"/>
      <p:boldItalic r:id="rId36"/>
    </p:embeddedFont>
    <p:embeddedFont>
      <p:font typeface="Open Sans"/>
      <p:regular r:id="rId37"/>
      <p:bold r:id="rId38"/>
      <p:italic r:id="rId39"/>
      <p:boldItalic r:id="rId40"/>
    </p:embeddedFont>
  </p:embeddedFontLst>
  <p:defaultTextStyle>
    <a:defPPr algn="l" lvl="0" marR="0" rtl="0">
      <a:lnSpc>
        <a:spcPct val="100000"/>
      </a:lnSpc>
      <a:spcBef>
        <a:spcPts val="0"/>
      </a:spcBef>
      <a:spcAft>
        <a:spcPts val="0"/>
      </a:spcAft>
    </a:defPPr>
    <a:lvl1pPr algn="l" lvl="0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1pPr>
    <a:lvl2pPr algn="l" lvl="1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2pPr>
    <a:lvl3pPr algn="l" lvl="2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3pPr>
    <a:lvl4pPr algn="l" lvl="3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4pPr>
    <a:lvl5pPr algn="l" lvl="4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5pPr>
    <a:lvl6pPr algn="l" lvl="5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6pPr>
    <a:lvl7pPr algn="l" lvl="6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7pPr>
    <a:lvl8pPr algn="l" lvl="7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8pPr>
    <a:lvl9pPr algn="l" lvl="8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oundtripDataSignature="AMtx7mhu5dURU4INwSlvEO7StWDXKr50jg==" r:id="rId41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5BEF19B-5B1D-4A26-B267-ECC71EF7E2D4}">
  <a:tblStyle styleId="{45BEF19B-5B1D-4A26-B267-ECC71EF7E2D4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mpd="sng">
              <a:solidFill>
                <a:srgbClr val="7F7F7F"/>
              </a:solidFill>
            </a:ln>
          </a:left>
          <a:right>
            <a:ln w="12700" cmpd="sng">
              <a:solidFill>
                <a:srgbClr val="7F7F7F"/>
              </a:solidFill>
            </a:ln>
          </a:right>
          <a:top>
            <a:ln w="12700" cmpd="sng">
              <a:solidFill>
                <a:srgbClr val="7F7F7F"/>
              </a:solidFill>
            </a:ln>
          </a:top>
          <a:bottom>
            <a:ln w="12700" cmpd="sng">
              <a:solidFill>
                <a:srgbClr val="7F7F7F"/>
              </a:solidFill>
            </a:ln>
          </a:bottom>
          <a:insideH>
            <a:ln w="12700" cmpd="sng">
              <a:solidFill>
                <a:srgbClr val="7F7F7F"/>
              </a:solidFill>
            </a:ln>
          </a:insideH>
          <a:insideV>
            <a:ln w="12700" cmpd="sng">
              <a:solidFill>
                <a:srgbClr val="7F7F7F"/>
              </a:solidFill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  <a:tblStyle styleId="{EE219758-DFE7-4E60-9379-781288D8A987}" styleName="Table_1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BEBEB"/>
          </a:solidFill>
        </a:fill>
      </a:tcStyle>
    </a:wholeTbl>
    <a:band1H>
      <a:tcTxStyle/>
      <a:tcStyle>
        <a:fill>
          <a:solidFill>
            <a:srgbClr val="F8D4D4"/>
          </a:solidFill>
        </a:fill>
      </a:tcStyle>
    </a:band1H>
    <a:band2H>
      <a:tcTxStyle/>
    </a:band2H>
    <a:band1V>
      <a:tcTxStyle/>
      <a:tcStyle>
        <a:fill>
          <a:solidFill>
            <a:srgbClr val="F8D4D4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3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3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5" Type="http://schemas.openxmlformats.org/officeDocument/2006/relationships/slide" Target="slides/slide1.xml" /><Relationship Id="rId6" Type="http://schemas.openxmlformats.org/officeDocument/2006/relationships/slide" Target="slides/slide2.xml" /><Relationship Id="rId7" Type="http://schemas.openxmlformats.org/officeDocument/2006/relationships/slide" Target="slides/slide3.xml" /><Relationship Id="rId8" Type="http://schemas.openxmlformats.org/officeDocument/2006/relationships/slide" Target="slides/slide4.xml" /><Relationship Id="rId9" Type="http://schemas.openxmlformats.org/officeDocument/2006/relationships/slide" Target="slides/slide5.xml" /><Relationship Id="rId10" Type="http://schemas.openxmlformats.org/officeDocument/2006/relationships/slide" Target="slides/slide6.xml" /><Relationship Id="rId11" Type="http://schemas.openxmlformats.org/officeDocument/2006/relationships/slide" Target="slides/slide7.xml" /><Relationship Id="rId12" Type="http://schemas.openxmlformats.org/officeDocument/2006/relationships/slide" Target="slides/slide8.xml" /><Relationship Id="rId13" Type="http://schemas.openxmlformats.org/officeDocument/2006/relationships/slide" Target="slides/slide9.xml" /><Relationship Id="rId14" Type="http://schemas.openxmlformats.org/officeDocument/2006/relationships/slide" Target="slides/slide10.xml" /><Relationship Id="rId15" Type="http://schemas.openxmlformats.org/officeDocument/2006/relationships/slide" Target="slides/slide11.xml" /><Relationship Id="rId16" Type="http://schemas.openxmlformats.org/officeDocument/2006/relationships/slide" Target="slides/slide12.xml" /><Relationship Id="rId17" Type="http://schemas.openxmlformats.org/officeDocument/2006/relationships/slide" Target="slides/slide13.xml" /><Relationship Id="rId18" Type="http://schemas.openxmlformats.org/officeDocument/2006/relationships/slide" Target="slides/slide14.xml" /><Relationship Id="rId19" Type="http://schemas.openxmlformats.org/officeDocument/2006/relationships/slide" Target="slides/slide15.xml" /><Relationship Id="rId20" Type="http://schemas.openxmlformats.org/officeDocument/2006/relationships/slide" Target="slides/slide16.xml" /><Relationship Id="rId21" Type="http://schemas.openxmlformats.org/officeDocument/2006/relationships/slide" Target="slides/slide17.xml" /><Relationship Id="rId22" Type="http://schemas.openxmlformats.org/officeDocument/2006/relationships/slide" Target="slides/slide18.xml" /><Relationship Id="rId23" Type="http://schemas.openxmlformats.org/officeDocument/2006/relationships/slide" Target="slides/slide19.xml" /><Relationship Id="rId24" Type="http://schemas.openxmlformats.org/officeDocument/2006/relationships/slide" Target="slides/slide20.xml" /><Relationship Id="rId25" Type="http://schemas.openxmlformats.org/officeDocument/2006/relationships/slide" Target="slides/slide21.xml" /><Relationship Id="rId26" Type="http://schemas.openxmlformats.org/officeDocument/2006/relationships/slide" Target="slides/slide22.xml" /><Relationship Id="rId27" Type="http://schemas.openxmlformats.org/officeDocument/2006/relationships/slide" Target="slides/slide23.xml" /><Relationship Id="rId28" Type="http://schemas.openxmlformats.org/officeDocument/2006/relationships/slide" Target="slides/slide24.xml" /><Relationship Id="rId29" Type="http://schemas.openxmlformats.org/officeDocument/2006/relationships/slide" Target="slides/slide25.xml" /><Relationship Id="rId30" Type="http://schemas.openxmlformats.org/officeDocument/2006/relationships/slide" Target="slides/slide26.xml" /><Relationship Id="rId31" Type="http://schemas.openxmlformats.org/officeDocument/2006/relationships/slide" Target="slides/slide27.xml" /><Relationship Id="rId32" Type="http://schemas.openxmlformats.org/officeDocument/2006/relationships/slide" Target="slides/slide28.xml" /><Relationship Id="rId1" Type="http://schemas.openxmlformats.org/officeDocument/2006/relationships/theme" Target="theme/theme1.xml" /><Relationship Id="rId2" Type="http://schemas.openxmlformats.org/officeDocument/2006/relationships/presProps" Target="presProps.xml" /><Relationship Id="rId3" Type="http://schemas.openxmlformats.org/officeDocument/2006/relationships/tableStyles" Target="tableStyles.xml" /><Relationship Id="rId4" Type="http://schemas.openxmlformats.org/officeDocument/2006/relationships/slideMaster" Target="slideMasters/slideMaster1.xml" /><Relationship Id="rId34" Type="http://schemas.openxmlformats.org/officeDocument/2006/relationships/font" Target="fonts/Roboto-bold.fntdata" /><Relationship Id="rId33" Type="http://schemas.openxmlformats.org/officeDocument/2006/relationships/font" Target="fonts/Roboto-regular.fntdata" /><Relationship Id="rId36" Type="http://schemas.openxmlformats.org/officeDocument/2006/relationships/font" Target="fonts/Roboto-boldItalic.fntdata" /><Relationship Id="rId35" Type="http://schemas.openxmlformats.org/officeDocument/2006/relationships/font" Target="fonts/Roboto-italic.fntdata" /><Relationship Id="rId37" Type="http://schemas.openxmlformats.org/officeDocument/2006/relationships/font" Target="fonts/OpenSans-regular.fntdata" /><Relationship Id="rId39" Type="http://schemas.openxmlformats.org/officeDocument/2006/relationships/font" Target="fonts/OpenSans-italic.fntdata" /><Relationship Id="rId38" Type="http://schemas.openxmlformats.org/officeDocument/2006/relationships/font" Target="fonts/OpenSans-bold.fntdata" /><Relationship Id="rId41" Type="http://customschemas.google.com/relationships/presentationmetadata" Target="metadata" /><Relationship Id="rId40" Type="http://schemas.openxmlformats.org/officeDocument/2006/relationships/font" Target="fonts/OpenSans-boldItalic.fntdata" /></Relationship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">
  <p:cSld name="Title Slid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" name="Google Shape;19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0" name="Google Shape;20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" name="Google Shape;21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2" name="Google Shape;22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3" name="Google Shape;23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4" name="Google Shape;24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5" name="Google Shape;25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6" name="Google Shape;26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7" name="Google Shape;27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8" name="Google Shape;28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30" name="Google Shape;30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32" name="Google Shape;32;p21"/>
          <p:cNvSpPr/>
          <p:nvPr/>
        </p:nvSpPr>
        <p:spPr>
          <a:xfrm>
            <a:off x="105836" y="6604291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4400"/>
              <a:buNone/>
              <a:defRPr b="1" sz="4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" name="Google Shape;35;p21"/>
          <p:cNvSpPr txBox="1"/>
          <p:nvPr>
            <p:ph type="subTitle" idx="1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800"/>
              <a:buNone/>
              <a:defRPr b="1" sz="28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21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21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A5A5A5"/>
              </a:buClr>
              <a:buSzPts val="1200"/>
              <a:buNone/>
              <a:defRPr sz="1200">
                <a:solidFill>
                  <a:srgbClr val="A5A5A5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1" name="Google Shape;41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2" name="Google Shape;42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" name="Google Shape;43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4" name="Google Shape;44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" name="Google Shape;45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" name="Google Shape;46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7" name="Google Shape;47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" name="Google Shape;48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" name="Google Shape;49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50" name="Google Shape;50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52" name="Google Shape;52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Mục lục">
  <p:cSld name="2_Mục lục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6" name="Google Shape;56;p2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57" name="Google Shape;57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8" name="Google Shape;58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9" name="Google Shape;59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60" name="Google Shape;60;p22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61" name="Google Shape;61;p22"/>
          <p:cNvGrpSpPr/>
          <p:nvPr/>
        </p:nvGrpSpPr>
        <p:grpSpPr>
          <a:xfrm>
            <a:off x="-1259888" y="1121391"/>
            <a:ext cx="4841288" cy="5054000"/>
            <a:chOff x="-1259888" y="901609"/>
            <a:chExt cx="4841288" cy="5054000"/>
          </a:xfrm>
        </p:grpSpPr>
        <p:grpSp>
          <p:nvGrpSpPr>
            <p:cNvPr id="62" name="Google Shape;62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63" name="Google Shape;63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4" name="Google Shape;64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5" name="Google Shape;65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66" name="Google Shape;66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67" name="Google Shape;67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68" name="Google Shape;68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9" name="Google Shape;69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0" name="Google Shape;70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71" name="Google Shape;71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72" name="Google Shape;72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73" name="Google Shape;73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4" name="Google Shape;74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5" name="Google Shape;75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6" name="Google Shape;76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77" name="Google Shape;77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78" name="Google Shape;78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9" name="Google Shape;79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0" name="Google Shape;80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1" name="Google Shape;81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82" name="Google Shape;82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83" name="Google Shape;83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4" name="Google Shape;84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5" name="Google Shape;85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86" name="Google Shape;86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87" name="Google Shape;87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88" name="Google Shape;88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9" name="Google Shape;89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0" name="Google Shape;90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1" name="Google Shape;91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92" name="Google Shape;92;p22"/>
          <p:cNvGrpSpPr/>
          <p:nvPr/>
        </p:nvGrpSpPr>
        <p:grpSpPr>
          <a:xfrm flipH="1">
            <a:off x="8607643" y="1121391"/>
            <a:ext cx="4841288" cy="5054000"/>
            <a:chOff x="-1259888" y="901609"/>
            <a:chExt cx="4841288" cy="5054000"/>
          </a:xfrm>
        </p:grpSpPr>
        <p:grpSp>
          <p:nvGrpSpPr>
            <p:cNvPr id="93" name="Google Shape;93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94" name="Google Shape;94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5" name="Google Shape;95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6" name="Google Shape;96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7" name="Google Shape;97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98" name="Google Shape;98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99" name="Google Shape;99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0" name="Google Shape;100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1" name="Google Shape;101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02" name="Google Shape;102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03" name="Google Shape;103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104" name="Google Shape;104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05" name="Google Shape;105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6" name="Google Shape;106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7" name="Google Shape;107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08" name="Google Shape;108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109" name="Google Shape;109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10" name="Google Shape;110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1" name="Google Shape;111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2" name="Google Shape;112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13" name="Google Shape;113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114" name="Google Shape;114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5" name="Google Shape;115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6" name="Google Shape;116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17" name="Google Shape;117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18" name="Google Shape;118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119" name="Google Shape;119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0" name="Google Shape;120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1" name="Google Shape;121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22" name="Google Shape;122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123" name="Google Shape;123;p22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22"/>
          <p:cNvSpPr txBox="1"/>
          <p:nvPr>
            <p:ph idx="12" type="sldNum"/>
          </p:nvPr>
        </p:nvSpPr>
        <p:spPr>
          <a:xfrm>
            <a:off x="11900400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25" name="Google Shape;125;p22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NỘI DUNG</a:t>
            </a:r>
            <a:endParaRPr/>
          </a:p>
        </p:txBody>
      </p:sp>
      <p:sp>
        <p:nvSpPr>
          <p:cNvPr id="126" name="Google Shape;126;p22"/>
          <p:cNvSpPr txBox="1"/>
          <p:nvPr>
            <p:ph idx="1" type="body"/>
          </p:nvPr>
        </p:nvSpPr>
        <p:spPr>
          <a:xfrm>
            <a:off x="2735144" y="1286346"/>
            <a:ext cx="6721714" cy="4699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3683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Calibri"/>
              <a:buAutoNum type="arabicPeriod"/>
              <a:defRPr sz="22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7" name="Google Shape;127;p2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28" name="Google Shape;128;p2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129" name="Google Shape;129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0" name="Google Shape;130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1" name="Google Shape;131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pic>
        <p:nvPicPr>
          <p:cNvPr descr="A picture containing clipart, vector graphics&#10;&#10;Description automatically generated" id="132" name="Google Shape;132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22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" type="obj">
  <p:cSld name="Title and Content"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3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23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37" name="Google Shape;137;p23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38" name="Google Shape;138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9" name="Google Shape;139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40" name="Google Shape;140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41" name="Google Shape;141;p23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3" name="Google Shape;143;p23"/>
          <p:cNvSpPr txBox="1"/>
          <p:nvPr>
            <p:ph idx="1"/>
          </p:nvPr>
        </p:nvSpPr>
        <p:spPr>
          <a:xfrm>
            <a:off x="774145" y="1233824"/>
            <a:ext cx="10579654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4" name="Google Shape;144;p23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45" name="Google Shape;145;p23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46" name="Google Shape;146;p23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7" name="Google Shape;147;p23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8" name="Google Shape;148;p23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9" name="Google Shape;149;p23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0" name="Google Shape;150;p23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1" name="Google Shape;151;p23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52" name="Google Shape;152;p23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3" name="Google Shape;153;p23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23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56" name="Google Shape;156;p23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57" name="Google Shape;157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8" name="Google Shape;158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9" name="Google Shape;159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 2">
  <p:cSld name="Noi dung 2"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4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2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63" name="Google Shape;163;p24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64" name="Google Shape;164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5" name="Google Shape;165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6" name="Google Shape;166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67" name="Google Shape;167;p2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24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9" name="Google Shape;169;p24"/>
          <p:cNvSpPr txBox="1"/>
          <p:nvPr>
            <p:ph idx="1" type="body"/>
          </p:nvPr>
        </p:nvSpPr>
        <p:spPr>
          <a:xfrm>
            <a:off x="774144" y="2113808"/>
            <a:ext cx="3932227" cy="40631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0" name="Google Shape;170;p24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71" name="Google Shape;171;p24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72" name="Google Shape;172;p24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3" name="Google Shape;173;p24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4" name="Google Shape;174;p24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5" name="Google Shape;175;p24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6" name="Google Shape;176;p24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7" name="Google Shape;177;p24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78" name="Google Shape;178;p24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9" name="Google Shape;179;p24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82" name="Google Shape;182;p24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83" name="Google Shape;183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4" name="Google Shape;184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5" name="Google Shape;185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86" name="Google Shape;186;p24"/>
          <p:cNvSpPr txBox="1"/>
          <p:nvPr>
            <p:ph idx="2" type="body"/>
          </p:nvPr>
        </p:nvSpPr>
        <p:spPr>
          <a:xfrm>
            <a:off x="5085934" y="202009"/>
            <a:ext cx="6267866" cy="59696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ống" type="blank">
  <p:cSld name="Blank"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5"/>
          <p:cNvSpPr txBox="1"/>
          <p:nvPr>
            <p:ph idx="11" type="ftr"/>
          </p:nvPr>
        </p:nvSpPr>
        <p:spPr>
          <a:xfrm>
            <a:off x="3684104" y="6481647"/>
            <a:ext cx="482379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9" name="Google Shape;189;p25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25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1" name="Google Shape;191;p25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192" name="Google Shape;192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3" name="Google Shape;193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4" name="Google Shape;194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95" name="Google Shape;195;p25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6" name="Google Shape;196;p25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197" name="Google Shape;197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8" name="Google Shape;198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9" name="Google Shape;199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00" name="Google Shape;200;p25"/>
          <p:cNvSpPr/>
          <p:nvPr/>
        </p:nvSpPr>
        <p:spPr>
          <a:xfrm>
            <a:off x="11926541" y="6589084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25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25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25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25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25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25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207" name="Google Shape;207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25"/>
          <p:cNvSpPr txBox="1"/>
          <p:nvPr>
            <p:ph idx="12" type="sldNum"/>
          </p:nvPr>
        </p:nvSpPr>
        <p:spPr>
          <a:xfrm>
            <a:off x="11897699" y="656024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9" name="Google Shape;209;p25"/>
          <p:cNvSpPr txBox="1"/>
          <p:nvPr>
            <p:ph idx="10" type="dt"/>
          </p:nvPr>
        </p:nvSpPr>
        <p:spPr>
          <a:xfrm>
            <a:off x="838200" y="6481647"/>
            <a:ext cx="2148299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êu đề chương">
  <p:cSld name="3_Tiêu đề chương"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211" name="Google Shape;211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26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26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4" name="Google Shape;214;p26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15" name="Google Shape;215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6" name="Google Shape;216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7" name="Google Shape;217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18" name="Google Shape;218;p26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9" name="Google Shape;219;p26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20" name="Google Shape;220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1" name="Google Shape;221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2" name="Google Shape;222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23" name="Google Shape;223;p26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26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5" name="Google Shape;225;p26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6" name="Google Shape;226;p26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26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28" name="Google Shape;228;p26"/>
          <p:cNvSpPr/>
          <p:nvPr>
            <p:ph idx="1" type="body"/>
          </p:nvPr>
        </p:nvSpPr>
        <p:spPr>
          <a:xfrm>
            <a:off x="1704109" y="3019167"/>
            <a:ext cx="4583866" cy="1439258"/>
          </a:xfrm>
          <a:prstGeom prst="roundRect">
            <a:avLst>
              <a:gd fmla="val 2631" name="adj"/>
            </a:avLst>
          </a:prstGeom>
          <a:solidFill>
            <a:srgbClr val="F2F2F2"/>
          </a:solidFill>
          <a:ln cap="rnd" cmpd="sng" w="19050">
            <a:solidFill>
              <a:srgbClr val="00C6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72FF"/>
              </a:buClr>
              <a:buSzPts val="2000"/>
              <a:buNone/>
              <a:defRPr b="1" i="0" sz="2000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grpSp>
        <p:nvGrpSpPr>
          <p:cNvPr id="229" name="Google Shape;229;p26"/>
          <p:cNvGrpSpPr/>
          <p:nvPr/>
        </p:nvGrpSpPr>
        <p:grpSpPr>
          <a:xfrm>
            <a:off x="-1" y="4458425"/>
            <a:ext cx="8647103" cy="664514"/>
            <a:chOff x="-349411" y="1322122"/>
            <a:chExt cx="8647103" cy="664514"/>
          </a:xfrm>
        </p:grpSpPr>
        <p:cxnSp>
          <p:nvCxnSpPr>
            <p:cNvPr id="230" name="Google Shape;230;p26"/>
            <p:cNvCxnSpPr/>
            <p:nvPr/>
          </p:nvCxnSpPr>
          <p:spPr>
            <a:xfrm>
              <a:off x="-349411" y="1986636"/>
              <a:ext cx="6360520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1" name="Google Shape;231;p26"/>
            <p:cNvCxnSpPr/>
            <p:nvPr/>
          </p:nvCxnSpPr>
          <p:spPr>
            <a:xfrm flipH="1" rot="10800000">
              <a:off x="6011109" y="1480500"/>
              <a:ext cx="591405" cy="506136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2" name="Google Shape;232;p26"/>
            <p:cNvCxnSpPr/>
            <p:nvPr/>
          </p:nvCxnSpPr>
          <p:spPr>
            <a:xfrm>
              <a:off x="6602514" y="1480500"/>
              <a:ext cx="1378423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33" name="Google Shape;233;p26"/>
            <p:cNvSpPr/>
            <p:nvPr/>
          </p:nvSpPr>
          <p:spPr>
            <a:xfrm>
              <a:off x="7980937" y="1322122"/>
              <a:ext cx="316755" cy="316755"/>
            </a:xfrm>
            <a:prstGeom prst="ellipse">
              <a:avLst/>
            </a:prstGeom>
            <a:gradFill>
              <a:gsLst>
                <a:gs pos="0">
                  <a:srgbClr val="00F7FF"/>
                </a:gs>
                <a:gs pos="100000">
                  <a:srgbClr val="00C6FF"/>
                </a:gs>
              </a:gsLst>
              <a:lin ang="27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34" name="Google Shape;234;p26"/>
          <p:cNvSpPr/>
          <p:nvPr/>
        </p:nvSpPr>
        <p:spPr>
          <a:xfrm>
            <a:off x="796022" y="2736380"/>
            <a:ext cx="2019600" cy="2019600"/>
          </a:xfrm>
          <a:prstGeom prst="ellipse">
            <a:avLst/>
          </a:prstGeom>
          <a:gradFill>
            <a:gsLst>
              <a:gs pos="0">
                <a:srgbClr val="00C6FF"/>
              </a:gs>
              <a:gs pos="100000">
                <a:srgbClr val="0072FF"/>
              </a:gs>
            </a:gsLst>
            <a:lin ang="5400000" scaled="0"/>
          </a:gradFill>
          <a:ln cap="flat" cmpd="sng" w="12700">
            <a:solidFill>
              <a:srgbClr val="00C6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p26"/>
          <p:cNvSpPr/>
          <p:nvPr>
            <p:ph idx="2" type="pic"/>
          </p:nvPr>
        </p:nvSpPr>
        <p:spPr>
          <a:xfrm>
            <a:off x="690326" y="2728996"/>
            <a:ext cx="2020888" cy="2019600"/>
          </a:xfrm>
          <a:prstGeom prst="ellipse">
            <a:avLst/>
          </a:prstGeom>
          <a:solidFill>
            <a:schemeClr val="lt1"/>
          </a:solidFill>
          <a:ln cap="flat" cmpd="sng" w="1905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sx="102000" rotWithShape="0" algn="ctr" sy="102000">
              <a:srgbClr val="000000">
                <a:alpha val="40000"/>
              </a:srgbClr>
            </a:outerShdw>
          </a:effectLst>
        </p:spPr>
      </p:sp>
      <p:sp>
        <p:nvSpPr>
          <p:cNvPr id="236" name="Google Shape;236;p26"/>
          <p:cNvSpPr txBox="1"/>
          <p:nvPr>
            <p:ph idx="3" type="body"/>
          </p:nvPr>
        </p:nvSpPr>
        <p:spPr>
          <a:xfrm>
            <a:off x="2711214" y="2263753"/>
            <a:ext cx="3576761" cy="6220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3600"/>
              <a:buNone/>
              <a:defRPr b="1" sz="36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Mục lục">
  <p:cSld name="1_Mục lục"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27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39" name="Google Shape;239;p27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240" name="Google Shape;240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1" name="Google Shape;241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2" name="Google Shape;242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43" name="Google Shape;243;p27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244" name="Google Shape;244;p27"/>
          <p:cNvGrpSpPr/>
          <p:nvPr/>
        </p:nvGrpSpPr>
        <p:grpSpPr>
          <a:xfrm>
            <a:off x="-2323526" y="1121391"/>
            <a:ext cx="4841288" cy="5054000"/>
            <a:chOff x="-1259888" y="901609"/>
            <a:chExt cx="4841288" cy="5054000"/>
          </a:xfrm>
        </p:grpSpPr>
        <p:grpSp>
          <p:nvGrpSpPr>
            <p:cNvPr id="245" name="Google Shape;245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46" name="Google Shape;246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7" name="Google Shape;247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8" name="Google Shape;248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49" name="Google Shape;249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0" name="Google Shape;250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51" name="Google Shape;251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2" name="Google Shape;252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3" name="Google Shape;253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54" name="Google Shape;254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5" name="Google Shape;255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56" name="Google Shape;256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57" name="Google Shape;257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8" name="Google Shape;258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9" name="Google Shape;259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0" name="Google Shape;260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61" name="Google Shape;261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62" name="Google Shape;262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3" name="Google Shape;263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4" name="Google Shape;264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5" name="Google Shape;265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66" name="Google Shape;266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7" name="Google Shape;267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8" name="Google Shape;268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69" name="Google Shape;269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70" name="Google Shape;270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271" name="Google Shape;271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2" name="Google Shape;272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3" name="Google Shape;273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74" name="Google Shape;274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275" name="Google Shape;275;p27"/>
          <p:cNvGrpSpPr/>
          <p:nvPr/>
        </p:nvGrpSpPr>
        <p:grpSpPr>
          <a:xfrm flipH="1">
            <a:off x="9674240" y="1121391"/>
            <a:ext cx="4841288" cy="5054000"/>
            <a:chOff x="-1259888" y="901609"/>
            <a:chExt cx="4841288" cy="5054000"/>
          </a:xfrm>
        </p:grpSpPr>
        <p:grpSp>
          <p:nvGrpSpPr>
            <p:cNvPr id="276" name="Google Shape;276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77" name="Google Shape;277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8" name="Google Shape;278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9" name="Google Shape;279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0" name="Google Shape;280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1" name="Google Shape;281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82" name="Google Shape;282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3" name="Google Shape;283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4" name="Google Shape;284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5" name="Google Shape;285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6" name="Google Shape;286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87" name="Google Shape;287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88" name="Google Shape;288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9" name="Google Shape;289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0" name="Google Shape;290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1" name="Google Shape;291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92" name="Google Shape;292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93" name="Google Shape;293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4" name="Google Shape;294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5" name="Google Shape;295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6" name="Google Shape;296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97" name="Google Shape;297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8" name="Google Shape;298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9" name="Google Shape;299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0" name="Google Shape;300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01" name="Google Shape;301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302" name="Google Shape;302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3" name="Google Shape;303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4" name="Google Shape;304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5" name="Google Shape;305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306" name="Google Shape;306;p27"/>
          <p:cNvSpPr/>
          <p:nvPr/>
        </p:nvSpPr>
        <p:spPr>
          <a:xfrm>
            <a:off x="82718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Google Shape;307;p27"/>
          <p:cNvSpPr txBox="1"/>
          <p:nvPr>
            <p:ph idx="12" type="sldNum"/>
          </p:nvPr>
        </p:nvSpPr>
        <p:spPr>
          <a:xfrm>
            <a:off x="58527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08" name="Google Shape;308;p27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36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09" name="Google Shape;309;p27"/>
          <p:cNvSpPr txBox="1"/>
          <p:nvPr>
            <p:ph idx="1" type="body"/>
          </p:nvPr>
        </p:nvSpPr>
        <p:spPr>
          <a:xfrm>
            <a:off x="2033899" y="1559014"/>
            <a:ext cx="8124204" cy="41536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rabicPeriod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0" name="Google Shape;310;p27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11" name="Google Shape;311;p27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312" name="Google Shape;312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3" name="Google Shape;313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4" name="Google Shape;314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15" name="Google Shape;315;p27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27"/>
          <p:cNvSpPr txBox="1"/>
          <p:nvPr>
            <p:ph idx="2" type="body"/>
          </p:nvPr>
        </p:nvSpPr>
        <p:spPr>
          <a:xfrm>
            <a:off x="4859729" y="734646"/>
            <a:ext cx="2714625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27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 chương">
  <p:cSld name="Section Header"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319" name="Google Shape;319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20" name="Google Shape;320;p28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2" name="Google Shape;322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23" name="Google Shape;32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4" name="Google Shape;32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5" name="Google Shape;32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26" name="Google Shape;326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7" name="Google Shape;327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28" name="Google Shape;32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29" name="Google Shape;32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30" name="Google Shape;33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31" name="Google Shape;331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28"/>
          <p:cNvSpPr txBox="1"/>
          <p:nvPr>
            <p:ph type="title"/>
          </p:nvPr>
        </p:nvSpPr>
        <p:spPr>
          <a:xfrm>
            <a:off x="1470929" y="2095027"/>
            <a:ext cx="9941071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3" name="Google Shape;333;p28"/>
          <p:cNvSpPr txBox="1"/>
          <p:nvPr>
            <p:ph type="body" idx="1"/>
          </p:nvPr>
        </p:nvSpPr>
        <p:spPr>
          <a:xfrm>
            <a:off x="1470930" y="3169159"/>
            <a:ext cx="9941070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4" name="Google Shape;334;p28"/>
          <p:cNvSpPr txBox="1"/>
          <p:nvPr>
            <p:ph idx="3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5" name="Google Shape;335;p28"/>
          <p:cNvSpPr txBox="1"/>
          <p:nvPr>
            <p:ph idx="4" type="body"/>
          </p:nvPr>
        </p:nvSpPr>
        <p:spPr>
          <a:xfrm>
            <a:off x="8896576" y="5231902"/>
            <a:ext cx="2521280" cy="15778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12000"/>
              <a:buNone/>
              <a:defRPr b="1" sz="120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36" name="Google Shape;336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37" name="Google Shape;337;p28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8" name="Google Shape;338;p28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39" name="Google Shape;339;p28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40" name="Google Shape;340;p28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1" name="Google Shape;341;p28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2" name="Google Shape;342;p28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3" name="Google Shape;343;p28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4" name="Google Shape;344;p28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5" name="Google Shape;345;p28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46" name="Google Shape;346;p28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7" name="Google Shape;347;p28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descr="Background pattern&#10;&#10;Description automatically generated" id="348" name="Google Shape;348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49" name="Google Shape;349;p2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28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28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28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28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28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28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57" name="Google Shape;357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58" name="Google Shape;35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59" name="Google Shape;35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60" name="Google Shape;36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61" name="Google Shape;361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62" name="Google Shape;362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63" name="Google Shape;36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4" name="Google Shape;36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5" name="Google Shape;36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66" name="Google Shape;366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28"/>
          <p:cNvSpPr txBox="1"/>
          <p:nvPr>
            <p:ph idx="5" type="sldNum"/>
          </p:nvPr>
        </p:nvSpPr>
        <p:spPr>
          <a:xfrm>
            <a:off x="1189939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68" name="Google Shape;368;p28"/>
          <p:cNvSpPr txBox="1"/>
          <p:nvPr>
            <p:ph idx="6" type="body"/>
          </p:nvPr>
        </p:nvSpPr>
        <p:spPr>
          <a:xfrm>
            <a:off x="1470930" y="2095027"/>
            <a:ext cx="6264164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9" name="Google Shape;369;p28"/>
          <p:cNvSpPr txBox="1"/>
          <p:nvPr>
            <p:ph idx="7" type="body"/>
          </p:nvPr>
        </p:nvSpPr>
        <p:spPr>
          <a:xfrm>
            <a:off x="1470930" y="3169159"/>
            <a:ext cx="8913813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0" name="Google Shape;370;p28"/>
          <p:cNvSpPr txBox="1"/>
          <p:nvPr>
            <p:ph idx="8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71" name="Google Shape;371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1">
  <p:cSld name="Two Content"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29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29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75" name="Google Shape;375;p29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376" name="Google Shape;376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7" name="Google Shape;377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8" name="Google Shape;378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79" name="Google Shape;379;p29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29"/>
          <p:cNvSpPr txBox="1"/>
          <p:nvPr>
            <p:ph sz="half" idx="1"/>
          </p:nvPr>
        </p:nvSpPr>
        <p:spPr>
          <a:xfrm>
            <a:off x="774144" y="1233825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1" name="Google Shape;381;p29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82" name="Google Shape;382;p29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83" name="Google Shape;383;p29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4" name="Google Shape;384;p29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" name="Google Shape;385;p29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" name="Google Shape;386;p29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7" name="Google Shape;387;p29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8" name="Google Shape;388;p29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89" name="Google Shape;389;p29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0" name="Google Shape;390;p29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29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" name="Google Shape;392;p29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393" name="Google Shape;393;p29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394" name="Google Shape;394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5" name="Google Shape;395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6" name="Google Shape;396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97" name="Google Shape;397;p29"/>
          <p:cNvSpPr txBox="1"/>
          <p:nvPr>
            <p:ph sz="half" idx="2"/>
          </p:nvPr>
        </p:nvSpPr>
        <p:spPr>
          <a:xfrm>
            <a:off x="6151800" y="1228490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98" name="Google Shape;398;p29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2">
  <p:cSld name="Comparison">
    <p:spTree>
      <p:nvGrpSpPr>
        <p:cNvPr id="399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30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30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02" name="Google Shape;402;p30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03" name="Google Shape;403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4" name="Google Shape;404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5" name="Google Shape;405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06" name="Google Shape;406;p30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30"/>
          <p:cNvSpPr txBox="1"/>
          <p:nvPr>
            <p:ph sz="half" idx="2"/>
          </p:nvPr>
        </p:nvSpPr>
        <p:spPr>
          <a:xfrm>
            <a:off x="774144" y="1962615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8" name="Google Shape;408;p30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09" name="Google Shape;409;p30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10" name="Google Shape;410;p30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1" name="Google Shape;411;p30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2" name="Google Shape;412;p30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3" name="Google Shape;413;p30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4" name="Google Shape;414;p30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5" name="Google Shape;415;p30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16" name="Google Shape;416;p30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7" name="Google Shape;417;p30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30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9" name="Google Shape;419;p30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20" name="Google Shape;420;p30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21" name="Google Shape;421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2" name="Google Shape;422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3" name="Google Shape;423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24" name="Google Shape;424;p30"/>
          <p:cNvSpPr txBox="1"/>
          <p:nvPr>
            <p:ph sz="quarter" idx="4"/>
          </p:nvPr>
        </p:nvSpPr>
        <p:spPr>
          <a:xfrm>
            <a:off x="6151800" y="1957280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5" name="Google Shape;425;p30"/>
          <p:cNvSpPr txBox="1"/>
          <p:nvPr>
            <p:ph type="body" idx="1"/>
          </p:nvPr>
        </p:nvSpPr>
        <p:spPr>
          <a:xfrm>
            <a:off x="774144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6" name="Google Shape;426;p30"/>
          <p:cNvSpPr txBox="1"/>
          <p:nvPr>
            <p:ph type="body" sz="quarter" idx="3"/>
          </p:nvPr>
        </p:nvSpPr>
        <p:spPr>
          <a:xfrm>
            <a:off x="6151006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7" name="Google Shape;427;p30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Hình ảnh">
  <p:cSld name="Content with Caption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31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3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31" name="Google Shape;431;p31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32" name="Google Shape;432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3" name="Google Shape;433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4" name="Google Shape;434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35" name="Google Shape;435;p3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7" name="Google Shape;437;p31"/>
          <p:cNvSpPr txBox="1"/>
          <p:nvPr>
            <p:ph type="body" sz="half" idx="2"/>
          </p:nvPr>
        </p:nvSpPr>
        <p:spPr>
          <a:xfrm>
            <a:off x="771525" y="1066800"/>
            <a:ext cx="10582275" cy="1181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38" name="Google Shape;438;p31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39" name="Google Shape;439;p31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40" name="Google Shape;440;p31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1" name="Google Shape;441;p31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2" name="Google Shape;442;p31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" name="Google Shape;443;p31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4" name="Google Shape;444;p31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5" name="Google Shape;445;p31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46" name="Google Shape;446;p31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7" name="Google Shape;447;p31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31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50" name="Google Shape;450;p31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51" name="Google Shape;451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2" name="Google Shape;452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3" name="Google Shape;453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4" name="Google Shape;454;p31"/>
          <p:cNvSpPr/>
          <p:nvPr>
            <p:ph idx="1"/>
          </p:nvPr>
        </p:nvSpPr>
        <p:spPr>
          <a:xfrm>
            <a:off x="771525" y="2324100"/>
            <a:ext cx="10582275" cy="3848100"/>
          </a:xfrm>
          <a:prstGeom prst="roundRect">
            <a:avLst>
              <a:gd fmla="val 574" name="adj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1">
  <p:cSld name="Trang trong 1">
    <p:spTree>
      <p:nvGrpSpPr>
        <p:cNvPr id="455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3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57" name="Google Shape;457;p3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458" name="Google Shape;458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59" name="Google Shape;459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60" name="Google Shape;460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61" name="Google Shape;461;p32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2" name="Google Shape;462;p32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63" name="Google Shape;463;p3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4" name="Google Shape;464;p3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465" name="Google Shape;465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6" name="Google Shape;466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7" name="Google Shape;467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68" name="Google Shape;468;p32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32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0" name="Google Shape;470;p32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2">
  <p:cSld name="Trang trong 2">
    <p:spTree>
      <p:nvGrpSpPr>
        <p:cNvPr id="47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Google Shape;472;p33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3" name="Google Shape;473;p33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êu đề">
  <p:cSld name="1_Tiêu đề">
    <p:spTree>
      <p:nvGrpSpPr>
        <p:cNvPr id="474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34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6" name="Google Shape;476;p34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3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78" name="Google Shape;478;p34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79" name="Google Shape;479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0" name="Google Shape;480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1" name="Google Shape;481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82" name="Google Shape;482;p3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83" name="Google Shape;483;p34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84" name="Google Shape;484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5" name="Google Shape;485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6" name="Google Shape;486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87" name="Google Shape;487;p34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34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489" name="Google Shape;489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490" name="Google Shape;490;p34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491" name="Google Shape;491;p34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2" name="Google Shape;492;p34"/>
          <p:cNvSpPr txBox="1"/>
          <p:nvPr>
            <p:ph idx="12" type="sldNum"/>
          </p:nvPr>
        </p:nvSpPr>
        <p:spPr>
          <a:xfrm>
            <a:off x="11894359" y="6566401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93" name="Google Shape;493;p34"/>
          <p:cNvSpPr txBox="1"/>
          <p:nvPr>
            <p:ph idx="1" type="body"/>
          </p:nvPr>
        </p:nvSpPr>
        <p:spPr>
          <a:xfrm>
            <a:off x="1850807" y="2208158"/>
            <a:ext cx="8490387" cy="69616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4400"/>
              <a:buNone/>
              <a:defRPr b="1" sz="4400"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4" name="Google Shape;494;p34"/>
          <p:cNvSpPr txBox="1"/>
          <p:nvPr>
            <p:ph idx="2" type="body"/>
          </p:nvPr>
        </p:nvSpPr>
        <p:spPr>
          <a:xfrm>
            <a:off x="876991" y="3039455"/>
            <a:ext cx="10438019" cy="45944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000"/>
              <a:buNone/>
              <a:defRPr b="1" sz="20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5" name="Google Shape;495;p34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6" name="Google Shape;496;p34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FBFBF"/>
              </a:buClr>
              <a:buSzPts val="1200"/>
              <a:buNone/>
              <a:defRPr sz="1200">
                <a:solidFill>
                  <a:srgbClr val="BFBFB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7" name="Google Shape;497;p34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1" Target="../slideLayouts/slideLayout11.xml" Type="http://schemas.openxmlformats.org/officeDocument/2006/relationships/slideLayout" /><Relationship Id="rId10" Target="../slideLayouts/slideLayout10.xml" Type="http://schemas.openxmlformats.org/officeDocument/2006/relationships/slideLayout" /><Relationship Id="rId13" Target="../slideLayouts/slideLayout13.xml" Type="http://schemas.openxmlformats.org/officeDocument/2006/relationships/slideLayout" /><Relationship Id="rId12" Target="../slideLayouts/slideLayout12.xml" Type="http://schemas.openxmlformats.org/officeDocument/2006/relationships/slideLayout" /><Relationship Id="rId1" Target="../slideLayouts/slideLayout1.xml" Type="http://schemas.openxmlformats.org/officeDocument/2006/relationships/slideLayout" /><Relationship Id="rId2" Target="../slideLayouts/slideLayout2.xml" Type="http://schemas.openxmlformats.org/officeDocument/2006/relationships/slideLayout" /><Relationship Id="rId3" Target="../slideLayouts/slideLayout3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5" Target="../theme/theme1.xml" Type="http://schemas.openxmlformats.org/officeDocument/2006/relationships/theme" /><Relationship Id="rId14" Target="../slideLayouts/slideLayout14.xml" Type="http://schemas.openxmlformats.org/officeDocument/2006/relationships/slideLayout" /><Relationship Id="rId5" Target="../slideLayouts/slideLayout5.xml" Type="http://schemas.openxmlformats.org/officeDocument/2006/relationships/slideLayout" /><Relationship Id="rId6" Target="../slideLayouts/slideLayout6.xml" Type="http://schemas.openxmlformats.org/officeDocument/2006/relationships/slideLayout" /><Relationship Id="rId7" Target="../slideLayouts/slideLayout7.xml" Type="http://schemas.openxmlformats.org/officeDocument/2006/relationships/slideLayout" /><Relationship Id="rId8" Target="../slideLayouts/slideLayout8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rmAutofit/>
          </a:bodyPr>
          <a:lstStyle>
            <a:lvl1pPr algn="l" lvl="0" marR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b="1" cap="none" i="0" strike="noStrike" sz="4000" u="none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20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="t" anchorCtr="0" bIns="45700" lIns="91425" rIns="91425" spcFirstLastPara="1" tIns="45700" wrap="square">
            <a:normAutofit/>
          </a:bodyPr>
          <a:lstStyle>
            <a:lvl1pPr algn="l" indent="-406400" lvl="0" marL="457200" marR="0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cap="none" i="0" strike="noStrike" sz="2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indent="-381000" lvl="1" marL="914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cap="none" i="0" strike="noStrike" sz="24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indent="-355600" lvl="2" marL="1371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cap="none" i="0" strike="noStrike" sz="20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indent="-342900" lvl="3" marL="1828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indent="-342900" lvl="4" marL="22860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indent="-342900" lvl="5" marL="27432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indent="-342900" lvl="6" marL="3200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indent="-342900" lvl="7" marL="3657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indent="-342900" lvl="8" marL="4114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l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r" indent="0" lvl="0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r" indent="0" lvl="1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r" indent="0" lvl="2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r" indent="0" lvl="3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r" indent="0" lvl="4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r" indent="0" lvl="5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r" indent="0" lvl="6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r" indent="0" lvl="7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r" indent="0" lvl="8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algn="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folHlink="folHlink" hlink="hlink" tx1="dk1" tx2="lt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hf dt="0" ftr="0" hdr="0"/>
  <p:txStyles>
    <p:title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9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0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3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4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5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6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7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8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hyperlink" Target="mailto:mAP@0.5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Xây dựng hệ thống nhận dạng biển số xe bằng Trí tuệ nhân tạo</a:t>
            </a:r>
          </a:p>
        </p:txBody>
      </p:sp>
      <p:sp>
        <p:nvSpPr>
          <p:cNvPr id="35" name="Google Shape;35;p21"/>
          <p:cNvSpPr txBox="1"/>
          <p:nvPr>
            <p:ph idx="1" type="subTitle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Đồ án tốt nghiệp đại học · Trường Đại học Công nghệ Thông tin, ĐHQG-HCM</a:t>
            </a:r>
            <a:br/>
            <a:br/>
            <a:r>
              <a:rPr/>
              <a:t>Phạm Công Thành — 25410013 · Nguyễn Minh Hiếu — 25410007</a:t>
            </a:r>
            <a:br/>
            <a:r>
              <a:rPr/>
              <a:t>GVHD: ThS. Cáp Phạm Đình Thăng</a:t>
            </a:r>
          </a:p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Tháng 9 năm 2026</a:t>
            </a: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NỘI DUNG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347663">
              <a:buAutoNum type="arabicPeriod"/>
            </a:pPr>
            <a:r>
              <a:rPr b="1"/>
              <a:t>Tổng quan đề tài</a:t>
            </a:r>
          </a:p>
          <a:p>
            <a:pPr lvl="0" indent="0" marL="347663">
              <a:buAutoNum type="arabicPeriod"/>
            </a:pPr>
            <a:r>
              <a:rPr b="1"/>
              <a:t>Cơ sở lý thuyết</a:t>
            </a:r>
          </a:p>
          <a:p>
            <a:pPr lvl="0" indent="0" marL="347663">
              <a:buAutoNum type="arabicPeriod"/>
            </a:pPr>
            <a:r>
              <a:rPr b="1"/>
              <a:t>Phân tích và thiết kế hệ thống</a:t>
            </a:r>
          </a:p>
          <a:p>
            <a:pPr lvl="0" indent="0" marL="347663">
              <a:buAutoNum type="arabicPeriod"/>
            </a:pPr>
            <a:r>
              <a:rPr b="1"/>
              <a:t>Kết quả thực nghiệm</a:t>
            </a:r>
          </a:p>
          <a:p>
            <a:pPr lvl="0" indent="0" marL="347663">
              <a:buAutoNum type="arabicPeriod"/>
            </a:pPr>
            <a:r>
              <a:rPr b="1"/>
              <a:t>Kết luận và hướng phát triển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Vì sao đề tài này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~77 triệu xe máy</a:t>
            </a:r>
            <a:r>
              <a:rPr/>
              <a:t> — </a:t>
            </a:r>
            <a:r>
              <a:rPr b="1"/>
              <a:t>85–90%</a:t>
            </a:r>
            <a:r>
              <a:rPr/>
              <a:t> lưu lượng đường bộ Việt Nam</a:t>
            </a:r>
          </a:p>
          <a:p>
            <a:pPr lvl="0" indent="0" marL="0">
              <a:buNone/>
            </a:pPr>
            <a:r>
              <a:rPr/>
              <a:t>Cùng hệ thống, cùng phép đo: </a:t>
            </a:r>
            <a:r>
              <a:rPr b="1"/>
              <a:t>chênh 48,6 điểm</a:t>
            </a:r>
            <a:r>
              <a:rPr/>
              <a:t> </a:t>
            </a:r>
            <a:r>
              <a:rPr i="1"/>
              <a:t>(số liệu Brazil)</a:t>
            </a:r>
          </a:p>
        </p:txBody>
      </p:sp>
      <p:pic>
        <p:nvPicPr>
          <p:cNvPr descr="figures/fig-ga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30600" y="2324100"/>
            <a:ext cx="50292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Đặc thù biển số Việt Nam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Bố cục tách bạch theo </a:t>
            </a:r>
            <a:r>
              <a:rPr b="1"/>
              <a:t>tỉ lệ khung hình</a:t>
            </a:r>
            <a:r>
              <a:rPr/>
              <a:t> </a:t>
            </a:r>
            <a:r>
              <a:rPr i="1"/>
              <a:t>(QCVN 08:2024/BCA)</a:t>
            </a:r>
          </a:p>
          <a:p>
            <a:pPr lvl="0" indent="0" marL="0">
              <a:buNone/>
            </a:pPr>
            <a:r>
              <a:rPr/>
              <a:t>Tỉ lệ đo thật lệch khỏi chuẩn nhưng vẫn đúng phía ngưỡng </a:t>
            </a:r>
            <a:r>
              <a:rPr b="1"/>
              <a:t>2,5</a:t>
            </a:r>
          </a:p>
        </p:txBody>
      </p:sp>
      <p:pic>
        <p:nvPicPr>
          <p:cNvPr descr="figures/fig-layou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75100" y="2324100"/>
            <a:ext cx="41529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Chọn hướng tiếp cận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Chọn hai giai đoạn:</a:t>
            </a:r>
            <a:r>
              <a:rPr/>
              <a:t> YOLO11n phát hiện vùng biển → PaddleOCR đọc ký tự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Thế hệ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Điểm gãy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Cổ điển </a:t>
                      </a:r>
                      <a:r>
                        <a:rPr i="1"/>
                        <a:t>(Sobel, contour)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Vỡ khi đổi ánh sáng, góc chụp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Hai giai đoạn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 định 1 dòng nằm trong hàm mất mát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Một giai đoạn </a:t>
                      </a:r>
                      <a:r>
                        <a:rPr i="1"/>
                        <a:t>(YOLO đọc ký tự)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Cần nhãn ký tự — Việt Nam gần như không có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End-to-end </a:t>
                      </a:r>
                      <a:r>
                        <a:rPr i="1"/>
                        <a:t>(Transformer)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Đói dữ liệu, nặng, không hợp CPU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Chọn mô hình: YOLO11n &amp; PP-OCRv5 mobile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Đánh đổi tối ưu cho mục tiêu </a:t>
            </a:r>
            <a:r>
              <a:rPr b="1"/>
              <a:t>suy luận trên CPU</a:t>
            </a:r>
            <a:r>
              <a:rPr/>
              <a:t> — nhẹ, nhanh, chính xác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Tầng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Model được chọn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 sánh với các phương án khác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Phát hiện</a:t>
                      </a:r>
                      <a:r>
                        <a:rPr/>
                        <a:t> </a:t>
                      </a:r>
                      <a:r>
                        <a:rPr i="1"/>
                        <a:t>(Detection)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YOLO11n</a:t>
                      </a:r>
                      <a:r>
                        <a:rPr/>
                        <a:t> </a:t>
                      </a:r>
                      <a:r>
                        <a:rPr i="1"/>
                        <a:t>(2,6M params)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• </a:t>
                      </a:r>
                      <a:r>
                        <a:rPr b="1"/>
                        <a:t>Vs YOLOv8n / v5n:</a:t>
                      </a:r>
                      <a:r>
                        <a:rPr/>
                        <a:t> mAP50 cao hơn, số tham số nhỏ hơn (2,6M vs 3,2M)• </a:t>
                      </a:r>
                      <a:r>
                        <a:rPr b="1"/>
                        <a:t>Vs Faster R-CNN / Transformer:</a:t>
                      </a:r>
                      <a:r>
                        <a:rPr/>
                        <a:t> Nhanh gấp 10–20× trên CPU (~35 ms/khung)• </a:t>
                      </a:r>
                      <a:r>
                        <a:rPr b="1"/>
                        <a:t>Lý do:</a:t>
                      </a:r>
                      <a:r>
                        <a:rPr/>
                        <a:t> Đáp ứng chỉ tiêu p95 độ trễ CPU không cần GPU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Nhận dạng</a:t>
                      </a:r>
                      <a:r>
                        <a:rPr/>
                        <a:t> </a:t>
                      </a:r>
                      <a:r>
                        <a:rPr i="1"/>
                        <a:t>(OCR)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PP-OCRv5 mobile</a:t>
                      </a:r>
                      <a:r>
                        <a:rPr/>
                        <a:t> </a:t>
                      </a:r>
                      <a:r>
                        <a:rPr i="1"/>
                        <a:t>(4,5 MB)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• </a:t>
                      </a:r>
                      <a:r>
                        <a:rPr b="1"/>
                        <a:t>So với EasyOCR / Tesseract:</a:t>
                      </a:r>
                      <a:r>
                        <a:rPr/>
                        <a:t> phép đo trên 2.801 biển trong cùng tầng bao quanh cho kết quả PaddleOCR cao hơn; kết luận chỉ áp dụng cho cấu hình này• </a:t>
                      </a:r>
                      <a:r>
                        <a:rPr b="1"/>
                        <a:t>So với PP-OCRv5 Server:</a:t>
                      </a:r>
                      <a:r>
                        <a:rPr/>
                        <a:t> bản Server nặng hơn, không phù hợp ràng buộc CPU• </a:t>
                      </a:r>
                      <a:r>
                        <a:rPr b="1"/>
                        <a:t>Lý do chọn v5 mobile:</a:t>
                      </a:r>
                      <a:r>
                        <a:rPr/>
                        <a:t> dung lượng nhỏ, độ chính xác mức ký tự 94,5% trên tập đánh giá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Mục tiêu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/>
              <a:t>Hệ thống ALPR </a:t>
            </a:r>
            <a:r>
              <a:rPr b="1"/>
              <a:t>hoàn chỉnh</a:t>
            </a:r>
            <a:r>
              <a:rPr/>
              <a:t>: AI · API · giao diện · CSDL · Docker</a:t>
            </a:r>
          </a:p>
          <a:p>
            <a:pPr lvl="0"/>
            <a:r>
              <a:rPr/>
              <a:t>Xử lý </a:t>
            </a:r>
            <a:r>
              <a:rPr b="1"/>
              <a:t>cả biển 1 dòng và 2 dòng</a:t>
            </a:r>
          </a:p>
          <a:p>
            <a:pPr lvl="0"/>
            <a:r>
              <a:rPr/>
              <a:t>Suy luận </a:t>
            </a:r>
            <a:r>
              <a:rPr b="1"/>
              <a:t>trên CPU</a:t>
            </a:r>
            <a:r>
              <a:rPr/>
              <a:t> — mặc định, không phải dự phòng</a:t>
            </a:r>
          </a:p>
          <a:p>
            <a:pPr lvl="0"/>
            <a:r>
              <a:rPr/>
              <a:t>Chỉ tiêu chốt </a:t>
            </a:r>
            <a:r>
              <a:rPr b="1"/>
              <a:t>trước</a:t>
            </a:r>
            <a:r>
              <a:rPr/>
              <a:t> khi làm, mỗi chỉ tiêu hai mức</a:t>
            </a:r>
          </a:p>
          <a:p>
            <a:pPr lvl="0" indent="0" marL="0">
              <a:buNone/>
            </a:pPr>
            <a:r>
              <a:rPr b="1"/>
              <a:t>Ngoài phạm vi:</a:t>
            </a:r>
            <a:r>
              <a:rPr/>
              <a:t> phân loại loại xe · tracking · barie · huấn luyện OCR từ đầu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Kiến trúc 5 tầng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Tầng AI là </a:t>
            </a:r>
            <a:r>
              <a:rPr b="1"/>
              <a:t>Python thuần</a:t>
            </a:r>
            <a:r>
              <a:rPr/>
              <a:t> — cấm import FastAPI hoặc Pydantic</a:t>
            </a:r>
          </a:p>
        </p:txBody>
      </p:sp>
      <p:pic>
        <p:nvPicPr>
          <p:cNvPr descr="figures/fig-architectu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467100" y="2324100"/>
            <a:ext cx="51689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Pipeline AI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Nhánh </a:t>
            </a:r>
            <a:r>
              <a:rPr b="1"/>
              <a:t>đỏ</a:t>
            </a:r>
            <a:r>
              <a:rPr/>
              <a:t> là đóng góp kỹ thuật lõi</a:t>
            </a:r>
          </a:p>
          <a:p>
            <a:pPr lvl="0" indent="0" marL="0">
              <a:buNone/>
            </a:pPr>
            <a:r>
              <a:rPr/>
              <a:t>Không thấy biển ⇒ trả rỗng, </a:t>
            </a:r>
            <a:r>
              <a:rPr b="1"/>
              <a:t>HTTP 200</a:t>
            </a:r>
            <a:r>
              <a:rPr/>
              <a:t> — không phải lỗi</a:t>
            </a:r>
          </a:p>
        </p:txBody>
      </p:sp>
      <p:pic>
        <p:nvPicPr>
          <p:cNvPr descr="figures/fig-pipe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013200" y="2324100"/>
            <a:ext cx="40767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Xử lý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Giả định </a:t>
            </a:r>
            <a:r>
              <a:rPr b="1"/>
              <a:t>một dòng</a:t>
            </a:r>
            <a:r>
              <a:rPr/>
              <a:t> nằm trong </a:t>
            </a:r>
            <a:r>
              <a:rPr b="1"/>
              <a:t>hàm mất mát</a:t>
            </a:r>
            <a:r>
              <a:rPr/>
              <a:t> của CRNN/CTC — thêm dữ liệu không sửa được</a:t>
            </a:r>
          </a:p>
        </p:txBody>
      </p:sp>
      <p:pic>
        <p:nvPicPr>
          <p:cNvPr descr="figures/fig-two-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46500" y="2324100"/>
            <a:ext cx="46101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luật hậu xử lý theo vị trí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Sửa theo </a:t>
            </a:r>
            <a:r>
              <a:rPr b="1"/>
              <a:t>VỊ TRÍ</a:t>
            </a:r>
            <a:r>
              <a:rPr/>
              <a:t>, không sửa toàn cục — đóng góp kỹ thuật riêng của đồ án</a:t>
            </a:r>
          </a:p>
        </p:txBody>
      </p:sp>
      <p:pic>
        <p:nvPicPr>
          <p:cNvPr descr="figures/fig-position-rul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327400" y="2324100"/>
            <a:ext cx="54483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dữ liệu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15.133 ảnh · 15.977 khung</a:t>
            </a:r>
            <a:r>
              <a:rPr/>
              <a:t> · chia </a:t>
            </a:r>
            <a:r>
              <a:rPr b="1"/>
              <a:t>10.592 / 3.027 / 1.514</a:t>
            </a:r>
          </a:p>
          <a:p>
            <a:pPr lvl="0"/>
            <a:r>
              <a:rPr/>
              <a:t>Hợp nhất </a:t>
            </a:r>
            <a:r>
              <a:rPr b="1"/>
              <a:t>7 bộ công khai</a:t>
            </a:r>
            <a:r>
              <a:rPr/>
              <a:t>, loại </a:t>
            </a:r>
            <a:r>
              <a:rPr b="1"/>
              <a:t>44,2%</a:t>
            </a:r>
            <a:r>
              <a:rPr/>
              <a:t> là bản sao — hai bộ mất </a:t>
            </a:r>
            <a:r>
              <a:rPr b="1"/>
              <a:t>98%</a:t>
            </a:r>
            <a:r>
              <a:rPr/>
              <a:t> và </a:t>
            </a:r>
            <a:r>
              <a:rPr b="1"/>
              <a:t>100%</a:t>
            </a:r>
          </a:p>
          <a:p>
            <a:pPr lvl="0"/>
            <a:r>
              <a:rPr b="1"/>
              <a:t>Khử trùng lặp bằng pHash</a:t>
            </a:r>
            <a:r>
              <a:rPr/>
              <a:t> ở ngưỡng Hamming 10 — đo lại ở </a:t>
            </a:r>
            <a:r>
              <a:rPr b="1"/>
              <a:t>chính ngưỡng đó</a:t>
            </a:r>
            <a:r>
              <a:rPr/>
              <a:t> cho </a:t>
            </a:r>
            <a:r>
              <a:rPr b="1"/>
              <a:t>0 cặp</a:t>
            </a:r>
            <a:r>
              <a:rPr/>
              <a:t> Train–Test</a:t>
            </a:r>
          </a:p>
          <a:p>
            <a:pPr lvl="0" indent="0" marL="0">
              <a:buNone/>
            </a:pPr>
            <a:r>
              <a:rPr/>
              <a:t>⇒ Số 0 đó chứng minh </a:t>
            </a:r>
            <a:r>
              <a:rPr b="1"/>
              <a:t>bước gộp chạy đúng</a:t>
            </a:r>
            <a:r>
              <a:rPr/>
              <a:t>, không chứng minh tập test hoàn toàn độc lập: ở Hamming 12 vẫn còn </a:t>
            </a:r>
            <a:r>
              <a:rPr b="1"/>
              <a:t>791 cặp</a:t>
            </a:r>
          </a:p>
          <a:p>
            <a:pPr lvl="0" indent="0" marL="0">
              <a:buNone/>
            </a:pPr>
            <a:r>
              <a:rPr/>
              <a:t>⚠️ Hai bộ chiếm </a:t>
            </a:r>
            <a:r>
              <a:rPr b="1"/>
              <a:t>74,3%</a:t>
            </a:r>
            <a:r>
              <a:rPr/>
              <a:t> — đa dạng giấy phép, </a:t>
            </a:r>
            <a:r>
              <a:rPr b="1"/>
              <a:t>chưa</a:t>
            </a:r>
            <a:r>
              <a:rPr/>
              <a:t> đa dạng nội dung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Huấn luyện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YOLO11n</a:t>
            </a:r>
            <a:r>
              <a:rPr/>
              <a:t>, </a:t>
            </a:r>
            <a:r>
              <a:rPr>
                <a:latin typeface="Courier"/>
              </a:rPr>
              <a:t>imgsz 640</a:t>
            </a:r>
            <a:r>
              <a:rPr/>
              <a:t>, 20 epoch, seed cố định — huấn luyện </a:t>
            </a:r>
            <a:r>
              <a:rPr b="1"/>
              <a:t>và</a:t>
            </a:r>
            <a:r>
              <a:rPr/>
              <a:t> suy luận đều trên CPU, hết </a:t>
            </a:r>
            <a:r>
              <a:rPr b="1"/>
              <a:t>10,05 giờ</a:t>
            </a:r>
            <a:r>
              <a:rPr/>
              <a:t> </a:t>
            </a:r>
            <a:r>
              <a:rPr i="1"/>
              <a:t>(30,2 phút/epoch)</a:t>
            </a:r>
          </a:p>
        </p:txBody>
      </p:sp>
      <p:pic>
        <p:nvPicPr>
          <p:cNvPr descr="figures/fig-training-curv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43300" y="2324100"/>
            <a:ext cx="50038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phát hiện — đạt cả 4 chỉ tiêu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Chênh giữa hai bố cục chỉ 2,09 điểm</a:t>
            </a:r>
            <a:r>
              <a:rPr/>
              <a:t> ⇒ Điểm nghẽn nằm ở tầng đọc chữ, không phải tầng phát hiện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mAP50-95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0,988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0,753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1.325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0,969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0,968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0,765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TẤT CẢ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1.611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0,984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0,971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Chỉ tiêu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≥0,92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≥0,65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OCR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Toàn bộ khoảng cách nằm ở </a:t>
            </a:r>
            <a:r>
              <a:rPr b="1"/>
              <a:t>biển 2 dòng</a:t>
            </a:r>
            <a:r>
              <a:rPr/>
              <a:t>: 0,7234 so với </a:t>
            </a:r>
            <a:r>
              <a:rPr b="1"/>
              <a:t>0,9541</a:t>
            </a:r>
            <a:r>
              <a:rPr/>
              <a:t> của biển 1 dòng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cái gì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được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Ngưỡng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</a:t>
                      </a:r>
                      <a:r>
                        <a:rPr b="1"/>
                        <a:t>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0,9483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cả chuỗi</a:t>
                      </a:r>
                      <a:r>
                        <a:rPr/>
                        <a:t> — chưa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0,6373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0,80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cả chuỗi</a:t>
                      </a:r>
                      <a:r>
                        <a:rPr/>
                        <a:t> — sau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0,7701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đầu cuối</a:t>
                      </a:r>
                      <a:r>
                        <a:rPr/>
                        <a:t> — ảnh vào, chuỗi ra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0,563</a:t>
                      </a:r>
                      <a:r>
                        <a:rPr/>
                        <a:t> </a:t>
                      </a:r>
                      <a:r>
                        <a:rPr i="1"/>
                        <a:t>(nhãn máy sinh)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0,82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Khoảng cách nằm trọn ở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Cùng một hệ thống, cùng một phép đo — tách theo bố cục biển</a:t>
            </a:r>
          </a:p>
        </p:txBody>
      </p:sp>
      <p:pic>
        <p:nvPicPr>
          <p:cNvPr descr="../reports/figures/04-ocr-accuracy-by-line-coun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717800" y="2324100"/>
            <a:ext cx="66548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Đóng góp của hậu xử lý — đo được bằng số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Sửa đúng </a:t>
            </a:r>
            <a:r>
              <a:rPr b="1"/>
              <a:t>372 biển</a:t>
            </a:r>
            <a:r>
              <a:rPr/>
              <a:t>, làm hỏng </a:t>
            </a:r>
            <a:r>
              <a:rPr b="1"/>
              <a:t>0</a:t>
            </a:r>
            <a:r>
              <a:rPr/>
              <a:t> — dồn gần trọn vào biển 2 dòng</a:t>
            </a:r>
          </a:p>
        </p:txBody>
      </p:sp>
      <p:pic>
        <p:nvPicPr>
          <p:cNvPr descr="figures/fig-postprocess-gai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08400" y="2324100"/>
            <a:ext cx="46990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 can thiệp thực nghiệm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Chênh lệch 2 dòng còn </a:t>
            </a:r>
            <a:r>
              <a:rPr b="1"/>
              <a:t>23,07 điểm</a:t>
            </a:r>
            <a:r>
              <a:rPr/>
              <a:t>, cùng bậc mốc quốc tế </a:t>
            </a:r>
            <a:r>
              <a:rPr b="1"/>
              <a:t>48,6</a:t>
            </a:r>
            <a:r>
              <a:rPr/>
              <a:t> </a:t>
            </a:r>
            <a:r>
              <a:rPr i="1"/>
              <a:t>(Laroca 2022 — RodoSol, Brazil)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Can thiệp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Thu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Bộ luật hậu xử lý theo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+13,28 điểm</a:t>
                      </a:r>
                      <a:r>
                        <a:rPr/>
                        <a:t> </a:t>
                      </a:r>
                      <a:r>
                        <a:rPr i="1"/>
                        <a:t>(0,6373 → 0,7701)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Phục hồi dòng trên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209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chống 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34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Hiệu năng trên CPU — phân rã suy luận thuần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Điểm nghẽn thời gian là </a:t>
            </a:r>
            <a:r>
              <a:rPr b="1"/>
              <a:t>OCR (60,8%)</a:t>
            </a:r>
            <a:r>
              <a:rPr/>
              <a:t>; tầng phát hiện chiếm </a:t>
            </a:r>
            <a:r>
              <a:rPr b="1"/>
              <a:t>38,0%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Bước trong pipeline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Ước lượng ban đầu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Đo thật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% tổng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Giải mã ảnh + tiền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1,78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1,2%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 </a:t>
                      </a:r>
                      <a:r>
                        <a:rPr i="1"/>
                        <a:t>(YOLO11n @ 640, CPU)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150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55,66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38,0%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Nhận dạng chữ </a:t>
                      </a:r>
                      <a:r>
                        <a:rPr i="1"/>
                        <a:t>(PaddleOCR, mỗi biển)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89,16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60,8%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Hậu xử lý regex + kiểm tra hợp lệ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0,03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Tổng suy luận thuần cho một biển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405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146,63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100%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Phân bố độ trễ suy luận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Phần lớn ảnh hoàn tất dưới 500 ms; độ trễ tập trung ở các ca thử lại nhiều lượt</a:t>
            </a:r>
          </a:p>
        </p:txBody>
      </p:sp>
      <p:pic>
        <p:nvPicPr>
          <p:cNvPr descr="../reports/figures/07-latency-distribu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09800" y="2324100"/>
            <a:ext cx="76962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Kiểm thử và triển khai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1.004/1.004 kiểm thử tự động</a:t>
            </a:r>
            <a:r>
              <a:rPr/>
              <a:t> đạt · bao phủ tầng nghiệp vụ </a:t>
            </a:r>
            <a:r>
              <a:rPr b="1"/>
              <a:t>87,7%</a:t>
            </a:r>
          </a:p>
          <a:p>
            <a:pPr lvl="0"/>
            <a:r>
              <a:rPr/>
              <a:t>Đơn vị · tích hợp · độ chính xác AI · hiệu năng · chịu tải</a:t>
            </a:r>
          </a:p>
          <a:p>
            <a:pPr lvl="0"/>
            <a:r>
              <a:rPr/>
              <a:t>Tầng AI có bộ test </a:t>
            </a:r>
            <a:r>
              <a:rPr b="1"/>
              <a:t>chạy độc lập không cần dựng server</a:t>
            </a:r>
          </a:p>
          <a:p>
            <a:pPr lvl="0"/>
            <a:r>
              <a:rPr/>
              <a:t>Chạy liên tục </a:t>
            </a:r>
            <a:r>
              <a:rPr b="1"/>
              <a:t>15 phút</a:t>
            </a:r>
            <a:r>
              <a:rPr/>
              <a:t>: 5.337 yêu cầu, </a:t>
            </a:r>
            <a:r>
              <a:rPr b="1"/>
              <a:t>0 lỗi</a:t>
            </a:r>
            <a:r>
              <a:rPr/>
              <a:t>, không rò rỉ bộ nhớ</a:t>
            </a:r>
          </a:p>
          <a:p>
            <a:pPr lvl="0"/>
            <a:r>
              <a:rPr/>
              <a:t>Cơ sở dữ liệu </a:t>
            </a:r>
            <a:r>
              <a:rPr b="1"/>
              <a:t>bền vững qua khởi động lại</a:t>
            </a:r>
            <a:r>
              <a:rPr/>
              <a:t>: 7.977 bản ghi, </a:t>
            </a:r>
            <a:r>
              <a:rPr b="1"/>
              <a:t>0 mất</a:t>
            </a:r>
          </a:p>
          <a:p>
            <a:pPr lvl="0"/>
            <a:r>
              <a:rPr>
                <a:latin typeface="Courier"/>
              </a:rPr>
              <a:t>docker compose up</a:t>
            </a:r>
            <a:r>
              <a:rPr/>
              <a:t> — </a:t>
            </a:r>
            <a:r>
              <a:rPr b="1"/>
              <a:t>một lệnh</a:t>
            </a:r>
            <a:r>
              <a:rPr/>
              <a:t>, đã đóng gói và xác minh hoàn chỉnh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Đối chiếu chỉ tiêu — bảng tổng hợp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đạt mục tiêu · 🟡 đạt ngưỡng tối thiểu · ❌ chưa đạt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tiêu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Kết quả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 </a:t>
                      </a:r>
                      <a:r>
                        <a:rPr b="1"/>
                        <a:t>0,9829</a:t>
                      </a:r>
                      <a:r>
                        <a:rPr/>
                        <a:t> · mAP50-95 </a:t>
                      </a:r>
                      <a:r>
                        <a:rPr b="1"/>
                        <a:t>0,7834</a:t>
                      </a:r>
                      <a:r>
                        <a:rPr/>
                        <a:t> · P </a:t>
                      </a:r>
                      <a:r>
                        <a:rPr b="1"/>
                        <a:t>0,9837</a:t>
                      </a:r>
                      <a:r>
                        <a:rPr/>
                        <a:t> · R </a:t>
                      </a:r>
                      <a:r>
                        <a:rPr b="1"/>
                        <a:t>0,9714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 </a:t>
                      </a:r>
                      <a:r>
                        <a:rPr b="1"/>
                        <a:t>0,9483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 </a:t>
                      </a:r>
                      <a:r>
                        <a:rPr b="1"/>
                        <a:t>0,7701</a:t>
                      </a:r>
                      <a:r>
                        <a:rPr/>
                        <a:t> · đầu cuối </a:t>
                      </a:r>
                      <a:r>
                        <a:rPr b="1"/>
                        <a:t>0,563</a:t>
                      </a:r>
                      <a:r>
                        <a:rPr/>
                        <a:t> </a:t>
                      </a:r>
                      <a:r>
                        <a:rPr i="1"/>
                        <a:t>(1.606 khung toàn cảnh, nhãn máy sinh)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Hiệu năng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p95 </a:t>
                      </a:r>
                      <a:r>
                        <a:rPr b="1"/>
                        <a:t>510 ms</a:t>
                      </a:r>
                      <a:r>
                        <a:rPr/>
                        <a:t> </a:t>
                      </a:r>
                      <a:r>
                        <a:rPr i="1"/>
                        <a:t>(mục tiêu 800)</a:t>
                      </a:r>
                      <a:r>
                        <a:rPr/>
                        <a:t> · video </a:t>
                      </a:r>
                      <a:r>
                        <a:rPr b="1"/>
                        <a:t>0,87×</a:t>
                      </a:r>
                      <a:r>
                        <a:rPr/>
                        <a:t> · truy vấn </a:t>
                      </a:r>
                      <a:r>
                        <a:rPr b="1"/>
                        <a:t>18,7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Thời gian thực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Luồng khung hình </a:t>
                      </a:r>
                      <a:r>
                        <a:rPr b="1"/>
                        <a:t>5,63 FPS</a:t>
                      </a:r>
                      <a:r>
                        <a:rPr/>
                        <a:t> </a:t>
                      </a:r>
                      <a:r>
                        <a:rPr i="1"/>
                        <a:t>(sàn 3, mục tiêu 5 — đo ở tầng API </a:t>
                      </a:r>
                      <a:r>
                        <a:rPr i="1">
                          <a:latin typeface="Courier"/>
                        </a:rPr>
                        <a:t>POST /api/detect/frame</a:t>
                      </a:r>
                      <a:r>
                        <a:rPr i="1"/>
                        <a:t>, không qua trang web)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tin cậy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Chạy liên tục </a:t>
                      </a:r>
                      <a:r>
                        <a:rPr b="1"/>
                        <a:t>100%</a:t>
                      </a:r>
                      <a:r>
                        <a:rPr/>
                        <a:t> · CSDL sống sót khởi động lại </a:t>
                      </a:r>
                      <a:r>
                        <a:rPr b="1"/>
                        <a:t>0 mất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Phần mềm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1.004 test</a:t>
                      </a:r>
                      <a:r>
                        <a:rPr/>
                        <a:t> · bao phủ 87,7% · </a:t>
                      </a:r>
                      <a:r>
                        <a:rPr>
                          <a:latin typeface="Courier"/>
                        </a:rPr>
                        <a:t>docker compose up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Hạn chế và hướng phát triển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Ba hạn chế chính</a:t>
            </a:r>
            <a:r>
              <a:rPr/>
              <a:t> — và hướng xử lý tương ứng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Hạn chế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Hướng phát triển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OCR biển 2 dòng còn thấp</a:t>
                      </a:r>
                      <a:r>
                        <a:rPr/>
                        <a:t> — 0,7234 so với 0,9541 của biển 1 dòng, mà biển 2 dòng chiếm 79,8% tập nhãn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Huấn luyện lại bộ nhận dạng riêng cho biển số Việt Nam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Nhãn ảnh hiện trường do mô hình sinh, không phải người gán</a:t>
                      </a:r>
                      <a:r>
                        <a:rPr/>
                        <a:t> — A7 = 56,3% phải đọc kèm hạn chế này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Xây dựng bộ nhãn chuỗi do người gán cho ảnh toàn cảnh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Chưa đánh giá xuyên bộ dữ liệu</a:t>
                      </a:r>
                      <a:r>
                        <a:rPr/>
                        <a:t> — giữ nguyên một nguồn không dùng để huấn luyện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Dựng tập test xuyên bộ để đo tổng quát hoá ngoài phân phối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luận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/>
              <a:t>Hệ thống </a:t>
            </a:r>
            <a:r>
              <a:rPr b="1"/>
              <a:t>5 tầng</a:t>
            </a:r>
            <a:r>
              <a:rPr/>
              <a:t>, đóng gói Docker một lệnh</a:t>
            </a:r>
          </a:p>
          <a:p>
            <a:pPr lvl="0"/>
            <a:r>
              <a:rPr/>
              <a:t>Phát hiện đạt </a:t>
            </a:r>
            <a:r>
              <a:rPr b="1"/>
              <a:t>cả 4 chỉ tiêu</a:t>
            </a:r>
            <a:r>
              <a:rPr/>
              <a:t> — mAP50 </a:t>
            </a:r>
            <a:r>
              <a:rPr b="1"/>
              <a:t>0,983</a:t>
            </a:r>
          </a:p>
          <a:p>
            <a:pPr lvl="0"/>
            <a:r>
              <a:rPr/>
              <a:t>Hậu xử lý </a:t>
            </a:r>
            <a:r>
              <a:rPr b="1"/>
              <a:t>+13,28 điểm</a:t>
            </a:r>
            <a:r>
              <a:rPr/>
              <a:t>, đo tách bạch</a:t>
            </a:r>
          </a:p>
          <a:p>
            <a:pPr lvl="0"/>
            <a:r>
              <a:rPr b="1"/>
              <a:t>1.004/1.004 kiểm thử</a:t>
            </a:r>
            <a:r>
              <a:rPr/>
              <a:t> đạt · bao phủ </a:t>
            </a:r>
            <a:r>
              <a:rPr b="1"/>
              <a:t>87,7%</a:t>
            </a:r>
          </a:p>
          <a:p>
            <a:pPr lvl="0"/>
            <a:r>
              <a:rPr/>
              <a:t>Định lượng riêng biển </a:t>
            </a:r>
            <a:r>
              <a:rPr b="1"/>
              <a:t>1 dòng</a:t>
            </a:r>
            <a:r>
              <a:rPr/>
              <a:t> và </a:t>
            </a:r>
            <a:r>
              <a:rPr b="1"/>
              <a:t>2 dòng</a:t>
            </a:r>
            <a:r>
              <a:rPr/>
              <a:t> trên cùng hệ thống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1 — Phân tích lỗi (Error Analysis)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Sáu loại lỗi </a:t>
            </a:r>
            <a:r>
              <a:rPr b="1"/>
              <a:t>loại trừ lẫn nhau</a:t>
            </a:r>
            <a:r>
              <a:rPr/>
              <a:t> — </a:t>
            </a:r>
            <a:r>
              <a:rPr b="1"/>
              <a:t>644 ca sai trên 2.801 biển (22,99%)</a:t>
            </a:r>
            <a:r>
              <a:rPr/>
              <a:t>, khớp đúng 1 − A6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Loại lỗi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Số 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% ca sai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 dòng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 dòng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Nhầm ký tự</a:t>
                      </a:r>
                      <a:r>
                        <a:rPr/>
                        <a:t> </a:t>
                      </a:r>
                      <a:r>
                        <a:rPr i="1"/>
                        <a:t>(thay thế)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392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60,87%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375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Thiếu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11,80%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Thừa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3,11%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Sai thứ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0,00%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Trả chuỗi rỗng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1,55%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Hỗn hợp nhiều loại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146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22,67%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142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Tổng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644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100%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26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618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2 — Bóc tách đóng góp (Ablation)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Đóng góp độc lập của từng module kỹ thuật vào độ chính xác đọc chuỗi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Cấu hình / Thử nghiệm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Đúng cả chuỗi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Đóng góp đo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Baseline</a:t>
                      </a:r>
                      <a:r>
                        <a:rPr/>
                        <a:t> </a:t>
                      </a:r>
                      <a:r>
                        <a:rPr i="1"/>
                        <a:t>(Model gốc PaddleOCR raw)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0,6373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Mức cơ sở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Bộ luật hậu xử lý theo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0,7701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+13,28 điểm</a:t>
                      </a:r>
                      <a:r>
                        <a:rPr/>
                        <a:t> </a:t>
                      </a:r>
                      <a:r>
                        <a:rPr i="1"/>
                        <a:t>(Sửa đúng 372 biển)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Bậc thang cứu dòng trên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+209 biển</a:t>
                      </a:r>
                      <a:r>
                        <a:rPr/>
                        <a:t> được cứu hợp lệ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Bậc thang nắn hình chống nghiêng/méo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+34 biển</a:t>
                      </a:r>
                      <a:r>
                        <a:rPr/>
                        <a:t> được cứu hợp lệ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Fine-tune OCR (giữ detector)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0,6762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❌ Sụt -7,5 điểm do lệch phân phối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3 — Tra nhanh số liệu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15.133</a:t>
                      </a:r>
                      <a:r>
                        <a:rPr/>
                        <a:t> ảnh · </a:t>
                      </a:r>
                      <a:r>
                        <a:rPr b="1"/>
                        <a:t>15.977</a:t>
                      </a:r>
                      <a:r>
                        <a:rPr/>
                        <a:t> khung · 6 nguồn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Mô hình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YOLO11n · </a:t>
                      </a:r>
                      <a:r>
                        <a:rPr>
                          <a:latin typeface="Courier"/>
                        </a:rPr>
                        <a:t>imgsz 640</a:t>
                      </a:r>
                      <a:r>
                        <a:rPr/>
                        <a:t> · 20 epoch · CPU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 </a:t>
                      </a:r>
                      <a:r>
                        <a:rPr b="1"/>
                        <a:t>0,983</a:t>
                      </a:r>
                      <a:r>
                        <a:rPr/>
                        <a:t> · mAP50-95 </a:t>
                      </a: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0,9483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0,7701</a:t>
                      </a:r>
                      <a:r>
                        <a:rPr/>
                        <a:t> </a:t>
                      </a:r>
                      <a:r>
                        <a:rPr i="1"/>
                        <a:t>(1 dòng 0,954 · 2 dòng 0,723)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p50 </a:t>
                      </a:r>
                      <a:r>
                        <a:rPr b="1"/>
                        <a:t>150 ms</a:t>
                      </a:r>
                      <a:r>
                        <a:rPr/>
                        <a:t> · p95 </a:t>
                      </a:r>
                      <a:r>
                        <a:rPr b="1"/>
                        <a:t>510 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Kiểm thử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1.004</a:t>
                      </a:r>
                      <a:r>
                        <a:rPr/>
                        <a:t> đạt · bao phủ </a:t>
                      </a:r>
                      <a:r>
                        <a:rPr b="1"/>
                        <a:t>87,7%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4 — Kiến trúc hai mô hình: YOLO11n và PP-OCRv5 mobile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Bố cục một dòng hay hai dòng </a:t>
            </a:r>
            <a:r>
              <a:rPr b="1"/>
              <a:t>không do mô hình quyết</a:t>
            </a:r>
            <a:r>
              <a:rPr/>
              <a:t> — suy ra ở bước hậu xử lý theo tỉ lệ khung hình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YOLO11n</a:t>
                      </a:r>
                      <a:r>
                        <a:rPr/>
                        <a:t> </a:t>
                      </a:r>
                      <a:r>
                        <a:rPr i="1"/>
                        <a:t>(phát hiện)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PP-OCRv5 mobile</a:t>
                      </a:r>
                      <a:r>
                        <a:rPr/>
                        <a:t> </a:t>
                      </a:r>
                      <a:r>
                        <a:rPr i="1"/>
                        <a:t>(nhận dạng)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Backbone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C3k2 + </a:t>
                      </a:r>
                      <a:r>
                        <a:rPr b="1"/>
                        <a:t>C2PSA</a:t>
                      </a:r>
                      <a:r>
                        <a:rPr/>
                        <a:t> </a:t>
                      </a:r>
                      <a:r>
                        <a:rPr i="1"/>
                        <a:t>(attention)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PP-LCNetV3</a:t>
                      </a:r>
                      <a:r>
                        <a:rPr/>
                        <a:t> </a:t>
                      </a:r>
                      <a:r>
                        <a:rPr i="1"/>
                        <a:t>(lightweight CPU net)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Cơ chế đặc trưng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SPPF — gộp ngữ cảnh đa tỉ lệ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SVTR-HG</a:t>
                      </a:r>
                      <a:r>
                        <a:rPr/>
                        <a:t> — transformer có cổng, trên dải cao 64 px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Đầu ra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Anchor-free decoupled head, một lớp </a:t>
                      </a:r>
                      <a:r>
                        <a:rPr>
                          <a:latin typeface="Courier"/>
                        </a:rPr>
                        <a:t>license_plate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CTC head</a:t>
                      </a:r>
                      <a:r>
                        <a:rPr/>
                        <a:t> — giải mã chuỗi không cần nhãn từng vạch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Quy mô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2,6M tham số</a:t>
                      </a:r>
                      <a:r>
                        <a:rPr/>
                        <a:t> · 6,5 GFLOPs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4,5 MB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Đo được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2"/>
                        </a:rPr>
                        <a:t>mAP@0.5</a:t>
                      </a:r>
                      <a:r>
                        <a:rPr/>
                        <a:t> = </a:t>
                      </a:r>
                      <a:r>
                        <a:rPr b="1"/>
                        <a:t>0,9829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1 − CER = </a:t>
                      </a:r>
                      <a:r>
                        <a:rPr b="1"/>
                        <a:t>94,83%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UIT Pallete">
      <a:dk1>
        <a:srgbClr val="2A2F4F"/>
      </a:dk1>
      <a:lt1>
        <a:srgbClr val="FFFFFF"/>
      </a:lt1>
      <a:dk2>
        <a:srgbClr val="1C305E"/>
      </a:dk2>
      <a:lt2>
        <a:srgbClr val="E7E6E6"/>
      </a:lt2>
      <a:accent1>
        <a:srgbClr val="0071FF"/>
      </a:accent1>
      <a:accent2>
        <a:srgbClr val="FAAB78"/>
      </a:accent2>
      <a:accent3>
        <a:srgbClr val="EC7171"/>
      </a:accent3>
      <a:accent4>
        <a:srgbClr val="FFCD38"/>
      </a:accent4>
      <a:accent5>
        <a:srgbClr val="4700D8"/>
      </a:accent5>
      <a:accent6>
        <a:srgbClr val="41855B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Xây dựng hệ thống nhận dạng biển số xe bằng Trí tuệ nhân tạo</dc:title>
  <dc:creator>Phạm Công Thành — 25410013 · Nguyễn Minh Hiếu — 25410007; GVHD: ThS. Cáp Phạm Đình Thăng</dc:creator>
  <cp:keywords/>
  <dcterms:created xsi:type="dcterms:W3CDTF">2026-08-31T05:49:41Z</dcterms:created>
  <dcterms:modified xsi:type="dcterms:W3CDTF">2026-08-31T05:49:41Z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Tháng 9 năm 2026</vt:lpwstr>
  </property>
  <property fmtid="{D5CDD505-2E9C-101B-9397-08002B2CF9AE}" pid="3" name="subtitle">
    <vt:lpwstr>Đồ án tốt nghiệp đại học · Trường Đại học Công nghệ Thông tin, ĐHQG-HCM</vt:lpwstr>
  </property>
</Properties>
</file>