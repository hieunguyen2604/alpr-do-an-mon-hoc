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Default Extension="fntdata" ContentType="application/x-fontdata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 autoCompressPictures="0" embedTrueTypeFonts="1" saveSubsetFonts="1" strictFirstAndLastChar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x="12192000" cy="6858000"/>
  <p:notesSz cx="6858000" cy="9144000"/>
  <p:embeddedFontLst>
    <p:embeddedFont>
      <p:font typeface="Roboto"/>
      <p:regular r:id="rId43"/>
      <p:bold r:id="rId44"/>
      <p:italic r:id="rId45"/>
      <p:boldItalic r:id="rId46"/>
    </p:embeddedFont>
    <p:embeddedFont>
      <p:font typeface="Open Sans"/>
      <p:regular r:id="rId47"/>
      <p:bold r:id="rId48"/>
      <p:italic r:id="rId49"/>
      <p:boldItalic r:id="rId50"/>
    </p:embeddedFont>
  </p:embeddedFontLst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oundtripDataSignature="AMtx7mhu5dURU4INwSlvEO7StWDXKr50jg==" r:id="rId51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BEF19B-5B1D-4A26-B267-ECC71EF7E2D4}">
  <a:tblStyle styleId="{45BEF19B-5B1D-4A26-B267-ECC71EF7E2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mpd="sng">
              <a:solidFill>
                <a:srgbClr val="7F7F7F"/>
              </a:solidFill>
            </a:ln>
          </a:left>
          <a:right>
            <a:ln w="12700" cmpd="sng">
              <a:solidFill>
                <a:srgbClr val="7F7F7F"/>
              </a:solidFill>
            </a:ln>
          </a:right>
          <a:top>
            <a:ln w="12700" cmpd="sng">
              <a:solidFill>
                <a:srgbClr val="7F7F7F"/>
              </a:solidFill>
            </a:ln>
          </a:top>
          <a:bottom>
            <a:ln w="12700" cmpd="sng">
              <a:solidFill>
                <a:srgbClr val="7F7F7F"/>
              </a:solidFill>
            </a:ln>
          </a:bottom>
          <a:insideH>
            <a:ln w="12700" cmpd="sng">
              <a:solidFill>
                <a:srgbClr val="7F7F7F"/>
              </a:solidFill>
            </a:ln>
          </a:insideH>
          <a:insideV>
            <a:ln w="12700" cmpd="sng">
              <a:solidFill>
                <a:srgbClr val="7F7F7F"/>
              </a:solidFill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E219758-DFE7-4E60-9379-781288D8A98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BEBEB"/>
          </a:solidFill>
        </a:fill>
      </a:tcStyle>
    </a:wholeTbl>
    <a:band1H>
      <a:tcTxStyle/>
      <a:tcStyle>
        <a:fill>
          <a:solidFill>
            <a:srgbClr val="F8D4D4"/>
          </a:solidFill>
        </a:fill>
      </a:tcStyle>
    </a:band1H>
    <a:band2H>
      <a:tcTxStyle/>
    </a:band2H>
    <a:band1V>
      <a:tcTxStyle/>
      <a:tcStyle>
        <a:fill>
          <a:solidFill>
            <a:srgbClr val="F8D4D4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slide" Target="slides/slide10.xml" /><Relationship Id="rId15" Type="http://schemas.openxmlformats.org/officeDocument/2006/relationships/slide" Target="slides/slide11.xml" /><Relationship Id="rId16" Type="http://schemas.openxmlformats.org/officeDocument/2006/relationships/slide" Target="slides/slide12.xml" /><Relationship Id="rId17" Type="http://schemas.openxmlformats.org/officeDocument/2006/relationships/slide" Target="slides/slide13.xml" /><Relationship Id="rId18" Type="http://schemas.openxmlformats.org/officeDocument/2006/relationships/slide" Target="slides/slide14.xml" /><Relationship Id="rId19" Type="http://schemas.openxmlformats.org/officeDocument/2006/relationships/slide" Target="slides/slide15.xml" /><Relationship Id="rId20" Type="http://schemas.openxmlformats.org/officeDocument/2006/relationships/slide" Target="slides/slide16.xml" /><Relationship Id="rId21" Type="http://schemas.openxmlformats.org/officeDocument/2006/relationships/slide" Target="slides/slide17.xml" /><Relationship Id="rId22" Type="http://schemas.openxmlformats.org/officeDocument/2006/relationships/slide" Target="slides/slide18.xml" /><Relationship Id="rId23" Type="http://schemas.openxmlformats.org/officeDocument/2006/relationships/slide" Target="slides/slide19.xml" /><Relationship Id="rId24" Type="http://schemas.openxmlformats.org/officeDocument/2006/relationships/slide" Target="slides/slide20.xml" /><Relationship Id="rId25" Type="http://schemas.openxmlformats.org/officeDocument/2006/relationships/slide" Target="slides/slide21.xml" /><Relationship Id="rId26" Type="http://schemas.openxmlformats.org/officeDocument/2006/relationships/slide" Target="slides/slide22.xml" /><Relationship Id="rId27" Type="http://schemas.openxmlformats.org/officeDocument/2006/relationships/slide" Target="slides/slide23.xml" /><Relationship Id="rId28" Type="http://schemas.openxmlformats.org/officeDocument/2006/relationships/slide" Target="slides/slide24.xml" /><Relationship Id="rId29" Type="http://schemas.openxmlformats.org/officeDocument/2006/relationships/slide" Target="slides/slide25.xml" /><Relationship Id="rId30" Type="http://schemas.openxmlformats.org/officeDocument/2006/relationships/slide" Target="slides/slide26.xml" /><Relationship Id="rId31" Type="http://schemas.openxmlformats.org/officeDocument/2006/relationships/slide" Target="slides/slide27.xml" /><Relationship Id="rId32" Type="http://schemas.openxmlformats.org/officeDocument/2006/relationships/slide" Target="slides/slide28.xml" /><Relationship Id="rId33" Type="http://schemas.openxmlformats.org/officeDocument/2006/relationships/slide" Target="slides/slide29.xml" /><Relationship Id="rId34" Type="http://schemas.openxmlformats.org/officeDocument/2006/relationships/slide" Target="slides/slide30.xml" /><Relationship Id="rId35" Type="http://schemas.openxmlformats.org/officeDocument/2006/relationships/slide" Target="slides/slide31.xml" /><Relationship Id="rId36" Type="http://schemas.openxmlformats.org/officeDocument/2006/relationships/slide" Target="slides/slide32.xml" /><Relationship Id="rId37" Type="http://schemas.openxmlformats.org/officeDocument/2006/relationships/slide" Target="slides/slide33.xml" /><Relationship Id="rId38" Type="http://schemas.openxmlformats.org/officeDocument/2006/relationships/slide" Target="slides/slide34.xml" /><Relationship Id="rId39" Type="http://schemas.openxmlformats.org/officeDocument/2006/relationships/slide" Target="slides/slide35.xml" /><Relationship Id="rId40" Type="http://schemas.openxmlformats.org/officeDocument/2006/relationships/slide" Target="slides/slide36.xml" /><Relationship Id="rId41" Type="http://schemas.openxmlformats.org/officeDocument/2006/relationships/slide" Target="slides/slide37.xml" /><Relationship Id="rId42" Type="http://schemas.openxmlformats.org/officeDocument/2006/relationships/slide" Target="slides/slide38.xml" /><Relationship Id="rId1" Type="http://schemas.openxmlformats.org/officeDocument/2006/relationships/theme" Target="theme/theme1.xml" /><Relationship Id="rId2" Type="http://schemas.openxmlformats.org/officeDocument/2006/relationships/presProps" Target="presProps.xml" /><Relationship Id="rId3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44" Type="http://schemas.openxmlformats.org/officeDocument/2006/relationships/font" Target="fonts/Roboto-bold.fntdata" /><Relationship Id="rId43" Type="http://schemas.openxmlformats.org/officeDocument/2006/relationships/font" Target="fonts/Roboto-regular.fntdata" /><Relationship Id="rId46" Type="http://schemas.openxmlformats.org/officeDocument/2006/relationships/font" Target="fonts/Roboto-boldItalic.fntdata" /><Relationship Id="rId45" Type="http://schemas.openxmlformats.org/officeDocument/2006/relationships/font" Target="fonts/Roboto-italic.fntdata" /><Relationship Id="rId47" Type="http://schemas.openxmlformats.org/officeDocument/2006/relationships/font" Target="fonts/OpenSans-regular.fntdata" /><Relationship Id="rId49" Type="http://schemas.openxmlformats.org/officeDocument/2006/relationships/font" Target="fonts/OpenSans-italic.fntdata" /><Relationship Id="rId48" Type="http://schemas.openxmlformats.org/officeDocument/2006/relationships/font" Target="fonts/OpenSans-bold.fntdata" /><Relationship Id="rId51" Type="http://customschemas.google.com/relationships/presentationmetadata" Target="metadata" /><Relationship Id="rId50" Type="http://schemas.openxmlformats.org/officeDocument/2006/relationships/font" Target="fonts/OpenSans-boldItalic.fntdata" /></Relationship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êu đề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idx="11" type="ftr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" name="Google Shape;19;p21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0" name="Google Shape;20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" name="Google Shape;21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" name="Google Shape;22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3" name="Google Shape;23;p2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" name="Google Shape;24;p21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5" name="Google Shape;25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" name="Google Shape;26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" name="Google Shape;27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" name="Google Shape;28;p21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1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30" name="Google Shape;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1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32" name="Google Shape;32;p21"/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21"/>
          <p:cNvSpPr txBox="1"/>
          <p:nvPr>
            <p:ph type="ctrTitle"/>
          </p:nvPr>
        </p:nvSpPr>
        <p:spPr>
          <a:xfrm>
            <a:off x="952500" y="1333500"/>
            <a:ext cx="10287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4400"/>
              <a:buNone/>
              <a:defRPr b="1" sz="4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type="subTitle" idx="1"/>
          </p:nvPr>
        </p:nvSpPr>
        <p:spPr>
          <a:xfrm>
            <a:off x="952500" y="3524250"/>
            <a:ext cx="10287000" cy="200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2800"/>
              <a:buNone/>
              <a:defRPr b="1" sz="2800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3" type="body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4" type="body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1200"/>
              <a:buNone/>
              <a:defRPr sz="1200">
                <a:solidFill>
                  <a:srgbClr val="A5A5A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" name="Google Shape;41;p21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42" name="Google Shape;42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" name="Google Shape;43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" name="Google Shape;44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5" name="Google Shape;45;p2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oogle Shape;46;p21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47" name="Google Shape;47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" name="Google Shape;48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" name="Google Shape;49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0" name="Google Shape;50;p21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1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52" name="Google Shape;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1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Mục lục">
  <p:cSld name="2_Mục lục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22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57" name="Google Shape;57;p2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" name="Google Shape;58;p2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2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0" name="Google Shape;60;p22"/>
          <p:cNvSpPr txBox="1"/>
          <p:nvPr>
            <p:ph idx="11" type="ftr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22"/>
          <p:cNvGrpSpPr/>
          <p:nvPr/>
        </p:nvGrpSpPr>
        <p:grpSpPr>
          <a:xfrm>
            <a:off x="-1259888" y="1121391"/>
            <a:ext cx="4841288" cy="5054000"/>
            <a:chOff x="-1259888" y="901609"/>
            <a:chExt cx="4841288" cy="5054000"/>
          </a:xfrm>
        </p:grpSpPr>
        <p:grpSp>
          <p:nvGrpSpPr>
            <p:cNvPr id="62" name="Google Shape;62;p22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3" name="Google Shape;63;p22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22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22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6" name="Google Shape;66;p22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p22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8" name="Google Shape;68;p22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22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22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1" name="Google Shape;71;p22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22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73" name="Google Shape;73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4" name="Google Shape;74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7" name="Google Shape;77;p22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78" name="Google Shape;78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9" name="Google Shape;79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0" name="Google Shape;80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2" name="Google Shape;82;p22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83" name="Google Shape;83;p22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22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22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6" name="Google Shape;86;p22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" name="Google Shape;87;p22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88" name="Google Shape;88;p22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22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22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1" name="Google Shape;91;p22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" name="Google Shape;92;p22"/>
          <p:cNvGrpSpPr/>
          <p:nvPr/>
        </p:nvGrpSpPr>
        <p:grpSpPr>
          <a:xfrm flipH="1">
            <a:off x="8607643" y="1121391"/>
            <a:ext cx="4841288" cy="5054000"/>
            <a:chOff x="-1259888" y="901609"/>
            <a:chExt cx="4841288" cy="5054000"/>
          </a:xfrm>
        </p:grpSpPr>
        <p:grpSp>
          <p:nvGrpSpPr>
            <p:cNvPr id="93" name="Google Shape;93;p22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94" name="Google Shape;94;p22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22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22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7" name="Google Shape;97;p22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22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99" name="Google Shape;99;p22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22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22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2" name="Google Shape;102;p22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" name="Google Shape;103;p22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04" name="Google Shape;104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5" name="Google Shape;105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8" name="Google Shape;108;p22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109" name="Google Shape;109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" name="Google Shape;110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1" name="Google Shape;111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" name="Google Shape;112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13" name="Google Shape;113;p22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114" name="Google Shape;114;p22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22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22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7" name="Google Shape;117;p22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p22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119" name="Google Shape;119;p22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0" name="Google Shape;120;p22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1" name="Google Shape;121;p22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22" name="Google Shape;122;p22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3" name="Google Shape;123;p22"/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11900400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2735144" y="1286346"/>
            <a:ext cx="6721714" cy="4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2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22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129" name="Google Shape;129;p2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" name="Google Shape;130;p2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" name="Google Shape;131;p2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A picture containing clipart, vector graphics&#10;&#10;Description automatically generated" id="132" name="Google Shape;13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 txBox="1"/>
          <p:nvPr>
            <p:ph idx="10" type="dt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i dung" type="obj">
  <p:cSld name="Title and Conten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3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p23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138" name="Google Shape;138;p2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" name="Google Shape;139;p2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23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1" name="Google Shape;141;p23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"/>
          </p:nvPr>
        </p:nvSpPr>
        <p:spPr>
          <a:xfrm>
            <a:off x="774145" y="1233824"/>
            <a:ext cx="10579654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5" name="Google Shape;145;p23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46" name="Google Shape;146;p23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3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3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3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3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3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23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3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6" name="Google Shape;156;p23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157" name="Google Shape;157;p2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8" name="Google Shape;158;p2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9" name="Google Shape;159;p23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i dung 2">
  <p:cSld name="Noi dung 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" name="Google Shape;163;p24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164" name="Google Shape;164;p2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5" name="Google Shape;165;p2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" name="Google Shape;166;p2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7" name="Google Shape;167;p24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4"/>
          <p:cNvSpPr txBox="1"/>
          <p:nvPr>
            <p:ph type="title"/>
          </p:nvPr>
        </p:nvSpPr>
        <p:spPr>
          <a:xfrm>
            <a:off x="774146" y="202009"/>
            <a:ext cx="3932227" cy="1698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4"/>
          <p:cNvSpPr txBox="1"/>
          <p:nvPr>
            <p:ph idx="1" type="body"/>
          </p:nvPr>
        </p:nvSpPr>
        <p:spPr>
          <a:xfrm>
            <a:off x="774144" y="2113808"/>
            <a:ext cx="3932227" cy="4063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24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1" name="Google Shape;171;p24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72" name="Google Shape;172;p24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24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24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24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24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24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4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4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2" name="Google Shape;182;p24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183" name="Google Shape;183;p2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" name="Google Shape;184;p2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5" name="Google Shape;185;p2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86" name="Google Shape;186;p24"/>
          <p:cNvSpPr txBox="1"/>
          <p:nvPr>
            <p:ph idx="2" type="body"/>
          </p:nvPr>
        </p:nvSpPr>
        <p:spPr>
          <a:xfrm>
            <a:off x="5085934" y="202009"/>
            <a:ext cx="6267866" cy="59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ống" type="blank">
  <p:cSld name="Blank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idx="11" type="ftr"/>
          </p:nvPr>
        </p:nvSpPr>
        <p:spPr>
          <a:xfrm>
            <a:off x="3684104" y="6481647"/>
            <a:ext cx="482379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5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5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" name="Google Shape;191;p25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192" name="Google Shape;192;p2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" name="Google Shape;193;p2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4" name="Google Shape;194;p2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5" name="Google Shape;195;p25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6" name="Google Shape;196;p25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197" name="Google Shape;197;p2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" name="Google Shape;198;p2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9" name="Google Shape;199;p2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0" name="Google Shape;200;p25"/>
          <p:cNvSpPr/>
          <p:nvPr/>
        </p:nvSpPr>
        <p:spPr>
          <a:xfrm>
            <a:off x="11926541" y="6589084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5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207" name="Google Shape;2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5"/>
          <p:cNvSpPr txBox="1"/>
          <p:nvPr>
            <p:ph idx="12" type="sldNum"/>
          </p:nvPr>
        </p:nvSpPr>
        <p:spPr>
          <a:xfrm>
            <a:off x="11897699" y="656024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25"/>
          <p:cNvSpPr txBox="1"/>
          <p:nvPr>
            <p:ph idx="10" type="dt"/>
          </p:nvPr>
        </p:nvSpPr>
        <p:spPr>
          <a:xfrm>
            <a:off x="838200" y="6481647"/>
            <a:ext cx="2148299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êu đề chương">
  <p:cSld name="3_Tiêu đề chương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211" name="Google Shape;21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6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4" name="Google Shape;214;p26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15" name="Google Shape;215;p2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2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2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18" name="Google Shape;218;p26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9" name="Google Shape;219;p26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20" name="Google Shape;220;p2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1" name="Google Shape;221;p2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2" name="Google Shape;222;p2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3" name="Google Shape;223;p26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6"/>
          <p:cNvSpPr txBox="1"/>
          <p:nvPr>
            <p:ph idx="10" type="dt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6"/>
          <p:cNvSpPr txBox="1"/>
          <p:nvPr>
            <p:ph idx="11" type="ftr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6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6"/>
          <p:cNvSpPr txBox="1"/>
          <p:nvPr>
            <p:ph idx="12" type="sldNum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26"/>
          <p:cNvSpPr/>
          <p:nvPr>
            <p:ph idx="1" type="body"/>
          </p:nvPr>
        </p:nvSpPr>
        <p:spPr>
          <a:xfrm>
            <a:off x="1704109" y="3019167"/>
            <a:ext cx="4583866" cy="1439258"/>
          </a:xfrm>
          <a:prstGeom prst="roundRect">
            <a:avLst>
              <a:gd fmla="val 2631" name="adj"/>
            </a:avLst>
          </a:prstGeom>
          <a:solidFill>
            <a:srgbClr val="F2F2F2"/>
          </a:solidFill>
          <a:ln cap="rnd" cmpd="sng" w="19050">
            <a:solidFill>
              <a:srgbClr val="00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2FF"/>
              </a:buClr>
              <a:buSzPts val="2000"/>
              <a:buNone/>
              <a:defRPr b="1" i="0" sz="2000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29" name="Google Shape;229;p26"/>
          <p:cNvGrpSpPr/>
          <p:nvPr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230" name="Google Shape;230;p26"/>
            <p:cNvCxnSpPr/>
            <p:nvPr/>
          </p:nvCxnSpPr>
          <p:spPr>
            <a:xfrm>
              <a:off x="-349411" y="1986636"/>
              <a:ext cx="6360520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26"/>
            <p:cNvCxnSpPr/>
            <p:nvPr/>
          </p:nvCxnSpPr>
          <p:spPr>
            <a:xfrm flipH="1" rot="10800000">
              <a:off x="6011109" y="1480500"/>
              <a:ext cx="591405" cy="506136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" name="Google Shape;232;p26"/>
            <p:cNvCxnSpPr/>
            <p:nvPr/>
          </p:nvCxnSpPr>
          <p:spPr>
            <a:xfrm>
              <a:off x="6602514" y="1480500"/>
              <a:ext cx="1378423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3" name="Google Shape;233;p26"/>
            <p:cNvSpPr/>
            <p:nvPr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26"/>
          <p:cNvSpPr/>
          <p:nvPr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0"/>
          </a:gradFill>
          <a:ln cap="flat" cmpd="sng" w="12700">
            <a:solidFill>
              <a:srgbClr val="00C6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6"/>
          <p:cNvSpPr/>
          <p:nvPr>
            <p:ph idx="2" type="pic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</p:sp>
      <p:sp>
        <p:nvSpPr>
          <p:cNvPr id="236" name="Google Shape;236;p26"/>
          <p:cNvSpPr txBox="1"/>
          <p:nvPr>
            <p:ph idx="3" type="body"/>
          </p:nvPr>
        </p:nvSpPr>
        <p:spPr>
          <a:xfrm>
            <a:off x="2711214" y="2263753"/>
            <a:ext cx="3576761" cy="622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3600"/>
              <a:buNone/>
              <a:defRPr b="1" sz="36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ục lục">
  <p:cSld name="1_Mục lục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" name="Google Shape;239;p27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240" name="Google Shape;240;p2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" name="Google Shape;241;p2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" name="Google Shape;242;p27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3" name="Google Shape;243;p27"/>
          <p:cNvSpPr txBox="1"/>
          <p:nvPr>
            <p:ph idx="11" type="ftr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44" name="Google Shape;244;p27"/>
          <p:cNvGrpSpPr/>
          <p:nvPr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245" name="Google Shape;245;p27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246" name="Google Shape;246;p27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7" name="Google Shape;247;p27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8" name="Google Shape;248;p27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49" name="Google Shape;249;p27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0" name="Google Shape;250;p27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251" name="Google Shape;251;p27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2" name="Google Shape;252;p27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3" name="Google Shape;253;p27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54" name="Google Shape;254;p27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27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256" name="Google Shape;256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7" name="Google Shape;257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8" name="Google Shape;258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9" name="Google Shape;259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60" name="Google Shape;260;p27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61" name="Google Shape;261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2" name="Google Shape;262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3" name="Google Shape;263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4" name="Google Shape;264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65" name="Google Shape;265;p27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66" name="Google Shape;266;p27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7" name="Google Shape;267;p27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8" name="Google Shape;268;p27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69" name="Google Shape;269;p27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0" name="Google Shape;270;p27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271" name="Google Shape;271;p27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2" name="Google Shape;272;p27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3" name="Google Shape;273;p27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74" name="Google Shape;274;p27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5" name="Google Shape;275;p27"/>
          <p:cNvGrpSpPr/>
          <p:nvPr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276" name="Google Shape;276;p27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277" name="Google Shape;277;p27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8" name="Google Shape;278;p27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9" name="Google Shape;279;p27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80" name="Google Shape;280;p27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p27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282" name="Google Shape;282;p27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3" name="Google Shape;283;p27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4" name="Google Shape;284;p27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85" name="Google Shape;285;p27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6" name="Google Shape;286;p27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287" name="Google Shape;287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88" name="Google Shape;288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9" name="Google Shape;289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0" name="Google Shape;290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91" name="Google Shape;291;p27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92" name="Google Shape;292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3" name="Google Shape;293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4" name="Google Shape;294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5" name="Google Shape;295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96" name="Google Shape;296;p27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97" name="Google Shape;297;p27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8" name="Google Shape;298;p27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9" name="Google Shape;299;p27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00" name="Google Shape;300;p27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1" name="Google Shape;301;p27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02" name="Google Shape;302;p27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3" name="Google Shape;303;p27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4" name="Google Shape;304;p27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05" name="Google Shape;305;p27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6" name="Google Shape;306;p27"/>
          <p:cNvSpPr/>
          <p:nvPr/>
        </p:nvSpPr>
        <p:spPr>
          <a:xfrm>
            <a:off x="82718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7"/>
          <p:cNvSpPr txBox="1"/>
          <p:nvPr>
            <p:ph idx="12" type="sldNum"/>
          </p:nvPr>
        </p:nvSpPr>
        <p:spPr>
          <a:xfrm>
            <a:off x="58527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27"/>
          <p:cNvSpPr txBox="1"/>
          <p:nvPr>
            <p:ph idx="1" type="body"/>
          </p:nvPr>
        </p:nvSpPr>
        <p:spPr>
          <a:xfrm>
            <a:off x="2033899" y="1559014"/>
            <a:ext cx="8124204" cy="4153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0" name="Google Shape;310;p27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1" name="Google Shape;311;p27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312" name="Google Shape;312;p2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" name="Google Shape;313;p2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" name="Google Shape;314;p27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15" name="Google Shape;315;p27"/>
          <p:cNvSpPr txBox="1"/>
          <p:nvPr>
            <p:ph idx="10" type="dt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27"/>
          <p:cNvSpPr txBox="1"/>
          <p:nvPr>
            <p:ph idx="2" type="body"/>
          </p:nvPr>
        </p:nvSpPr>
        <p:spPr>
          <a:xfrm>
            <a:off x="4859729" y="734646"/>
            <a:ext cx="2714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7" name="Google Shape;317;p27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êu đề chương">
  <p:cSld name="Section Header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319" name="Google Shape;31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8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2" name="Google Shape;322;p28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323" name="Google Shape;323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" name="Google Shape;324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5" name="Google Shape;325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26" name="Google Shape;326;p28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7" name="Google Shape;327;p28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328" name="Google Shape;328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9" name="Google Shape;329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0" name="Google Shape;330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1" name="Google Shape;331;p28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8"/>
          <p:cNvSpPr txBox="1"/>
          <p:nvPr>
            <p:ph type="title"/>
          </p:nvPr>
        </p:nvSpPr>
        <p:spPr>
          <a:xfrm>
            <a:off x="1470929" y="2095027"/>
            <a:ext cx="9941071" cy="884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b="1" sz="44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3" name="Google Shape;333;p28"/>
          <p:cNvSpPr txBox="1"/>
          <p:nvPr>
            <p:ph type="body" idx="1"/>
          </p:nvPr>
        </p:nvSpPr>
        <p:spPr>
          <a:xfrm>
            <a:off x="1470930" y="3169159"/>
            <a:ext cx="9941070" cy="69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4" name="Google Shape;334;p28"/>
          <p:cNvSpPr txBox="1"/>
          <p:nvPr>
            <p:ph idx="3" type="body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5" name="Google Shape;335;p28"/>
          <p:cNvSpPr txBox="1"/>
          <p:nvPr>
            <p:ph idx="4" type="body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  <a:defRPr b="1" sz="120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36" name="Google Shape;336;p28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cap="rnd" cmpd="sng" w="2540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28"/>
          <p:cNvSpPr txBox="1"/>
          <p:nvPr>
            <p:ph idx="10" type="dt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28"/>
          <p:cNvSpPr txBox="1"/>
          <p:nvPr>
            <p:ph idx="11" type="ftr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39" name="Google Shape;339;p28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340" name="Google Shape;340;p28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8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8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8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8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8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6" name="Google Shape;346;p28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8"/>
          <p:cNvSpPr txBox="1"/>
          <p:nvPr>
            <p:ph idx="12" type="sldNum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ackground pattern&#10;&#10;Description automatically generated" id="348" name="Google Shape;34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8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8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8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7" name="Google Shape;357;p28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358" name="Google Shape;358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9" name="Google Shape;359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0" name="Google Shape;360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61" name="Google Shape;361;p28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2" name="Google Shape;362;p28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363" name="Google Shape;363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4" name="Google Shape;364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5" name="Google Shape;365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66" name="Google Shape;366;p28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8"/>
          <p:cNvSpPr txBox="1"/>
          <p:nvPr>
            <p:ph idx="5" type="sldNum"/>
          </p:nvPr>
        </p:nvSpPr>
        <p:spPr>
          <a:xfrm>
            <a:off x="1189939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8" name="Google Shape;368;p28"/>
          <p:cNvSpPr txBox="1"/>
          <p:nvPr>
            <p:ph idx="6" type="body"/>
          </p:nvPr>
        </p:nvSpPr>
        <p:spPr>
          <a:xfrm>
            <a:off x="1470930" y="2095027"/>
            <a:ext cx="6264164" cy="884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b="1" sz="44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9" name="Google Shape;369;p28"/>
          <p:cNvSpPr txBox="1"/>
          <p:nvPr>
            <p:ph idx="7" type="body"/>
          </p:nvPr>
        </p:nvSpPr>
        <p:spPr>
          <a:xfrm>
            <a:off x="1470930" y="3169159"/>
            <a:ext cx="8913813" cy="69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0" name="Google Shape;370;p28"/>
          <p:cNvSpPr txBox="1"/>
          <p:nvPr>
            <p:ph idx="8" type="body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71" name="Google Shape;371;p28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cap="rnd" cmpd="sng" w="2540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 sanh 1">
  <p:cSld name="Two Content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9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9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5" name="Google Shape;375;p29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376" name="Google Shape;376;p2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" name="Google Shape;377;p2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8" name="Google Shape;378;p2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79" name="Google Shape;379;p29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9"/>
          <p:cNvSpPr txBox="1"/>
          <p:nvPr>
            <p:ph sz="half" idx="1"/>
          </p:nvPr>
        </p:nvSpPr>
        <p:spPr>
          <a:xfrm>
            <a:off x="774144" y="1233825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1" name="Google Shape;381;p29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82" name="Google Shape;382;p29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383" name="Google Shape;383;p29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29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29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29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" name="Google Shape;389;p29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29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9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9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3" name="Google Shape;393;p29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394" name="Google Shape;394;p2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" name="Google Shape;395;p2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6" name="Google Shape;396;p2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97" name="Google Shape;397;p29"/>
          <p:cNvSpPr txBox="1"/>
          <p:nvPr>
            <p:ph sz="half" idx="2"/>
          </p:nvPr>
        </p:nvSpPr>
        <p:spPr>
          <a:xfrm>
            <a:off x="6151800" y="1228490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8" name="Google Shape;398;p29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 sanh 2">
  <p:cSld name="Comparison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0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0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2" name="Google Shape;402;p30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403" name="Google Shape;403;p3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4" name="Google Shape;404;p3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5" name="Google Shape;405;p30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06" name="Google Shape;406;p30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0"/>
          <p:cNvSpPr txBox="1"/>
          <p:nvPr>
            <p:ph sz="half" idx="2"/>
          </p:nvPr>
        </p:nvSpPr>
        <p:spPr>
          <a:xfrm>
            <a:off x="774144" y="1962615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8" name="Google Shape;408;p30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09" name="Google Shape;409;p30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410" name="Google Shape;410;p30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30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30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30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0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0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20" name="Google Shape;420;p30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421" name="Google Shape;421;p3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2" name="Google Shape;422;p3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3" name="Google Shape;423;p30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24" name="Google Shape;424;p30"/>
          <p:cNvSpPr txBox="1"/>
          <p:nvPr>
            <p:ph sz="quarter" idx="4"/>
          </p:nvPr>
        </p:nvSpPr>
        <p:spPr>
          <a:xfrm>
            <a:off x="6151800" y="1957280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5" name="Google Shape;425;p30"/>
          <p:cNvSpPr txBox="1"/>
          <p:nvPr>
            <p:ph type="body" idx="1"/>
          </p:nvPr>
        </p:nvSpPr>
        <p:spPr>
          <a:xfrm>
            <a:off x="774144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6" name="Google Shape;426;p30"/>
          <p:cNvSpPr txBox="1"/>
          <p:nvPr>
            <p:ph type="body" sz="quarter" idx="3"/>
          </p:nvPr>
        </p:nvSpPr>
        <p:spPr>
          <a:xfrm>
            <a:off x="6151006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7" name="Google Shape;427;p30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ình ảnh">
  <p:cSld name="Content with Ca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1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1" name="Google Shape;431;p31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432" name="Google Shape;432;p3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3" name="Google Shape;433;p3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4" name="Google Shape;434;p3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35" name="Google Shape;435;p3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31"/>
          <p:cNvSpPr txBox="1"/>
          <p:nvPr>
            <p:ph type="body" sz="half" idx="2"/>
          </p:nvPr>
        </p:nvSpPr>
        <p:spPr>
          <a:xfrm>
            <a:off x="771525" y="1066800"/>
            <a:ext cx="10582275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8" name="Google Shape;438;p31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39" name="Google Shape;439;p31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440" name="Google Shape;440;p31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31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31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31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31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31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6" name="Google Shape;446;p31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31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1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50" name="Google Shape;450;p31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451" name="Google Shape;451;p3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2" name="Google Shape;452;p3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3" name="Google Shape;453;p3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54" name="Google Shape;454;p31"/>
          <p:cNvSpPr/>
          <p:nvPr>
            <p:ph idx="1"/>
          </p:nvPr>
        </p:nvSpPr>
        <p:spPr>
          <a:xfrm>
            <a:off x="771525" y="2324100"/>
            <a:ext cx="10582275" cy="3848100"/>
          </a:xfrm>
          <a:prstGeom prst="roundRect">
            <a:avLst>
              <a:gd fmla="val 57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ong 1">
  <p:cSld name="Trang trong 1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2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7" name="Google Shape;457;p32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458" name="Google Shape;458;p3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9" name="Google Shape;459;p3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0" name="Google Shape;460;p3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61" name="Google Shape;461;p32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2"/>
          <p:cNvSpPr txBox="1"/>
          <p:nvPr>
            <p:ph idx="12" type="sldNum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3" name="Google Shape;463;p32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4" name="Google Shape;464;p32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465" name="Google Shape;465;p3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6" name="Google Shape;466;p3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7" name="Google Shape;467;p3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68" name="Google Shape;468;p32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2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0" name="Google Shape;470;p32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ong 2">
  <p:cSld name="Trang trong 2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3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3"/>
          <p:cNvSpPr txBox="1"/>
          <p:nvPr>
            <p:ph idx="12" type="sldNum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êu đề">
  <p:cSld name="1_Tiêu đề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4"/>
          <p:cNvSpPr txBox="1"/>
          <p:nvPr>
            <p:ph idx="11" type="ftr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34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4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8" name="Google Shape;478;p34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479" name="Google Shape;479;p3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0" name="Google Shape;480;p3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1" name="Google Shape;481;p3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82" name="Google Shape;482;p34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3" name="Google Shape;483;p34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484" name="Google Shape;484;p3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5" name="Google Shape;485;p3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6" name="Google Shape;486;p3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87" name="Google Shape;487;p34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4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489" name="Google Shape;4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4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491" name="Google Shape;491;p34"/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4"/>
          <p:cNvSpPr txBox="1"/>
          <p:nvPr>
            <p:ph idx="12" type="sldNum"/>
          </p:nvPr>
        </p:nvSpPr>
        <p:spPr>
          <a:xfrm>
            <a:off x="11894359" y="6566401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3" name="Google Shape;493;p34"/>
          <p:cNvSpPr txBox="1"/>
          <p:nvPr>
            <p:ph idx="1" type="body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b="1" sz="4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4" name="Google Shape;494;p34"/>
          <p:cNvSpPr txBox="1"/>
          <p:nvPr>
            <p:ph idx="2" type="body"/>
          </p:nvPr>
        </p:nvSpPr>
        <p:spPr>
          <a:xfrm>
            <a:off x="876991" y="3039455"/>
            <a:ext cx="10438019" cy="459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2000"/>
              <a:buNone/>
              <a:defRPr b="1" sz="2000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5" name="Google Shape;495;p34"/>
          <p:cNvSpPr txBox="1"/>
          <p:nvPr>
            <p:ph idx="3" type="body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6" name="Google Shape;496;p34"/>
          <p:cNvSpPr txBox="1"/>
          <p:nvPr>
            <p:ph idx="4" type="body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200"/>
              <a:buNone/>
              <a:defRPr sz="1200">
                <a:solidFill>
                  <a:srgbClr val="BFBFB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7" name="Google Shape;497;p34"/>
          <p:cNvSpPr txBox="1"/>
          <p:nvPr>
            <p:ph idx="10" type="dt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arget="../slideLayouts/slideLayout11.xml" Type="http://schemas.openxmlformats.org/officeDocument/2006/relationships/slideLayout" /><Relationship Id="rId10" Target="../slideLayouts/slideLayout10.xml" Type="http://schemas.openxmlformats.org/officeDocument/2006/relationships/slideLayout" /><Relationship Id="rId13" Target="../slideLayouts/slideLayout13.xml" Type="http://schemas.openxmlformats.org/officeDocument/2006/relationships/slideLayout" /><Relationship Id="rId12" Target="../slideLayouts/slideLayout12.xml" Type="http://schemas.openxmlformats.org/officeDocument/2006/relationships/slideLayout" /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5" Target="../theme/theme1.xml" Type="http://schemas.openxmlformats.org/officeDocument/2006/relationships/theme" /><Relationship Id="rId14" Target="../slideLayouts/slideLayout1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b="1" cap="none" i="0" strike="noStrike" sz="4000" u="none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064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cap="none" i="0" strike="noStrike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cap="none" i="0" strike="noStrike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i="0" strike="noStrike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folHlink="folHlink" hlink="hlink" tx1="dk1" tx2="lt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9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0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1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4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5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9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ctrTitle"/>
          </p:nvPr>
        </p:nvSpPr>
        <p:spPr>
          <a:xfrm>
            <a:off x="952500" y="1333500"/>
            <a:ext cx="10287000" cy="1905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Xây dựng hệ thống nhận dạng biển số xe bằng Trí tuệ nhân tạo</a:t>
            </a:r>
          </a:p>
        </p:txBody>
      </p:sp>
      <p:sp>
        <p:nvSpPr>
          <p:cNvPr id="35" name="Google Shape;35;p21"/>
          <p:cNvSpPr txBox="1"/>
          <p:nvPr>
            <p:ph idx="1" type="subTitle"/>
          </p:nvPr>
        </p:nvSpPr>
        <p:spPr>
          <a:xfrm>
            <a:off x="952500" y="3524250"/>
            <a:ext cx="10287000" cy="2000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Đồ án tốt nghiệp đại học · Trường Đại học Công nghệ Thông tin, ĐHQG-HCM</a:t>
            </a:r>
            <a:br/>
            <a:br/>
            <a:r>
              <a:rPr/>
              <a:t>Phạm Công Thành — 25410013 · Nguyễn Minh Hiếu — 25410007</a:t>
            </a:r>
            <a:br/>
            <a:r>
              <a:rPr/>
              <a:t>GVHD: ThS. Cáp Phạm Đình Thăng</a:t>
            </a:r>
          </a:p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Tháng 9 năm 2026</a:t>
            </a:r>
          </a:p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NỘI DUNG</a:t>
            </a:r>
          </a:p>
        </p:txBody>
      </p:sp>
      <p:sp>
        <p:nvSpPr>
          <p:cNvPr id="143" name="Google Shape;143;p23"/>
          <p:cNvSpPr txBox="1"/>
          <p:nvPr>
            <p:ph idx="1"/>
          </p:nvPr>
        </p:nvSpPr>
        <p:spPr/>
        <p:txBody>
          <a:bodyPr/>
          <a:lstStyle/>
          <a:p>
            <a:pPr lvl="0" indent="0" marL="347663">
              <a:buAutoNum type="arabicPeriod"/>
            </a:pPr>
            <a:r>
              <a:rPr b="1"/>
              <a:t>Tổng quan đề tài</a:t>
            </a:r>
          </a:p>
          <a:p>
            <a:pPr lvl="0" indent="0" marL="347663">
              <a:buAutoNum type="arabicPeriod"/>
            </a:pPr>
            <a:r>
              <a:rPr b="1"/>
              <a:t>Cơ sở lý thuyết</a:t>
            </a:r>
          </a:p>
          <a:p>
            <a:pPr lvl="0" indent="0" marL="347663">
              <a:buAutoNum type="arabicPeriod"/>
            </a:pPr>
            <a:r>
              <a:rPr b="1"/>
              <a:t>Phân tích và thiết kế hệ thống</a:t>
            </a:r>
          </a:p>
          <a:p>
            <a:pPr lvl="0" indent="0" marL="347663">
              <a:buAutoNum type="arabicPeriod"/>
            </a:pPr>
            <a:r>
              <a:rPr b="1"/>
              <a:t>Kết quả thực nghiệm</a:t>
            </a:r>
          </a:p>
          <a:p>
            <a:pPr lvl="0" indent="0" marL="347663">
              <a:buAutoNum type="arabicPeriod"/>
            </a:pPr>
            <a:r>
              <a:rPr b="1"/>
              <a:t>Kết luận và hướng phát triển</a:t>
            </a: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Vì sao đề tài này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~77 triệu xe máy</a:t>
            </a:r>
            <a:r>
              <a:rPr/>
              <a:t> — </a:t>
            </a:r>
            <a:r>
              <a:rPr b="1"/>
              <a:t>85–90%</a:t>
            </a:r>
            <a:r>
              <a:rPr/>
              <a:t> lưu lượng đường bộ Việt Nam</a:t>
            </a:r>
          </a:p>
          <a:p>
            <a:pPr lvl="0" indent="0" marL="0">
              <a:buNone/>
            </a:pPr>
            <a:r>
              <a:rPr/>
              <a:t>Cùng hệ thống, cùng phép đo: </a:t>
            </a:r>
            <a:r>
              <a:rPr b="1"/>
              <a:t>chênh 48,6 điểm</a:t>
            </a:r>
            <a:r>
              <a:rPr/>
              <a:t> </a:t>
            </a:r>
            <a:r>
              <a:rPr i="1"/>
              <a:t>(số liệu Brazil)</a:t>
            </a:r>
          </a:p>
        </p:txBody>
      </p:sp>
      <p:pic>
        <p:nvPicPr>
          <p:cNvPr descr="figures/fig-g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30600" y="2324100"/>
            <a:ext cx="50292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Căn cứ pháp lý: một phát hiện</a:t>
            </a:r>
          </a:p>
        </p:txBody>
      </p:sp>
      <p:sp>
        <p:nvSpPr>
          <p:cNvPr id="143" name="Google Shape;143;p23"/>
          <p:cNvSpPr txBox="1"/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Đề bài dẫn </a:t>
            </a:r>
            <a:r>
              <a:rPr sz="2000" b="1"/>
              <a:t>TT 24/2023/TT-BCA</a:t>
            </a:r>
            <a:r>
              <a:rPr sz="2000"/>
              <a:t> — </a:t>
            </a:r>
            <a:r>
              <a:rPr sz="2000" b="1"/>
              <a:t>đã hết hiệu lực từ 01/01/2025</a:t>
            </a:r>
          </a:p>
          <a:p>
            <a:pPr lvl="0"/>
            <a:r>
              <a:rPr b="1"/>
              <a:t>TT 79/2024/TT-BCA</a:t>
            </a:r>
            <a:r>
              <a:rPr/>
              <a:t> — cấu trúc biển, seri, màu sắc</a:t>
            </a:r>
          </a:p>
          <a:p>
            <a:pPr lvl="0"/>
            <a:r>
              <a:rPr b="1"/>
              <a:t>TT 13/2025 · TT 51/2025</a:t>
            </a:r>
            <a:r>
              <a:rPr/>
              <a:t> — sửa đổi TT 79/2024 · phụ lục mã tỉnh còn </a:t>
            </a:r>
            <a:r>
              <a:rPr b="1"/>
              <a:t>34 tỉnh/thành</a:t>
            </a:r>
          </a:p>
          <a:p>
            <a:pPr lvl="0"/>
            <a:r>
              <a:rPr b="1"/>
              <a:t>QCVN 08:2024/BCA</a:t>
            </a:r>
            <a:r>
              <a:rPr/>
              <a:t> — kích thước và tỉ lệ</a:t>
            </a:r>
          </a:p>
          <a:p>
            <a:pPr lvl="0" indent="0" marL="0">
              <a:buNone/>
            </a:pPr>
            <a:r>
              <a:rPr/>
              <a:t>⇒ Bộ luật xây trên văn bản </a:t>
            </a:r>
            <a:r>
              <a:rPr b="1"/>
              <a:t>đang có hiệu lực</a:t>
            </a: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Đặc thù biển số Việt Nam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Bố cục tách bạch theo </a:t>
            </a:r>
            <a:r>
              <a:rPr b="1"/>
              <a:t>tỉ lệ khung hình</a:t>
            </a:r>
            <a:r>
              <a:rPr/>
              <a:t> </a:t>
            </a:r>
            <a:r>
              <a:rPr i="1"/>
              <a:t>(QCVN 08:2024/BCA)</a:t>
            </a:r>
          </a:p>
          <a:p>
            <a:pPr lvl="0" indent="0" marL="0">
              <a:buNone/>
            </a:pPr>
            <a:r>
              <a:rPr/>
              <a:t>Tỉ lệ đo thật lệch khỏi chuẩn nhưng vẫn đúng phía ngưỡng </a:t>
            </a:r>
            <a:r>
              <a:rPr b="1"/>
              <a:t>2,5</a:t>
            </a:r>
          </a:p>
        </p:txBody>
      </p:sp>
      <p:pic>
        <p:nvPicPr>
          <p:cNvPr descr="figures/fig-layou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75100" y="2324100"/>
            <a:ext cx="41529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Chọn hướng tiếp cận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Chọn hai giai đoạn:</a:t>
            </a:r>
            <a:r>
              <a:rPr/>
              <a:t> YOLO11n phát hiện vùng biển → PaddleOCR đọc ký tự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5283200"/>
                <a:gridCol w="528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Thế hệ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Điểm gãy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Cổ điển </a:t>
                      </a:r>
                      <a:r>
                        <a:rPr i="1"/>
                        <a:t>(Sobel, contour)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Vỡ khi đổi ánh sáng, góc chụp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Hai giai đoạn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Giả định 1 dòng nằm trong hàm mất mát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Một giai đoạn </a:t>
                      </a:r>
                      <a:r>
                        <a:rPr i="1"/>
                        <a:t>(YOLO đọc ký tự)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Cần nhãn ký tự — Việt Nam gần như không có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End-to-end </a:t>
                      </a:r>
                      <a:r>
                        <a:rPr i="1"/>
                        <a:t>(Transformer)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Đói dữ liệu, nặng, không hợp CPU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Chọn mô hình: YOLO11n &amp; PP-OCRv5 mobile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Đánh đổi tối ưu cho mục tiêu </a:t>
            </a:r>
            <a:r>
              <a:rPr b="1"/>
              <a:t>suy luận trên CPU</a:t>
            </a:r>
            <a:r>
              <a:rPr/>
              <a:t> — nhẹ, nhanh, chính xác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/>
                <a:gridCol w="3517900"/>
                <a:gridCol w="3517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Tầng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 được chọn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 sánh với các phương án khác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Phát hiện</a:t>
                      </a:r>
                      <a:r>
                        <a:rPr/>
                        <a:t> </a:t>
                      </a:r>
                      <a:r>
                        <a:rPr i="1"/>
                        <a:t>(Detection)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YOLO11n</a:t>
                      </a:r>
                      <a:r>
                        <a:rPr/>
                        <a:t> </a:t>
                      </a:r>
                      <a:r>
                        <a:rPr i="1"/>
                        <a:t>(2,6M params)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• </a:t>
                      </a:r>
                      <a:r>
                        <a:rPr b="1"/>
                        <a:t>Vs YOLOv8n / v5n:</a:t>
                      </a:r>
                      <a:r>
                        <a:rPr/>
                        <a:t> mAP50 cao hơn, số tham số nhỏ hơn (2,6M vs 3,2M)• </a:t>
                      </a:r>
                      <a:r>
                        <a:rPr b="1"/>
                        <a:t>Vs Faster R-CNN / Transformer:</a:t>
                      </a:r>
                      <a:r>
                        <a:rPr/>
                        <a:t> Nhanh gấp 10–20× trên CPU (~35 ms/khung)• </a:t>
                      </a:r>
                      <a:r>
                        <a:rPr b="1"/>
                        <a:t>Lý do:</a:t>
                      </a:r>
                      <a:r>
                        <a:rPr/>
                        <a:t> Đáp ứng chỉ tiêu p95 độ trễ CPU không cần GPU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Nhận dạng</a:t>
                      </a:r>
                      <a:r>
                        <a:rPr/>
                        <a:t> </a:t>
                      </a:r>
                      <a:r>
                        <a:rPr i="1"/>
                        <a:t>(OCR)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PP-OCRv5 mobile</a:t>
                      </a:r>
                      <a:r>
                        <a:rPr/>
                        <a:t> </a:t>
                      </a:r>
                      <a:r>
                        <a:rPr i="1"/>
                        <a:t>(4,5 MB)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• </a:t>
                      </a:r>
                      <a:r>
                        <a:rPr b="1"/>
                        <a:t>So với EasyOCR / Tesseract:</a:t>
                      </a:r>
                      <a:r>
                        <a:rPr/>
                        <a:t> phép đo trên 2.801 biển trong cùng tầng bao quanh cho kết quả PaddleOCR cao hơn; kết luận chỉ áp dụng cho cấu hình này• </a:t>
                      </a:r>
                      <a:r>
                        <a:rPr b="1"/>
                        <a:t>So với PP-OCRv5 Server:</a:t>
                      </a:r>
                      <a:r>
                        <a:rPr/>
                        <a:t> bản Server nặng hơn, không phù hợp ràng buộc CPU• </a:t>
                      </a:r>
                      <a:r>
                        <a:rPr b="1"/>
                        <a:t>Lý do chọn v5 mobile:</a:t>
                      </a:r>
                      <a:r>
                        <a:rPr/>
                        <a:t> dung lượng nhỏ, độ chính xác mức ký tự 94,5% trên tập đánh giá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Mục tiêu</a:t>
            </a:r>
          </a:p>
        </p:txBody>
      </p:sp>
      <p:sp>
        <p:nvSpPr>
          <p:cNvPr id="143" name="Google Shape;143;p23"/>
          <p:cNvSpPr txBox="1"/>
          <p:nvPr>
            <p:ph idx="1"/>
          </p:nvPr>
        </p:nvSpPr>
        <p:spPr/>
        <p:txBody>
          <a:bodyPr/>
          <a:lstStyle/>
          <a:p>
            <a:pPr lvl="0"/>
            <a:r>
              <a:rPr/>
              <a:t>Hệ thống ALPR </a:t>
            </a:r>
            <a:r>
              <a:rPr b="1"/>
              <a:t>hoàn chỉnh</a:t>
            </a:r>
            <a:r>
              <a:rPr/>
              <a:t>: AI · API · giao diện · CSDL · Docker</a:t>
            </a:r>
          </a:p>
          <a:p>
            <a:pPr lvl="0"/>
            <a:r>
              <a:rPr/>
              <a:t>Xử lý </a:t>
            </a:r>
            <a:r>
              <a:rPr b="1"/>
              <a:t>cả biển 1 dòng và 2 dòng</a:t>
            </a:r>
          </a:p>
          <a:p>
            <a:pPr lvl="0"/>
            <a:r>
              <a:rPr/>
              <a:t>Suy luận </a:t>
            </a:r>
            <a:r>
              <a:rPr b="1"/>
              <a:t>trên CPU</a:t>
            </a:r>
            <a:r>
              <a:rPr/>
              <a:t> — mặc định, không phải dự phòng</a:t>
            </a:r>
          </a:p>
          <a:p>
            <a:pPr lvl="0"/>
            <a:r>
              <a:rPr/>
              <a:t>Chỉ tiêu chốt </a:t>
            </a:r>
            <a:r>
              <a:rPr b="1"/>
              <a:t>trước</a:t>
            </a:r>
            <a:r>
              <a:rPr/>
              <a:t> khi làm, mỗi chỉ tiêu hai mức</a:t>
            </a:r>
          </a:p>
          <a:p>
            <a:pPr lvl="0" indent="0" marL="0">
              <a:buNone/>
            </a:pPr>
            <a:r>
              <a:rPr b="1"/>
              <a:t>Ngoài phạm vi:</a:t>
            </a:r>
            <a:r>
              <a:rPr/>
              <a:t> phân loại loại xe · tracking · barie · huấn luyện OCR từ đầu</a:t>
            </a: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Kiến trúc 5 tầng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Tầng AI là </a:t>
            </a:r>
            <a:r>
              <a:rPr b="1"/>
              <a:t>Python thuần</a:t>
            </a:r>
            <a:r>
              <a:rPr/>
              <a:t> — cấm import FastAPI hoặc Pydantic</a:t>
            </a:r>
          </a:p>
        </p:txBody>
      </p:sp>
      <p:pic>
        <p:nvPicPr>
          <p:cNvPr descr="figures/fig-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67100" y="2324100"/>
            <a:ext cx="51689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Pipeline AI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Nhánh </a:t>
            </a:r>
            <a:r>
              <a:rPr b="1"/>
              <a:t>đỏ</a:t>
            </a:r>
            <a:r>
              <a:rPr/>
              <a:t> là đóng góp kỹ thuật lõi</a:t>
            </a:r>
          </a:p>
          <a:p>
            <a:pPr lvl="0" indent="0" marL="0">
              <a:buNone/>
            </a:pPr>
            <a:r>
              <a:rPr/>
              <a:t>Không thấy biển ⇒ trả rỗng, </a:t>
            </a:r>
            <a:r>
              <a:rPr b="1"/>
              <a:t>HTTP 200</a:t>
            </a:r>
            <a:r>
              <a:rPr/>
              <a:t> — không phải lỗi</a:t>
            </a:r>
          </a:p>
        </p:txBody>
      </p:sp>
      <p:pic>
        <p:nvPicPr>
          <p:cNvPr descr="figures/fig-pipe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13200" y="2324100"/>
            <a:ext cx="40767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Xử lý biển 2 dòng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Giả định </a:t>
            </a:r>
            <a:r>
              <a:rPr b="1"/>
              <a:t>một dòng</a:t>
            </a:r>
            <a:r>
              <a:rPr/>
              <a:t> nằm trong </a:t>
            </a:r>
            <a:r>
              <a:rPr b="1"/>
              <a:t>hàm mất mát</a:t>
            </a:r>
            <a:r>
              <a:rPr/>
              <a:t> của CRNN/CTC — thêm dữ liệu không sửa được</a:t>
            </a:r>
          </a:p>
        </p:txBody>
      </p:sp>
      <p:pic>
        <p:nvPicPr>
          <p:cNvPr descr="figures/fig-two-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46500" y="2324100"/>
            <a:ext cx="46101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Bộ luật hậu xử lý theo vị trí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Sửa theo </a:t>
            </a:r>
            <a:r>
              <a:rPr b="1"/>
              <a:t>VỊ TRÍ</a:t>
            </a:r>
            <a:r>
              <a:rPr/>
              <a:t>, không sửa toàn cục — đóng góp kỹ thuật riêng của đồ án</a:t>
            </a:r>
          </a:p>
        </p:txBody>
      </p:sp>
      <p:pic>
        <p:nvPicPr>
          <p:cNvPr descr="figures/fig-position-rul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27400" y="2324100"/>
            <a:ext cx="54483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Bậc thang phục hồi khi nhận dạng hỏng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Chỉ kích hoạt </a:t>
            </a:r>
            <a:r>
              <a:rPr b="1"/>
              <a:t>sau khi nhận dạng hỏng</a:t>
            </a:r>
            <a:r>
              <a:rPr/>
              <a:t>, chỉ nhận chuỗi </a:t>
            </a:r>
            <a:r>
              <a:rPr b="1"/>
              <a:t>hợp lệ</a:t>
            </a:r>
          </a:p>
          <a:p>
            <a:pPr lvl="0" indent="0" marL="0">
              <a:buNone/>
            </a:pPr>
            <a:r>
              <a:rPr/>
              <a:t>⇒ Không làm thay đổi kết quả đang đúng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5283200"/>
                <a:gridCol w="528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Cơ chế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Số biển phục hồi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Phục hồi dòng trên của biển 2 dòng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209 biển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Nắn hình / giãn dọc chống méo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34 biển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Bộ dữ liệu</a:t>
            </a:r>
          </a:p>
        </p:txBody>
      </p:sp>
      <p:sp>
        <p:nvSpPr>
          <p:cNvPr id="143" name="Google Shape;143;p23"/>
          <p:cNvSpPr txBox="1"/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15.133 ảnh · 15.977 khung</a:t>
            </a:r>
            <a:r>
              <a:rPr/>
              <a:t> · chia </a:t>
            </a:r>
            <a:r>
              <a:rPr b="1"/>
              <a:t>10.592 / 3.027 / 1.514</a:t>
            </a:r>
          </a:p>
          <a:p>
            <a:pPr lvl="0"/>
            <a:r>
              <a:rPr/>
              <a:t>Hợp nhất </a:t>
            </a:r>
            <a:r>
              <a:rPr b="1"/>
              <a:t>7 bộ công khai</a:t>
            </a:r>
            <a:r>
              <a:rPr/>
              <a:t>, loại </a:t>
            </a:r>
            <a:r>
              <a:rPr b="1"/>
              <a:t>44,2%</a:t>
            </a:r>
            <a:r>
              <a:rPr/>
              <a:t> là bản sao — hai bộ mất </a:t>
            </a:r>
            <a:r>
              <a:rPr b="1"/>
              <a:t>98%</a:t>
            </a:r>
            <a:r>
              <a:rPr/>
              <a:t> và </a:t>
            </a:r>
            <a:r>
              <a:rPr b="1"/>
              <a:t>100%</a:t>
            </a:r>
          </a:p>
          <a:p>
            <a:pPr lvl="0"/>
            <a:r>
              <a:rPr b="1"/>
              <a:t>Khử trùng lặp bằng pHash</a:t>
            </a:r>
            <a:r>
              <a:rPr/>
              <a:t> ở ngưỡng Hamming 10 — đo lại ở </a:t>
            </a:r>
            <a:r>
              <a:rPr b="1"/>
              <a:t>chính ngưỡng đó</a:t>
            </a:r>
            <a:r>
              <a:rPr/>
              <a:t> cho </a:t>
            </a:r>
            <a:r>
              <a:rPr b="1"/>
              <a:t>0 cặp</a:t>
            </a:r>
            <a:r>
              <a:rPr/>
              <a:t> Train–Test</a:t>
            </a:r>
          </a:p>
          <a:p>
            <a:pPr lvl="0" indent="0" marL="0">
              <a:buNone/>
            </a:pPr>
            <a:r>
              <a:rPr/>
              <a:t>⇒ Số 0 đó chứng minh </a:t>
            </a:r>
            <a:r>
              <a:rPr b="1"/>
              <a:t>bước gộp chạy đúng</a:t>
            </a:r>
            <a:r>
              <a:rPr/>
              <a:t>, không chứng minh tập test hoàn toàn độc lập: ở Hamming 12 vẫn còn </a:t>
            </a:r>
            <a:r>
              <a:rPr b="1"/>
              <a:t>791 cặp</a:t>
            </a:r>
          </a:p>
          <a:p>
            <a:pPr lvl="0" indent="0" marL="0">
              <a:buNone/>
            </a:pPr>
            <a:r>
              <a:rPr/>
              <a:t>⚠️ Hai bộ chiếm </a:t>
            </a:r>
            <a:r>
              <a:rPr b="1"/>
              <a:t>74,3%</a:t>
            </a:r>
            <a:r>
              <a:rPr/>
              <a:t> — đa dạng giấy phép, </a:t>
            </a:r>
            <a:r>
              <a:rPr b="1"/>
              <a:t>chưa</a:t>
            </a:r>
            <a:r>
              <a:rPr/>
              <a:t> đa dạng nội dung</a:t>
            </a: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Huấn luyện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YOLO11n</a:t>
            </a:r>
            <a:r>
              <a:rPr/>
              <a:t>, </a:t>
            </a:r>
            <a:r>
              <a:rPr>
                <a:latin typeface="Courier"/>
              </a:rPr>
              <a:t>imgsz 640</a:t>
            </a:r>
            <a:r>
              <a:rPr/>
              <a:t>, 20 epoch, seed cố định — huấn luyện </a:t>
            </a:r>
            <a:r>
              <a:rPr b="1"/>
              <a:t>và</a:t>
            </a:r>
            <a:r>
              <a:rPr/>
              <a:t> suy luận đều trên CPU, hết </a:t>
            </a:r>
            <a:r>
              <a:rPr b="1"/>
              <a:t>10,05 giờ</a:t>
            </a:r>
            <a:r>
              <a:rPr/>
              <a:t> </a:t>
            </a:r>
            <a:r>
              <a:rPr i="1"/>
              <a:t>(30,2 phút/epoch)</a:t>
            </a:r>
          </a:p>
        </p:txBody>
      </p:sp>
      <p:pic>
        <p:nvPicPr>
          <p:cNvPr descr="figures/fig-training-curv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43300" y="2324100"/>
            <a:ext cx="50038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Cơ sở dữ liệu — lưu vết đánh giá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Không có </a:t>
            </a:r>
            <a:r>
              <a:rPr>
                <a:latin typeface="Courier"/>
              </a:rPr>
              <a:t>raw_ocr_text</a:t>
            </a:r>
            <a:r>
              <a:rPr/>
              <a:t> thì </a:t>
            </a:r>
            <a:r>
              <a:rPr b="1"/>
              <a:t>không đo được</a:t>
            </a:r>
            <a:r>
              <a:rPr/>
              <a:t> đóng góp của hậu xử lý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5283200"/>
                <a:gridCol w="528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Cột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Nội dung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raw_ocr_text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Chuỗi </a:t>
                      </a:r>
                      <a:r>
                        <a:rPr b="1"/>
                        <a:t>thô</a:t>
                      </a:r>
                      <a:r>
                        <a:rPr/>
                        <a:t> do PaddleOCR trả về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plate_number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Chuỗi </a:t>
                      </a:r>
                      <a:r>
                        <a:rPr b="1"/>
                        <a:t>sau</a:t>
                      </a:r>
                      <a:r>
                        <a:rPr/>
                        <a:t> bộ luật hậu xử lý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is_valid_format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Hợp quy cách Việt Nam hay không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Giao diện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Mọi vùng dữ liệu xử lý đủ </a:t>
            </a:r>
            <a:r>
              <a:rPr b="1"/>
              <a:t>4 trạng thái</a:t>
            </a:r>
            <a:r>
              <a:rPr/>
              <a:t>: chờ · rỗng · lỗi · thành công</a:t>
            </a:r>
          </a:p>
        </p:txBody>
      </p:sp>
      <p:pic>
        <p:nvPicPr>
          <p:cNvPr descr="../screenshots/image-detec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71800" y="2324100"/>
            <a:ext cx="61595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Kết quả phát hiện — đạt cả 4 chỉ tiêu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Chênh giữa hai bố cục chỉ 2,09 điểm</a:t>
            </a:r>
            <a:r>
              <a:rPr/>
              <a:t> ⇒ Điểm nghẽn nằm ở tầng đọc chữ, không phải tầng phát hiện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Nhóm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mAP50-95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Biển 1 dòng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0,986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0,990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0,988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0,753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Biển 2 dòng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1.325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0,973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0,969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0,968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0,765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TẤT CẢ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1.611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0,984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0,971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0,983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0,783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Chỉ tiêu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≥0,92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≥0,90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≥0,90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≥0,65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Kết quả OCR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Toàn bộ khoảng cách nằm ở </a:t>
            </a:r>
            <a:r>
              <a:rPr b="1"/>
              <a:t>biển 2 dòng</a:t>
            </a:r>
            <a:r>
              <a:rPr/>
              <a:t>: 0,7234 so với </a:t>
            </a:r>
            <a:r>
              <a:rPr b="1"/>
              <a:t>0,9541</a:t>
            </a:r>
            <a:r>
              <a:rPr/>
              <a:t> của biển 1 dòng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2641600"/>
                <a:gridCol w="2641600"/>
                <a:gridCol w="2641600"/>
                <a:gridCol w="2641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Đo cái gì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Đo được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Ngưỡng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Đúng từng </a:t>
                      </a:r>
                      <a:r>
                        <a:rPr b="1"/>
                        <a:t>ký tự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0,9483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0,92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Đúng </a:t>
                      </a:r>
                      <a:r>
                        <a:rPr b="1"/>
                        <a:t>cả chuỗi</a:t>
                      </a:r>
                      <a:r>
                        <a:rPr/>
                        <a:t> — chưa hậu xử lý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0,6373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0,80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Đúng </a:t>
                      </a:r>
                      <a:r>
                        <a:rPr b="1"/>
                        <a:t>cả chuỗi</a:t>
                      </a:r>
                      <a:r>
                        <a:rPr/>
                        <a:t> — sau hậu xử lý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0,7701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0,85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Đúng </a:t>
                      </a:r>
                      <a:r>
                        <a:rPr b="1"/>
                        <a:t>đầu cuối</a:t>
                      </a:r>
                      <a:r>
                        <a:rPr/>
                        <a:t> — ảnh vào, chuỗi 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0,563</a:t>
                      </a:r>
                      <a:r>
                        <a:rPr/>
                        <a:t> </a:t>
                      </a:r>
                      <a:r>
                        <a:rPr i="1"/>
                        <a:t>(nhãn máy sinh)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0,82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Khoảng cách nằm trọn ở biển 2 dòng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Cùng một hệ thống, cùng một phép đo — tách theo bố cục biển</a:t>
            </a:r>
          </a:p>
        </p:txBody>
      </p:sp>
      <p:pic>
        <p:nvPicPr>
          <p:cNvPr descr="../reports/figures/04-ocr-accuracy-by-line-cou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17800" y="2324100"/>
            <a:ext cx="66548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Đóng góp của hậu xử lý — đo được bằng số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Sửa đúng </a:t>
            </a:r>
            <a:r>
              <a:rPr b="1"/>
              <a:t>372 biển</a:t>
            </a:r>
            <a:r>
              <a:rPr/>
              <a:t>, làm hỏng </a:t>
            </a:r>
            <a:r>
              <a:rPr b="1"/>
              <a:t>0</a:t>
            </a:r>
            <a:r>
              <a:rPr/>
              <a:t> — dồn gần trọn vào biển 2 dòng</a:t>
            </a:r>
          </a:p>
        </p:txBody>
      </p:sp>
      <p:pic>
        <p:nvPicPr>
          <p:cNvPr descr="figures/fig-postprocess-gai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08400" y="2324100"/>
            <a:ext cx="46990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Ba can thiệp thực nghiệm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Chênh lệch 2 dòng còn </a:t>
            </a:r>
            <a:r>
              <a:rPr b="1"/>
              <a:t>23,07 điểm</a:t>
            </a:r>
            <a:r>
              <a:rPr/>
              <a:t>, cùng bậc mốc quốc tế </a:t>
            </a:r>
            <a:r>
              <a:rPr b="1"/>
              <a:t>48,6</a:t>
            </a:r>
            <a:r>
              <a:rPr/>
              <a:t> </a:t>
            </a:r>
            <a:r>
              <a:rPr i="1"/>
              <a:t>(Laroca 2022 — RodoSol, Brazil)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5283200"/>
                <a:gridCol w="528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 thiệp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Thu được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Bộ luật hậu xử lý theo vị trí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+13,28 điểm</a:t>
                      </a:r>
                      <a:r>
                        <a:rPr/>
                        <a:t> </a:t>
                      </a:r>
                      <a:r>
                        <a:rPr i="1"/>
                        <a:t>(0,6373 → 0,7701)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Phục hồi dòng trên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209 biển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Nắn hình chống méo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 biển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Hiệu năng trên CPU — phân rã suy luận thuần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Điểm nghẽn thời gian là OCR (</a:t>
            </a:r>
            <a:r>
              <a:rPr b="1"/>
              <a:t>64,3%</a:t>
            </a:r>
            <a:r>
              <a:rPr/>
              <a:t>); tầng phát hiện chiếm </a:t>
            </a:r>
            <a:r>
              <a:rPr b="1"/>
              <a:t>34,0%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2641600"/>
                <a:gridCol w="2641600"/>
                <a:gridCol w="2641600"/>
                <a:gridCol w="2641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Bước trong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Ước lượng ban đầu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Đo thật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% tổng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Giải mã ảnh + tiền xử lý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2,83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Phát hiện </a:t>
                      </a:r>
                      <a:r>
                        <a:rPr i="1"/>
                        <a:t>(YOLO11n @ 640, CPU)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150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57,27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34,0%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Nhận dạng chữ </a:t>
                      </a:r>
                      <a:r>
                        <a:rPr i="1"/>
                        <a:t>(PaddleOCR, mỗi biển)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120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108,28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64,3%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Hậu xử lý regex + kiểm tra hợp lệ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0,03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0,0%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Tổng suy luận thuần cho một biển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405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168,41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100%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Phân bố độ trễ suy luận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Phần lớn ảnh hoàn tất dưới 500 ms; độ trễ tập trung ở các ca thử lại nhiều lượt</a:t>
            </a:r>
          </a:p>
        </p:txBody>
      </p:sp>
      <p:pic>
        <p:nvPicPr>
          <p:cNvPr descr="../reports/figures/07-latency-distribu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09800" y="2324100"/>
            <a:ext cx="76962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Kiểm thử và triển khai</a:t>
            </a:r>
          </a:p>
        </p:txBody>
      </p:sp>
      <p:sp>
        <p:nvSpPr>
          <p:cNvPr id="143" name="Google Shape;143;p23"/>
          <p:cNvSpPr txBox="1"/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1.002/1.002 kiểm thử tự động</a:t>
            </a:r>
            <a:r>
              <a:rPr/>
              <a:t> đạt · bao phủ tầng nghiệp vụ </a:t>
            </a:r>
            <a:r>
              <a:rPr b="1"/>
              <a:t>87,7%</a:t>
            </a:r>
          </a:p>
          <a:p>
            <a:pPr lvl="0"/>
            <a:r>
              <a:rPr/>
              <a:t>Đơn vị · tích hợp · độ chính xác AI · hiệu năng · chịu tải</a:t>
            </a:r>
          </a:p>
          <a:p>
            <a:pPr lvl="0"/>
            <a:r>
              <a:rPr/>
              <a:t>Tầng AI có bộ test </a:t>
            </a:r>
            <a:r>
              <a:rPr b="1"/>
              <a:t>chạy độc lập không cần dựng server</a:t>
            </a:r>
          </a:p>
          <a:p>
            <a:pPr lvl="0"/>
            <a:r>
              <a:rPr/>
              <a:t>Chạy liên tục </a:t>
            </a:r>
            <a:r>
              <a:rPr b="1"/>
              <a:t>15 phút</a:t>
            </a:r>
            <a:r>
              <a:rPr/>
              <a:t>: 2.028 yêu cầu, </a:t>
            </a:r>
            <a:r>
              <a:rPr b="1"/>
              <a:t>0 lỗi</a:t>
            </a:r>
            <a:r>
              <a:rPr/>
              <a:t>, không rò rỉ bộ nhớ</a:t>
            </a:r>
          </a:p>
          <a:p>
            <a:pPr lvl="0"/>
            <a:r>
              <a:rPr/>
              <a:t>Cơ sở dữ liệu </a:t>
            </a:r>
            <a:r>
              <a:rPr b="1"/>
              <a:t>bền vững qua khởi động lại</a:t>
            </a:r>
            <a:r>
              <a:rPr/>
              <a:t>: 9.031 bản ghi, </a:t>
            </a:r>
            <a:r>
              <a:rPr b="1"/>
              <a:t>0 mất</a:t>
            </a:r>
          </a:p>
          <a:p>
            <a:pPr lvl="0"/>
            <a:r>
              <a:rPr>
                <a:latin typeface="Courier"/>
              </a:rPr>
              <a:t>docker compose up</a:t>
            </a:r>
            <a:r>
              <a:rPr/>
              <a:t> — </a:t>
            </a:r>
            <a:r>
              <a:rPr b="1"/>
              <a:t>một lệnh</a:t>
            </a:r>
            <a:r>
              <a:rPr/>
              <a:t>, đã đóng gói và xác minh hoàn chỉnh</a:t>
            </a: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Đối chiếu chỉ tiêu — bảng tổng hợp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đạt mục tiêu · 🟡 đạt ngưỡng tối thiểu · ❌ chưa đạt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/>
                <a:gridCol w="3517900"/>
                <a:gridCol w="3517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Nhóm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Chỉ tiêu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Kết quả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Phát hiện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mAP50 </a:t>
                      </a:r>
                      <a:r>
                        <a:rPr b="1"/>
                        <a:t>0,9829</a:t>
                      </a:r>
                      <a:r>
                        <a:rPr/>
                        <a:t> · mAP50-95 </a:t>
                      </a:r>
                      <a:r>
                        <a:rPr b="1"/>
                        <a:t>0,7834</a:t>
                      </a:r>
                      <a:r>
                        <a:rPr/>
                        <a:t> · P </a:t>
                      </a:r>
                      <a:r>
                        <a:rPr b="1"/>
                        <a:t>0,9837</a:t>
                      </a:r>
                      <a:r>
                        <a:rPr/>
                        <a:t> · R </a:t>
                      </a:r>
                      <a:r>
                        <a:rPr b="1"/>
                        <a:t>0,9714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Đọc ký tự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Đúng từng ký tự </a:t>
                      </a:r>
                      <a:r>
                        <a:rPr b="1"/>
                        <a:t>0,9483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Đọc chuỗi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Đúng cả chuỗi </a:t>
                      </a:r>
                      <a:r>
                        <a:rPr b="1"/>
                        <a:t>0,7701</a:t>
                      </a:r>
                      <a:r>
                        <a:rPr/>
                        <a:t> · đầu cuối </a:t>
                      </a:r>
                      <a:r>
                        <a:rPr b="1"/>
                        <a:t>0,563</a:t>
                      </a:r>
                      <a:r>
                        <a:rPr/>
                        <a:t> </a:t>
                      </a:r>
                      <a:r>
                        <a:rPr i="1"/>
                        <a:t>(1.606 khung toàn cảnh, nhãn máy sinh)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Hiệu năng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p95 </a:t>
                      </a:r>
                      <a:r>
                        <a:rPr b="1"/>
                        <a:t>1.143 ms</a:t>
                      </a:r>
                      <a:r>
                        <a:rPr/>
                        <a:t> </a:t>
                      </a:r>
                      <a:r>
                        <a:rPr i="1"/>
                        <a:t>(sàn 1.500)</a:t>
                      </a:r>
                      <a:r>
                        <a:rPr/>
                        <a:t> · video </a:t>
                      </a:r>
                      <a:r>
                        <a:rPr b="1"/>
                        <a:t>0,785×</a:t>
                      </a:r>
                      <a:r>
                        <a:rPr/>
                        <a:t> · truy vấn </a:t>
                      </a:r>
                      <a:r>
                        <a:rPr b="1"/>
                        <a:t>18,7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Thời gian thực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Luồng khung hình </a:t>
                      </a:r>
                      <a:r>
                        <a:rPr b="1"/>
                        <a:t>5,257 FPS</a:t>
                      </a:r>
                      <a:r>
                        <a:rPr/>
                        <a:t> </a:t>
                      </a:r>
                      <a:r>
                        <a:rPr i="1"/>
                        <a:t>(sàn 3, mục tiêu 5 — đo ở tầng API </a:t>
                      </a:r>
                      <a:r>
                        <a:rPr i="1">
                          <a:latin typeface="Courier"/>
                        </a:rPr>
                        <a:t>POST /api/detect/frame</a:t>
                      </a:r>
                      <a:r>
                        <a:rPr i="1"/>
                        <a:t>, không qua trang web)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Độ tin cậy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Chạy liên tục </a:t>
                      </a:r>
                      <a:r>
                        <a:rPr b="1"/>
                        <a:t>100%</a:t>
                      </a:r>
                      <a:r>
                        <a:rPr/>
                        <a:t> · CSDL sống sót khởi động lại </a:t>
                      </a:r>
                      <a:r>
                        <a:rPr b="1"/>
                        <a:t>0 mất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Phần mềm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1.002 test</a:t>
                      </a:r>
                      <a:r>
                        <a:rPr/>
                        <a:t> · bao phủ 87,7% · </a:t>
                      </a:r>
                      <a:r>
                        <a:rPr>
                          <a:latin typeface="Courier"/>
                        </a:rPr>
                        <a:t>docker compose 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Demo trực tiếp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 tình huống minh họa trên môi trường thực tế: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5283200"/>
                <a:gridCol w="528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Tình huống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Mục tiêu kiểm chứng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Ảnh ô tô — biển 1 dòng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Luồng cơ bản, nhận dạng chính xác dưới 1 giây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Ảnh xe máy — biển 2 dòng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Luồng phân tách hai nửa và ghép ngang chạy thực tế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Video + Lịch sử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Xử lý bất đồng bộ, tra cứu và hiển thị lịch sử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Hạn chế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1231900"/>
          <a:ext cx="10579100" cy="49403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5283200"/>
                <a:gridCol w="528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Hạn chế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Nguyên nhân gốc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Biển 2 dòng chưa đạt</a:t>
                      </a:r>
                      <a:r>
                        <a:rPr/>
                        <a:t> — đọc đúng cả chuỗi 0,7234 so với 0,9541 của biển 1 dòng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Bộ đọc dòng đơn; xe máy chiếm 79,8% tập nhãn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Độ chính xác đầu cuối chưa đo trên tập lớn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Thiếu bộ dữ liệu đồng thời có ảnh toàn cảnh và nhãn chuỗi biển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Dữ liệu chủ yếu là biển trắng</a:t>
                      </a:r>
                      <a:r>
                        <a:rPr/>
                        <a:t> — tập nhãn có 97,7% biển trắng, 20 vàng, 4 xanh, </a:t>
                      </a:r>
                      <a:r>
                        <a:rPr b="1"/>
                        <a:t>0 đỏ, 0 ngoại giao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Nguồn công khai chưa đa dạng các loại biển hiếm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Tập test </a:t>
                      </a:r>
                      <a:r>
                        <a:rPr b="1"/>
                        <a:t>chưa mở rộng xuyên bộ dữ liệu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Đánh giá tổng quát hóa chủ yếu trong cùng phân phối thu thập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Hướng phát triển</a:t>
            </a:r>
          </a:p>
        </p:txBody>
      </p:sp>
      <p:sp>
        <p:nvSpPr>
          <p:cNvPr id="143" name="Google Shape;143;p23"/>
          <p:cNvSpPr txBox="1"/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Ngắn hạn</a:t>
            </a:r>
            <a:r>
              <a:rPr/>
              <a:t> — Tập trung vào các điểm nghẽn đã xác định</a:t>
            </a:r>
          </a:p>
          <a:p>
            <a:pPr lvl="0" indent="0" marL="347663">
              <a:buAutoNum type="arabicPeriod"/>
            </a:pPr>
            <a:r>
              <a:rPr b="1"/>
              <a:t>Fine-tune bộ nhận dạng</a:t>
            </a:r>
            <a:r>
              <a:rPr/>
              <a:t> trên vùng cắt biển số Việt Nam</a:t>
            </a:r>
          </a:p>
          <a:p>
            <a:pPr lvl="0" indent="0" marL="347663">
              <a:buAutoNum type="arabicPeriod"/>
            </a:pPr>
            <a:r>
              <a:rPr b="1"/>
              <a:t>Xây dựng tập nhãn chuỗi cho ảnh hiện trường</a:t>
            </a:r>
            <a:r>
              <a:rPr/>
              <a:t> để đo đạc độ chính xác đầu cuối hoàn chỉnh</a:t>
            </a:r>
          </a:p>
          <a:p>
            <a:pPr lvl="0" indent="0" marL="0">
              <a:buNone/>
            </a:pPr>
            <a:r>
              <a:rPr b="1"/>
              <a:t>Trung hạn</a:t>
            </a:r>
          </a:p>
          <a:p>
            <a:pPr lvl="0" indent="0" marL="347663">
              <a:buAutoNum startAt="3" type="arabicPeriod"/>
            </a:pPr>
            <a:r>
              <a:rPr/>
              <a:t>Đánh giá kiểm thử </a:t>
            </a:r>
            <a:r>
              <a:rPr b="1"/>
              <a:t>xuyên bộ dữ liệu</a:t>
            </a:r>
            <a:r>
              <a:rPr/>
              <a:t> để đo tổng quát hóa ngoài phân phối</a:t>
            </a:r>
          </a:p>
          <a:p>
            <a:pPr lvl="0" indent="0" marL="347663">
              <a:buAutoNum startAt="3" type="arabicPeriod"/>
            </a:pPr>
            <a:r>
              <a:rPr/>
              <a:t>Xuất mô hình sang OpenVINO / ONNX Runtime để tối ưu hóa độ trễ đuôi</a:t>
            </a: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Kết luận</a:t>
            </a:r>
          </a:p>
        </p:txBody>
      </p:sp>
      <p:sp>
        <p:nvSpPr>
          <p:cNvPr id="143" name="Google Shape;143;p23"/>
          <p:cNvSpPr txBox="1"/>
          <p:nvPr>
            <p:ph idx="1"/>
          </p:nvPr>
        </p:nvSpPr>
        <p:spPr/>
        <p:txBody>
          <a:bodyPr/>
          <a:lstStyle/>
          <a:p>
            <a:pPr lvl="0"/>
            <a:r>
              <a:rPr/>
              <a:t>Hệ thống </a:t>
            </a:r>
            <a:r>
              <a:rPr b="1"/>
              <a:t>5 tầng</a:t>
            </a:r>
            <a:r>
              <a:rPr/>
              <a:t>, đóng gói Docker một lệnh</a:t>
            </a:r>
          </a:p>
          <a:p>
            <a:pPr lvl="0"/>
            <a:r>
              <a:rPr/>
              <a:t>Phát hiện đạt </a:t>
            </a:r>
            <a:r>
              <a:rPr b="1"/>
              <a:t>cả 4 chỉ tiêu</a:t>
            </a:r>
            <a:r>
              <a:rPr/>
              <a:t> — mAP50 </a:t>
            </a:r>
            <a:r>
              <a:rPr b="1"/>
              <a:t>0,983</a:t>
            </a:r>
          </a:p>
          <a:p>
            <a:pPr lvl="0"/>
            <a:r>
              <a:rPr/>
              <a:t>Hậu xử lý </a:t>
            </a:r>
            <a:r>
              <a:rPr b="1"/>
              <a:t>+13,28 điểm</a:t>
            </a:r>
            <a:r>
              <a:rPr/>
              <a:t>, đo tách bạch</a:t>
            </a:r>
          </a:p>
          <a:p>
            <a:pPr lvl="0"/>
            <a:r>
              <a:rPr b="1"/>
              <a:t>1.002/1.002 kiểm thử</a:t>
            </a:r>
            <a:r>
              <a:rPr/>
              <a:t> đạt · bao phủ </a:t>
            </a:r>
            <a:r>
              <a:rPr b="1"/>
              <a:t>87,7%</a:t>
            </a:r>
          </a:p>
          <a:p>
            <a:pPr lvl="0"/>
            <a:r>
              <a:rPr/>
              <a:t>Định lượng riêng biển </a:t>
            </a:r>
            <a:r>
              <a:rPr b="1"/>
              <a:t>1 dòng</a:t>
            </a:r>
            <a:r>
              <a:rPr/>
              <a:t> và </a:t>
            </a:r>
            <a:r>
              <a:rPr b="1"/>
              <a:t>2 dòng</a:t>
            </a:r>
            <a:r>
              <a:rPr/>
              <a:t> trên cùng hệ thống</a:t>
            </a: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Cảm ơn</a:t>
            </a:r>
          </a:p>
        </p:txBody>
      </p:sp>
      <p:sp>
        <p:nvSpPr>
          <p:cNvPr id="143" name="Google Shape;143;p23"/>
          <p:cNvSpPr txBox="1"/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Nhóm thực hiện xin trân trọng cảm ơn Quý Thầy/Cô và Hội đồng.</a:t>
            </a:r>
          </a:p>
          <a:p>
            <a:pPr lvl="0" indent="0" marL="0">
              <a:buNone/>
            </a:pPr>
            <a:r>
              <a:rPr b="1"/>
              <a:t>Trân trọng kính mời Hội đồng đặt câu hỏi phản biện.</a:t>
            </a: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Backup 1 — Kiến trúc mô hình YOLO11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Cải tiến mạng trích xuất đặc trưng &amp; head phát hiện đa tỉ lệ </a:t>
            </a:r>
            <a:r>
              <a:rPr i="1"/>
              <a:t>(Ultralytics 2024)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/>
                <a:gridCol w="3517900"/>
                <a:gridCol w="3517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Thành phần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 tiết kỹ thuật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Vai trò trong hệ thống ALPR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Backbone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Block </a:t>
                      </a:r>
                      <a:r>
                        <a:rPr b="1"/>
                        <a:t>C3k2</a:t>
                      </a:r>
                      <a:r>
                        <a:rPr/>
                        <a:t> &amp; </a:t>
                      </a:r>
                      <a:r>
                        <a:rPr b="1"/>
                        <a:t>C2PSA</a:t>
                      </a:r>
                      <a:r>
                        <a:rPr/>
                        <a:t> </a:t>
                      </a:r>
                      <a:r>
                        <a:rPr i="1"/>
                        <a:t>(Attention)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Trích xuất đặc trưng vùng biển số sắc nét ở nhiều góc nghiêng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Neck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SPPF</a:t>
                      </a:r>
                      <a:r>
                        <a:rPr/>
                        <a:t> </a:t>
                      </a:r>
                      <a:r>
                        <a:rPr i="1"/>
                        <a:t>(Spatial Pyramid Pooling - Fast)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Tăng cường thông tin ngữ cảnh đa tỉ lệ mà không tăng độ trễ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Anchor-free Decoupled Head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Dự đoán bounding box của lớp </a:t>
                      </a:r>
                      <a:r>
                        <a:rPr>
                          <a:latin typeface="Courier"/>
                        </a:rPr>
                        <a:t>license_plate</a:t>
                      </a:r>
                      <a:r>
                        <a:rPr/>
                        <a:t>; bố cục một/hai dòng được suy ra ở bước hậu xử lý theo tỷ lệ khung hình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Quy mô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YOLO11n</a:t>
                      </a:r>
                      <a:r>
                        <a:rPr/>
                        <a:t> · </a:t>
                      </a:r>
                      <a:r>
                        <a:rPr b="1"/>
                        <a:t>2,6M params</a:t>
                      </a:r>
                      <a:r>
                        <a:rPr/>
                        <a:t> · </a:t>
                      </a:r>
                      <a:r>
                        <a:rPr b="1"/>
                        <a:t>6,5 GFLOPs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Đạt </a:t>
                      </a:r>
                      <a:r>
                        <a:rPr b="1"/>
                        <a:t>mAP50 0,983</a:t>
                      </a:r>
                      <a:r>
                        <a:rPr/>
                        <a:t> trên CPU với tốc độ ~35 ms/khung hình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Backup 2 — Kiến trúc mô hình PP-OCRv5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Mô hình nhận dạng ký tự siêu nhẹ chuyên biệt cho văn bản </a:t>
            </a:r>
            <a:r>
              <a:rPr i="1"/>
              <a:t>(PaddlePaddle 2025)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/>
                <a:gridCol w="3517900"/>
                <a:gridCol w="3517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Thành phần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 tiết kỹ thuật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Vai trò trong hệ thống ALPR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Backbone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PP-LCNetV3</a:t>
                      </a:r>
                      <a:r>
                        <a:rPr/>
                        <a:t> </a:t>
                      </a:r>
                      <a:r>
                        <a:rPr i="1"/>
                        <a:t>(Lightweight CPU Net)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Trích xuất chuỗi đặc trưng ký tự cực nhanh trên CPU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Neck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SVTR-HG</a:t>
                      </a:r>
                      <a:r>
                        <a:rPr/>
                        <a:t> </a:t>
                      </a:r>
                      <a:r>
                        <a:rPr i="1"/>
                        <a:t>(Gated-Attention Transformer)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Trích xuất thông tin ngữ cảnh chuỗi ký tự trên ảnh crop cao 64px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Head &amp; Loss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CTC Head</a:t>
                      </a:r>
                      <a:r>
                        <a:rPr/>
                        <a:t> </a:t>
                      </a:r>
                      <a:r>
                        <a:rPr i="1"/>
                        <a:t>(Connectionist Temporal Classification)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Giải mã chuỗi ký tự không cần gán nhãn từng vạch đứng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Quy mô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PP-OCRv5 Mobile</a:t>
                      </a:r>
                      <a:r>
                        <a:rPr/>
                        <a:t> · </a:t>
                      </a:r>
                      <a:r>
                        <a:rPr b="1"/>
                        <a:t>4,5 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Đạt </a:t>
                      </a:r>
                      <a:r>
                        <a:rPr b="1"/>
                        <a:t>94,83% accuracy từng ký tự</a:t>
                      </a:r>
                      <a:r>
                        <a:rPr/>
                        <a:t> trên vùng cắt biển số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Backup 3 — Phân tích lỗi (Error Analysis)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Sáu loại lỗi </a:t>
            </a:r>
            <a:r>
              <a:rPr b="1"/>
              <a:t>loại trừ lẫn nhau</a:t>
            </a:r>
            <a:r>
              <a:rPr/>
              <a:t>, mỗi ca sai gán đúng một loại — </a:t>
            </a:r>
            <a:r>
              <a:rPr b="1"/>
              <a:t>697 ca trên 2.801 biển (24,88%)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Loại lỗi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Số 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% tổng ca sai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Một dòng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Hai dòng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E1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Bỏ sót biển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E2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Phát hiện nhầm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i="1"/>
                        <a:t>(chưa đo)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E3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Nhầm ký tự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445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63,85%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428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E4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Thiếu ký tự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10,47%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E5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Thừa ký tự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2,58%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E6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Sai thứ tự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Backup 4 — Bóc tách đóng góp (Ablation)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Đóng góp độc lập của từng module kỹ thuật vào độ chính xác đọc chuỗi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/>
                <a:gridCol w="3517900"/>
                <a:gridCol w="3517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Cấu hình / Thử nghiệm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Đúng cả chuỗi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Đóng góp đo được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Baseline</a:t>
                      </a:r>
                      <a:r>
                        <a:rPr/>
                        <a:t> </a:t>
                      </a:r>
                      <a:r>
                        <a:rPr i="1"/>
                        <a:t>(Model gốc PaddleOCR raw)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0,6373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Mức cơ sở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+ Bộ luật hậu xử lý theo vị trí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0,7701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+13,28 điểm</a:t>
                      </a:r>
                      <a:r>
                        <a:rPr/>
                        <a:t> </a:t>
                      </a:r>
                      <a:r>
                        <a:rPr i="1"/>
                        <a:t>(Sửa đúng 372 biển)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+ Bậc thang cứu dòng trên biển 2 dòng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+209 biển</a:t>
                      </a:r>
                      <a:r>
                        <a:rPr/>
                        <a:t> được cứu hợp lệ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+ Bậc thang nắn hình chống nghiêng/méo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+34 biển</a:t>
                      </a:r>
                      <a:r>
                        <a:rPr/>
                        <a:t> được cứu hợp lệ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Fine-tune OCR (giữ detector)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0,6762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❌ Sụt -7,5 điểm do lệch phân phối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Backup 5 — Siêu tham số và huấn luyện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Trích </a:t>
            </a:r>
            <a:r>
              <a:rPr>
                <a:latin typeface="Courier"/>
              </a:rPr>
              <a:t>runs/final-640-v3/args.yaml</a:t>
            </a:r>
            <a:r>
              <a:rPr/>
              <a:t> và </a:t>
            </a:r>
            <a:r>
              <a:rPr>
                <a:latin typeface="Courier"/>
              </a:rPr>
              <a:t>results.csv</a:t>
            </a:r>
            <a:r>
              <a:rPr/>
              <a:t> — bản ghi </a:t>
            </a:r>
            <a:r>
              <a:rPr i="1"/>
              <a:t>đã thực thi</a:t>
            </a:r>
            <a:r>
              <a:rPr/>
              <a:t>, không phải dự định.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2641600"/>
                <a:gridCol w="2641600"/>
                <a:gridCol w="2641600"/>
                <a:gridCol w="2641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Siêu tham số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Giá trị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Hàm mất mát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Epoch 1 → 20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>
                          <a:latin typeface="Courier"/>
                        </a:rPr>
                        <a:t>imgsz</a:t>
                      </a:r>
                      <a:r>
                        <a:rPr b="1"/>
                        <a:t> / </a:t>
                      </a:r>
                      <a:r>
                        <a:rPr b="1">
                          <a:latin typeface="Courier"/>
                        </a:rPr>
                        <a:t>epochs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640 px</a:t>
                      </a:r>
                      <a:r>
                        <a:rPr/>
                        <a:t> / </a:t>
                      </a:r>
                      <a:r>
                        <a:rPr b="1"/>
                        <a:t>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box_loss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1,252 → 0,809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>
                          <a:latin typeface="Courier"/>
                        </a:rPr>
                        <a:t>batch</a:t>
                      </a:r>
                      <a:r>
                        <a:rPr b="1"/>
                        <a:t> / </a:t>
                      </a:r>
                      <a:r>
                        <a:rPr b="1">
                          <a:latin typeface="Courier"/>
                        </a:rPr>
                        <a:t>seed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8</a:t>
                      </a:r>
                      <a:r>
                        <a:rPr/>
                        <a:t> / </a:t>
                      </a:r>
                      <a:r>
                        <a:rPr b="1"/>
                        <a:t>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cls_loss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0,833 → 0,313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>
                          <a:latin typeface="Courier"/>
                        </a:rPr>
                        <a:t>optimizer</a:t>
                      </a:r>
                      <a:r>
                        <a:rPr b="1"/>
                        <a:t> / </a:t>
                      </a:r>
                      <a:r>
                        <a:rPr b="1">
                          <a:latin typeface="Courier"/>
                        </a:rPr>
                        <a:t>lr0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AdamW</a:t>
                      </a:r>
                      <a:r>
                        <a:rPr/>
                        <a:t> / </a:t>
                      </a:r>
                      <a:r>
                        <a:rPr b="1"/>
                        <a:t>0,001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dfl_loss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1,154 → 0,987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>
                          <a:latin typeface="Courier"/>
                        </a:rPr>
                        <a:t>device</a:t>
                      </a:r>
                      <a:r>
                        <a:rPr b="1"/>
                        <a:t> / tham số mô hình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cpu</a:t>
                      </a:r>
                      <a:r>
                        <a:rPr/>
                        <a:t> / </a:t>
                      </a:r>
                      <a:r>
                        <a:rPr b="1"/>
                        <a:t>2.590.035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mAP@0,5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0,9684 → 0,9830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Thời gian huấn luyện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10,05 giờ</a:t>
                      </a:r>
                      <a:r>
                        <a:rPr/>
                        <a:t> </a:t>
                      </a:r>
                      <a:r>
                        <a:rPr i="1"/>
                        <a:t>(30,2 phút/epoch)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Backup 6 — Tài liệu tham khảo chính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Đầy đủ </a:t>
            </a:r>
            <a:r>
              <a:rPr b="1"/>
              <a:t>232 mục</a:t>
            </a:r>
            <a:r>
              <a:rPr/>
              <a:t> trong </a:t>
            </a:r>
            <a:r>
              <a:rPr>
                <a:latin typeface="Courier"/>
              </a:rPr>
              <a:t>docs/references.bib</a:t>
            </a:r>
            <a:r>
              <a:rPr/>
              <a:t> — dưới đây là các nguồn chống đỡ những khẳng định chính của bài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5283200"/>
                <a:gridCol w="528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Laroca</a:t>
                      </a:r>
                      <a:r>
                        <a:rPr/>
                        <a:t> và cộng sự, VISAPP </a:t>
                      </a:r>
                      <a:r>
                        <a:rPr b="1"/>
                        <a:t>2022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On the Cross-Dataset Generalization in License Plate Recognition</a:t>
                      </a:r>
                      <a:r>
                        <a:rPr/>
                        <a:t> — </a:t>
                      </a:r>
                      <a:r>
                        <a:rPr b="1"/>
                        <a:t>nguồn của cặp số 94,3% / 45,7%</a:t>
                      </a:r>
                      <a:r>
                        <a:rPr/>
                        <a:t>, đo trên RodoSol-ALPR của </a:t>
                      </a:r>
                      <a:r>
                        <a:rPr b="1"/>
                        <a:t>Brazil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Laroca</a:t>
                      </a:r>
                      <a:r>
                        <a:rPr/>
                        <a:t> và cộng sự, IET ITS </a:t>
                      </a:r>
                      <a:r>
                        <a:rPr b="1"/>
                        <a:t>2021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An efficient and layout-independent ALPR system based on the YOLO detector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Du</a:t>
                      </a:r>
                      <a:r>
                        <a:rPr/>
                        <a:t> và cộng sự, arXiv </a:t>
                      </a:r>
                      <a:r>
                        <a:rPr b="1"/>
                        <a:t>2020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PP-OCR: A Practical Ultra Lightweight OCR System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PaddlePaddle Team, arXiv </a:t>
                      </a:r>
                      <a:r>
                        <a:rPr b="1"/>
                        <a:t>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PaddleOCR 3.0 Technical Report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Jocher &amp; Qiu</a:t>
                      </a:r>
                      <a:r>
                        <a:rPr/>
                        <a:t>, Ultralytics </a:t>
                      </a:r>
                      <a:r>
                        <a:rPr b="1"/>
                        <a:t>2024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Ultralytics YOLO11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TT 79/2024/TT-BCA</a:t>
                      </a:r>
                      <a:r>
                        <a:rPr/>
                        <a:t> · </a:t>
                      </a:r>
                      <a:r>
                        <a:rPr b="1"/>
                        <a:t>TT 51/2025/TT-BCA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Cấu trúc biển, seri, màu nền · phụ lục mã tỉnh (34 tỉnh/thành)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QCVN 08:2024/BCA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Kích thước và tỉ lệ khung hình biển số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Backup 7 — Tra nhanh số liệu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1231900"/>
          <a:ext cx="10579100" cy="49403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5283200"/>
                <a:gridCol w="528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Dữ liệu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15.133</a:t>
                      </a:r>
                      <a:r>
                        <a:rPr/>
                        <a:t> ảnh · </a:t>
                      </a:r>
                      <a:r>
                        <a:rPr b="1"/>
                        <a:t>15.977</a:t>
                      </a:r>
                      <a:r>
                        <a:rPr/>
                        <a:t> khung · 6 nguồn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Mô hình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YOLO11n · </a:t>
                      </a:r>
                      <a:r>
                        <a:rPr>
                          <a:latin typeface="Courier"/>
                        </a:rPr>
                        <a:t>imgsz 640</a:t>
                      </a:r>
                      <a:r>
                        <a:rPr/>
                        <a:t> · 20 epoch · CPU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Phát hiện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mAP50 </a:t>
                      </a:r>
                      <a:r>
                        <a:rPr b="1"/>
                        <a:t>0,983</a:t>
                      </a:r>
                      <a:r>
                        <a:rPr/>
                        <a:t> · mAP50-95 </a:t>
                      </a:r>
                      <a:r>
                        <a:rPr b="1"/>
                        <a:t>0,783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Đúng từng ký tự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0,9483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Đúng cả chuỗi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0,7701</a:t>
                      </a:r>
                      <a:r>
                        <a:rPr/>
                        <a:t> </a:t>
                      </a:r>
                      <a:r>
                        <a:rPr i="1"/>
                        <a:t>(1 dòng 0,954 · 2 dòng 0,723)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Độ trễ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p50 </a:t>
                      </a:r>
                      <a:r>
                        <a:rPr b="1"/>
                        <a:t>406 ms</a:t>
                      </a:r>
                      <a:r>
                        <a:rPr/>
                        <a:t> · p95 </a:t>
                      </a:r>
                      <a:r>
                        <a:rPr b="1"/>
                        <a:t>1.143 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Kiểm thử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1.002</a:t>
                      </a:r>
                      <a:r>
                        <a:rPr/>
                        <a:t> đạt · bao phủ </a:t>
                      </a:r>
                      <a:r>
                        <a:rPr b="1"/>
                        <a:t>87,7%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hệ thống nhận dạng biển số xe bằng Trí tuệ nhân tạo</dc:title>
  <dc:creator>Phạm Công Thành — 25410013 · Nguyễn Minh Hiếu — 25410007; GVHD: ThS. Cáp Phạm Đình Thăng</dc:creator>
  <cp:keywords/>
  <dcterms:created xsi:type="dcterms:W3CDTF">2026-08-25T12:07:29Z</dcterms:created>
  <dcterms:modified xsi:type="dcterms:W3CDTF">2026-08-25T12:07:29Z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Tháng 9 năm 2026</vt:lpwstr>
  </property>
  <property fmtid="{D5CDD505-2E9C-101B-9397-08002B2CF9AE}" pid="3" name="subtitle">
    <vt:lpwstr>Đồ án tốt nghiệp đại học · Trường Đại học Công nghệ Thông tin, ĐHQG-HCM</vt:lpwstr>
  </property>
</Properties>
</file>