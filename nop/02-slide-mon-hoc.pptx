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fntdata" ContentType="application/x-fontdata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embedTrueTypeFonts="1" saveSubsetFonts="1" strictFirstAndLastChar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oundtripDataSignature="AMtx7mhu5dURU4INwSlvEO7StWDXKr50jg==" r:id="rId36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BEF19B-5B1D-4A26-B267-ECC71EF7E2D4}">
  <a:tblStyle styleId="{45BEF19B-5B1D-4A26-B267-ECC71EF7E2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mpd="sng">
              <a:solidFill>
                <a:srgbClr val="7F7F7F"/>
              </a:solidFill>
            </a:ln>
          </a:left>
          <a:right>
            <a:ln w="12700" cmpd="sng">
              <a:solidFill>
                <a:srgbClr val="7F7F7F"/>
              </a:solidFill>
            </a:ln>
          </a:right>
          <a:top>
            <a:ln w="12700" cmpd="sng">
              <a:solidFill>
                <a:srgbClr val="7F7F7F"/>
              </a:solidFill>
            </a:ln>
          </a:top>
          <a:bottom>
            <a:ln w="12700" cmpd="sng">
              <a:solidFill>
                <a:srgbClr val="7F7F7F"/>
              </a:solidFill>
            </a:ln>
          </a:bottom>
          <a:insideH>
            <a:ln w="12700" cmpd="sng">
              <a:solidFill>
                <a:srgbClr val="7F7F7F"/>
              </a:solidFill>
            </a:ln>
          </a:insideH>
          <a:insideV>
            <a:ln w="12700" cmpd="sng">
              <a:solidFill>
                <a:srgbClr val="7F7F7F"/>
              </a:solidFill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E219758-DFE7-4E60-9379-781288D8A98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BEBEB"/>
          </a:solidFill>
        </a:fill>
      </a:tcStyle>
    </a:wholeTbl>
    <a:band1H>
      <a:tcTxStyle/>
      <a:tcStyle>
        <a:fill>
          <a:solidFill>
            <a:srgbClr val="F8D4D4"/>
          </a:solidFill>
        </a:fill>
      </a:tcStyle>
    </a:band1H>
    <a:band2H>
      <a:tcTxStyle/>
    </a:band2H>
    <a:band1V>
      <a:tcTxStyle/>
      <a:tcStyle>
        <a:fill>
          <a:solidFill>
            <a:srgbClr val="F8D4D4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0" Type="http://schemas.openxmlformats.org/officeDocument/2006/relationships/slide" Target="slides/slide16.xml" /><Relationship Id="rId21" Type="http://schemas.openxmlformats.org/officeDocument/2006/relationships/slide" Target="slides/slide17.xml" /><Relationship Id="rId22" Type="http://schemas.openxmlformats.org/officeDocument/2006/relationships/slide" Target="slides/slide18.xml" /><Relationship Id="rId23" Type="http://schemas.openxmlformats.org/officeDocument/2006/relationships/slide" Target="slides/slide19.xml" /><Relationship Id="rId24" Type="http://schemas.openxmlformats.org/officeDocument/2006/relationships/slide" Target="slides/slide20.xml" /><Relationship Id="rId25" Type="http://schemas.openxmlformats.org/officeDocument/2006/relationships/slide" Target="slides/slide21.xml" /><Relationship Id="rId26" Type="http://schemas.openxmlformats.org/officeDocument/2006/relationships/slide" Target="slides/slide22.xml" /><Relationship Id="rId27" Type="http://schemas.openxmlformats.org/officeDocument/2006/relationships/slide" Target="slides/slide23.xml" /><Relationship Id="rId1" Type="http://schemas.openxmlformats.org/officeDocument/2006/relationships/theme" Target="theme/theme1.xml" /><Relationship Id="rId2" Type="http://schemas.openxmlformats.org/officeDocument/2006/relationships/presProps" Target="presProps.xml" /><Relationship Id="rId3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29" Type="http://schemas.openxmlformats.org/officeDocument/2006/relationships/font" Target="fonts/Roboto-bold.fntdata" /><Relationship Id="rId28" Type="http://schemas.openxmlformats.org/officeDocument/2006/relationships/font" Target="fonts/Roboto-regular.fntdata" /><Relationship Id="rId31" Type="http://schemas.openxmlformats.org/officeDocument/2006/relationships/font" Target="fonts/Roboto-boldItalic.fntdata" /><Relationship Id="rId30" Type="http://schemas.openxmlformats.org/officeDocument/2006/relationships/font" Target="fonts/Roboto-italic.fntdata" /><Relationship Id="rId32" Type="http://schemas.openxmlformats.org/officeDocument/2006/relationships/font" Target="fonts/OpenSans-regular.fntdata" /><Relationship Id="rId34" Type="http://schemas.openxmlformats.org/officeDocument/2006/relationships/font" Target="fonts/OpenSans-italic.fntdata" /><Relationship Id="rId33" Type="http://schemas.openxmlformats.org/officeDocument/2006/relationships/font" Target="fonts/OpenSans-bold.fntdata" /><Relationship Id="rId36" Type="http://customschemas.google.com/relationships/presentationmetadata" Target="metadata" /><Relationship Id="rId35" Type="http://schemas.openxmlformats.org/officeDocument/2006/relationships/font" Target="fonts/OpenSans-boldItalic.fntdata" 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" name="Google Shape;23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" name="Google Shape;28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30" name="Google Shape;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21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1"/>
          <p:cNvSpPr txBox="1"/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  <a:defRPr b="1" sz="4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type="subTitle" idx="1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  <a:defRPr b="1" sz="28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2" name="Google Shape;42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" name="Google Shape;43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" name="Google Shape;44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" name="Google Shape;45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7" name="Google Shape;47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" name="Google Shape;48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" name="Google Shape;49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" name="Google Shape;50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52" name="Google Shape;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Mục lục">
  <p:cSld name="2_Mục lục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2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57" name="Google Shape;57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22"/>
          <p:cNvGrpSpPr/>
          <p:nvPr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2" name="Google Shape;62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3" name="Google Shape;63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6" name="Google Shape;66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8" name="Google Shape;68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" name="Google Shape;71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73" name="Google Shape;73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" name="Google Shape;77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78" name="Google Shape;78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" name="Google Shape;79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2" name="Google Shape;82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83" name="Google Shape;83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6" name="Google Shape;86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88" name="Google Shape;88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1" name="Google Shape;91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" name="Google Shape;92;p22"/>
          <p:cNvGrpSpPr/>
          <p:nvPr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93" name="Google Shape;93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94" name="Google Shape;94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7" name="Google Shape;97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99" name="Google Shape;99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2" name="Google Shape;102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" name="Google Shape;103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04" name="Google Shape;104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" name="Google Shape;105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8" name="Google Shape;108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09" name="Google Shape;109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110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3" name="Google Shape;113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14" name="Google Shape;114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7" name="Google Shape;117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19" name="Google Shape;119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2" name="Google Shape;122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" name="Google Shape;123;p22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29" name="Google Shape;129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A picture containing clipart, vector graphics&#10;&#10;Description automatically generated" id="132" name="Google Shape;1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" type="obj">
  <p:cSld name="Title and Conten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23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38" name="Google Shape;138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2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"/>
          </p:nvPr>
        </p:nvSpPr>
        <p:spPr>
          <a:xfrm>
            <a:off x="774145" y="1233824"/>
            <a:ext cx="10579654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5" name="Google Shape;145;p23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46" name="Google Shape;146;p23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3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3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57" name="Google Shape;157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 2">
  <p:cSld name="Noi dung 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24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64" name="Google Shape;164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" name="Google Shape;165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7" name="Google Shape;167;p2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1" name="Google Shape;171;p24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72" name="Google Shape;172;p24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4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2" name="Google Shape;182;p24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83" name="Google Shape;183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" name="Google Shape;184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" name="Google Shape;185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6" name="Google Shape;186;p24"/>
          <p:cNvSpPr txBox="1"/>
          <p:nvPr>
            <p:ph idx="2" type="body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ống" type="blank">
  <p:cSld name="Blank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idx="11" type="ftr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2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92" name="Google Shape;192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" name="Google Shape;193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" name="Google Shape;194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5" name="Google Shape;195;p2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2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97" name="Google Shape;197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0" name="Google Shape;200;p25"/>
          <p:cNvSpPr/>
          <p:nvPr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5"/>
          <p:cNvSpPr txBox="1"/>
          <p:nvPr>
            <p:ph idx="10" type="dt"/>
          </p:nvPr>
        </p:nvSpPr>
        <p:spPr>
          <a:xfrm>
            <a:off x="838200" y="6481647"/>
            <a:ext cx="2148299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êu đề chương">
  <p:cSld name="3_Tiêu đề chương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11" name="Google Shape;21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2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15" name="Google Shape;215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8" name="Google Shape;218;p2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2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20" name="Google Shape;220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3" name="Google Shape;223;p26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6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26"/>
          <p:cNvSpPr/>
          <p:nvPr>
            <p:ph idx="1" type="body"/>
          </p:nvPr>
        </p:nvSpPr>
        <p:spPr>
          <a:xfrm>
            <a:off x="1704109" y="3019167"/>
            <a:ext cx="4583866" cy="1439258"/>
          </a:xfrm>
          <a:prstGeom prst="roundRect">
            <a:avLst>
              <a:gd fmla="val 2631" name="adj"/>
            </a:avLst>
          </a:prstGeom>
          <a:solidFill>
            <a:srgbClr val="F2F2F2"/>
          </a:solidFill>
          <a:ln cap="rnd" cmpd="sng" w="19050">
            <a:solidFill>
              <a:srgbClr val="00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b="1" i="0" sz="200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29" name="Google Shape;229;p26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230" name="Google Shape;230;p26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26"/>
            <p:cNvCxnSpPr/>
            <p:nvPr/>
          </p:nvCxnSpPr>
          <p:spPr>
            <a:xfrm flipH="1" rot="10800000">
              <a:off x="6011109" y="1480500"/>
              <a:ext cx="591405" cy="506136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26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26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cap="flat" cmpd="sng" w="12700">
            <a:solidFill>
              <a:srgbClr val="00C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/>
          <p:nvPr>
            <p:ph idx="2" type="pic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sp>
      <p:sp>
        <p:nvSpPr>
          <p:cNvPr id="236" name="Google Shape;236;p26"/>
          <p:cNvSpPr txBox="1"/>
          <p:nvPr>
            <p:ph idx="3" type="body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b="1" sz="36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ục lục">
  <p:cSld name="1_Mục lục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27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240" name="Google Shape;240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3" name="Google Shape;243;p27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4" name="Google Shape;244;p27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245" name="Google Shape;245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46" name="Google Shape;246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8" name="Google Shape;248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9" name="Google Shape;249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51" name="Google Shape;251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4" name="Google Shape;254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56" name="Google Shape;256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7" name="Google Shape;257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9" name="Google Shape;259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0" name="Google Shape;260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61" name="Google Shape;261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2" name="Google Shape;262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5" name="Google Shape;265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66" name="Google Shape;266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7" name="Google Shape;267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9" name="Google Shape;269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71" name="Google Shape;271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4" name="Google Shape;274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" name="Google Shape;275;p27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276" name="Google Shape;276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77" name="Google Shape;277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8" name="Google Shape;278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0" name="Google Shape;280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82" name="Google Shape;282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3" name="Google Shape;283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" name="Google Shape;284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5" name="Google Shape;285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87" name="Google Shape;287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8" name="Google Shape;288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9" name="Google Shape;289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1" name="Google Shape;291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92" name="Google Shape;292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3" name="Google Shape;293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" name="Google Shape;294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" name="Google Shape;295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6" name="Google Shape;296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97" name="Google Shape;297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0" name="Google Shape;300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1" name="Google Shape;301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02" name="Google Shape;302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5" name="Google Shape;305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6" name="Google Shape;306;p27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 txBox="1"/>
          <p:nvPr>
            <p:ph idx="12" type="sldNum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2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27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312" name="Google Shape;312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5" name="Google Shape;315;p27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7"/>
          <p:cNvSpPr txBox="1"/>
          <p:nvPr>
            <p:ph idx="2" type="body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7" name="Google Shape;317;p27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 chương">
  <p:cSld name="Section Head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319" name="Google Shape;31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23" name="Google Shape;32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26" name="Google Shape;326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327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28" name="Google Shape;32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1" name="Google Shape;331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28"/>
          <p:cNvSpPr txBox="1"/>
          <p:nvPr>
            <p:ph type="body" idx="1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3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4" type="body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b="1" sz="120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36" name="Google Shape;336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8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8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9" name="Google Shape;339;p28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40" name="Google Shape;340;p28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8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8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ackground pattern&#10;&#10;Description automatically generated" id="348" name="Google Shape;34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58" name="Google Shape;35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9" name="Google Shape;35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61" name="Google Shape;361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63" name="Google Shape;36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5" name="Google Shape;36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6" name="Google Shape;366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 txBox="1"/>
          <p:nvPr>
            <p:ph idx="5" type="sldNum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8"/>
          <p:cNvSpPr txBox="1"/>
          <p:nvPr>
            <p:ph idx="6" type="body"/>
          </p:nvPr>
        </p:nvSpPr>
        <p:spPr>
          <a:xfrm>
            <a:off x="1470930" y="2095027"/>
            <a:ext cx="6264164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28"/>
          <p:cNvSpPr txBox="1"/>
          <p:nvPr>
            <p:ph idx="7" type="body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28"/>
          <p:cNvSpPr txBox="1"/>
          <p:nvPr>
            <p:ph idx="8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1" name="Google Shape;371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1">
  <p:cSld name="Two Conten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29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376" name="Google Shape;376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9" name="Google Shape;379;p2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 txBox="1"/>
          <p:nvPr>
            <p:ph sz="half" idx="1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29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2" name="Google Shape;382;p29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83" name="Google Shape;383;p29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29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9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3" name="Google Shape;393;p29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94" name="Google Shape;394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7" name="Google Shape;397;p29"/>
          <p:cNvSpPr txBox="1"/>
          <p:nvPr>
            <p:ph sz="half" idx="2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29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2">
  <p:cSld name="Comparison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30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03" name="Google Shape;403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6" name="Google Shape;406;p3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0"/>
          <p:cNvSpPr txBox="1"/>
          <p:nvPr>
            <p:ph sz="half" idx="2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8" name="Google Shape;408;p30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9" name="Google Shape;409;p30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10" name="Google Shape;410;p30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30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30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0" name="Google Shape;420;p30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21" name="Google Shape;421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" name="Google Shape;422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" name="Google Shape;423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4" name="Google Shape;424;p30"/>
          <p:cNvSpPr txBox="1"/>
          <p:nvPr>
            <p:ph sz="quarter" idx="4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type="body" idx="1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body" sz="quarter" idx="3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30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ình ảnh">
  <p:cSld name="Content with Ca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32" name="Google Shape;432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" name="Google Shape;433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" name="Google Shape;434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5" name="Google Shape;435;p3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31"/>
          <p:cNvSpPr txBox="1"/>
          <p:nvPr>
            <p:ph type="body" sz="half" idx="2"/>
          </p:nvPr>
        </p:nvSpPr>
        <p:spPr>
          <a:xfrm>
            <a:off x="771525" y="1066800"/>
            <a:ext cx="10582275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31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9" name="Google Shape;439;p3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40" name="Google Shape;440;p3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31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31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0" name="Google Shape;450;p31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51" name="Google Shape;451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" name="Google Shape;453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4" name="Google Shape;454;p31"/>
          <p:cNvSpPr/>
          <p:nvPr>
            <p:ph idx="1"/>
          </p:nvPr>
        </p:nvSpPr>
        <p:spPr>
          <a:xfrm>
            <a:off x="771525" y="2324100"/>
            <a:ext cx="10582275" cy="3848100"/>
          </a:xfrm>
          <a:prstGeom prst="roundRect">
            <a:avLst>
              <a:gd fmla="val 57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1">
  <p:cSld name="Trang trong 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3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458" name="Google Shape;458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1" name="Google Shape;461;p32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2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3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p3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465" name="Google Shape;465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" name="Google Shape;466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" name="Google Shape;467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8" name="Google Shape;468;p32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32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2">
  <p:cSld name="Trang trong 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êu đề">
  <p:cSld name="1_Tiêu đề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4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8" name="Google Shape;478;p34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79" name="Google Shape;479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" name="Google Shape;480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" name="Google Shape;481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82" name="Google Shape;482;p3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3" name="Google Shape;483;p34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84" name="Google Shape;484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7" name="Google Shape;487;p34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489" name="Google Shape;4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4"/>
          <p:cNvSpPr txBox="1"/>
          <p:nvPr>
            <p:ph idx="12" type="sldNum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34"/>
          <p:cNvSpPr txBox="1"/>
          <p:nvPr>
            <p:ph idx="1" type="body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b="1" sz="4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4" name="Google Shape;494;p34"/>
          <p:cNvSpPr txBox="1"/>
          <p:nvPr>
            <p:ph idx="2" type="body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000"/>
              <a:buNone/>
              <a:defRPr b="1" sz="20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5" name="Google Shape;495;p34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7" name="Google Shape;497;p34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3" Target="../slideLayouts/slideLayout13.xml" Type="http://schemas.openxmlformats.org/officeDocument/2006/relationships/slideLayout" /><Relationship Id="rId12" Target="../slideLayouts/slideLayout12.xml" Type="http://schemas.openxmlformats.org/officeDocument/2006/relationships/slideLayout" /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5" Target="../theme/theme1.xml" Type="http://schemas.openxmlformats.org/officeDocument/2006/relationships/theme" /><Relationship Id="rId14" Target="../slideLayouts/slideLayout1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b="1" cap="none" i="0" strike="noStrike" sz="4000" u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cap="none" i="0" strike="noStrike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i="0" strike="noStrike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9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0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6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7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9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2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Xây dựng hệ thống nhận diện biển số xe bằng Trí tuệ nhân tạo</a:t>
            </a:r>
          </a:p>
        </p:txBody>
      </p:sp>
      <p:sp>
        <p:nvSpPr>
          <p:cNvPr id="35" name="Google Shape;35;p21"/>
          <p:cNvSpPr txBox="1"/>
          <p:nvPr>
            <p:ph idx="1" type="subTitle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Đồ án môn học · Xử lý ảnh và ứng dụng</a:t>
            </a:r>
            <a:br/>
            <a:br/>
            <a:r>
              <a:rPr/>
              <a:t>Giảng viên hướng dẫn: ThS. Cáp Phạm Đình Thăng</a:t>
            </a:r>
            <a:br/>
            <a:r>
              <a:rPr/>
              <a:t>Phạm Nguyễn Thế Châu — 25410004</a:t>
            </a:r>
            <a:br/>
            <a:r>
              <a:rPr/>
              <a:t>Nguyễn Công Hậu — 25410006</a:t>
            </a:r>
            <a:br/>
            <a:r>
              <a:rPr/>
              <a:t>Nguyễn Minh Hiếu — 25410007</a:t>
            </a:r>
            <a:br/>
            <a:r>
              <a:rPr/>
              <a:t>Phạm Công Thành — 25410013</a:t>
            </a:r>
          </a:p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Tháng 9 năm 2026</a:t>
            </a: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Nội dung trình bày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 indent="0" marL="347663">
              <a:buAutoNum type="arabicPeriod"/>
            </a:pPr>
            <a:r>
              <a:rPr/>
              <a:t>Bài toán và mục tiêu</a:t>
            </a:r>
          </a:p>
          <a:p>
            <a:pPr lvl="0" indent="0" marL="347663">
              <a:buAutoNum type="arabicPeriod"/>
            </a:pPr>
            <a:r>
              <a:rPr/>
              <a:t>Phương pháp đề xuất</a:t>
            </a:r>
          </a:p>
          <a:p>
            <a:pPr lvl="0" indent="0" marL="347663">
              <a:buAutoNum type="arabicPeriod"/>
            </a:pPr>
            <a:r>
              <a:rPr/>
              <a:t>Kết quả thực nghiệm</a:t>
            </a:r>
          </a:p>
          <a:p>
            <a:pPr lvl="0" indent="0" marL="347663">
              <a:buAutoNum type="arabicPeriod"/>
            </a:pPr>
            <a:r>
              <a:rPr/>
              <a:t>Kết luận và hướng phát triển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Đặt vấn đề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77 triệu xe máy</a:t>
            </a:r>
            <a:r>
              <a:rPr/>
              <a:t>, chiếm 85–90% lưu lượng ⇒ ở Việt Nam </a:t>
            </a:r>
            <a:r>
              <a:rPr b="1"/>
              <a:t>biển hai dòng là đa số</a:t>
            </a:r>
            <a:r>
              <a:rPr/>
              <a:t>, không phải ngoại lệ</a:t>
            </a:r>
          </a:p>
          <a:p>
            <a:pPr lvl="0"/>
            <a:r>
              <a:rPr/>
              <a:t>Biển xe mô tô chỉ </a:t>
            </a:r>
            <a:r>
              <a:rPr b="1"/>
              <a:t>190 × 140 mm</a:t>
            </a:r>
            <a:r>
              <a:rPr/>
              <a:t>, tỉ lệ khung hình </a:t>
            </a:r>
            <a:r>
              <a:rPr b="1"/>
              <a:t>1,357</a:t>
            </a:r>
            <a:r>
              <a:rPr/>
              <a:t> — vừa là đối tượng nhỏ, vừa là bố cục hai dòng</a:t>
            </a:r>
          </a:p>
          <a:p>
            <a:pPr lvl="0"/>
            <a:r>
              <a:rPr/>
              <a:t>Mọi bộ nhận dạng ký tự dựng sẵn đều </a:t>
            </a:r>
            <a:r>
              <a:rPr b="1"/>
              <a:t>giả định văn bản nằm trên một dòng ngang</a:t>
            </a:r>
            <a:r>
              <a:rPr/>
              <a:t> — giả định đó </a:t>
            </a:r>
            <a:r>
              <a:rPr b="1"/>
              <a:t>sai</a:t>
            </a:r>
            <a:r>
              <a:rPr/>
              <a:t> với đa số biển số Việt Nam</a:t>
            </a:r>
          </a:p>
          <a:p>
            <a:pPr lvl="0"/>
            <a:r>
              <a:rPr/>
              <a:t>Ảnh thực tế còn thêm: bề mặt phản quang gây </a:t>
            </a:r>
            <a:r>
              <a:rPr b="1"/>
              <a:t>chói cục bộ</a:t>
            </a:r>
            <a:r>
              <a:rPr/>
              <a:t>, biển bám bụi, cong vênh, chụp nghiêng, ngược sáng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Mục tiêu và chỉ tiêu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Hệ thống chạy đầu cuối, </a:t>
            </a:r>
            <a:r>
              <a:rPr b="1"/>
              <a:t>suy luận hoàn toàn trên CPU</a:t>
            </a:r>
            <a:r>
              <a:rPr/>
              <a:t>, hỗ trợ cả biển một dòng và hai dòng.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Chỉ tiêu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Ngưỡng tối thiểu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Mục tiêu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mAP@0,5 của bộ phát hiện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mAP@0,5:0,95 của bộ phát hiện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mức ký tự (1 − CER)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cả chuỗi, </a:t>
                      </a:r>
                      <a:r>
                        <a:rPr b="1"/>
                        <a:t>trước</a:t>
                      </a:r>
                      <a:r>
                        <a:rPr/>
                        <a:t> hậu xử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cả chuỗi, </a:t>
                      </a:r>
                      <a:r>
                        <a:rPr b="1"/>
                        <a:t>sau</a:t>
                      </a:r>
                      <a:r>
                        <a:rPr/>
                        <a:t> hậu xử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Độ trễ một ảnh, p95, </a:t>
                      </a:r>
                      <a:r>
                        <a:rPr b="1"/>
                        <a:t>trên CPU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≤ 1.500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≤ 800 ms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Pipeline xử lý tổng thể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Đóng góp chính nằm ở </a:t>
            </a:r>
            <a:r>
              <a:rPr b="1"/>
              <a:t>khối xử lý ảnh</a:t>
            </a:r>
            <a:r>
              <a:rPr/>
              <a:t> và </a:t>
            </a:r>
            <a:r>
              <a:rPr b="1"/>
              <a:t>hậu xử lý</a:t>
            </a:r>
            <a:r>
              <a:rPr/>
              <a:t> — cầu nối giữa hai mô hình học sâu.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Luồng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Khối chức năng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Nội dung kỹ thuật trong pipeline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Ảnh đầu vào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Khung hình camera / ảnh phương tiện thực tế (1 hoặc 2 dòng)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YOLO11n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Phát hiện vùng biển số và trích xuất bounding box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Khối xử lý ảnh</a:t>
                      </a:r>
                      <a:r>
                        <a:rPr/>
                        <a:t> </a:t>
                      </a:r>
                      <a:r>
                        <a:rPr i="1"/>
                        <a:t>(cốt lõi)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Phân loại số dòng (AR = 2,50) · Tách–ghép ngang · CLAHE · Lọc song phương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PaddleOCR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Nhận dạng ký tự quang học trên ảnh một dòng đã chuẩn hóa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Khối hậu xử lý</a:t>
                      </a:r>
                      <a:r>
                        <a:rPr/>
                        <a:t> </a:t>
                      </a:r>
                      <a:r>
                        <a:rPr i="1"/>
                        <a:t>(cốt lõi)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Kiểm tra mã tỉnh (81/89) · Mặt nạ vị trí · Ánh xạ nhầm lẫn bất đối xứng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Kết quả đầu 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Chuỗi ký tự biển số chuẩn hóa + Loại phương tiện / màu biển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Bộ dữ liệu: khử trùng lặp bằng băm tri giác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Các bộ công khai fork lẫn nhau, nên </a:t>
            </a:r>
            <a:r>
              <a:rPr b="1"/>
              <a:t>44,2% ảnh là bản trùng</a:t>
            </a:r>
            <a:r>
              <a:rPr/>
              <a:t> — không khử thì đang đo trí nhớ</a:t>
            </a:r>
          </a:p>
        </p:txBody>
      </p:sp>
      <p:pic>
        <p:nvPicPr>
          <p:cNvPr descr="figures/fig-mon-hoc-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20800" y="2324100"/>
            <a:ext cx="94742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Vì sao biển hai dòng làm OCR đọc sai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Bản đồ đặc trưng bị nén H → 1 khiến ký tự hai dòng rơi chung cột đặc trưng và xung đột CTC.</a:t>
            </a:r>
          </a:p>
        </p:txBody>
      </p:sp>
      <p:pic>
        <p:nvPicPr>
          <p:cNvPr descr="figures/fig-slide-crnn-collap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2324100"/>
            <a:ext cx="8343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Hướng tiếp cận: Biến đổi hình học ảnh thay cho mô hình phức tạp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Tái cấu trúc hình học của ảnh để tương thích hoàn toàn với giả định của mô hình CRNN/CTC sẵn có.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Phép xử lý ảnh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Dùng để làm gì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Thay cho phương án hiển nhiên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Ngưỡng tỉ lệ khung hình 2,50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Phân loại một dòng / hai dòng — quy chuẩn cho 4,727 · 2,000 · 1,357 nên có khoảng trống rộng </a:t>
                      </a:r>
                      <a:r>
                        <a:rPr b="1"/>
                        <a:t>2,727</a:t>
                      </a:r>
                      <a:r>
                        <a:rPr/>
                        <a:t> để đặt ngưỡng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Huấn luyện thêm một bộ phân loại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Tách hai nửa + ghép ngang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Biến ảnh hai dòng thành một dòng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Đổi sang mô hình đọc đa dòng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Xử lý mảng chói cục bộ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Cân bằng lược đồ xám </a:t>
                      </a:r>
                      <a:r>
                        <a:rPr b="1"/>
                        <a:t>toàn cục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Lọc song phương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Khử nhiễu mà </a:t>
                      </a:r>
                      <a:r>
                        <a:rPr b="1"/>
                        <a:t>giữ biên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Làm mờ Gauss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Băm tri giác (DCT)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Khử ảnh trùng giữa các bộ dữ liệu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Băm mật mã MD5/SHA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Không gian màu HSV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Nhận màu nền bền với ánh sáng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Phân ngưỡng trên RGB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Minh họa pipeline trên một biển thật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Mỗi khung là ảnh thật ở đầu ra một bước, dựng từ </a:t>
            </a:r>
            <a:r>
              <a:rPr b="1"/>
              <a:t>mô hình đề xuất</a:t>
            </a:r>
            <a:r>
              <a:rPr/>
              <a:t>.</a:t>
            </a:r>
          </a:p>
        </p:txBody>
      </p:sp>
      <p:pic>
        <p:nvPicPr>
          <p:cNvPr descr="figures/fig-pipeline-strip-nga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11600" y="2324100"/>
            <a:ext cx="42926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Cắt cố định 5/12 &amp; 1/3 thay vì Chiếu ngang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Ốc vít ở tim biển tạo đỉnh xám giả làm gãy phép chiếu ngang; cắt cố định O(1) bảo vệ nét chữ.</a:t>
            </a:r>
          </a:p>
        </p:txBody>
      </p:sp>
      <p:pic>
        <p:nvPicPr>
          <p:cNvPr descr="figures/fig-slide-split-vs-proje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2324100"/>
            <a:ext cx="8343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Bộ luật hậu xử lý ràng buộc theo vị trí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 ràng buộc đặc thù biển số Việt Nam, khai thác </a:t>
            </a:r>
            <a:r>
              <a:rPr b="1"/>
              <a:t>theo từng vị trí trong chuỗi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Ràng buộc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Nội 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Vì sao không dùng luật phẳng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Mã tỉnh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81/89</a:t>
                      </a:r>
                      <a:r>
                        <a:rPr/>
                        <a:t> giá trị được dùng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\d{2}</a:t>
                      </a:r>
                      <a:r>
                        <a:rPr/>
                        <a:t> cho qua 8 chuỗi không tồn tại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Tập seri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Vị trí 1 </a:t>
                      </a:r>
                      <a:r>
                        <a:rPr b="1"/>
                        <a:t>có G không R</a:t>
                      </a:r>
                      <a:r>
                        <a:rPr/>
                        <a:t>; vị trí 2 của xe máy </a:t>
                      </a:r>
                      <a:r>
                        <a:rPr b="1"/>
                        <a:t>có R không 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Danh sách phẳng sai hệ thống trên mọi biển xe máy có </a:t>
                      </a:r>
                      <a:r>
                        <a:rPr>
                          <a:latin typeface="Courier"/>
                        </a:rPr>
                        <a:t>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Mặt nạ vị trí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DDLDDDDD</a:t>
                      </a:r>
                      <a:r>
                        <a:rPr/>
                        <a:t> · </a:t>
                      </a:r>
                      <a:r>
                        <a:rPr>
                          <a:latin typeface="Courier"/>
                        </a:rPr>
                        <a:t>DDLDDDD</a:t>
                      </a:r>
                      <a:r>
                        <a:rPr/>
                        <a:t> · </a:t>
                      </a:r>
                      <a:r>
                        <a:rPr>
                          <a:latin typeface="Courier"/>
                        </a:rPr>
                        <a:t>DDL?DDDDD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Chỉ số 3 là vị trí </a:t>
                      </a:r>
                      <a:r>
                        <a:rPr b="1"/>
                        <a:t>duy nhất</a:t>
                      </a:r>
                      <a:r>
                        <a:rPr/>
                        <a:t> cả chữ lẫn số đều hợp lệ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Ánh xạ nhầm lẫn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 → 0 hợp lý, 0 → O </a:t>
                      </a:r>
                      <a:r>
                        <a:rPr b="1"/>
                        <a:t>không bao giờ</a:t>
                      </a:r>
                      <a:r>
                        <a:rPr/>
                        <a:t> — chiều đúng là 0 → 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Bảng đối xứng sẽ tạo ra ký tự bất hợp lệ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Phân loại màu nền trong không gian màu HSV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Tách biệt sắc độ H khỏi độ sáng V giúp nhận diện bền vững; độ chính xác tổng thể đạt 97,89%.</a:t>
            </a:r>
          </a:p>
        </p:txBody>
      </p:sp>
      <p:pic>
        <p:nvPicPr>
          <p:cNvPr descr="figures/fig-slide-hsv-ev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2324100"/>
            <a:ext cx="85471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Xử lý biển nghiêng: Nắn 2D &amp; Thử lại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Nắn phẳng bằng minAreaRect cứu thêm 34 biển số, chi phí dồn vào đuôi p95 mà không ảnh hưởng p50.</a:t>
            </a:r>
          </a:p>
        </p:txBody>
      </p:sp>
      <p:pic>
        <p:nvPicPr>
          <p:cNvPr descr="figures/fig-slide-deskew-lad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2324100"/>
            <a:ext cx="8343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Kết quả đo được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Phát hiện </a:t>
            </a:r>
            <a:r>
              <a:rPr b="1"/>
              <a:t>đạt cả bốn chỉ tiêu</a:t>
            </a:r>
            <a:r>
              <a:rPr/>
              <a:t>; phần thiếu nằm trọn ở </a:t>
            </a:r>
            <a:r>
              <a:rPr b="1"/>
              <a:t>biển hai dòng</a:t>
            </a:r>
            <a:r>
              <a:rPr/>
              <a:t> — riêng một dòng đạt 0,9541 sau hậu xử lý</a:t>
            </a:r>
          </a:p>
        </p:txBody>
      </p:sp>
      <p:pic>
        <p:nvPicPr>
          <p:cNvPr descr="figures/fig-mon-hoc-kp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2781300"/>
            <a:ext cx="105791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Khoảng cách nằm ở đâu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Đo mức ký tự thì hai bố cục gần bằng nhau; đo cả chuỗi thì phân hóa rõ rệt.</a:t>
            </a:r>
          </a:p>
        </p:txBody>
      </p:sp>
      <p:pic>
        <p:nvPicPr>
          <p:cNvPr descr="figures/fig-ch4-layou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2324100"/>
            <a:ext cx="80391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Lỗi trông như thế nào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 ca được chuẩn hóa đúng nhờ hậu xử lý, ba ca vẫn sai — </a:t>
            </a:r>
            <a:r>
              <a:rPr b="1"/>
              <a:t>cả ba ca sai đều hỏng ở dòng trên</a:t>
            </a:r>
            <a:r>
              <a:rPr/>
              <a:t>.</a:t>
            </a:r>
          </a:p>
        </p:txBody>
      </p:sp>
      <p:pic>
        <p:nvPicPr>
          <p:cNvPr descr="figures/fig-ch4-lo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2324100"/>
            <a:ext cx="6184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Bóc tách đóng góp của từng bước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Mọi bước bật tắt độc lập, nên đóng góp của từng bước </a:t>
            </a:r>
            <a:r>
              <a:rPr b="1"/>
              <a:t>đo được riêng</a:t>
            </a:r>
            <a:r>
              <a:rPr/>
              <a:t> — kể cả khi bằng 0. </a:t>
            </a:r>
            <a:r>
              <a:rPr i="1"/>
              <a:t>(Đối chứng: tách-ghép trên Tesseract chỉ +0,03 điểm)</a:t>
            </a:r>
          </a:p>
        </p:txBody>
      </p:sp>
      <p:pic>
        <p:nvPicPr>
          <p:cNvPr descr="figures/fig-mon-hoc-donggo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2781300"/>
            <a:ext cx="105791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Phân rã ngân sách độ trễ &amp; Định luật Amdahl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PaddleOCR chiếm 60,8% độ trễ là điểm nghẽn chính; xử lý ảnh mang lại đột phá với chi phí ~0 ms.</a:t>
            </a:r>
          </a:p>
        </p:txBody>
      </p:sp>
      <p:pic>
        <p:nvPicPr>
          <p:cNvPr descr="figures/fig-slide-latency-amdah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2324100"/>
            <a:ext cx="77851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Ba kết quả khác với dự đoán ban đầu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Tách-ghép không độc lập bộ nhận dạng</a:t>
            </a:r>
            <a:r>
              <a:rPr/>
              <a:t> — 34,92 điểm cho PaddleOCR, </a:t>
            </a:r>
            <a:r>
              <a:rPr b="1"/>
              <a:t>0,03</a:t>
            </a:r>
            <a:r>
              <a:rPr/>
              <a:t> cho Tesseract ⇒ điều kiện cần, không đủ</a:t>
            </a:r>
          </a:p>
          <a:p>
            <a:pPr lvl="0"/>
            <a:r>
              <a:rPr b="1"/>
              <a:t>Bảng luật suy từ hình dạng chỉ phủ 2/10 cặp nhầm phổ biến nhất</a:t>
            </a:r>
            <a:r>
              <a:rPr/>
              <a:t>; bảng trích từ ma trận đo được phủ </a:t>
            </a:r>
            <a:r>
              <a:rPr b="1"/>
              <a:t>4/10</a:t>
            </a:r>
            <a:r>
              <a:rPr/>
              <a:t> và thêm </a:t>
            </a:r>
            <a:r>
              <a:rPr b="1"/>
              <a:t>53 biển đúng</a:t>
            </a:r>
          </a:p>
          <a:p>
            <a:pPr lvl="0"/>
            <a:r>
              <a:rPr b="1"/>
              <a:t>Siêu phân giải cải thiện 0 biển, nhưng 0/120 mẫu lọt cổng</a:t>
            </a:r>
            <a:r>
              <a:rPr/>
              <a:t> ⇒ </a:t>
            </a:r>
            <a:r>
              <a:rPr i="1"/>
              <a:t>chi phí đã đo, lợi ích chưa ai đo được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Demo: hệ thống chạy thật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Khởi động bằng một lệnh </a:t>
            </a:r>
            <a:r>
              <a:rPr>
                <a:latin typeface="Courier"/>
              </a:rPr>
              <a:t>docker compose up</a:t>
            </a:r>
            <a:r>
              <a:rPr/>
              <a:t>; giao diện hiện </a:t>
            </a:r>
            <a:r>
              <a:rPr b="1"/>
              <a:t>cả chuỗi thô lẫn chuỗi đã sửa</a:t>
            </a:r>
            <a:r>
              <a:rPr/>
              <a:t>.</a:t>
            </a:r>
          </a:p>
        </p:txBody>
      </p:sp>
      <p:pic>
        <p:nvPicPr>
          <p:cNvPr descr="figures/fig-demo-u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2324100"/>
            <a:ext cx="81534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Hướng phát triển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231900"/>
          <a:ext cx="10579100" cy="49403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Hướng phát triển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Giải hạn chế nào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Huấn luyện lại bộ nhận dạng ký tự cho biển số Việt Nam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Mở rộng bảng ánh xạ từ ma trận nhầm lẫn khi có thêm dữ liệu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Khử rò rỉ theo </a:t>
                      </a:r>
                      <a:r>
                        <a:rPr b="1"/>
                        <a:t>chuỗi biển số</a:t>
                      </a:r>
                      <a:r>
                        <a:rPr/>
                        <a:t> thay vì theo băm tri giác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3, 4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 thập dữ liệu biển vàng, xanh, đỏ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2, 5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Đo lại bậc siêu phân giải FSRCNN trên ngữ liệu có biển siêu nhỏ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Tăng tốc khối nhận dạng: lượng tử hóa, xuất OpenVINO hoặc ONNX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Kết luận chung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/>
              <a:t>Chạy đầu cuối trên CPU: phát hiện </a:t>
            </a:r>
            <a:r>
              <a:rPr b="1"/>
              <a:t>mAP@0,5 = 0,9829</a:t>
            </a:r>
          </a:p>
          <a:p>
            <a:pPr lvl="0"/>
            <a:r>
              <a:rPr/>
              <a:t>Đột phá trên biển hai dòng nhờ biến đổi ảnh (thay vì đổi mô hình): tăng </a:t>
            </a:r>
            <a:r>
              <a:rPr b="1"/>
              <a:t>+34,92 điểm</a:t>
            </a:r>
          </a:p>
          <a:p>
            <a:pPr lvl="0"/>
            <a:r>
              <a:rPr/>
              <a:t>Hậu xử lý theo vị trí </a:t>
            </a:r>
            <a:r>
              <a:rPr b="1"/>
              <a:t>+13,28 điểm</a:t>
            </a:r>
            <a:r>
              <a:rPr/>
              <a:t>, </a:t>
            </a:r>
            <a:r>
              <a:rPr b="1"/>
              <a:t>0 ca làm hỏng</a:t>
            </a:r>
            <a:r>
              <a:rPr/>
              <a:t> / 2.801 biển</a:t>
            </a:r>
          </a:p>
          <a:p>
            <a:pPr lvl="0"/>
            <a:r>
              <a:rPr/>
              <a:t>Điểm nghẽn còn lại: </a:t>
            </a:r>
            <a:r>
              <a:rPr b="1"/>
              <a:t>biển hai dòng</a:t>
            </a:r>
            <a:r>
              <a:rPr/>
              <a:t> (S₁ = 0,7234)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Cảm ơn &amp; Hỏi đáp (Q&amp;A)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Đề tài: Xây dựng hệ thống nhận diện biển số xe bằng Trí tuệ nhân tạo</a:t>
            </a:r>
          </a:p>
          <a:p>
            <a:pPr lvl="0"/>
            <a:r>
              <a:rPr b="1"/>
              <a:t>Giảng viên hướng dẫn:</a:t>
            </a:r>
            <a:r>
              <a:rPr/>
              <a:t> ThS. Cáp Phạm Đình Thăng</a:t>
            </a:r>
          </a:p>
          <a:p>
            <a:pPr lvl="0"/>
            <a:r>
              <a:rPr b="1"/>
              <a:t>Sinh viên thực hiện:</a:t>
            </a:r>
            <a:r>
              <a:rPr/>
              <a:t> Phạm Nguyễn Thế Châu | Nguyễn Công Hậu | Nguyễn Minh Hiếu | Phạm Công Thành</a:t>
            </a:r>
          </a:p>
          <a:p>
            <a:pPr lvl="0" indent="0" marL="0">
              <a:buNone/>
            </a:pPr>
            <a:r>
              <a:rPr b="1"/>
              <a:t>Xin trân trọng cảm ơn Quý Thầy/Cô và các bạn!</a:t>
            </a:r>
          </a:p>
          <a:p>
            <a:pPr lvl="0" indent="0" marL="0">
              <a:buNone/>
            </a:pPr>
            <a:r>
              <a:rPr b="1"/>
              <a:t>Phiên trao đổi &amp; Hỏi đáp (Q&amp;A)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nhận diện biển số xe bằng Trí tuệ nhân tạo</dc:title>
  <dc:creator>Giảng viên hướng dẫn: ThS. Cáp Phạm Đình Thăng; Phạm Nguyễn Thế Châu — 25410004; Nguyễn Công Hậu — 25410006; Nguyễn Minh Hiếu — 25410007; Phạm Công Thành — 25410013</dc:creator>
  <cp:keywords/>
  <dcterms:created xsi:type="dcterms:W3CDTF">2026-09-04T13:21:10Z</dcterms:created>
  <dcterms:modified xsi:type="dcterms:W3CDTF">2026-09-04T13:21:10Z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Tháng 9 năm 2026</vt:lpwstr>
  </property>
  <property fmtid="{D5CDD505-2E9C-101B-9397-08002B2CF9AE}" pid="3" name="subtitle">
    <vt:lpwstr>Đồ án môn học · Xử lý ảnh và ứng dụng</vt:lpwstr>
  </property>
</Properties>
</file>