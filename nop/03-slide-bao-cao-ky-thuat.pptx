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fntdata" ContentType="application/x-fontdata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embedTrueTypeFonts="1" saveSubsetFonts="1" strictFirstAndLastChar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oundtripDataSignature="AMtx7mhu5dURU4INwSlvEO7StWDXKr50jg==" r:id="rId24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BEF19B-5B1D-4A26-B267-ECC71EF7E2D4}">
  <a:tblStyle styleId="{45BEF19B-5B1D-4A26-B267-ECC71EF7E2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mpd="sng">
              <a:solidFill>
                <a:srgbClr val="7F7F7F"/>
              </a:solidFill>
            </a:ln>
          </a:left>
          <a:right>
            <a:ln w="12700" cmpd="sng">
              <a:solidFill>
                <a:srgbClr val="7F7F7F"/>
              </a:solidFill>
            </a:ln>
          </a:right>
          <a:top>
            <a:ln w="12700" cmpd="sng">
              <a:solidFill>
                <a:srgbClr val="7F7F7F"/>
              </a:solidFill>
            </a:ln>
          </a:top>
          <a:bottom>
            <a:ln w="12700" cmpd="sng">
              <a:solidFill>
                <a:srgbClr val="7F7F7F"/>
              </a:solidFill>
            </a:ln>
          </a:bottom>
          <a:insideH>
            <a:ln w="12700" cmpd="sng">
              <a:solidFill>
                <a:srgbClr val="7F7F7F"/>
              </a:solidFill>
            </a:ln>
          </a:insideH>
          <a:insideV>
            <a:ln w="12700" cmpd="sng">
              <a:solidFill>
                <a:srgbClr val="7F7F7F"/>
              </a:solidFill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E219758-DFE7-4E60-9379-781288D8A98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EBEB"/>
          </a:solidFill>
        </a:fill>
      </a:tcStyle>
    </a:wholeTbl>
    <a:band1H>
      <a:tcTxStyle/>
      <a:tcStyle>
        <a:fill>
          <a:solidFill>
            <a:srgbClr val="F8D4D4"/>
          </a:solidFill>
        </a:fill>
      </a:tcStyle>
    </a:band1H>
    <a:band2H>
      <a:tcTxStyle/>
    </a:band2H>
    <a:band1V>
      <a:tcTxStyle/>
      <a:tcStyle>
        <a:fill>
          <a:solidFill>
            <a:srgbClr val="F8D4D4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" Type="http://schemas.openxmlformats.org/officeDocument/2006/relationships/theme" Target="theme/theme1.xml" /><Relationship Id="rId2" Type="http://schemas.openxmlformats.org/officeDocument/2006/relationships/presProps" Target="presProps.xml" /><Relationship Id="rId3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17" Type="http://schemas.openxmlformats.org/officeDocument/2006/relationships/font" Target="fonts/Roboto-bold.fntdata" /><Relationship Id="rId16" Type="http://schemas.openxmlformats.org/officeDocument/2006/relationships/font" Target="fonts/Roboto-regular.fntdata" /><Relationship Id="rId19" Type="http://schemas.openxmlformats.org/officeDocument/2006/relationships/font" Target="fonts/Roboto-boldItalic.fntdata" /><Relationship Id="rId18" Type="http://schemas.openxmlformats.org/officeDocument/2006/relationships/font" Target="fonts/Roboto-italic.fntdata" /><Relationship Id="rId20" Type="http://schemas.openxmlformats.org/officeDocument/2006/relationships/font" Target="fonts/OpenSans-regular.fntdata" /><Relationship Id="rId22" Type="http://schemas.openxmlformats.org/officeDocument/2006/relationships/font" Target="fonts/OpenSans-italic.fntdata" /><Relationship Id="rId21" Type="http://schemas.openxmlformats.org/officeDocument/2006/relationships/font" Target="fonts/OpenSans-bold.fntdata" /><Relationship Id="rId24" Type="http://customschemas.google.com/relationships/presentationmetadata" Target="metadata" /><Relationship Id="rId23" Type="http://schemas.openxmlformats.org/officeDocument/2006/relationships/font" Target="fonts/OpenSans-boldItalic.fntdata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30" name="Google Shape;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21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b="1" sz="4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type="subTitle" idx="1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b="1" sz="28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2" name="Google Shape;42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" name="Google Shape;44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" name="Google Shape;45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7" name="Google Shape;47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" name="Google Shape;48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" name="Google Shape;50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52" name="Google Shape;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ục lục">
  <p:cSld name="2_Mục lục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2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57" name="Google Shape;57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22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2" name="Google Shape;62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3" name="Google Shape;63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6" name="Google Shape;66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8" name="Google Shape;68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" name="Google Shape;71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73" name="Google Shape;73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" name="Google Shape;77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78" name="Google Shape;78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2" name="Google Shape;82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83" name="Google Shape;83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88" name="Google Shape;88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1" name="Google Shape;91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" name="Google Shape;92;p22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93" name="Google Shape;93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94" name="Google Shape;94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99" name="Google Shape;99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2" name="Google Shape;102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04" name="Google Shape;104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8" name="Google Shape;108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09" name="Google Shape;109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110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" name="Google Shape;113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14" name="Google Shape;114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19" name="Google Shape;119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2" name="Google Shape;122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" name="Google Shape;123;p22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29" name="Google Shape;129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A picture containing clipart, vector graphics&#10;&#10;Description automatically generated"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" type="obj">
  <p:cSld name="Title and Conten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3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38" name="Google Shape;138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2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" name="Google Shape;145;p23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46" name="Google Shape;146;p23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3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 2">
  <p:cSld name="Noi dung 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24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64" name="Google Shape;164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7" name="Google Shape;167;p2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24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72" name="Google Shape;172;p24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4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2" name="Google Shape;182;p24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" name="Google Shape;184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" name="Google Shape;185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6" name="Google Shape;186;p24"/>
          <p:cNvSpPr txBox="1"/>
          <p:nvPr>
            <p:ph idx="2" type="body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ống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2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92" name="Google Shape;192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5" name="Google Shape;195;p2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2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97" name="Google Shape;197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0" name="Google Shape;200;p25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5"/>
          <p:cNvSpPr txBox="1"/>
          <p:nvPr>
            <p:ph idx="10" type="dt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êu đề chương">
  <p:cSld name="3_Tiêu đề chương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11" name="Google Shape;21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15" name="Google Shape;215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8" name="Google Shape;218;p2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2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20" name="Google Shape;220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3" name="Google Shape;223;p26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6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6"/>
          <p:cNvSpPr/>
          <p:nvPr>
            <p:ph idx="1" type="body"/>
          </p:nvPr>
        </p:nvSpPr>
        <p:spPr>
          <a:xfrm>
            <a:off x="1704109" y="3019167"/>
            <a:ext cx="4583866" cy="1439258"/>
          </a:xfrm>
          <a:prstGeom prst="roundRect">
            <a:avLst>
              <a:gd fmla="val 2631" name="adj"/>
            </a:avLst>
          </a:prstGeom>
          <a:solidFill>
            <a:srgbClr val="F2F2F2"/>
          </a:solidFill>
          <a:ln cap="rnd" cmpd="sng" w="19050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b="1" i="0" sz="200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29" name="Google Shape;229;p2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230" name="Google Shape;230;p2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26"/>
            <p:cNvCxnSpPr/>
            <p:nvPr/>
          </p:nvCxnSpPr>
          <p:spPr>
            <a:xfrm flipH="1" rot="10800000">
              <a:off x="6011109" y="1480500"/>
              <a:ext cx="591405" cy="506136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2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2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cap="flat" cmpd="sng" w="12700">
            <a:solidFill>
              <a:srgbClr val="00C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>
            <p:ph idx="2" type="pic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sp>
      <p:sp>
        <p:nvSpPr>
          <p:cNvPr id="236" name="Google Shape;236;p26"/>
          <p:cNvSpPr txBox="1"/>
          <p:nvPr>
            <p:ph idx="3" type="body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b="1" sz="36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ục lục">
  <p:cSld name="1_Mục lục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2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240" name="Google Shape;240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3" name="Google Shape;243;p27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4" name="Google Shape;244;p2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245" name="Google Shape;245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46" name="Google Shape;246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8" name="Google Shape;248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9" name="Google Shape;249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51" name="Google Shape;251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4" name="Google Shape;254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56" name="Google Shape;256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7" name="Google Shape;257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9" name="Google Shape;259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0" name="Google Shape;260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61" name="Google Shape;261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" name="Google Shape;262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5" name="Google Shape;265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66" name="Google Shape;266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9" name="Google Shape;269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71" name="Google Shape;271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4" name="Google Shape;274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" name="Google Shape;275;p2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276" name="Google Shape;276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77" name="Google Shape;277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" name="Google Shape;278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0" name="Google Shape;280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82" name="Google Shape;282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3" name="Google Shape;283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5" name="Google Shape;285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87" name="Google Shape;287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8" name="Google Shape;288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9" name="Google Shape;289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1" name="Google Shape;291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92" name="Google Shape;292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3" name="Google Shape;293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6" name="Google Shape;296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97" name="Google Shape;297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0" name="Google Shape;300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02" name="Google Shape;302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5" name="Google Shape;305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" name="Google Shape;306;p2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 txBox="1"/>
          <p:nvPr>
            <p:ph idx="12" type="sldNum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2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2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12" name="Google Shape;312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5" name="Google Shape;315;p27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7"/>
          <p:cNvSpPr txBox="1"/>
          <p:nvPr>
            <p:ph idx="2" type="body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27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 chương">
  <p:cSld name="Section Head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319" name="Google Shape;3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23" name="Google Shape;32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26" name="Google Shape;326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28" name="Google Shape;32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1" name="Google Shape;331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28"/>
          <p:cNvSpPr txBox="1"/>
          <p:nvPr>
            <p:ph type="body" idx="1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3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4" type="body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b="1" sz="120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6" name="Google Shape;336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8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8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9" name="Google Shape;339;p2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40" name="Google Shape;340;p2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ackground pattern&#10;&#10;Description automatically generated" id="348" name="Google Shape;34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58" name="Google Shape;35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61" name="Google Shape;361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63" name="Google Shape;36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6" name="Google Shape;366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>
            <p:ph idx="5" type="sldNum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8"/>
          <p:cNvSpPr txBox="1"/>
          <p:nvPr>
            <p:ph idx="6" type="body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28"/>
          <p:cNvSpPr txBox="1"/>
          <p:nvPr>
            <p:ph idx="7" type="body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28"/>
          <p:cNvSpPr txBox="1"/>
          <p:nvPr>
            <p:ph idx="8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1" name="Google Shape;371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1">
  <p:cSld name="Two Conte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2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76" name="Google Shape;376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9" name="Google Shape;379;p2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/>
          <p:nvPr>
            <p:ph sz="half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29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2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83" name="Google Shape;383;p2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9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9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3" name="Google Shape;393;p2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94" name="Google Shape;394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" name="Google Shape;397;p29"/>
          <p:cNvSpPr txBox="1"/>
          <p:nvPr>
            <p:ph sz="half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29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2">
  <p:cSld name="Comparison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3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03" name="Google Shape;403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6" name="Google Shape;406;p3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 txBox="1"/>
          <p:nvPr>
            <p:ph sz="half" idx="2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30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9" name="Google Shape;409;p3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10" name="Google Shape;410;p3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0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0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0" name="Google Shape;420;p3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21" name="Google Shape;421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" name="Google Shape;422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4" name="Google Shape;424;p30"/>
          <p:cNvSpPr txBox="1"/>
          <p:nvPr>
            <p:ph sz="quarter" idx="4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type="body" idx="1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body" sz="quarter" idx="3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30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ình ảnh">
  <p:cSld name="Content with Ca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32" name="Google Shape;432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" name="Google Shape;433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" name="Google Shape;434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5" name="Google Shape;435;p3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1"/>
          <p:cNvSpPr txBox="1"/>
          <p:nvPr>
            <p:ph type="body" sz="half" idx="2"/>
          </p:nvPr>
        </p:nvSpPr>
        <p:spPr>
          <a:xfrm>
            <a:off x="771525" y="1066800"/>
            <a:ext cx="10582275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31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9" name="Google Shape;439;p3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40" name="Google Shape;440;p3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31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3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0" name="Google Shape;450;p3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51" name="Google Shape;451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4" name="Google Shape;454;p31"/>
          <p:cNvSpPr/>
          <p:nvPr>
            <p:ph idx="1"/>
          </p:nvPr>
        </p:nvSpPr>
        <p:spPr>
          <a:xfrm>
            <a:off x="771525" y="2324100"/>
            <a:ext cx="10582275" cy="3848100"/>
          </a:xfrm>
          <a:prstGeom prst="roundRect">
            <a:avLst>
              <a:gd fmla="val 57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1">
  <p:cSld name="Trang trong 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3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458" name="Google Shape;458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1" name="Google Shape;461;p32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2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3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465" name="Google Shape;465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" name="Google Shape;466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8" name="Google Shape;468;p32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32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2">
  <p:cSld name="Trang trong 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êu đề">
  <p:cSld name="1_Tiêu đề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4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3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79" name="Google Shape;479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2" name="Google Shape;482;p3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3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4" name="Google Shape;484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7" name="Google Shape;487;p34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489" name="Google Shape;4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4"/>
          <p:cNvSpPr txBox="1"/>
          <p:nvPr>
            <p:ph idx="12" type="sldNum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34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b="1" sz="4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34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b="1" sz="20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5" name="Google Shape;495;p34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34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3" Target="../slideLayouts/slideLayout13.xml" Type="http://schemas.openxmlformats.org/officeDocument/2006/relationships/slideLayout" /><Relationship Id="rId12" Target="../slideLayouts/slideLayout12.xml" Type="http://schemas.openxmlformats.org/officeDocument/2006/relationships/slideLayout" /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5" Target="../theme/theme1.xml" Type="http://schemas.openxmlformats.org/officeDocument/2006/relationships/theme" /><Relationship Id="rId14" Target="../slideLayouts/slideLayout1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b="1" cap="none" i="0" strike="noStrike" sz="4000" u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cap="none" i="0" strike="noStrike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i="0" strike="noStrike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9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0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Xây dựng hệ thống nhận dạng biển số xe bằng Trí tuệ nhân tạo</a:t>
            </a:r>
          </a:p>
        </p:txBody>
      </p:sp>
      <p:sp>
        <p:nvSpPr>
          <p:cNvPr id="35" name="Google Shape;35;p21"/>
          <p:cNvSpPr txBox="1"/>
          <p:nvPr>
            <p:ph idx="1" type="subTitle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Đồ án tốt nghiệp đại học · Trường Đại học Công nghệ Thông tin, ĐHQG-HCM</a:t>
            </a:r>
            <a:br/>
            <a:br/>
            <a:r>
              <a:rPr/>
              <a:t>Phạm Công Thành — 25410013 · Nguyễn Minh Hiếu — 25410007</a:t>
            </a:r>
            <a:br/>
            <a:r>
              <a:rPr/>
              <a:t>GVHD: ThS. Cáp Phạm Đình Thăng</a:t>
            </a:r>
          </a:p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Tháng 9 năm 2026</a:t>
            </a: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Đặt vấn đề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77 triệu xe máy</a:t>
            </a:r>
            <a:r>
              <a:rPr/>
              <a:t>, chiếm 85–90% lưu lượng ⇒ </a:t>
            </a:r>
            <a:r>
              <a:rPr b="1"/>
              <a:t>biển hai dòng là đa số</a:t>
            </a:r>
            <a:r>
              <a:rPr/>
              <a:t>, không phải ngoại lệ như ở Mỹ hay châu Âu</a:t>
            </a:r>
          </a:p>
          <a:p>
            <a:pPr lvl="0"/>
            <a:r>
              <a:rPr/>
              <a:t>Trên bộ </a:t>
            </a:r>
            <a:r>
              <a:rPr b="1"/>
              <a:t>RodoSol-ALPR (Brazil)</a:t>
            </a:r>
            <a:r>
              <a:rPr/>
              <a:t>, OpenALPR đọc đúng </a:t>
            </a:r>
            <a:r>
              <a:rPr b="1"/>
              <a:t>94,3%</a:t>
            </a:r>
            <a:r>
              <a:rPr/>
              <a:t> biển một dòng nhưng chỉ </a:t>
            </a:r>
            <a:r>
              <a:rPr b="1"/>
              <a:t>45,7%</a:t>
            </a:r>
            <a:r>
              <a:rPr/>
              <a:t> biển hai dòng — chênh </a:t>
            </a:r>
            <a:r>
              <a:rPr b="1"/>
              <a:t>48,6 điểm</a:t>
            </a:r>
            <a:r>
              <a:rPr/>
              <a:t>, chỉ khác bố cục biển</a:t>
            </a:r>
          </a:p>
          <a:p>
            <a:pPr lvl="0"/>
            <a:r>
              <a:rPr/>
              <a:t>Ba đặc thù </a:t>
            </a:r>
            <a:r>
              <a:rPr b="1"/>
              <a:t>không học được từ dữ liệu nước ngoài</a:t>
            </a:r>
            <a:r>
              <a:rPr/>
              <a:t>: cấu trúc chuỗi theo </a:t>
            </a:r>
            <a:r>
              <a:rPr b="1"/>
              <a:t>TT 79/2024</a:t>
            </a:r>
            <a:r>
              <a:rPr/>
              <a:t>, chỉ </a:t>
            </a:r>
            <a:r>
              <a:rPr b="1"/>
              <a:t>81/89 mã tỉnh</a:t>
            </a:r>
            <a:r>
              <a:rPr/>
              <a:t> được dùng, tập ký tự sê-ri </a:t>
            </a:r>
            <a:r>
              <a:rPr b="1"/>
              <a:t>khác nhau theo từng vị trí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Mục tiêu và phạm vi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Hệ thống hoàn chỉnh, </a:t>
            </a:r>
            <a:r>
              <a:rPr b="1"/>
              <a:t>suy luận hoàn toàn trên CPU</a:t>
            </a:r>
            <a:r>
              <a:rPr/>
              <a:t>, hỗ trợ cả biển một dòng và hai dòng.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Đo cái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Sàn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Mục tiêu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mAP@0,5 của bộ phát hiện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chuỗi, sau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đầu-cuối: ảnh vào → chuỗi 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trễ một ảnh, p95, </a:t>
                      </a:r>
                      <a:r>
                        <a:rPr b="1"/>
                        <a:t>trên CPU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1.500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800 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Bao phủ kiểm thử tầng nghiệp vụ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Công nghệ và kiến trúc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YOLO11n</a:t>
            </a:r>
            <a:r>
              <a:rPr/>
              <a:t> + </a:t>
            </a:r>
            <a:r>
              <a:rPr b="1"/>
              <a:t>PaddleOCR PP-OCRv5 mobile</a:t>
            </a:r>
            <a:r>
              <a:rPr/>
              <a:t> · FastAPI · SQLite · React · Docker Compose</a:t>
            </a:r>
          </a:p>
        </p:txBody>
      </p:sp>
      <p:pic>
        <p:nvPicPr>
          <p:cNvPr descr="figures/fig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2324100"/>
            <a:ext cx="5168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Quy trình: từ dữ liệu tới mô hình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Khử trùng lặp chéo bộ </a:t>
            </a:r>
            <a:r>
              <a:rPr b="1"/>
              <a:t>loại 44,2%</a:t>
            </a:r>
            <a:r>
              <a:rPr/>
              <a:t> — một bộ vào 1.005 ảnh, ra </a:t>
            </a:r>
            <a:r>
              <a:rPr b="1"/>
              <a:t>0 ảnh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Bước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Kết quả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Hợp nhất 7 bộ có nhãn hộp bao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27.111 ảnh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Khử trùng lặp, băm tri giác ngưỡng 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còn </a:t>
                      </a:r>
                      <a:r>
                        <a:rPr b="1"/>
                        <a:t>15.133</a:t>
                      </a:r>
                      <a:r>
                        <a:rPr/>
                        <a:t> ảnh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Chia tập, giữ nhóm trùng cùng một bên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10.592 / 3.027 / </a:t>
                      </a:r>
                      <a:r>
                        <a:rPr b="1"/>
                        <a:t>1.514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Huấn luyện YOLO11n, </a:t>
                      </a:r>
                      <a:r>
                        <a:rPr>
                          <a:latin typeface="Courier"/>
                        </a:rPr>
                        <a:t>imgsz=640</a:t>
                      </a:r>
                      <a:r>
                        <a:rPr/>
                        <a:t>, 20 epoch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10,05 giờ CPU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Nhánh riêng: nhãn chuỗi để đánh giá OCR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2.801</a:t>
                      </a:r>
                      <a:r>
                        <a:rPr/>
                        <a:t> biển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Hai đóng góp kỹ thuật lõi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CTC</a:t>
            </a:r>
            <a:r>
              <a:rPr/>
              <a:t> giả định ký tự xếp trên </a:t>
            </a:r>
            <a:r>
              <a:rPr b="1"/>
              <a:t>một dòng</a:t>
            </a:r>
            <a:r>
              <a:rPr/>
              <a:t> ⇒ </a:t>
            </a:r>
            <a:r>
              <a:rPr b="1"/>
              <a:t>cắt chồng lấn rồi ghép ngang</a:t>
            </a:r>
            <a:r>
              <a:rPr/>
              <a:t>; sau đó </a:t>
            </a:r>
            <a:r>
              <a:rPr b="1"/>
              <a:t>bộ luật ràng buộc theo từng vị trí</a:t>
            </a:r>
            <a:r>
              <a:rPr/>
              <a:t>.</a:t>
            </a:r>
          </a:p>
        </p:txBody>
      </p:sp>
      <p:pic>
        <p:nvPicPr>
          <p:cNvPr descr="figures/fig-two-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46500" y="2324100"/>
            <a:ext cx="4610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Kết quả đo được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Phát hiện </a:t>
            </a:r>
            <a:r>
              <a:rPr b="1"/>
              <a:t>đạt cả bốn chỉ tiêu</a:t>
            </a:r>
            <a:r>
              <a:rPr/>
              <a:t>; phần thiếu nằm trọn ở </a:t>
            </a:r>
            <a:r>
              <a:rPr b="1"/>
              <a:t>biển hai dòng</a:t>
            </a:r>
            <a:r>
              <a:rPr/>
              <a:t> — chênh </a:t>
            </a:r>
            <a:r>
              <a:rPr b="1"/>
              <a:t>23,07 điểm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2641600"/>
                <a:gridCol w="2641600"/>
                <a:gridCol w="2641600"/>
                <a:gridCol w="264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Đo cái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Đo được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Ngưỡng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mAP@0,5 · mAP@0,5:0,95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0,9829</a:t>
                      </a:r>
                      <a:r>
                        <a:rPr/>
                        <a:t> · 0,7834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0,90 · 0,65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· Recall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0,9837 · 0,9714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0,92 · 0,90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từng ký tự (1 − CER)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0,9483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chuỗi, sau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0,7701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trễ p95 · trung vị, CPU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1.143</a:t>
                      </a:r>
                      <a:r>
                        <a:rPr/>
                        <a:t> · 406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800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Đóng góp của hậu xử lý</a:t>
                      </a:r>
                      <a:r>
                        <a:rPr/>
                        <a:t> (A6 − A5)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+13,28 điểm</a:t>
                      </a:r>
                      <a:r>
                        <a:rPr/>
                        <a:t> · 372 sửa đúng / </a:t>
                      </a:r>
                      <a:r>
                        <a:rPr b="1"/>
                        <a:t>0</a:t>
                      </a:r>
                      <a:r>
                        <a:rPr/>
                        <a:t> hỏng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Kiểm thử · bao phủ nghiệp vụ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1.002/1.002</a:t>
                      </a:r>
                      <a:r>
                        <a:rPr/>
                        <a:t> · 87,7%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 · 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Demo: hệ thống chạy thật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Giao diện hiện </a:t>
            </a:r>
            <a:r>
              <a:rPr b="1"/>
              <a:t>cả chuỗi OCR thô lẫn chuỗi đã sửa</a:t>
            </a:r>
            <a:r>
              <a:rPr/>
              <a:t> khi hai chuỗi khác nhau.</a:t>
            </a:r>
          </a:p>
        </p:txBody>
      </p:sp>
      <p:pic>
        <p:nvPicPr>
          <p:cNvPr descr="figures/fig-demo-u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2324100"/>
            <a:ext cx="61595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Khó khăn kỹ thuật và cách xử lý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231900"/>
          <a:ext cx="10579100" cy="49403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Vấn đề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Phát hiện nhờ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Cách xử lý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Công cụ đo không chạy đúng hệ thống đang giao</a:t>
                      </a:r>
                      <a:r>
                        <a:rPr/>
                        <a:t> — kịch bản </a:t>
                      </a:r>
                      <a:r>
                        <a:rPr i="1"/>
                        <a:t>dựng lại</a:t>
                      </a:r>
                      <a:r>
                        <a:rPr/>
                        <a:t> các bước thay vì </a:t>
                      </a:r>
                      <a:r>
                        <a:rPr i="1"/>
                        <a:t>gọi</a:t>
                      </a:r>
                      <a:r>
                        <a:rPr/>
                        <a:t> pipeline, nên mỗi bước mới thêm đều rơi ra ngoài phép đo. Xảy ra </a:t>
                      </a:r>
                      <a:r>
                        <a:rPr b="1"/>
                        <a:t>ba lần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Một chỉ số đứng yên vô lý: A6 tăng 1,75 điểm trong khi A7 — vốn </a:t>
                      </a:r>
                      <a:r>
                        <a:rPr b="1"/>
                        <a:t>bao hàm</a:t>
                      </a:r>
                      <a:r>
                        <a:rPr/>
                        <a:t> A6 — bất động ở đúng 0,5227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Tách thành hàm dùng chung; ghi </a:t>
                      </a:r>
                      <a:r>
                        <a:rPr b="1"/>
                        <a:t>trạng thái công tắc</a:t>
                      </a:r>
                      <a:r>
                        <a:rPr/>
                        <a:t> và </a:t>
                      </a:r>
                      <a:r>
                        <a:rPr b="1"/>
                        <a:t>số biển từng bậc cứu được</a:t>
                      </a:r>
                      <a:r>
                        <a:rPr/>
                        <a:t> vào tệp kết quả, nên bước không được gọi hiện ra là số 0 có nhãn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Một quyết định suýt sai</a:t>
                      </a:r>
                      <a:r>
                        <a:rPr/>
                        <a:t> — bỏ bước phát hiện chữ của PaddleOCR cho </a:t>
                      </a:r>
                      <a:r>
                        <a:rPr b="1"/>
                        <a:t>+12,46 điểm</a:t>
                      </a:r>
                      <a:r>
                        <a:rPr/>
                        <a:t> và rẻ hơn ~290 ms mỗi ảnh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Chạy lại bộ demo </a:t>
                      </a:r>
                      <a:r>
                        <a:rPr b="1"/>
                        <a:t>trước</a:t>
                      </a:r>
                      <a:r>
                        <a:rPr/>
                        <a:t> khi đổi mặc định: trên ảnh toàn cảnh thứ tự </a:t>
                      </a:r>
                      <a:r>
                        <a:rPr b="1"/>
                        <a:t>đảo ngược</a:t>
                      </a:r>
                      <a:r>
                        <a:rPr/>
                        <a:t>, 17/22 xuống 13/22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Giữ nguyên mặc định — ngữ liệu kia toàn </a:t>
                      </a:r>
                      <a:r>
                        <a:rPr b="1"/>
                        <a:t>ảnh cắt sẵn</a:t>
                      </a:r>
                      <a:r>
                        <a:rPr/>
                        <a:t>, và chế độ đó </a:t>
                      </a:r>
                      <a:r>
                        <a:rPr b="1"/>
                        <a:t>không trả được chuỗi rỗng</a:t>
                      </a:r>
                      <a:r>
                        <a:rPr/>
                        <a:t> nên nó </a:t>
                      </a:r>
                      <a:r>
                        <a:rPr b="1"/>
                        <a:t>bịa</a:t>
                      </a:r>
                      <a:r>
                        <a:rPr/>
                        <a:t> khi bắt nhầm biển quảng cáo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Hướng phát triển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231900"/>
          <a:ext cx="10579100" cy="49403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Hướng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Giải quyết hạn chế nào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Huấn luyện lại bộ nhận dạng ký tự cho biển số Việt Nam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Nút thắt lớn nhất: biển hai dòng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 thập dữ liệu biển vàng, xanh, đỏ, ngoại giao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97,68% mẫu là biển trắng ⇒ kết luận chỉ áp cho biển trắng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Bổ sung nhãn chuỗi cho toàn tập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Mới 2.801/15.133 ảnh có nhãn chuỗi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Tập test </a:t>
                      </a:r>
                      <a:r>
                        <a:rPr b="1"/>
                        <a:t>xuyên bộ dữ liệu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 0,9829 lạc quan hơn khi triển khai thật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Lượng tử hoá OCR, đóng gói ONNX / OpenVINO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trễ p95 mới chỉ đạt ngưỡng tối thiểu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Bám vết đối tượng qua khung hình cho video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Gộp nhiều lần đọc cùng một biển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Cảm ơn — và mời đặt câu hỏi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/>
              <a:t>Chạy đầu-cuối trên CPU: phát hiện </a:t>
            </a:r>
            <a:r>
              <a:rPr b="1"/>
              <a:t>mAP@0,5 = 0,9829</a:t>
            </a:r>
          </a:p>
          <a:p>
            <a:pPr lvl="0"/>
            <a:r>
              <a:rPr/>
              <a:t>Hậu xử lý </a:t>
            </a:r>
            <a:r>
              <a:rPr b="1"/>
              <a:t>+13,28 điểm</a:t>
            </a:r>
            <a:r>
              <a:rPr/>
              <a:t>, </a:t>
            </a:r>
            <a:r>
              <a:rPr b="1"/>
              <a:t>0 ca làm hỏng</a:t>
            </a:r>
            <a:r>
              <a:rPr/>
              <a:t> / 2.801 biển</a:t>
            </a:r>
          </a:p>
          <a:p>
            <a:pPr lvl="0"/>
            <a:r>
              <a:rPr/>
              <a:t>Ba engine OCR đo trên cùng một tầng </a:t>
            </a:r>
            <a:r>
              <a:rPr i="1"/>
              <a:t>(</a:t>
            </a:r>
            <a:r>
              <a:rPr i="1">
                <a:latin typeface="Courier"/>
              </a:rPr>
              <a:t>36-engine-benchmark</a:t>
            </a:r>
            <a:r>
              <a:rPr i="1"/>
              <a:t>)</a:t>
            </a:r>
            <a:r>
              <a:rPr/>
              <a:t>: PaddleOCR </a:t>
            </a:r>
            <a:r>
              <a:rPr b="1"/>
              <a:t>68,87%</a:t>
            </a:r>
            <a:r>
              <a:rPr/>
              <a:t>, hơn EasyOCR 54,59 điểm; kết quả khác với khuynh hướng của một số tài liệu công khai</a:t>
            </a:r>
          </a:p>
          <a:p>
            <a:pPr lvl="0"/>
            <a:r>
              <a:rPr/>
              <a:t>Chưa đạt: đọc đúng cả chuỗi </a:t>
            </a:r>
            <a:r>
              <a:rPr b="1"/>
              <a:t>0,7701</a:t>
            </a:r>
            <a:r>
              <a:rPr/>
              <a:t> so với ngưỡng 0,85</a:t>
            </a:r>
          </a:p>
          <a:p>
            <a:pPr lvl="0" indent="0" marL="0">
              <a:buNone/>
            </a:pPr>
            <a:r>
              <a:rPr b="1"/>
              <a:t>Xin cảm ơn thầy cô và các bạn đã lắng nghe.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nhận dạng biển số xe bằng Trí tuệ nhân tạo</dc:title>
  <dc:creator>Phạm Công Thành — 25410013 · Nguyễn Minh Hiếu — 25410007; GVHD: ThS. Cáp Phạm Đình Thăng</dc:creator>
  <cp:keywords/>
  <dcterms:created xsi:type="dcterms:W3CDTF">2026-08-22T15:30:04Z</dcterms:created>
  <dcterms:modified xsi:type="dcterms:W3CDTF">2026-08-22T15:30:04Z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Tháng 9 năm 2026</vt:lpwstr>
  </property>
  <property fmtid="{D5CDD505-2E9C-101B-9397-08002B2CF9AE}" pid="3" name="subtitle">
    <vt:lpwstr>Đồ án tốt nghiệp đại học · Trường Đại học Công nghệ Thông tin, ĐHQG-HCM</vt:lpwstr>
  </property>
</Properties>
</file>