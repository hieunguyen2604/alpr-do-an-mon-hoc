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v="urn:schemas-microsoft-com:vml" xmlns:pvml="urn:schemas-microsoft-com:office:powerpoint" xmlns:p15="http://schemas.microsoft.com/office/powerpoint/2012/main" xmlns:p14="http://schemas.microsoft.com/office/powerpoint/2010/main" xmlns:o="urn:schemas-microsoft-com:office:office" xmlns:mv="urn:schemas-microsoft-com:mac:vml" xmlns:mc="http://schemas.openxmlformats.org/markup-compatibility/2006" xmlns:dgm="http://schemas.openxmlformats.org/drawingml/2006/diagram" xmlns:com="http://schemas.openxmlformats.org/drawingml/2006/compatibility" xmlns:c="http://schemas.openxmlformats.org/drawingml/2006/chart" xmlns:ahyp="http://schemas.microsoft.com/office/drawing/2018/hyperlinkcolor" xmlns="" roundtripDataSignature="AMtx7mhu5dURU4INwSlvEO7StWDXKr50jg==" r:id="rId36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tcBdr/>
        <a:fill>
          <a:solidFill>
            <a:srgbClr val="F8D4D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D4D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customschemas.google.com/relationships/presentationmetadata" Target="NUL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21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sz="4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sz="28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21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ục lục">
  <p:cSld name="2_Mục lục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32" name="Google Shape;132;p22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6" name="Google Shape;186;p24"/>
          <p:cNvSpPr txBox="1">
            <a:spLocks noGrp="1"/>
          </p:cNvSpPr>
          <p:nvPr>
            <p:ph type="body" idx="2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ống" type="blank">
  <p:cSld name="Blank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ftr" idx="11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5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>
            <a:spLocks noGrp="1"/>
          </p:cNvSpPr>
          <p:nvPr>
            <p:ph type="sldNum" idx="12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>
            <a:spLocks noGrp="1"/>
          </p:cNvSpPr>
          <p:nvPr>
            <p:ph type="body" idx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905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sz="20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26"/>
            <p:cNvCxnSpPr/>
            <p:nvPr/>
          </p:nvCxnSpPr>
          <p:spPr>
            <a:xfrm rot="10800000" flipH="1">
              <a:off x="6011109" y="1480500"/>
              <a:ext cx="591405" cy="506136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w="12700" cap="flat" cmpd="sng">
            <a:solidFill>
              <a:srgbClr val="00C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>
            <a:spLocks noGrp="1"/>
          </p:cNvSpPr>
          <p:nvPr>
            <p:ph type="pic" idx="2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>
            <a:spLocks noGrp="1"/>
          </p:cNvSpPr>
          <p:nvPr>
            <p:ph type="body" idx="3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sz="36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3" name="Google Shape;243;p27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5" name="Google Shape;315;p27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7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Section Header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>
            <a:spLocks noGrp="1"/>
          </p:cNvSpPr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37;p28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8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8" name="Google Shape;348;p2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>
            <a:spLocks noGrp="1"/>
          </p:cNvSpPr>
          <p:nvPr>
            <p:ph type="sldNum" idx="5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>
            <a:spLocks noGrp="1"/>
          </p:cNvSpPr>
          <p:nvPr>
            <p:ph type="body" idx="6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28"/>
          <p:cNvSpPr txBox="1">
            <a:spLocks noGrp="1"/>
          </p:cNvSpPr>
          <p:nvPr>
            <p:ph type="body" idx="7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28"/>
          <p:cNvSpPr txBox="1">
            <a:spLocks noGrp="1"/>
          </p:cNvSpPr>
          <p:nvPr>
            <p:ph type="body" idx="8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Two Conten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>
            <a:spLocks noGrp="1"/>
          </p:cNvSpPr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29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97" name="Google Shape;397;p29"/>
          <p:cNvSpPr txBox="1">
            <a:spLocks noGrp="1"/>
          </p:cNvSpPr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Comparison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>
            <a:spLocks noGrp="1"/>
          </p:cNvSpPr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p30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24" name="Google Shape;424;p30"/>
          <p:cNvSpPr txBox="1">
            <a:spLocks noGrp="1"/>
          </p:cNvSpPr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5" name="Google Shape;425;p30"/>
          <p:cNvSpPr txBox="1">
            <a:spLocks noGrp="1"/>
          </p:cNvSpPr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30"/>
          <p:cNvSpPr txBox="1">
            <a:spLocks noGrp="1"/>
          </p:cNvSpPr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Content with Caption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4" name="Google Shape;454;p31"/>
          <p:cNvSpPr>
            <a:spLocks noGrp="1"/>
          </p:cNvSpPr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32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">
  <p:cSld name="1_Tiêu đề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p34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>
            <a:spLocks noGrp="1"/>
          </p:cNvSpPr>
          <p:nvPr>
            <p:ph type="sldNum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4" name="Google Shape;494;p34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sz="20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34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Xây dựng hệ thống nhận diện biển số xe bằng Trí tuệ nhân tạo</a:t>
            </a:r>
          </a:p>
        </p:txBody>
      </p:sp>
      <p:sp>
        <p:nvSpPr>
          <p:cNvPr id="35" name="Google Shape;35;p21"/>
          <p:cNvSpPr txBox="1">
            <a:spLocks noGrp="1"/>
          </p:cNvSpPr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Đồ án môn học · Xử lý ảnh và ứng dụng</a:t>
            </a:r>
            <a:br/>
            <a:br/>
            <a:r>
              <a:t>Giảng viên hướng dẫn: ThS. Cáp Phạm Đình Thăng</a:t>
            </a:r>
            <a:br/>
            <a:r>
              <a:t>Phạm Nguyễn Thế Châu — 25410004</a:t>
            </a:r>
            <a:br/>
            <a:r>
              <a:t>Nguyễn Công Hậu — 25410006</a:t>
            </a:r>
            <a:br/>
            <a:r>
              <a:t>Nguyễn Minh Hiếu — 25410007</a:t>
            </a:r>
            <a:br/>
            <a:r>
              <a:t>Phạm Công Thành — 25410013</a:t>
            </a:r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Tháng 9 năm 2026</a:t>
            </a:r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Nội dung trình bày</a:t>
            </a:r>
          </a:p>
        </p:txBody>
      </p:sp>
      <p:sp>
        <p:nvSpPr>
          <p:cNvPr id="143" name="Google Shape;143;p23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347663" indent="0">
              <a:buNone/>
            </a:pPr>
            <a:r>
              <a:t>Bài toán và mục tiêu</a:t>
            </a:r>
          </a:p>
          <a:p>
            <a:pPr marL="347663" indent="0">
              <a:buNone/>
            </a:pPr>
            <a:r>
              <a:t>Phương pháp đề xuất</a:t>
            </a:r>
          </a:p>
          <a:p>
            <a:pPr marL="347663" indent="0">
              <a:buNone/>
            </a:pPr>
            <a:r>
              <a:t>Kết quả thực nghiệm</a:t>
            </a:r>
          </a:p>
          <a:p>
            <a:pPr marL="347663" indent="0">
              <a:buNone/>
            </a:pPr>
            <a:r>
              <a:t>Kết luận và hướng phát triển</a:t>
            </a:r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Đặt vấn đề</a:t>
            </a:r>
          </a:p>
        </p:txBody>
      </p:sp>
      <p:sp>
        <p:nvSpPr>
          <p:cNvPr id="143" name="Google Shape;143;p23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080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>
                <a:latin typeface="Arial" panose="020B0604020202020204" pitchFamily="34" charset="0"/>
              </a:rPr>
              <a:t>- </a:t>
            </a:r>
            <a:r>
              <a:rPr sz="1500" b="1">
                <a:latin typeface="Arial" panose="020B0604020202020204" pitchFamily="34" charset="0"/>
              </a:rPr>
              <a:t>77 triệu xe máy</a:t>
            </a:r>
            <a:r>
              <a:rPr sz="1500">
                <a:latin typeface="Arial" panose="020B0604020202020204" pitchFamily="34" charset="0"/>
              </a:rPr>
              <a:t>, chiếm 85–90% lưu lượng ⇒ ở Việt Nam </a:t>
            </a:r>
            <a:r>
              <a:rPr sz="1500" b="1">
                <a:latin typeface="Arial" panose="020B0604020202020204" pitchFamily="34" charset="0"/>
              </a:rPr>
              <a:t>biển hai dòng là đa số</a:t>
            </a:r>
            <a:r>
              <a:rPr sz="1500">
                <a:latin typeface="Arial" panose="020B0604020202020204" pitchFamily="34" charset="0"/>
              </a:rPr>
              <a:t>, không phải ngoại lệ</a:t>
            </a:r>
          </a:p>
          <a:p>
            <a:pPr marL="5080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>
                <a:latin typeface="Arial" panose="020B0604020202020204" pitchFamily="34" charset="0"/>
              </a:rPr>
              <a:t>- </a:t>
            </a:r>
            <a:r>
              <a:rPr sz="1500">
                <a:latin typeface="Arial" panose="020B0604020202020204" pitchFamily="34" charset="0"/>
              </a:rPr>
              <a:t>Biển xe mô tô chỉ </a:t>
            </a:r>
            <a:r>
              <a:rPr sz="1500" b="1">
                <a:latin typeface="Arial" panose="020B0604020202020204" pitchFamily="34" charset="0"/>
              </a:rPr>
              <a:t>190 × 140 mm</a:t>
            </a:r>
            <a:r>
              <a:rPr sz="1500">
                <a:latin typeface="Arial" panose="020B0604020202020204" pitchFamily="34" charset="0"/>
              </a:rPr>
              <a:t>, tỉ lệ khung hình </a:t>
            </a:r>
            <a:r>
              <a:rPr sz="1500" b="1">
                <a:latin typeface="Arial" panose="020B0604020202020204" pitchFamily="34" charset="0"/>
              </a:rPr>
              <a:t>1,357</a:t>
            </a:r>
            <a:r>
              <a:rPr sz="1500">
                <a:latin typeface="Arial" panose="020B0604020202020204" pitchFamily="34" charset="0"/>
              </a:rPr>
              <a:t> — vừa là đối tượng nhỏ, vừa là bố cục hai dòng</a:t>
            </a:r>
          </a:p>
          <a:p>
            <a:pPr marL="5080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>
                <a:latin typeface="Arial" panose="020B0604020202020204" pitchFamily="34" charset="0"/>
              </a:rPr>
              <a:t>- </a:t>
            </a:r>
            <a:r>
              <a:rPr sz="1500">
                <a:latin typeface="Arial" panose="020B0604020202020204" pitchFamily="34" charset="0"/>
              </a:rPr>
              <a:t>Mọi bộ nhận dạng ký tự dựng sẵn đều </a:t>
            </a:r>
            <a:r>
              <a:rPr sz="1500" b="1">
                <a:latin typeface="Arial" panose="020B0604020202020204" pitchFamily="34" charset="0"/>
              </a:rPr>
              <a:t>giả định văn bản nằm trên một dòng ngang</a:t>
            </a:r>
            <a:r>
              <a:rPr sz="1500">
                <a:latin typeface="Arial" panose="020B0604020202020204" pitchFamily="34" charset="0"/>
              </a:rPr>
              <a:t> — giả định đó </a:t>
            </a:r>
            <a:r>
              <a:rPr sz="1500" b="1">
                <a:latin typeface="Arial" panose="020B0604020202020204" pitchFamily="34" charset="0"/>
              </a:rPr>
              <a:t>sai</a:t>
            </a:r>
            <a:r>
              <a:rPr sz="1500">
                <a:latin typeface="Arial" panose="020B0604020202020204" pitchFamily="34" charset="0"/>
              </a:rPr>
              <a:t> với đa số biển số Việt Nam</a:t>
            </a:r>
          </a:p>
          <a:p>
            <a:pPr marL="5080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>
                <a:latin typeface="Arial" panose="020B0604020202020204" pitchFamily="34" charset="0"/>
              </a:rPr>
              <a:t>- </a:t>
            </a:r>
            <a:r>
              <a:rPr sz="1500">
                <a:latin typeface="Arial" panose="020B0604020202020204" pitchFamily="34" charset="0"/>
              </a:rPr>
              <a:t>Ảnh thực tế còn thêm: bề mặt phản quang gây </a:t>
            </a:r>
            <a:r>
              <a:rPr sz="1500" b="1">
                <a:latin typeface="Arial" panose="020B0604020202020204" pitchFamily="34" charset="0"/>
              </a:rPr>
              <a:t>chói cục bộ</a:t>
            </a:r>
            <a:r>
              <a:rPr sz="1500">
                <a:latin typeface="Arial" panose="020B0604020202020204" pitchFamily="34" charset="0"/>
              </a:rPr>
              <a:t>, biển bám bụi, cong vênh, chụp nghiêng, ngược sáng</a:t>
            </a:r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Mục tiêu và chỉ tiêu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Hệ thống chạy đầu cuối, </a:t>
            </a:r>
            <a:r>
              <a:rPr b="1"/>
              <a:t>suy luận hoàn toàn trên CPU</a:t>
            </a:r>
            <a:r>
              <a:t>, hỗ trợ cả biển một dòng và hai dòng.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Ngưỡng tối thiểu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Mục tiêu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mAP@0,5 của bộ phát hiện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0,90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mAP@0,5:0,95 của bộ phát hiện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Đúng mức ký tự (1 − CER)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Đúng cả chuỗi, </a:t>
                      </a:r>
                      <a:r>
                        <a:rPr b="1"/>
                        <a:t>trước</a:t>
                      </a:r>
                      <a:r>
                        <a:t> hậu xử lý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Đúng cả chuỗi, </a:t>
                      </a:r>
                      <a:r>
                        <a:rPr b="1"/>
                        <a:t>sau</a:t>
                      </a:r>
                      <a:r>
                        <a:t> hậu xử lý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Độ trễ một ảnh, p95, </a:t>
                      </a:r>
                      <a:r>
                        <a:rPr b="1"/>
                        <a:t>trên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≤ 1.500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≤ 800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Pipeline xử lý tổng thể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Đóng góp chính nằm ở </a:t>
            </a:r>
            <a:r>
              <a:rPr b="1"/>
              <a:t>khối xử lý ảnh</a:t>
            </a:r>
            <a:r>
              <a:t> và </a:t>
            </a:r>
            <a:r>
              <a:rPr b="1"/>
              <a:t>hậu xử lý</a:t>
            </a:r>
            <a:r>
              <a:t> — cầu nối giữa hai mô hình học sâu.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Luồng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Khối chức năng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Nội dung kỹ thuật trong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Ảnh đầu vào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Khung hình camera / ảnh phương tiện thực tế (1 hoặc 2 dòng)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YOLO11n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Phát hiện vùng biển số và trích xuất bounding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Khối xử lý ảnh</a:t>
                      </a:r>
                      <a:r>
                        <a:t> </a:t>
                      </a:r>
                      <a:r>
                        <a:rPr i="1"/>
                        <a:t>(cốt lõi)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Phân loại số dòng (AR = 2,50) · Tách–ghép ngang · CLAHE · Lọc song phương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PaddleOCR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Nhận dạng ký tự quang học trên ảnh một dòng đã chuẩn hóa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Khối hậu xử lý</a:t>
                      </a:r>
                      <a:r>
                        <a:t> </a:t>
                      </a:r>
                      <a:r>
                        <a:rPr i="1"/>
                        <a:t>(cốt lõi)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Kiểm tra mã tỉnh (81/89) · Mặt nạ vị trí · Ánh xạ nhầm lẫn bất đối xứng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Kết quả đầu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Chuỗi ký tự biển số chuẩn hóa + Loại phương tiện / màu biển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Bộ dữ liệu: khử trùng lặp bằng băm tri giác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Các bộ công khai fork lẫn nhau, nên </a:t>
            </a:r>
            <a:r>
              <a:rPr b="1"/>
              <a:t>44,2% ảnh là bản trùng</a:t>
            </a:r>
            <a:r>
              <a:t> — không khử thì đang đo trí nhớ</a:t>
            </a:r>
          </a:p>
        </p:txBody>
      </p:sp>
      <p:pic>
        <p:nvPicPr>
          <p:cNvPr id="2" name="Picture 1" descr="figures/fig-mon-hoc-fun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0800" y="2324100"/>
            <a:ext cx="94742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Vì sao biển hai dòng làm OCR đọc sai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Bản đồ đặc trưng bị nén H → 1 khiến ký tự hai dòng rơi chung cột đặc trưng và xung đột CTC.</a:t>
            </a:r>
          </a:p>
        </p:txBody>
      </p:sp>
      <p:pic>
        <p:nvPicPr>
          <p:cNvPr id="2" name="Picture 1" descr="figures/fig-slide-crnn-collap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2324100"/>
            <a:ext cx="8343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rPr sz="2800"/>
              <a:t>Hướng tiếp cận: Biến đổi hình học ảnh thay cho mô hình phức tạp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Tái cấu trúc hình học của ảnh để tương thích hoàn toàn với giả định của mô hình CRNN/CTC sẵn có.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Phép xử lý 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Dùng để làm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Thay cho phương án hiển nhiên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Ngưỡng tỉ lệ khung hình 2,50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Phân loại một dòng / hai dòng — quy chuẩn cho 4,727 · 2,000 · 1,357 nên có khoảng trống rộng </a:t>
                      </a:r>
                      <a:r>
                        <a:rPr b="1"/>
                        <a:t>2,727</a:t>
                      </a:r>
                      <a:r>
                        <a:t> để đặt ngưỡng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Huấn luyện thêm một bộ phân loại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Tách hai nửa + ghép ngang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Biến ảnh hai dòng thành một dòng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Đổi sang mô hình đọc đa dòng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CLAHE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Xử lý mảng chói cục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Cân bằng lược đồ xám </a:t>
                      </a:r>
                      <a:r>
                        <a:rPr b="1"/>
                        <a:t>toàn cục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Lọc song phương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Khử nhiễu mà </a:t>
                      </a:r>
                      <a:r>
                        <a:rPr b="1"/>
                        <a:t>giữ biên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Làm mờ Gauss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Băm tri giác (DCT)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Khử ảnh trùng giữa các bộ dữ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Băm mật mã MD5/SHA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Không gian màu HSV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Nhận màu nền bền với ánh sáng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Phân ngưỡng trên 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Minh họa pipeline trên một biển thật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Mỗi khung là ảnh thật ở đầu ra một bước, dựng từ </a:t>
            </a:r>
            <a:r>
              <a:rPr b="1"/>
              <a:t>mô hình đề xuất</a:t>
            </a:r>
            <a:r>
              <a:t>.</a:t>
            </a:r>
          </a:p>
        </p:txBody>
      </p:sp>
      <p:pic>
        <p:nvPicPr>
          <p:cNvPr id="2" name="Picture 1" descr="figures/fig-pipeline-strip-ngan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2324100"/>
            <a:ext cx="42926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Cắt cố định 5/12 &amp; 1/3 thay vì Chiếu ngang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Ốc vít ở tim biển tạo đỉnh xám giả làm gãy phép chiếu ngang; cắt cố định O(1) bảo vệ nét chữ.</a:t>
            </a:r>
          </a:p>
        </p:txBody>
      </p:sp>
      <p:pic>
        <p:nvPicPr>
          <p:cNvPr id="2" name="Picture 1" descr="figures/fig-slide-split-vs-projec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2324100"/>
            <a:ext cx="8343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Bộ luật hậu xử lý ràng buộc theo vị trí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Ba ràng buộc đặc thù biển số Việt Nam, khai thác </a:t>
            </a:r>
            <a:r>
              <a:rPr b="1"/>
              <a:t>theo từng vị trí trong chuỗi</a:t>
            </a:r>
            <a:r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83354"/>
              </p:ext>
            </p:extLst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Ràng buộc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Vì sao không dùng luật phẳng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Mã tỉnh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>
                          <a:latin typeface="Arial" panose="020B0604020202020204" pitchFamily="34" charset="0"/>
                        </a:rPr>
                        <a:t>81/89</a:t>
                      </a:r>
                      <a:r>
                        <a:rPr>
                          <a:latin typeface="Arial" panose="020B0604020202020204" pitchFamily="34" charset="0"/>
                        </a:rPr>
                        <a:t> giá trị được dùng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\d{2} cho qua 8 chuỗi không tồn tại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Tập seri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Vị trí 1 </a:t>
                      </a:r>
                      <a:r>
                        <a:rPr b="1">
                          <a:latin typeface="Arial" panose="020B0604020202020204" pitchFamily="34" charset="0"/>
                        </a:rPr>
                        <a:t>có G không R</a:t>
                      </a:r>
                      <a:r>
                        <a:rPr>
                          <a:latin typeface="Arial" panose="020B0604020202020204" pitchFamily="34" charset="0"/>
                        </a:rPr>
                        <a:t>; vị trí 2 của xe máy </a:t>
                      </a:r>
                      <a:r>
                        <a:rPr b="1">
                          <a:latin typeface="Arial" panose="020B0604020202020204" pitchFamily="34" charset="0"/>
                        </a:rPr>
                        <a:t>có R không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Danh sách phẳng sai hệ thống trên mọi biển xe máy có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Mặt nạ vị trí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DDLDDDDD · DDLDDDD · DDL?DDDDD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Chỉ số 3 là vị trí </a:t>
                      </a:r>
                      <a:r>
                        <a:rPr b="1">
                          <a:latin typeface="Arial" panose="020B0604020202020204" pitchFamily="34" charset="0"/>
                        </a:rPr>
                        <a:t>duy nhất</a:t>
                      </a:r>
                      <a:r>
                        <a:rPr>
                          <a:latin typeface="Arial" panose="020B0604020202020204" pitchFamily="34" charset="0"/>
                        </a:rPr>
                        <a:t> cả chữ lẫn số đều hợp lệ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Ánh xạ nhầm lẫn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latin typeface="Arial" panose="020B0604020202020204" pitchFamily="34" charset="0"/>
                        </a:rPr>
                        <a:t>O → 0 hợp lý, 0 → O không bao giờ — chiều đúng là 0 → D</a:t>
                      </a:r>
                      <a:endParaRPr sz="13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Arial" panose="020B0604020202020204" pitchFamily="34" charset="0"/>
                        </a:rPr>
                        <a:t>Bảng đối xứng sẽ tạo ra ký tự bất hợp lệ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Phân loại màu nền trong không gian màu HSV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Tách biệt sắc độ H khỏi độ sáng V giúp nhận diện bền vững; độ chính xác tổng thể đạt 97,89%.</a:t>
            </a:r>
          </a:p>
        </p:txBody>
      </p:sp>
      <p:pic>
        <p:nvPicPr>
          <p:cNvPr id="2" name="Picture 1" descr="figures/fig-slide-hsv-ev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2324100"/>
            <a:ext cx="8547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Xử lý biển nghiêng: Nắn 2D &amp; Thử lại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Nắn phẳng bằng minAreaRect cứu thêm 34 biển số, chi phí dồn vào đuôi p95 mà không ảnh hưởng p50.</a:t>
            </a:r>
          </a:p>
        </p:txBody>
      </p:sp>
      <p:pic>
        <p:nvPicPr>
          <p:cNvPr id="2" name="Picture 1" descr="figures/fig-slide-deskew-ladd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2324100"/>
            <a:ext cx="8343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Kết quả đo được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Phát hiện </a:t>
            </a:r>
            <a:r>
              <a:rPr b="1"/>
              <a:t>đạt cả bốn chỉ tiêu</a:t>
            </a:r>
            <a:r>
              <a:t>; phần thiếu nằm trọn ở </a:t>
            </a:r>
            <a:r>
              <a:rPr b="1"/>
              <a:t>biển hai dòng</a:t>
            </a:r>
            <a:r>
              <a:t> — riêng một dòng đạt 0,9541 sau hậu xử lý</a:t>
            </a:r>
          </a:p>
        </p:txBody>
      </p:sp>
      <p:pic>
        <p:nvPicPr>
          <p:cNvPr id="2" name="Picture 1" descr="figures/fig-mon-hoc-kp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2781300"/>
            <a:ext cx="10579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Khoảng cách nằm ở đâu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Đo mức ký tự thì hai bố cục gần bằng nhau; đo cả chuỗi thì phân hóa rõ rệt.</a:t>
            </a:r>
          </a:p>
        </p:txBody>
      </p:sp>
      <p:pic>
        <p:nvPicPr>
          <p:cNvPr id="2" name="Picture 1" descr="figures/fig-ch4-layou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2324100"/>
            <a:ext cx="8039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Lỗi trông như thế nào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Ba ca được chuẩn hóa đúng nhờ hậu xử lý, ba ca vẫn sai — </a:t>
            </a:r>
            <a:r>
              <a:rPr b="1"/>
              <a:t>cả ba ca sai đều hỏng ở dòng trên</a:t>
            </a:r>
            <a:r>
              <a:t>.</a:t>
            </a:r>
          </a:p>
        </p:txBody>
      </p:sp>
      <p:pic>
        <p:nvPicPr>
          <p:cNvPr id="2" name="Picture 1" descr="figures/fig-ch4-lo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2324100"/>
            <a:ext cx="6184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Bóc tách đóng góp của từng bước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Mọi bước bật tắt độc lập, nên đóng góp của từng bước </a:t>
            </a:r>
            <a:r>
              <a:rPr b="1"/>
              <a:t>đo được riêng</a:t>
            </a:r>
            <a:r>
              <a:t> — kể cả khi bằng 0. </a:t>
            </a:r>
            <a:r>
              <a:rPr i="1"/>
              <a:t>(Đối chứng: tách-ghép trên Tesseract chỉ +0,03 điểm)</a:t>
            </a:r>
          </a:p>
        </p:txBody>
      </p:sp>
      <p:pic>
        <p:nvPicPr>
          <p:cNvPr id="2" name="Picture 1" descr="figures/fig-mon-hoc-donggo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2781300"/>
            <a:ext cx="10579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Phân rã ngân sách độ trễ &amp; Định luật Amdahl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PaddleOCR chiếm 60,8% độ trễ là điểm nghẽn chính; xử lý ảnh mang lại đột phá với chi phí ~0 ms.</a:t>
            </a:r>
          </a:p>
        </p:txBody>
      </p:sp>
      <p:pic>
        <p:nvPicPr>
          <p:cNvPr id="2" name="Picture 1" descr="figures/fig-slide-latency-amdah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2324100"/>
            <a:ext cx="7785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Ba kết quả khác với dự đoán ban đầu</a:t>
            </a:r>
          </a:p>
        </p:txBody>
      </p:sp>
      <p:sp>
        <p:nvSpPr>
          <p:cNvPr id="143" name="Google Shape;143;p23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08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 b="1">
                <a:latin typeface="Arial" panose="020B0604020202020204" pitchFamily="34" charset="0"/>
              </a:rPr>
              <a:t>Tách-ghép không độc lập bộ nhận dạng</a:t>
            </a:r>
            <a:r>
              <a:rPr>
                <a:latin typeface="Arial" panose="020B0604020202020204" pitchFamily="34" charset="0"/>
              </a:rPr>
              <a:t> — 34,92 điểm cho PaddleOCR, </a:t>
            </a:r>
            <a:r>
              <a:rPr b="1">
                <a:latin typeface="Arial" panose="020B0604020202020204" pitchFamily="34" charset="0"/>
              </a:rPr>
              <a:t>0,03</a:t>
            </a:r>
            <a:r>
              <a:rPr>
                <a:latin typeface="Arial" panose="020B0604020202020204" pitchFamily="34" charset="0"/>
              </a:rPr>
              <a:t> cho Tesseract ⇒ điều kiện cần, không đủ</a:t>
            </a:r>
          </a:p>
          <a:p>
            <a:pPr marL="508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 b="1">
                <a:latin typeface="Arial" panose="020B0604020202020204" pitchFamily="34" charset="0"/>
              </a:rPr>
              <a:t>Bảng luật suy từ hình dạng chỉ phủ 2/10 cặp nhầm phổ biến nhất</a:t>
            </a:r>
            <a:r>
              <a:rPr>
                <a:latin typeface="Arial" panose="020B0604020202020204" pitchFamily="34" charset="0"/>
              </a:rPr>
              <a:t>; bảng trích từ ma trận đo được phủ </a:t>
            </a:r>
            <a:r>
              <a:rPr b="1">
                <a:latin typeface="Arial" panose="020B0604020202020204" pitchFamily="34" charset="0"/>
              </a:rPr>
              <a:t>4/10</a:t>
            </a:r>
            <a:r>
              <a:rPr>
                <a:latin typeface="Arial" panose="020B0604020202020204" pitchFamily="34" charset="0"/>
              </a:rPr>
              <a:t> và thêm </a:t>
            </a:r>
            <a:r>
              <a:rPr b="1">
                <a:latin typeface="Arial" panose="020B0604020202020204" pitchFamily="34" charset="0"/>
              </a:rPr>
              <a:t>53 biển đúng</a:t>
            </a:r>
          </a:p>
          <a:p>
            <a:pPr marL="508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 b="1">
                <a:latin typeface="Arial" panose="020B0604020202020204" pitchFamily="34" charset="0"/>
              </a:rPr>
              <a:t>Siêu phân giải cải thiện 0 biển, nhưng 0/120 mẫu lọt cổng</a:t>
            </a:r>
            <a:r>
              <a:rPr>
                <a:latin typeface="Arial" panose="020B0604020202020204" pitchFamily="34" charset="0"/>
              </a:rPr>
              <a:t> ⇒ </a:t>
            </a:r>
            <a:r>
              <a:rPr i="1">
                <a:latin typeface="Arial" panose="020B0604020202020204" pitchFamily="34" charset="0"/>
              </a:rPr>
              <a:t>chi phí đã đo, lợi ích chưa ai đo được</a:t>
            </a:r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>
            <a:spLocks noGrp="1"/>
          </p:cNvSpPr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Demo: hệ thống chạy thật</a:t>
            </a:r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Khởi động bằng một lệnh </a:t>
            </a:r>
            <a:r>
              <a:rPr>
                <a:latin typeface="Courier"/>
              </a:rPr>
              <a:t>docker compose up</a:t>
            </a:r>
            <a:r>
              <a:t>; giao diện hiện </a:t>
            </a:r>
            <a:r>
              <a:rPr b="1"/>
              <a:t>cả chuỗi thô lẫn chuỗi đã sửa</a:t>
            </a:r>
            <a:r>
              <a:t>.</a:t>
            </a:r>
          </a:p>
        </p:txBody>
      </p:sp>
      <p:pic>
        <p:nvPicPr>
          <p:cNvPr id="2" name="Picture 1" descr="figures/fig-demo-u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2324100"/>
            <a:ext cx="81534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Hướng phát triển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3780478"/>
              </p:ext>
            </p:extLst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Hướng phát triển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Giải hạn chế nào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200" b="1">
                          <a:latin typeface="Arial" panose="020B0604020202020204" pitchFamily="34" charset="0"/>
                        </a:rPr>
                        <a:t>Huấn luyện lại bộ nhận dạng ký tự cho biển số Việt 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latin typeface="Arial" panose="020B0604020202020204" pitchFamily="34" charset="0"/>
                        </a:rPr>
                        <a:t>1</a:t>
                      </a:r>
                      <a:endParaRPr sz="1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200" b="1">
                          <a:latin typeface="Arial" panose="020B0604020202020204" pitchFamily="34" charset="0"/>
                        </a:rPr>
                        <a:t>Mở rộng bảng ánh xạ từ ma trận nhầm lẫn khi có thêm dữ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latin typeface="Arial" panose="020B0604020202020204" pitchFamily="34" charset="0"/>
                        </a:rPr>
                        <a:t>1</a:t>
                      </a:r>
                      <a:endParaRPr sz="1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Khử rò rỉ theo </a:t>
                      </a:r>
                      <a:r>
                        <a:rPr sz="1200" b="1">
                          <a:latin typeface="Arial" panose="020B0604020202020204" pitchFamily="34" charset="0"/>
                        </a:rPr>
                        <a:t>chuỗi biển số</a:t>
                      </a:r>
                      <a:r>
                        <a:rPr sz="1200">
                          <a:latin typeface="Arial" panose="020B0604020202020204" pitchFamily="34" charset="0"/>
                        </a:rPr>
                        <a:t> thay vì theo băm tri giác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latin typeface="Arial" panose="020B0604020202020204" pitchFamily="34" charset="0"/>
                        </a:rPr>
                        <a:t>3, 4</a:t>
                      </a:r>
                      <a:endParaRPr sz="1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Thu thập dữ liệu biển vàng, xanh, đỏ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latin typeface="Arial" panose="020B0604020202020204" pitchFamily="34" charset="0"/>
                        </a:rPr>
                        <a:t>2, 5</a:t>
                      </a:r>
                      <a:endParaRPr sz="1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Đo lại bậc siêu phân giải FSRCNN trên ngữ liệu có biển siêu nhỏ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latin typeface="Arial" panose="020B0604020202020204" pitchFamily="34" charset="0"/>
                        </a:rPr>
                        <a:t>—</a:t>
                      </a:r>
                      <a:endParaRPr sz="1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200">
                          <a:latin typeface="Arial" panose="020B0604020202020204" pitchFamily="34" charset="0"/>
                        </a:rPr>
                        <a:t>Tăng tốc khối nhận dạng: lượng tử hóa, xuất OpenVINO hoặc ONNX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latin typeface="Arial" panose="020B0604020202020204" pitchFamily="34" charset="0"/>
                        </a:rPr>
                        <a:t>—</a:t>
                      </a:r>
                      <a:endParaRPr sz="120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Kết luận chung</a:t>
            </a:r>
          </a:p>
        </p:txBody>
      </p:sp>
      <p:sp>
        <p:nvSpPr>
          <p:cNvPr id="143" name="Google Shape;143;p23"/>
          <p:cNvSpPr txBox="1">
            <a:spLocks noGrp="1"/>
          </p:cNvSpPr>
          <p:nvPr>
            <p:ph idx="1"/>
          </p:nvPr>
        </p:nvSpPr>
        <p:spPr>
          <a:xfrm>
            <a:off x="774145" y="1079500"/>
            <a:ext cx="10579654" cy="4943139"/>
          </a:xfrm>
        </p:spPr>
        <p:txBody>
          <a:bodyPr/>
          <a:lstStyle/>
          <a:p>
            <a:pPr marL="5080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>
                <a:latin typeface="Arial" panose="020B0604020202020204" pitchFamily="34" charset="0"/>
              </a:rPr>
              <a:t>Chạy đầu cuối trên CPU: phát hiện </a:t>
            </a:r>
            <a:r>
              <a:rPr b="1">
                <a:latin typeface="Arial" panose="020B0604020202020204" pitchFamily="34" charset="0"/>
              </a:rPr>
              <a:t>mAP@0,5 = 0,9829</a:t>
            </a:r>
          </a:p>
          <a:p>
            <a:pPr marL="5080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>
                <a:latin typeface="Arial" panose="020B0604020202020204" pitchFamily="34" charset="0"/>
              </a:rPr>
              <a:t>Đột phá trên biển hai dòng nhờ biến đổi ảnh (thay vì đổi mô hình): tăng </a:t>
            </a:r>
            <a:r>
              <a:rPr b="1">
                <a:latin typeface="Arial" panose="020B0604020202020204" pitchFamily="34" charset="0"/>
              </a:rPr>
              <a:t>+34,92 điểm</a:t>
            </a:r>
          </a:p>
          <a:p>
            <a:pPr marL="5080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>
                <a:latin typeface="Arial" panose="020B0604020202020204" pitchFamily="34" charset="0"/>
              </a:rPr>
              <a:t>Hậu xử lý theo vị trí </a:t>
            </a:r>
            <a:r>
              <a:rPr b="1">
                <a:latin typeface="Arial" panose="020B0604020202020204" pitchFamily="34" charset="0"/>
              </a:rPr>
              <a:t>+13,28 điểm</a:t>
            </a:r>
            <a:r>
              <a:rPr>
                <a:latin typeface="Arial" panose="020B0604020202020204" pitchFamily="34" charset="0"/>
              </a:rPr>
              <a:t>, </a:t>
            </a:r>
            <a:r>
              <a:rPr b="1">
                <a:latin typeface="Arial" panose="020B0604020202020204" pitchFamily="34" charset="0"/>
              </a:rPr>
              <a:t>0 ca làm hỏng</a:t>
            </a:r>
            <a:r>
              <a:rPr>
                <a:latin typeface="Arial" panose="020B0604020202020204" pitchFamily="34" charset="0"/>
              </a:rPr>
              <a:t> / 2.801 biển</a:t>
            </a:r>
          </a:p>
          <a:p>
            <a:pPr marL="5080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latin typeface="Arial" panose="020B0604020202020204" pitchFamily="34" charset="0"/>
              </a:rPr>
              <a:t>- </a:t>
            </a:r>
            <a:r>
              <a:rPr>
                <a:latin typeface="Arial" panose="020B0604020202020204" pitchFamily="34" charset="0"/>
              </a:rPr>
              <a:t>Điểm nghẽn còn lại: </a:t>
            </a:r>
            <a:r>
              <a:rPr b="1">
                <a:latin typeface="Arial" panose="020B0604020202020204" pitchFamily="34" charset="0"/>
              </a:rPr>
              <a:t>biển hai dòng</a:t>
            </a:r>
            <a:r>
              <a:rPr>
                <a:latin typeface="Arial" panose="020B0604020202020204" pitchFamily="34" charset="0"/>
              </a:rPr>
              <a:t> (S₁ = 0,7234)</a:t>
            </a:r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Cảm ơn &amp; Hỏi đáp (Q&amp;A)</a:t>
            </a:r>
          </a:p>
        </p:txBody>
      </p:sp>
      <p:sp>
        <p:nvSpPr>
          <p:cNvPr id="143" name="Google Shape;143;p23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1000"/>
              </a:spcBef>
              <a:spcAft>
                <a:spcPts val="1800"/>
              </a:spcAft>
              <a:buNone/>
            </a:pPr>
            <a:r>
              <a:rPr sz="1900" b="1">
                <a:solidFill>
                  <a:srgbClr val="003380"/>
                </a:solidFill>
              </a:rPr>
              <a:t>Đề tài: Xây dựng hệ thống nhận diện biển số xe bằng Trí tuệ nhân tạo</a:t>
            </a:r>
          </a:p>
          <a:p>
            <a:pPr algn="ctr">
              <a:spcAft>
                <a:spcPts val="800"/>
              </a:spcAft>
              <a:buNone/>
            </a:pPr>
            <a:r>
              <a:rPr sz="1500"/>
              <a:t>Giảng viên hướng dẫn: ThS. Cáp Phạm Đình Thăng</a:t>
            </a:r>
          </a:p>
          <a:p>
            <a:pPr algn="ctr">
              <a:spcAft>
                <a:spcPts val="2400"/>
              </a:spcAft>
              <a:buNone/>
            </a:pPr>
            <a:r>
              <a:rPr lang="en-US" sz="1400">
                <a:latin typeface="Arial" panose="020B0604020202020204" pitchFamily="34" charset="0"/>
              </a:rPr>
              <a:t>Sinh viên thực hiện: Phạm Nguyễn Thế Châu | Nguyễn Công Hậu | Nguyễn Minh Hiếu | Phạm Công Thành</a:t>
            </a:r>
            <a:endParaRPr sz="1400">
              <a:latin typeface="Arial" panose="020B0604020202020204" pitchFamily="34" charset="0"/>
            </a:endParaRPr>
          </a:p>
          <a:p>
            <a:pPr marL="0" indent="0" algn="ctr">
              <a:spcAft>
                <a:spcPts val="1600"/>
              </a:spcAft>
              <a:buNone/>
            </a:pPr>
            <a:r>
              <a:rPr sz="1700" b="1" i="1">
                <a:solidFill>
                  <a:srgbClr val="222222"/>
                </a:solidFill>
              </a:rPr>
              <a:t>Xin trân trọng cảm ơn Quý Thầy/Cô và các bạn!</a:t>
            </a:r>
          </a:p>
          <a:p>
            <a:pPr marL="0" indent="0" algn="ctr">
              <a:spcBef>
                <a:spcPts val="1000"/>
              </a:spcBef>
              <a:buNone/>
            </a:pPr>
            <a:r>
              <a:rPr sz="2400" b="1">
                <a:solidFill>
                  <a:srgbClr val="0066CC"/>
                </a:solidFill>
              </a:rPr>
              <a:t>Phiên trao đổi &amp; Hỏi đáp (Q&amp;A)</a:t>
            </a:r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Microsoft Office PowerPoint</Application>
  <PresentationFormat>Widescreen</PresentationFormat>
  <Paragraphs>183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Courier</vt:lpstr>
      <vt:lpstr>Calibri</vt:lpstr>
      <vt:lpstr>Times New Roman</vt:lpstr>
      <vt:lpstr>Office Theme</vt:lpstr>
      <vt:lpstr>Xây dựng hệ thống nhận diện biển số xe bằng Trí tuệ nhân tạo</vt:lpstr>
      <vt:lpstr>Nội dung trình bày</vt:lpstr>
      <vt:lpstr>Đặt vấn đề</vt:lpstr>
      <vt:lpstr>Mục tiêu và chỉ tiêu</vt:lpstr>
      <vt:lpstr>Pipeline xử lý tổng thể</vt:lpstr>
      <vt:lpstr>Bộ dữ liệu: khử trùng lặp bằng băm tri giác</vt:lpstr>
      <vt:lpstr>Vì sao biển hai dòng làm OCR đọc sai</vt:lpstr>
      <vt:lpstr>Hướng tiếp cận: Biến đổi hình học ảnh thay cho mô hình phức tạp</vt:lpstr>
      <vt:lpstr>Minh họa pipeline trên một biển thật</vt:lpstr>
      <vt:lpstr>Cắt cố định 5/12 &amp; 1/3 thay vì Chiếu ngang</vt:lpstr>
      <vt:lpstr>Bộ luật hậu xử lý ràng buộc theo vị trí</vt:lpstr>
      <vt:lpstr>Phân loại màu nền trong không gian màu HSV</vt:lpstr>
      <vt:lpstr>Xử lý biển nghiêng: Nắn 2D &amp; Thử lại</vt:lpstr>
      <vt:lpstr>Kết quả đo được</vt:lpstr>
      <vt:lpstr>Khoảng cách nằm ở đâu</vt:lpstr>
      <vt:lpstr>Lỗi trông như thế nào</vt:lpstr>
      <vt:lpstr>Bóc tách đóng góp của từng bước</vt:lpstr>
      <vt:lpstr>Phân rã ngân sách độ trễ &amp; Định luật Amdahl</vt:lpstr>
      <vt:lpstr>Ba kết quả khác với dự đoán ban đầu</vt:lpstr>
      <vt:lpstr>Demo: hệ thống chạy thật</vt:lpstr>
      <vt:lpstr>Hướng phát triển</vt:lpstr>
      <vt:lpstr>Kết luận chung</vt:lpstr>
      <vt:lpstr>Cảm ơn &amp; Hỏi đáp (Q&amp;A)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diện biển số xe bằng Trí tuệ nhân tạo</dc:title>
  <dc:creator>Giảng viên hướng dẫn: ThS. Cáp Phạm Đình Thăng; Phạm Nguyễn Thế Châu — 25410004; Nguyễn Công Hậu — 25410006; Nguyễn Minh Hiếu — 25410007; Phạm Công Thành — 25410013</dc:creator>
  <cp:keywords/>
  <cp:lastModifiedBy>Nguyễn Minh Hiếu</cp:lastModifiedBy>
  <cp:revision>1</cp:revision>
  <dcterms:created xsi:type="dcterms:W3CDTF">2026-09-04T11:04:52Z</dcterms:created>
  <dcterms:modified xsi:type="dcterms:W3CDTF">2026-09-04T11:04:54Z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Tháng 9 năm 2026</vt:lpwstr>
  </property>
  <property fmtid="{D5CDD505-2E9C-101B-9397-08002B2CF9AE}" pid="3" name="subtitle">
    <vt:lpwstr>Đồ án môn học · Xử lý ảnh và ứng dụng</vt:lpwstr>
  </property>
</Properties>
</file>