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ixed_assets/school_frame_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" y="6473952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6304" y="6473952"/>
            <a:ext cx="201168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1508760"/>
            <a:ext cx="106984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Xây dựng hệ thống nhận diện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biển số xe bằng Trí tuệ nhân tạo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3063240"/>
            <a:ext cx="8915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6354A"/>
                </a:solidFill>
              </a:rPr>
              <a:t>Đồ án môn học · Xử lý ảnh và ứng dụng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39776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5748B"/>
                </a:solidFill>
              </a:rPr>
              <a:t>Phạm Nguyễn Thế Châu · Nguyễn Công Hậu · Nguyễn Minh Hiếu · Phạm Công Thành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26080" y="44074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48B"/>
                </a:solidFill>
              </a:rPr>
              <a:t>GVHD: ThS. Cáp Phạm Đình Thăng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5074920"/>
            <a:ext cx="630936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99232" y="5148072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 · YOLO11n · PaddleOCR · Image Processing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58978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8A9"/>
                </a:solidFill>
              </a:rPr>
              <a:t>Tháng 9 · 2026</a:t>
            </a:r>
            <a:endParaRPr lang="en-US" sz="1000" dirty="0"/>
          </a:p>
        </p:txBody>
      </p:sp>
      <p:sp>
        <p:nvSpPr>
          <p:cNvPr id="10" name="Oval 9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" y="36576"/>
            <a:ext cx="37947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f71b8ea-a853-41a1-b4a9-4425720821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68580"/>
            <a:ext cx="3246120" cy="3339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phần chính · tập trung vào đóng góp xử lý ảnh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43000" y="160020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17320" y="17465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17465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54A"/>
                </a:solidFill>
              </a:rPr>
              <a:t>Bài toán &amp; mục tiêu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60604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2F8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27523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75234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54A"/>
                </a:solidFill>
              </a:rPr>
              <a:t>Phương pháp đề xuất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361188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3758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0" y="375818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54A"/>
                </a:solidFill>
              </a:rPr>
              <a:t>Kết quả thực nghiệm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46177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17320" y="476402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CEB"/>
                </a:solidFill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86000" y="47640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6354A"/>
                </a:solidFill>
              </a:rPr>
              <a:t>Kết luận &amp; hướng phát triển</a:t>
            </a:r>
            <a:endParaRPr lang="en-US" sz="1800" dirty="0"/>
          </a:p>
        </p:txBody>
      </p:sp>
      <p:sp>
        <p:nvSpPr>
          <p:cNvPr id="16" name="Oval 15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Biển số Việt Nam có nhiều tình huống “khó” hơn OCR văn bản thông thường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63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Biển xe máy chủ yếu là bố cục hai dòng; kích thước vật lý nhỏ.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63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thực tế chịu ảnh hưởng bởi phản quang, bụi, góc nghiêng và ngược sáng.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BC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263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bộ OCR phổ biến tối ưu cho văn bản một dòng → dễ sai khi áp dụng trực tiếp cho biển hai dòng.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160520"/>
            <a:ext cx="10287000" cy="1143000"/>
          </a:xfrm>
          <a:prstGeom prst="roundRect">
            <a:avLst>
              <a:gd name="adj" fmla="val 6400"/>
            </a:avLst>
          </a:prstGeom>
          <a:solidFill>
            <a:srgbClr val="F7FBFF"/>
          </a:solidFill>
          <a:ln w="12700">
            <a:solidFill>
              <a:srgbClr val="CFE8F4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4407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CEB"/>
                </a:solidFill>
              </a:rPr>
              <a:t>Câu hỏi nghiên cứu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4709160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A5F"/>
                </a:solidFill>
              </a:rPr>
              <a:t>Có thể cải thiện ALPR trên CPU bằng xử lý ảnh + hậu xử lý, thay vì thay bằng một mô hình OCR phức tạp hơn?</a:t>
            </a:r>
            <a:endParaRPr lang="en-US" sz="2100" dirty="0"/>
          </a:p>
        </p:txBody>
      </p:sp>
      <p:sp>
        <p:nvSpPr>
          <p:cNvPr id="10" name="Oval 9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&amp; chỉ tiêu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đầu cuối, chạy hoàn toàn trên CPU, hỗ trợ cả biển một dòng và hai dòng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05840" y="150876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25880" y="1673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mAP@0.5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66760" y="16550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≥ 0,90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237744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25880" y="25420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Full-string sau hậu xử lý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66760" y="25237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≥ 0,85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8FB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25880" y="341071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Đúng mức ký tự (1 − CER)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66760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≥ 0,92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5840" y="411480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25880" y="42793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Latency p95 / ảnh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4261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≤ 800 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154680" y="5349240"/>
            <a:ext cx="5943600" cy="384048"/>
          </a:xfrm>
          <a:prstGeom prst="roundRect">
            <a:avLst>
              <a:gd name="adj" fmla="val 19048"/>
            </a:avLst>
          </a:prstGeom>
          <a:solidFill>
            <a:srgbClr val="EEF9F5"/>
          </a:solidFill>
          <a:ln w="12700">
            <a:solidFill>
              <a:srgbClr val="EEF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5422392"/>
            <a:ext cx="5797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ưu tiên: độ chính xác + độ trễ thực tế trên CPU</a:t>
            </a:r>
            <a:endParaRPr lang="en-US" sz="1050" dirty="0"/>
          </a:p>
        </p:txBody>
      </p:sp>
      <p:sp>
        <p:nvSpPr>
          <p:cNvPr id="18" name="Oval 17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xử lý tổng thể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chính nằm ở hai khối: xử lý ảnh và hậu xử lý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F"/>
                </a:solidFill>
              </a:rPr>
              <a:t>Ảnh đầu vào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48B"/>
                </a:solidFill>
              </a:rPr>
              <a:t>Camera / ảnh thực tế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30552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404872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F"/>
                </a:solidFill>
              </a:rPr>
              <a:t>YOLO11n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48B"/>
                </a:solidFill>
              </a:rPr>
              <a:t>Phát hiện biển số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32504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06824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EFF8FF"/>
          </a:solidFill>
          <a:ln w="12700">
            <a:solidFill>
              <a:srgbClr val="17BCEB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3484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D4"/>
                </a:solidFill>
              </a:rPr>
              <a:t>Xử lý ảnh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16552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48B"/>
                </a:solidFill>
              </a:rPr>
              <a:t>Deskew · Split &amp; Merge · CLAHE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34456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08776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36792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F"/>
                </a:solidFill>
              </a:rPr>
              <a:t>PaddleOCR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18504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48B"/>
                </a:solidFill>
              </a:rPr>
              <a:t>PP-OCRv5 mobile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36408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10728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EFF8FF"/>
          </a:solidFill>
          <a:ln w="12700">
            <a:solidFill>
              <a:srgbClr val="17BCEB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38744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D4"/>
                </a:solidFill>
              </a:rPr>
              <a:t>Hậu xử lý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0456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48B"/>
                </a:solidFill>
              </a:rPr>
              <a:t>Luật biển số VN · confusion map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38360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B3C6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12680" y="1874520"/>
            <a:ext cx="1627632" cy="182880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40696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F"/>
                </a:solidFill>
              </a:rPr>
              <a:t>Kết quả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122408" y="2761488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5748B"/>
                </a:solidFill>
              </a:rPr>
              <a:t>Chuỗi chuẩn hóa + màu biển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80360" y="4800600"/>
            <a:ext cx="649224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3512" y="487375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thay đổi mô hình OCR · thay đổi hình học ảnh để “phù hợp” với OCR</a:t>
            </a:r>
            <a:endParaRPr lang="en-US" sz="1050" dirty="0"/>
          </a:p>
        </p:txBody>
      </p:sp>
      <p:sp>
        <p:nvSpPr>
          <p:cNvPr id="29" name="Oval 28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dữ liệu: khử trùng lặp trước khi đo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Tránh “đo trí nhớ” khi nhiều bộ dữ liệu công khai fork lẫn nhau</a:t>
            </a:r>
            <a:endParaRPr lang="en-US" sz="1150" dirty="0"/>
          </a:p>
        </p:txBody>
      </p:sp>
      <p:pic>
        <p:nvPicPr>
          <p:cNvPr id="4" name="Image 0" descr="/mnt/data/fixed_assets/crop-06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17320"/>
            <a:ext cx="516636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600200"/>
            <a:ext cx="4846320" cy="3429000"/>
          </a:xfrm>
          <a:prstGeom prst="roundRect">
            <a:avLst>
              <a:gd name="adj" fmla="val 2133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874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A5F"/>
                </a:solidFill>
              </a:rPr>
              <a:t>27.711 ảnh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005840" y="23957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48B"/>
                </a:solidFill>
              </a:rPr>
              <a:t>Gộp từ 7 bộ công khai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4343"/>
                </a:solidFill>
              </a:rPr>
              <a:t>− 44,2%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05840" y="3502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6354A"/>
                </a:solidFill>
              </a:rPr>
              <a:t>ảnh trùng bị loại bằng pHash DCT 64-bit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9A68"/>
                </a:solidFill>
              </a:rPr>
              <a:t>15.133 ảnh còn lại</a:t>
            </a:r>
            <a:endParaRPr lang="en-US" sz="1700" dirty="0"/>
          </a:p>
        </p:txBody>
      </p:sp>
      <p:sp>
        <p:nvSpPr>
          <p:cNvPr id="11" name="Oval 10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biển hai dòng làm OCR đọc sai?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 cốt lõi là hình học đầu vào không khớp giả định của CRNN/CTC</a:t>
            </a:r>
            <a:endParaRPr lang="en-US" sz="1150" dirty="0"/>
          </a:p>
        </p:txBody>
      </p:sp>
      <p:pic>
        <p:nvPicPr>
          <p:cNvPr id="4" name="Image 0" descr="/mnt/data/fixed_assets/crop-07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389888"/>
            <a:ext cx="55321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554480"/>
            <a:ext cx="4526280" cy="3611880"/>
          </a:xfrm>
          <a:prstGeom prst="roundRect">
            <a:avLst>
              <a:gd name="adj" fmla="val 2025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8745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74343"/>
                </a:solidFill>
              </a:rPr>
              <a:t>Biển 2 dòng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514600"/>
            <a:ext cx="3931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6354A"/>
                </a:solidFill>
              </a:rPr>
              <a:t>H → 1 trong feature map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54A"/>
                </a:solidFill>
              </a:rPr>
              <a:t>→ ký tự hai dòng rơi vào cùng cột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6354A"/>
                </a:solidFill>
              </a:rPr>
              <a:t>→ xung đột CTC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D4"/>
                </a:solidFill>
              </a:rPr>
              <a:t>Giải pháp: biến đổi ảnh thành chuỗi một dòng trước khi OCR</a:t>
            </a:r>
            <a:endParaRPr lang="en-US" sz="1500" dirty="0"/>
          </a:p>
        </p:txBody>
      </p:sp>
      <p:sp>
        <p:nvSpPr>
          <p:cNvPr id="9" name="Oval 8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hóa biển hai dòng bằng biến đổi hình học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heuristic hình học → đầu vào một dòng ổn định hơn cho OCR</a:t>
            </a:r>
            <a:endParaRPr lang="en-US" sz="1150" dirty="0"/>
          </a:p>
        </p:txBody>
      </p:sp>
      <p:pic>
        <p:nvPicPr>
          <p:cNvPr id="4" name="Image 0" descr="/mnt/data/fixed_assets/crop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298448"/>
            <a:ext cx="525780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44475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51790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258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4A"/>
                </a:solidFill>
              </a:rPr>
              <a:t>Phân loại 1 / 2 dòng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3832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Aspect ratio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222199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229514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258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4A"/>
                </a:solidFill>
              </a:rPr>
              <a:t>Deskew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383280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minAreaRect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299923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723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32588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4A"/>
                </a:solidFill>
              </a:rPr>
              <a:t>Tách hai dòng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3832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tỉ lệ cắt khảo sát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377647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8496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32588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4A"/>
                </a:solidFill>
              </a:rPr>
              <a:t>Ghép ngang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38328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top + bottom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4553712"/>
            <a:ext cx="384048" cy="384048"/>
          </a:xfrm>
          <a:prstGeom prst="ellipse">
            <a:avLst/>
          </a:prstGeom>
          <a:solidFill>
            <a:srgbClr val="17BCEB"/>
          </a:solidFill>
          <a:ln w="12700">
            <a:solidFill>
              <a:srgbClr val="17BC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46268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32588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54A"/>
                </a:solidFill>
              </a:rPr>
              <a:t>CLAHE + bilateral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383280" y="4526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tăng tương phản, giữ biên</a:t>
            </a:r>
            <a:endParaRPr lang="en-US" sz="1150" dirty="0"/>
          </a:p>
        </p:txBody>
      </p:sp>
      <p:sp>
        <p:nvSpPr>
          <p:cNvPr id="25" name="Oval 24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Hậu xử lý theo vị trí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luật “phẳng”; mỗi vị trí trong biển có ràng buộc khác nhau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Mã tỉnh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029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54A"/>
                </a:solidFill>
              </a:rPr>
              <a:t>Chỉ giữ mã tỉnh hợp lệ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Mặt nạ vị trí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029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54A"/>
                </a:solidFill>
              </a:rPr>
              <a:t>Xác định vị trí số / chữ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Tập seri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6301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54A"/>
                </a:solidFill>
              </a:rPr>
              <a:t>Luật khác nhau theo loại biển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0632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D4"/>
                </a:solidFill>
              </a:rPr>
              <a:t>Confusion map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36301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54A"/>
                </a:solidFill>
              </a:rPr>
              <a:t>Sửa nhầm lẫn theo chiều hợp lý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4892040"/>
            <a:ext cx="9784080" cy="868680"/>
          </a:xfrm>
          <a:prstGeom prst="roundRect">
            <a:avLst>
              <a:gd name="adj" fmla="val 8421"/>
            </a:avLst>
          </a:prstGeom>
          <a:solidFill>
            <a:srgbClr val="F2F8FF"/>
          </a:solidFill>
          <a:ln w="12700">
            <a:solidFill>
              <a:srgbClr val="CFE2F6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08760" y="51846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5F"/>
                </a:solidFill>
              </a:rPr>
              <a:t>Ví dụ:  O → 0 có thể hợp lý, nhưng 0 → O không áp dụng đối xứng ở mọi vị trí.</a:t>
            </a:r>
            <a:endParaRPr lang="en-US" sz="1700" dirty="0"/>
          </a:p>
        </p:txBody>
      </p:sp>
      <p:sp>
        <p:nvSpPr>
          <p:cNvPr id="18" name="Oval 17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0">
                <a:solidFill>
                  <a:srgbClr val="2A3F6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màu nền bằng HSV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sắc độ H khỏi độ sáng V để bền hơn với thay đổi ánh sáng</a:t>
            </a:r>
            <a:endParaRPr lang="en-US" sz="1150" dirty="0"/>
          </a:p>
        </p:txBody>
      </p:sp>
      <p:pic>
        <p:nvPicPr>
          <p:cNvPr id="4" name="Image 0" descr="/mnt/data/fixed_assets/crop-12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71600"/>
            <a:ext cx="534924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45920"/>
            <a:ext cx="4480560" cy="3200400"/>
          </a:xfrm>
          <a:prstGeom prst="roundRect">
            <a:avLst>
              <a:gd name="adj" fmla="val 2286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9A68"/>
                </a:solidFill>
              </a:rPr>
              <a:t>97,89%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9728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độ chính xác tổng thể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A5F"/>
                </a:solidFill>
              </a:rPr>
              <a:t>Nhận diện màu nền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2A5F"/>
                </a:solidFill>
              </a:rPr>
              <a:t>trắng · vàng · xanh · đỏ</a:t>
            </a:r>
            <a:endParaRPr lang="en-US" sz="1700" dirty="0"/>
          </a:p>
        </p:txBody>
      </p:sp>
      <p:sp>
        <p:nvSpPr>
          <p:cNvPr id="9" name="Oval 8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biển nghiêng: nắn 2D &amp; thử lại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kích hoạt khi cần → tăng độ chính xác mà không làm chậm p50</a:t>
            </a:r>
            <a:endParaRPr lang="en-US" sz="1150" dirty="0"/>
          </a:p>
        </p:txBody>
      </p:sp>
      <p:pic>
        <p:nvPicPr>
          <p:cNvPr id="4" name="Image 0" descr="/mnt/data/fixed_assets/crop-13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89888"/>
            <a:ext cx="62179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60020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965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8818"/>
                </a:solidFill>
              </a:rPr>
              <a:t>+34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05156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biển được cứu thêm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F"/>
                </a:solidFill>
              </a:rPr>
              <a:t>Chi phí +277 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2A5F"/>
                </a:solidFill>
              </a:rPr>
              <a:t>chủ yếu dồn vào đuôi p95</a:t>
            </a:r>
            <a:endParaRPr lang="en-US" sz="1600" dirty="0"/>
          </a:p>
        </p:txBody>
      </p:sp>
      <p:sp>
        <p:nvSpPr>
          <p:cNvPr id="9" name="Oval 8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đo được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và latency đạt mục tiêu; full-string accuracy vẫn chưa đạt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9A68"/>
                </a:solidFill>
              </a:rPr>
              <a:t>0,9829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mAP@0.5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4088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9A68"/>
                </a:solidFill>
              </a:rPr>
              <a:t>ĐẠT mục tiêu 0,90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73552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9A68"/>
                </a:solidFill>
              </a:rPr>
              <a:t>0,984 / 0,971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83280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Precision / Recall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0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9A68"/>
                </a:solidFill>
              </a:rPr>
              <a:t>ĐẠT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52744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8818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62472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8818"/>
                </a:solidFill>
              </a:rPr>
              <a:t>0,7701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62472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Full-string sau xử lý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62472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8818"/>
                </a:solidFill>
              </a:rPr>
              <a:t>CHƯA ĐẠT ngưỡng 0,85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31936" y="15087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41664" y="1828800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9A68"/>
                </a:solidFill>
              </a:rPr>
              <a:t>510 ms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41664" y="246888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Latency p95 / CPU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741664" y="4032504"/>
            <a:ext cx="2340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9A68"/>
                </a:solidFill>
              </a:rPr>
              <a:t>ĐẠT mục tiêu ≤ 800 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507492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5F"/>
                </a:solidFill>
              </a:rPr>
              <a:t>Điểm nghẽn còn lại nằm gần như toàn bộ ở biển hai dòng.</a:t>
            </a:r>
            <a:endParaRPr lang="en-US" sz="1900" dirty="0"/>
          </a:p>
        </p:txBody>
      </p:sp>
      <p:sp>
        <p:nvSpPr>
          <p:cNvPr id="21" name="Oval 20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nằm ở biển hai dòng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Mức ký tự gần nhau, nhưng khi đo đúng toàn chuỗi thì chênh lệch rất lớn</a:t>
            </a:r>
            <a:endParaRPr lang="en-US" sz="1150" dirty="0"/>
          </a:p>
        </p:txBody>
      </p:sp>
      <p:pic>
        <p:nvPicPr>
          <p:cNvPr id="4" name="Image 0" descr="/mnt/data/fixed_assets/crop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234440"/>
            <a:ext cx="589788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554480"/>
            <a:ext cx="4343400" cy="3566160"/>
          </a:xfrm>
          <a:prstGeom prst="roundRect">
            <a:avLst>
              <a:gd name="adj" fmla="val 2051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5FD4"/>
                </a:solidFill>
              </a:rPr>
              <a:t>95,41%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051560" y="2395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Biển một dòng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1546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4343"/>
                </a:solidFill>
              </a:rPr>
              <a:t>72,34%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051560" y="3675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Biển hai dòng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417320" y="4572000"/>
            <a:ext cx="3017520" cy="384048"/>
          </a:xfrm>
          <a:prstGeom prst="roundRect">
            <a:avLst>
              <a:gd name="adj" fmla="val 19048"/>
            </a:avLst>
          </a:prstGeom>
          <a:solidFill>
            <a:srgbClr val="FFF3F3"/>
          </a:solidFill>
          <a:ln w="12700">
            <a:solidFill>
              <a:srgbClr val="FFF3F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90472" y="4645152"/>
            <a:ext cx="2871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bottleneck: 2-line plates</a:t>
            </a:r>
            <a:endParaRPr lang="en-US" sz="1050" dirty="0"/>
          </a:p>
        </p:txBody>
      </p:sp>
      <p:sp>
        <p:nvSpPr>
          <p:cNvPr id="12" name="Oval 11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thực tế trông như thế nào?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Hậu xử lý sửa được nhiều lỗi OCR; các ca còn sai chủ yếu ở dòng trên của biển hai dòng</a:t>
            </a:r>
            <a:endParaRPr lang="en-US" sz="1150" dirty="0"/>
          </a:p>
        </p:txBody>
      </p:sp>
      <p:pic>
        <p:nvPicPr>
          <p:cNvPr id="4" name="Image 0" descr="/mnt/data/fixed_assets/crop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1060704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5532120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EF9F4"/>
          </a:solidFill>
          <a:ln w="12700">
            <a:solidFill>
              <a:srgbClr val="EEF9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44752" y="560527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9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 sửa đúng nhờ hậu xử lý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29400" y="5532120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FFF3F3"/>
          </a:solidFill>
          <a:ln w="12700">
            <a:solidFill>
              <a:srgbClr val="FFF3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02552" y="560527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 vẫn sai → tập trung ở dòng trên</a:t>
            </a:r>
            <a:endParaRPr lang="en-US" sz="1050" dirty="0"/>
          </a:p>
        </p:txBody>
      </p:sp>
      <p:sp>
        <p:nvSpPr>
          <p:cNvPr id="9" name="Oval 8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Bóc tách đóng góp từng bước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trộn đơn vị: accuracy gain và số mẫu “cứu được” được tách riêng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748B"/>
                </a:solidFill>
              </a:rPr>
              <a:t>Accuracy gain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E5FD4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14884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5FD4"/>
                </a:solidFill>
              </a:rPr>
              <a:t>+34,92 pp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6968" y="27889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Split &amp; merge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86968" y="3529584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5FD4"/>
                </a:solidFill>
              </a:rPr>
              <a:t>PaddleOCR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149A68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214884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9A68"/>
                </a:solidFill>
              </a:rPr>
              <a:t>+13,28 pp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55848" y="27889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Post-processing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55848" y="3529584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9A68"/>
                </a:solidFill>
              </a:rPr>
              <a:t>0 ca sửa sai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5748B"/>
                </a:solidFill>
              </a:rPr>
              <a:t>Recovered samples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46520" y="182880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8818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56248" y="214884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8818"/>
                </a:solidFill>
              </a:rPr>
              <a:t>+34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56248" y="27889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Deskew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56248" y="3529584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8818"/>
                </a:solidFill>
              </a:rPr>
              <a:t>biển số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15400" y="1828800"/>
            <a:ext cx="2286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74343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25128" y="2148840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4343"/>
                </a:solidFill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025128" y="278892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6354A"/>
                </a:solidFill>
              </a:rPr>
              <a:t>Super-resolution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025128" y="3529584"/>
            <a:ext cx="2066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74343"/>
                </a:solidFill>
              </a:rPr>
              <a:t>0/120 mẫu lọt cổng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97280" y="4754880"/>
            <a:ext cx="10012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2A5F"/>
                </a:solidFill>
              </a:rPr>
              <a:t>Kết luận: split–merge là đóng góp lớn nhất; super-resolution chưa chứng minh được lợi ích trên tập hiện tại.</a:t>
            </a:r>
            <a:endParaRPr lang="en-US" sz="1800" dirty="0"/>
          </a:p>
        </p:txBody>
      </p:sp>
      <p:sp>
        <p:nvSpPr>
          <p:cNvPr id="23" name="Oval 22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breakdown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nghẽn hiện tại là OCR, không phải xử lý ảnh</a:t>
            </a:r>
            <a:endParaRPr lang="en-US" sz="1150" dirty="0"/>
          </a:p>
        </p:txBody>
      </p:sp>
      <p:pic>
        <p:nvPicPr>
          <p:cNvPr id="4" name="Image 0" descr="/mnt/data/fixed_assets/crop-18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71600"/>
            <a:ext cx="54864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645920"/>
            <a:ext cx="4343400" cy="3337560"/>
          </a:xfrm>
          <a:prstGeom prst="roundRect">
            <a:avLst>
              <a:gd name="adj" fmla="val 2192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96596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5FD4"/>
                </a:solidFill>
              </a:rPr>
              <a:t>60,8%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051560" y="263347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PaddleOCR chiếm phần lớn độ trễ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42900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9A68"/>
                </a:solidFill>
              </a:rPr>
              <a:t>Xử lý ảnh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9A68"/>
                </a:solidFill>
              </a:rPr>
              <a:t>≈ 0 ms trong đường chạy chính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43891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748B"/>
                </a:solidFill>
              </a:rPr>
              <a:t>Hướng tối ưu: ONNX / OpenVINO / quantization</a:t>
            </a:r>
            <a:endParaRPr lang="en-US" sz="1300" dirty="0"/>
          </a:p>
        </p:txBody>
      </p:sp>
      <p:sp>
        <p:nvSpPr>
          <p:cNvPr id="10" name="Oval 9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hệ thống chạy thật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lệnh Docker Compose · có UI, API và lịch sử kết quả</a:t>
            </a:r>
            <a:endParaRPr lang="en-US" sz="1150" dirty="0"/>
          </a:p>
        </p:txBody>
      </p:sp>
      <p:pic>
        <p:nvPicPr>
          <p:cNvPr id="4" name="Image 0" descr="/mnt/data/fixed_assets/crop-20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389888"/>
            <a:ext cx="598932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6002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F9FBFD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96596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97280" y="2788920"/>
            <a:ext cx="32461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• Nhận dạng ảnh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• Video / Webcam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• Hiển thị chuỗi thô &amp; chuỗi sau xử lý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6354A"/>
                </a:solidFill>
              </a:rPr>
              <a:t>• Lịch sử nhận dạng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43000" y="4572000"/>
            <a:ext cx="3154680" cy="384048"/>
          </a:xfrm>
          <a:prstGeom prst="roundRect">
            <a:avLst>
              <a:gd name="adj" fmla="val 19048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16152" y="4645152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5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ảnh demo có expected.json</a:t>
            </a:r>
            <a:endParaRPr lang="en-US" sz="1050" dirty="0"/>
          </a:p>
        </p:txBody>
      </p:sp>
      <p:sp>
        <p:nvSpPr>
          <p:cNvPr id="10" name="Oval 9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trung vào điểm nghẽn còn lại: recognizer và biển hai dòng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68680" y="1371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354A"/>
                </a:solidFill>
              </a:rPr>
              <a:t>Huấn luyện recognizer chuyên biệt cho biển số Việt Nam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508760" y="185623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6354A"/>
                </a:solidFill>
              </a:rPr>
              <a:t>Mở rộng confusion map từ ma trận nhầm lẫn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508760" y="267919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175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2971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6354A"/>
                </a:solidFill>
              </a:rPr>
              <a:t>Khử rò rỉ theo chuỗi biển số, không chỉ pHash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508760" y="350215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40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6354A"/>
                </a:solidFill>
              </a:rPr>
              <a:t>Bổ sung dữ liệu biển vàng / xanh / đỏ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08760" y="4325112"/>
            <a:ext cx="9052560" cy="0"/>
          </a:xfrm>
          <a:prstGeom prst="line">
            <a:avLst/>
          </a:prstGeom>
          <a:noFill/>
          <a:ln w="12700">
            <a:solidFill>
              <a:srgbClr val="E3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6634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BCEB"/>
                </a:solidFill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6354A"/>
                </a:solidFill>
              </a:rPr>
              <a:t>Tăng tốc bằng ONNX / OpenVINO / quantization</a:t>
            </a:r>
            <a:endParaRPr lang="en-US" sz="1650" dirty="0"/>
          </a:p>
        </p:txBody>
      </p:sp>
      <p:sp>
        <p:nvSpPr>
          <p:cNvPr id="18" name="Oval 17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393192"/>
            <a:ext cx="10195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2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68096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5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ảnh đúng chỗ có thể tạo cải thiện lớn mà không cần đổi sang mô hình phức tạp hơn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5FD4"/>
                </a:solidFill>
              </a:rPr>
              <a:t>0,9829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mAP@0.5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5FD4"/>
                </a:solidFill>
              </a:rPr>
              <a:t>+34,92 pp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61188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Split &amp; merge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5FD4"/>
                </a:solidFill>
              </a:rPr>
              <a:t>+13,28 pp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44652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Post-processing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0" y="160020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AFCFE"/>
          </a:solidFill>
          <a:ln w="12700">
            <a:solidFill>
              <a:srgbClr val="D9E3EF"/>
            </a:solidFill>
            <a:prstDash val="solid"/>
          </a:ln>
          <a:effectLst>
            <a:outerShdw sx="100000" sy="100000" kx="0" ky="0" algn="bl" rotWithShape="0" blurRad="19050" dist="50800" dir="2700000">
              <a:srgbClr val="A9B6C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81160" y="18745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49A68"/>
                </a:solidFill>
              </a:rPr>
              <a:t>510 ms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281160" y="24688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5748B"/>
                </a:solidFill>
              </a:rPr>
              <a:t>p95 trên CPU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17320" y="37033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74343"/>
                </a:solidFill>
              </a:rPr>
              <a:t>Điểm nghẽn còn lại: biển hai dòng · full-string accuracy ≈ 72,34%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331720" y="493776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5F"/>
                </a:solidFill>
              </a:rPr>
              <a:t>Cảm ơn &amp; Q&amp;A</a:t>
            </a:r>
            <a:endParaRPr lang="en-US" sz="3000" dirty="0"/>
          </a:p>
        </p:txBody>
      </p:sp>
      <p:sp>
        <p:nvSpPr>
          <p:cNvPr id="18" name="Oval 17"/>
          <p:cNvSpPr/>
          <p:nvPr/>
        </p:nvSpPr>
        <p:spPr>
          <a:xfrm>
            <a:off x="77724" y="6505956"/>
            <a:ext cx="315468" cy="3154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0">
                <a:solidFill>
                  <a:srgbClr val="2A3F6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hệ thống nhận diện biển số xe bằng Trí tuệ nhân tạo</dc:title>
  <dc:subject>Revised ALPR course project slides</dc:subject>
  <dc:creator>OpenAI</dc:creator>
  <cp:lastModifiedBy>OpenAI</cp:lastModifiedBy>
  <cp:revision>1</cp:revision>
  <dcterms:created xsi:type="dcterms:W3CDTF">2026-09-12T15:07:09Z</dcterms:created>
  <dcterms:modified xsi:type="dcterms:W3CDTF">2026-09-12T15:07:09Z</dcterms:modified>
</cp:coreProperties>
</file>